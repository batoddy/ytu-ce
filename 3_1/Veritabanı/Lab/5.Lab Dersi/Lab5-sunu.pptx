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9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40" y="-2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39363" y="1932825"/>
            <a:ext cx="124015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191B0E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191B0E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91B0E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191B0E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91B0E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91B0E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2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78091" y="0"/>
                </a:moveTo>
                <a:lnTo>
                  <a:pt x="0" y="0"/>
                </a:lnTo>
                <a:lnTo>
                  <a:pt x="0" y="6857987"/>
                </a:lnTo>
                <a:lnTo>
                  <a:pt x="478091" y="6857987"/>
                </a:lnTo>
                <a:lnTo>
                  <a:pt x="478091" y="0"/>
                </a:lnTo>
                <a:close/>
              </a:path>
              <a:path w="12192000" h="6858000">
                <a:moveTo>
                  <a:pt x="12191987" y="0"/>
                </a:moveTo>
                <a:lnTo>
                  <a:pt x="706691" y="0"/>
                </a:lnTo>
                <a:lnTo>
                  <a:pt x="706691" y="6857987"/>
                </a:lnTo>
                <a:lnTo>
                  <a:pt x="12191987" y="6857987"/>
                </a:lnTo>
                <a:lnTo>
                  <a:pt x="12191987" y="0"/>
                </a:lnTo>
                <a:close/>
              </a:path>
            </a:pathLst>
          </a:custGeom>
          <a:solidFill>
            <a:srgbClr val="F2F0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78094" y="376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228600" y="0"/>
                </a:moveTo>
                <a:lnTo>
                  <a:pt x="0" y="0"/>
                </a:lnTo>
                <a:lnTo>
                  <a:pt x="0" y="6857998"/>
                </a:lnTo>
                <a:lnTo>
                  <a:pt x="228600" y="6857998"/>
                </a:lnTo>
                <a:lnTo>
                  <a:pt x="228600" y="0"/>
                </a:lnTo>
                <a:close/>
              </a:path>
            </a:pathLst>
          </a:custGeom>
          <a:solidFill>
            <a:srgbClr val="21231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50339" y="668528"/>
            <a:ext cx="9020810" cy="1056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191B0E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50339" y="2176779"/>
            <a:ext cx="9347835" cy="3086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191B0E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45" dirty="0">
                <a:solidFill>
                  <a:srgbClr val="800000"/>
                </a:solidFill>
              </a:rPr>
              <a:t>Lab-</a:t>
            </a:r>
            <a:r>
              <a:rPr sz="4000" spc="-50" dirty="0">
                <a:solidFill>
                  <a:srgbClr val="800000"/>
                </a:solidFill>
              </a:rPr>
              <a:t>5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39363" y="3017913"/>
            <a:ext cx="8472170" cy="105664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660"/>
              </a:spcBef>
            </a:pPr>
            <a:r>
              <a:rPr sz="36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JDBC</a:t>
            </a:r>
            <a:r>
              <a:rPr sz="3600" spc="-13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36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ile</a:t>
            </a:r>
            <a:r>
              <a:rPr sz="3600" spc="-13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3600" spc="-2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veritabanına</a:t>
            </a:r>
            <a:r>
              <a:rPr sz="3600" spc="-13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3600" spc="-3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bağlanıp</a:t>
            </a:r>
            <a:r>
              <a:rPr sz="3600" spc="-13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36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sorgu</a:t>
            </a:r>
            <a:r>
              <a:rPr sz="3600" spc="-13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3600" spc="-3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yapma </a:t>
            </a:r>
            <a:r>
              <a:rPr sz="36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uygulamaları.</a:t>
            </a:r>
            <a:endParaRPr sz="3600" dirty="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Geçen</a:t>
            </a:r>
            <a:r>
              <a:rPr spc="-190" dirty="0"/>
              <a:t> </a:t>
            </a:r>
            <a:r>
              <a:rPr dirty="0"/>
              <a:t>labı</a:t>
            </a:r>
            <a:r>
              <a:rPr spc="-185" dirty="0"/>
              <a:t> </a:t>
            </a:r>
            <a:r>
              <a:rPr spc="-55" dirty="0"/>
              <a:t>hatırlayalım..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339" y="1835278"/>
            <a:ext cx="8852535" cy="32385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93065" marR="5080" indent="-381000">
              <a:lnSpc>
                <a:spcPts val="2200"/>
              </a:lnSpc>
              <a:spcBef>
                <a:spcPts val="340"/>
              </a:spcBef>
              <a:buChar char="■"/>
              <a:tabLst>
                <a:tab pos="393065" algn="l"/>
                <a:tab pos="396240" algn="l"/>
              </a:tabLst>
            </a:pP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	SORU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:</a:t>
            </a:r>
            <a:r>
              <a:rPr sz="2000" spc="38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Ortalama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30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saatten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fazla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çalışılan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projelerin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isimlerini</a:t>
            </a:r>
            <a:r>
              <a:rPr sz="2000" spc="-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alfabetik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olarak </a:t>
            </a:r>
            <a:r>
              <a:rPr sz="2000" spc="-3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listeleyen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sorguyu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yazınız.</a:t>
            </a:r>
            <a:endParaRPr sz="20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2000" dirty="0">
                <a:solidFill>
                  <a:srgbClr val="800000"/>
                </a:solidFill>
                <a:latin typeface="Franklin Gothic Medium"/>
                <a:cs typeface="Franklin Gothic Medium"/>
              </a:rPr>
              <a:t>select</a:t>
            </a:r>
            <a:r>
              <a:rPr sz="2000" spc="-105" dirty="0">
                <a:solidFill>
                  <a:srgbClr val="800000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pname</a:t>
            </a:r>
            <a:endParaRPr sz="20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000" spc="-45" dirty="0">
                <a:solidFill>
                  <a:srgbClr val="800000"/>
                </a:solidFill>
                <a:latin typeface="Franklin Gothic Medium"/>
                <a:cs typeface="Franklin Gothic Medium"/>
              </a:rPr>
              <a:t>from</a:t>
            </a:r>
            <a:r>
              <a:rPr sz="2000" spc="-80" dirty="0">
                <a:solidFill>
                  <a:srgbClr val="800000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project,</a:t>
            </a:r>
            <a:r>
              <a:rPr sz="2000" spc="-9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works_on</a:t>
            </a:r>
            <a:endParaRPr sz="2000">
              <a:latin typeface="Franklin Gothic Medium"/>
              <a:cs typeface="Franklin Gothic Medium"/>
            </a:endParaRPr>
          </a:p>
          <a:p>
            <a:pPr marL="12700" marR="6497320">
              <a:lnSpc>
                <a:spcPct val="143100"/>
              </a:lnSpc>
              <a:spcBef>
                <a:spcPts val="65"/>
              </a:spcBef>
            </a:pPr>
            <a:r>
              <a:rPr sz="2000" dirty="0">
                <a:solidFill>
                  <a:srgbClr val="800000"/>
                </a:solidFill>
                <a:latin typeface="Franklin Gothic Medium"/>
                <a:cs typeface="Franklin Gothic Medium"/>
              </a:rPr>
              <a:t>where</a:t>
            </a:r>
            <a:r>
              <a:rPr sz="2000" spc="-114" dirty="0">
                <a:solidFill>
                  <a:srgbClr val="800000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pnumber=pno </a:t>
            </a:r>
            <a:r>
              <a:rPr sz="2000" spc="-10" dirty="0">
                <a:solidFill>
                  <a:srgbClr val="800000"/>
                </a:solidFill>
                <a:latin typeface="Franklin Gothic Medium"/>
                <a:cs typeface="Franklin Gothic Medium"/>
              </a:rPr>
              <a:t>group</a:t>
            </a:r>
            <a:r>
              <a:rPr sz="2000" spc="-110" dirty="0">
                <a:solidFill>
                  <a:srgbClr val="800000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800000"/>
                </a:solidFill>
                <a:latin typeface="Franklin Gothic Medium"/>
                <a:cs typeface="Franklin Gothic Medium"/>
              </a:rPr>
              <a:t>by</a:t>
            </a:r>
            <a:r>
              <a:rPr sz="2000" spc="-105" dirty="0">
                <a:solidFill>
                  <a:srgbClr val="800000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pname </a:t>
            </a:r>
            <a:r>
              <a:rPr sz="2000" spc="-20" dirty="0">
                <a:solidFill>
                  <a:srgbClr val="800000"/>
                </a:solidFill>
                <a:latin typeface="Franklin Gothic Medium"/>
                <a:cs typeface="Franklin Gothic Medium"/>
              </a:rPr>
              <a:t>having</a:t>
            </a:r>
            <a:r>
              <a:rPr sz="2000" spc="-70" dirty="0">
                <a:solidFill>
                  <a:srgbClr val="800000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avg(hours)&gt;30 </a:t>
            </a:r>
            <a:r>
              <a:rPr sz="2000" dirty="0">
                <a:solidFill>
                  <a:srgbClr val="800000"/>
                </a:solidFill>
                <a:latin typeface="Franklin Gothic Medium"/>
                <a:cs typeface="Franklin Gothic Medium"/>
              </a:rPr>
              <a:t>order</a:t>
            </a:r>
            <a:r>
              <a:rPr sz="2000" spc="-105" dirty="0">
                <a:solidFill>
                  <a:srgbClr val="800000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800000"/>
                </a:solidFill>
                <a:latin typeface="Franklin Gothic Medium"/>
                <a:cs typeface="Franklin Gothic Medium"/>
              </a:rPr>
              <a:t>by</a:t>
            </a:r>
            <a:r>
              <a:rPr sz="2000" spc="-105" dirty="0">
                <a:solidFill>
                  <a:srgbClr val="800000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pname</a:t>
            </a:r>
            <a:endParaRPr sz="2000">
              <a:latin typeface="Franklin Gothic Medium"/>
              <a:cs typeface="Franklin Gothic Mediu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0384" y="2897157"/>
            <a:ext cx="2374898" cy="21208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0339" y="657353"/>
            <a:ext cx="6463665" cy="1280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940"/>
              </a:lnSpc>
              <a:spcBef>
                <a:spcPts val="100"/>
              </a:spcBef>
            </a:pPr>
            <a:r>
              <a:rPr spc="-20" dirty="0"/>
              <a:t>JDBC</a:t>
            </a:r>
          </a:p>
          <a:p>
            <a:pPr marL="12700">
              <a:lnSpc>
                <a:spcPts val="4940"/>
              </a:lnSpc>
              <a:tabLst>
                <a:tab pos="1184910" algn="l"/>
                <a:tab pos="3594735" algn="l"/>
              </a:tabLst>
            </a:pPr>
            <a:r>
              <a:rPr spc="-20" dirty="0"/>
              <a:t>Java</a:t>
            </a:r>
            <a:r>
              <a:rPr dirty="0"/>
              <a:t>	</a:t>
            </a:r>
            <a:r>
              <a:rPr spc="-10" dirty="0"/>
              <a:t>Database</a:t>
            </a:r>
            <a:r>
              <a:rPr dirty="0"/>
              <a:t>	</a:t>
            </a:r>
            <a:r>
              <a:rPr spc="-35" dirty="0"/>
              <a:t>Connectivity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339" y="2303779"/>
            <a:ext cx="8834120" cy="26543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93065" marR="255904" indent="-381000">
              <a:lnSpc>
                <a:spcPts val="2200"/>
              </a:lnSpc>
              <a:spcBef>
                <a:spcPts val="340"/>
              </a:spcBef>
              <a:buChar char="■"/>
              <a:tabLst>
                <a:tab pos="393065" algn="l"/>
                <a:tab pos="396240" algn="l"/>
              </a:tabLst>
            </a:pP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	JDBC,</a:t>
            </a:r>
            <a:r>
              <a:rPr sz="2000" spc="-7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Java</a:t>
            </a:r>
            <a:r>
              <a:rPr sz="2000" spc="-7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4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programımız</a:t>
            </a:r>
            <a:r>
              <a:rPr sz="2000" spc="-7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ile</a:t>
            </a:r>
            <a:r>
              <a:rPr sz="2000" spc="-7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veritabanımız</a:t>
            </a:r>
            <a:r>
              <a:rPr sz="2000" spc="-7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arasındaki</a:t>
            </a:r>
            <a:r>
              <a:rPr sz="2000" spc="-6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bağlantıyı</a:t>
            </a:r>
            <a:r>
              <a:rPr sz="2000" spc="-7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3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sağlamak</a:t>
            </a:r>
            <a:r>
              <a:rPr sz="2000" spc="-7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için </a:t>
            </a:r>
            <a:r>
              <a:rPr sz="2000" spc="-3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kullandığımız</a:t>
            </a:r>
            <a:r>
              <a:rPr sz="2000" spc="-7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bir</a:t>
            </a:r>
            <a:r>
              <a:rPr sz="2000" spc="-6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Java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API’dır.</a:t>
            </a:r>
            <a:endParaRPr sz="2000">
              <a:latin typeface="Franklin Gothic Medium"/>
              <a:cs typeface="Franklin Gothic Medium"/>
            </a:endParaRPr>
          </a:p>
          <a:p>
            <a:pPr marL="393065" marR="5080" indent="-381000">
              <a:lnSpc>
                <a:spcPts val="2200"/>
              </a:lnSpc>
              <a:spcBef>
                <a:spcPts val="1300"/>
              </a:spcBef>
              <a:buChar char="■"/>
              <a:tabLst>
                <a:tab pos="393065" algn="l"/>
                <a:tab pos="396240" algn="l"/>
              </a:tabLst>
            </a:pP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	Bir</a:t>
            </a:r>
            <a:r>
              <a:rPr sz="2000" spc="-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java</a:t>
            </a:r>
            <a:r>
              <a:rPr sz="2000" spc="-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client’ı,</a:t>
            </a:r>
            <a:r>
              <a:rPr sz="2000" spc="-4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bir</a:t>
            </a:r>
            <a:r>
              <a:rPr sz="2000" spc="-5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veritabanı</a:t>
            </a:r>
            <a:r>
              <a:rPr sz="2000" spc="-5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server</a:t>
            </a:r>
            <a:r>
              <a:rPr sz="2000" spc="-4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ile</a:t>
            </a:r>
            <a:r>
              <a:rPr sz="2000" spc="-5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JDBC</a:t>
            </a:r>
            <a:r>
              <a:rPr sz="2000" spc="-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library’si</a:t>
            </a:r>
            <a:r>
              <a:rPr sz="2000" spc="-4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kullanarak</a:t>
            </a:r>
            <a:r>
              <a:rPr sz="2000" spc="-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3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iletişim</a:t>
            </a:r>
            <a:r>
              <a:rPr sz="2000" spc="-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kurar.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JDBC</a:t>
            </a:r>
            <a:r>
              <a:rPr sz="2000" spc="-7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class’ları</a:t>
            </a:r>
            <a:r>
              <a:rPr sz="2000" spc="-7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bir</a:t>
            </a:r>
            <a:r>
              <a:rPr sz="2000" spc="-6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java</a:t>
            </a:r>
            <a:r>
              <a:rPr sz="2000" spc="-7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client’ı</a:t>
            </a:r>
            <a:r>
              <a:rPr sz="2000" spc="-6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ile</a:t>
            </a:r>
            <a:r>
              <a:rPr sz="2000" spc="-6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server</a:t>
            </a:r>
            <a:r>
              <a:rPr sz="2000" spc="-7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arasındaki</a:t>
            </a:r>
            <a:r>
              <a:rPr sz="2000" spc="-6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veri</a:t>
            </a:r>
            <a:r>
              <a:rPr sz="2000" spc="-6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transferini</a:t>
            </a:r>
            <a:r>
              <a:rPr sz="2000" spc="-7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yönetir.</a:t>
            </a:r>
            <a:endParaRPr sz="20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2000">
              <a:latin typeface="Franklin Gothic Medium"/>
              <a:cs typeface="Franklin Gothic Medium"/>
            </a:endParaRPr>
          </a:p>
          <a:p>
            <a:pPr marL="76200" marR="2677160" indent="-63500">
              <a:lnSpc>
                <a:spcPct val="145800"/>
              </a:lnSpc>
            </a:pPr>
            <a:r>
              <a:rPr sz="2000" spc="-3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PostgreSQL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veritabanına</a:t>
            </a:r>
            <a:r>
              <a:rPr sz="2000" spc="-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uygun</a:t>
            </a:r>
            <a:r>
              <a:rPr sz="2000" spc="-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JDBC</a:t>
            </a:r>
            <a:r>
              <a:rPr sz="2000" spc="-5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driver</a:t>
            </a:r>
            <a:r>
              <a:rPr sz="2000" spc="-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3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indirmek</a:t>
            </a:r>
            <a:r>
              <a:rPr sz="2000" spc="-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için: https://jdbc.postgresql.org/download.html</a:t>
            </a:r>
            <a:endParaRPr sz="2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0339" y="657353"/>
            <a:ext cx="8425815" cy="128016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 marR="5080">
              <a:lnSpc>
                <a:spcPts val="4600"/>
              </a:lnSpc>
              <a:spcBef>
                <a:spcPts val="820"/>
              </a:spcBef>
              <a:tabLst>
                <a:tab pos="1383665" algn="l"/>
                <a:tab pos="6690359" algn="l"/>
              </a:tabLst>
            </a:pPr>
            <a:r>
              <a:rPr spc="-20" dirty="0"/>
              <a:t>JDBC</a:t>
            </a:r>
            <a:r>
              <a:rPr dirty="0"/>
              <a:t>	</a:t>
            </a:r>
            <a:r>
              <a:rPr spc="-45" dirty="0"/>
              <a:t>aşağıdaki</a:t>
            </a:r>
            <a:r>
              <a:rPr spc="-190" dirty="0"/>
              <a:t> </a:t>
            </a:r>
            <a:r>
              <a:rPr spc="-20" dirty="0"/>
              <a:t>interface</a:t>
            </a:r>
            <a:r>
              <a:rPr spc="-185" dirty="0"/>
              <a:t> </a:t>
            </a:r>
            <a:r>
              <a:rPr spc="-25" dirty="0"/>
              <a:t>ve</a:t>
            </a:r>
            <a:r>
              <a:rPr dirty="0"/>
              <a:t>	</a:t>
            </a:r>
            <a:r>
              <a:rPr spc="-50" dirty="0"/>
              <a:t>sınıfları </a:t>
            </a:r>
            <a:r>
              <a:rPr spc="-10" dirty="0"/>
              <a:t>sağlamaktadır: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339" y="2175001"/>
            <a:ext cx="9170035" cy="364490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396240" indent="-383540">
              <a:lnSpc>
                <a:spcPct val="100000"/>
              </a:lnSpc>
              <a:spcBef>
                <a:spcPts val="1120"/>
              </a:spcBef>
              <a:buChar char="■"/>
              <a:tabLst>
                <a:tab pos="396240" algn="l"/>
              </a:tabLst>
            </a:pPr>
            <a:r>
              <a:rPr sz="19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DriverManager:</a:t>
            </a:r>
            <a:r>
              <a:rPr sz="1900" spc="-8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Bu</a:t>
            </a:r>
            <a:r>
              <a:rPr sz="1900" spc="-7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sınıf,</a:t>
            </a:r>
            <a:r>
              <a:rPr sz="1900" spc="-7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veritabanı</a:t>
            </a:r>
            <a:r>
              <a:rPr sz="1900" spc="-7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sürücülerinin</a:t>
            </a:r>
            <a:r>
              <a:rPr sz="1900" spc="-7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listesini</a:t>
            </a:r>
            <a:r>
              <a:rPr sz="1900" spc="-7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yönetir.</a:t>
            </a:r>
            <a:endParaRPr sz="1900">
              <a:latin typeface="Franklin Gothic Medium"/>
              <a:cs typeface="Franklin Gothic Medium"/>
            </a:endParaRPr>
          </a:p>
          <a:p>
            <a:pPr marL="393065" marR="183515" indent="-381000">
              <a:lnSpc>
                <a:spcPct val="94300"/>
              </a:lnSpc>
              <a:spcBef>
                <a:spcPts val="1150"/>
              </a:spcBef>
              <a:buChar char="■"/>
              <a:tabLst>
                <a:tab pos="393065" algn="l"/>
                <a:tab pos="396240" algn="l"/>
              </a:tabLst>
            </a:pP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	Driver:</a:t>
            </a:r>
            <a:r>
              <a:rPr sz="1900" spc="-6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Bu</a:t>
            </a:r>
            <a:r>
              <a:rPr sz="1900" spc="34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interface,</a:t>
            </a:r>
            <a:r>
              <a:rPr sz="1900" spc="35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veritabanı</a:t>
            </a:r>
            <a:r>
              <a:rPr sz="1900" spc="34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sunucusu</a:t>
            </a:r>
            <a:r>
              <a:rPr sz="1900" spc="35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ile</a:t>
            </a:r>
            <a:r>
              <a:rPr sz="1900" spc="34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iletişimi</a:t>
            </a:r>
            <a:r>
              <a:rPr sz="1900" spc="35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ele</a:t>
            </a:r>
            <a:r>
              <a:rPr sz="1900" spc="34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alır.</a:t>
            </a:r>
            <a:r>
              <a:rPr sz="1900" spc="35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Driver</a:t>
            </a:r>
            <a:r>
              <a:rPr sz="1900" spc="-6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nesneleri</a:t>
            </a:r>
            <a:r>
              <a:rPr sz="1900" spc="35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spc="-2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ile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çok</a:t>
            </a:r>
            <a:r>
              <a:rPr sz="1900" spc="3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nadir</a:t>
            </a:r>
            <a:r>
              <a:rPr sz="1900" spc="3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etkileşim</a:t>
            </a:r>
            <a:r>
              <a:rPr sz="1900" spc="3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kurabilirsiniz.</a:t>
            </a:r>
            <a:r>
              <a:rPr sz="1900" spc="3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Bunun</a:t>
            </a:r>
            <a:r>
              <a:rPr sz="1900" spc="3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yerine,</a:t>
            </a:r>
            <a:r>
              <a:rPr sz="1900" spc="3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bu</a:t>
            </a:r>
            <a:r>
              <a:rPr sz="1900" spc="3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türün</a:t>
            </a:r>
            <a:r>
              <a:rPr sz="19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nesnelerini</a:t>
            </a:r>
            <a:r>
              <a:rPr sz="19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yöneten </a:t>
            </a:r>
            <a:r>
              <a:rPr sz="1900" spc="-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DriverManager</a:t>
            </a:r>
            <a:r>
              <a:rPr sz="1900" spc="-3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nesnesini</a:t>
            </a:r>
            <a:r>
              <a:rPr sz="1900" spc="-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kullanırsınız.</a:t>
            </a:r>
            <a:endParaRPr sz="19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1020"/>
              </a:spcBef>
              <a:buChar char="■"/>
              <a:tabLst>
                <a:tab pos="396240" algn="l"/>
              </a:tabLst>
            </a:pPr>
            <a:r>
              <a:rPr sz="19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Connection:</a:t>
            </a:r>
            <a:r>
              <a:rPr sz="1900" spc="-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Bu</a:t>
            </a:r>
            <a:r>
              <a:rPr sz="1900" spc="37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interface,</a:t>
            </a:r>
            <a:r>
              <a:rPr sz="1900" spc="-5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bütün</a:t>
            </a:r>
            <a:r>
              <a:rPr sz="1900" spc="-5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spc="-3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metotları</a:t>
            </a:r>
            <a:r>
              <a:rPr sz="1900" spc="-5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ile</a:t>
            </a:r>
            <a:r>
              <a:rPr sz="1900" spc="-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u="sng" spc="-10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veritabanına</a:t>
            </a:r>
            <a:r>
              <a:rPr sz="1900" u="sng" spc="-50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1900" u="sng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irtibat</a:t>
            </a:r>
            <a:r>
              <a:rPr sz="1900" u="sng" spc="-55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1900" u="sng" spc="-40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kurmak</a:t>
            </a:r>
            <a:r>
              <a:rPr sz="1900" u="sng" spc="-50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1900" u="sng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için</a:t>
            </a:r>
            <a:r>
              <a:rPr sz="1900" u="sng" spc="-55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kullanılır.</a:t>
            </a:r>
            <a:endParaRPr sz="1900">
              <a:latin typeface="Franklin Gothic Medium"/>
              <a:cs typeface="Franklin Gothic Medium"/>
            </a:endParaRPr>
          </a:p>
          <a:p>
            <a:pPr marL="393065" marR="201295" indent="-381000">
              <a:lnSpc>
                <a:spcPts val="2100"/>
              </a:lnSpc>
              <a:spcBef>
                <a:spcPts val="1340"/>
              </a:spcBef>
              <a:buChar char="■"/>
              <a:tabLst>
                <a:tab pos="393065" algn="l"/>
                <a:tab pos="396240" algn="l"/>
              </a:tabLst>
            </a:pP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	</a:t>
            </a:r>
            <a:r>
              <a:rPr sz="1900" spc="-2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Statement:</a:t>
            </a:r>
            <a:r>
              <a:rPr sz="1900" spc="-7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u="sng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SQL</a:t>
            </a:r>
            <a:r>
              <a:rPr sz="1900" u="sng" spc="-70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1900" u="sng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ifadelerini</a:t>
            </a:r>
            <a:r>
              <a:rPr sz="1900" u="sng" spc="335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1900" u="sng" spc="-10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veritabanına</a:t>
            </a:r>
            <a:r>
              <a:rPr sz="1900" u="sng" spc="-65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1900" u="sng" spc="-25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göndermek</a:t>
            </a:r>
            <a:r>
              <a:rPr sz="1900" u="sng" spc="-70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1900" u="sng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için</a:t>
            </a:r>
            <a:r>
              <a:rPr sz="1900" u="sng" spc="-80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bu</a:t>
            </a:r>
            <a:r>
              <a:rPr sz="1900" spc="-7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spc="-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interface’ten</a:t>
            </a:r>
            <a:r>
              <a:rPr sz="1900" spc="-7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oluşturulan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nesneleri</a:t>
            </a:r>
            <a:r>
              <a:rPr sz="1900" spc="-9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kullanırsınız.</a:t>
            </a:r>
            <a:endParaRPr sz="1900">
              <a:latin typeface="Franklin Gothic Medium"/>
              <a:cs typeface="Franklin Gothic Medium"/>
            </a:endParaRPr>
          </a:p>
          <a:p>
            <a:pPr marL="393065" marR="573405" indent="-381000">
              <a:lnSpc>
                <a:spcPts val="2100"/>
              </a:lnSpc>
              <a:spcBef>
                <a:spcPts val="1300"/>
              </a:spcBef>
              <a:buChar char="■"/>
              <a:tabLst>
                <a:tab pos="393065" algn="l"/>
                <a:tab pos="396240" algn="l"/>
              </a:tabLst>
            </a:pP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	</a:t>
            </a:r>
            <a:r>
              <a:rPr sz="1900" spc="-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ResultSet:</a:t>
            </a:r>
            <a:r>
              <a:rPr sz="1900" spc="-4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spc="-2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Statements</a:t>
            </a:r>
            <a:r>
              <a:rPr sz="1900" spc="-5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nesnelerini</a:t>
            </a:r>
            <a:r>
              <a:rPr sz="1900" spc="-4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spc="-2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kullanarak</a:t>
            </a:r>
            <a:r>
              <a:rPr sz="1900" spc="-4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SQL</a:t>
            </a:r>
            <a:r>
              <a:rPr sz="1900" spc="-5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sorgusunu</a:t>
            </a:r>
            <a:r>
              <a:rPr sz="1900" spc="-4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spc="-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çalıştırdıktan</a:t>
            </a:r>
            <a:r>
              <a:rPr sz="1900" spc="-4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sonra </a:t>
            </a:r>
            <a:r>
              <a:rPr sz="1900" u="sng" spc="-10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veritabanından</a:t>
            </a:r>
            <a:r>
              <a:rPr sz="1900" u="sng" spc="-70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1900" u="sng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alınan</a:t>
            </a:r>
            <a:r>
              <a:rPr sz="1900" u="sng" spc="-65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1900" u="sng" spc="-10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verileri</a:t>
            </a:r>
            <a:r>
              <a:rPr sz="1900" u="sng" spc="-65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1900" u="sng" spc="-30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tutmak</a:t>
            </a:r>
            <a:r>
              <a:rPr sz="1900" u="sng" spc="-70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1900" u="sng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için</a:t>
            </a:r>
            <a:r>
              <a:rPr sz="1900" u="sng" spc="-85" dirty="0">
                <a:solidFill>
                  <a:srgbClr val="191B0E"/>
                </a:solidFill>
                <a:uFill>
                  <a:solidFill>
                    <a:srgbClr val="21231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bu</a:t>
            </a:r>
            <a:r>
              <a:rPr sz="1900" spc="-6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nesneler</a:t>
            </a:r>
            <a:r>
              <a:rPr sz="1900" spc="-6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kullanılır.</a:t>
            </a:r>
            <a:endParaRPr sz="1900">
              <a:latin typeface="Franklin Gothic Medium"/>
              <a:cs typeface="Franklin Gothic Medium"/>
            </a:endParaRPr>
          </a:p>
          <a:p>
            <a:pPr marL="456565" indent="-443865">
              <a:lnSpc>
                <a:spcPct val="100000"/>
              </a:lnSpc>
              <a:spcBef>
                <a:spcPts val="980"/>
              </a:spcBef>
              <a:buChar char="■"/>
              <a:tabLst>
                <a:tab pos="456565" algn="l"/>
              </a:tabLst>
            </a:pP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SQLException:Bu</a:t>
            </a:r>
            <a:r>
              <a:rPr sz="1900" spc="31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sınıf,</a:t>
            </a:r>
            <a:r>
              <a:rPr sz="1900" spc="3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bir</a:t>
            </a:r>
            <a:r>
              <a:rPr sz="1900" spc="3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veritabanı</a:t>
            </a:r>
            <a:r>
              <a:rPr sz="1900" spc="31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uygulamasında</a:t>
            </a:r>
            <a:r>
              <a:rPr sz="1900" spc="3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ortaya</a:t>
            </a:r>
            <a:r>
              <a:rPr sz="1900" spc="3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çıkan</a:t>
            </a:r>
            <a:r>
              <a:rPr sz="1900" spc="-8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hataları</a:t>
            </a:r>
            <a:r>
              <a:rPr sz="1900" spc="-7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ele</a:t>
            </a:r>
            <a:r>
              <a:rPr sz="1900" spc="-8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alır.</a:t>
            </a:r>
            <a:endParaRPr sz="19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0339" y="657353"/>
            <a:ext cx="56807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53564" algn="l"/>
                <a:tab pos="3225165" algn="l"/>
              </a:tabLst>
            </a:pPr>
            <a:r>
              <a:rPr spc="-10" dirty="0"/>
              <a:t>Projeye</a:t>
            </a:r>
            <a:r>
              <a:rPr dirty="0"/>
              <a:t>	</a:t>
            </a:r>
            <a:r>
              <a:rPr spc="-20" dirty="0"/>
              <a:t>JDBC</a:t>
            </a:r>
            <a:r>
              <a:rPr dirty="0"/>
              <a:t>	</a:t>
            </a:r>
            <a:r>
              <a:rPr spc="-50" dirty="0"/>
              <a:t>Eklenmesi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7623" y="1615098"/>
            <a:ext cx="6035535" cy="461412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50339" y="2176779"/>
            <a:ext cx="3477895" cy="22098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96240" indent="-383540">
              <a:lnSpc>
                <a:spcPct val="100000"/>
              </a:lnSpc>
              <a:spcBef>
                <a:spcPts val="1100"/>
              </a:spcBef>
              <a:buChar char="■"/>
              <a:tabLst>
                <a:tab pos="396240" algn="l"/>
              </a:tabLst>
            </a:pPr>
            <a:r>
              <a:rPr sz="2000" spc="-2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Proje</a:t>
            </a:r>
            <a:r>
              <a:rPr sz="2000" spc="-8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sağ</a:t>
            </a:r>
            <a:r>
              <a:rPr sz="2000" spc="-8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tık</a:t>
            </a:r>
            <a:endParaRPr sz="2000">
              <a:latin typeface="Franklin Gothic Medium"/>
              <a:cs typeface="Franklin Gothic Medium"/>
            </a:endParaRPr>
          </a:p>
          <a:p>
            <a:pPr marL="396240" indent="-383540">
              <a:lnSpc>
                <a:spcPts val="2330"/>
              </a:lnSpc>
              <a:spcBef>
                <a:spcPts val="1000"/>
              </a:spcBef>
              <a:buChar char="■"/>
              <a:tabLst>
                <a:tab pos="396240" algn="l"/>
              </a:tabLst>
            </a:pP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Properties</a:t>
            </a:r>
            <a:endParaRPr sz="2000">
              <a:latin typeface="Franklin Gothic Medium"/>
              <a:cs typeface="Franklin Gothic Medium"/>
            </a:endParaRPr>
          </a:p>
          <a:p>
            <a:pPr marL="62230">
              <a:lnSpc>
                <a:spcPts val="1360"/>
              </a:lnSpc>
              <a:tabLst>
                <a:tab pos="340995" algn="l"/>
              </a:tabLst>
            </a:pPr>
            <a:r>
              <a:rPr sz="1350" b="1" spc="-50" dirty="0">
                <a:latin typeface="Times New Roman"/>
                <a:cs typeface="Times New Roman"/>
              </a:rPr>
              <a:t>-</a:t>
            </a:r>
            <a:r>
              <a:rPr sz="1350" b="1" dirty="0">
                <a:latin typeface="Times New Roman"/>
                <a:cs typeface="Times New Roman"/>
              </a:rPr>
              <a:t>	Java</a:t>
            </a:r>
            <a:r>
              <a:rPr sz="1350" b="1" spc="60" dirty="0">
                <a:latin typeface="Times New Roman"/>
                <a:cs typeface="Times New Roman"/>
              </a:rPr>
              <a:t> </a:t>
            </a:r>
            <a:r>
              <a:rPr sz="1350" b="1" dirty="0">
                <a:latin typeface="Times New Roman"/>
                <a:cs typeface="Times New Roman"/>
              </a:rPr>
              <a:t>Build</a:t>
            </a:r>
            <a:r>
              <a:rPr sz="1350" b="1" spc="60" dirty="0">
                <a:latin typeface="Times New Roman"/>
                <a:cs typeface="Times New Roman"/>
              </a:rPr>
              <a:t> </a:t>
            </a:r>
            <a:r>
              <a:rPr sz="1350" b="1" spc="-20" dirty="0">
                <a:latin typeface="Times New Roman"/>
                <a:cs typeface="Times New Roman"/>
              </a:rPr>
              <a:t>Path</a:t>
            </a:r>
            <a:endParaRPr sz="1350">
              <a:latin typeface="Times New Roman"/>
              <a:cs typeface="Times New Roman"/>
            </a:endParaRPr>
          </a:p>
          <a:p>
            <a:pPr marL="396240" indent="-383540">
              <a:lnSpc>
                <a:spcPts val="2210"/>
              </a:lnSpc>
              <a:buChar char="■"/>
              <a:tabLst>
                <a:tab pos="396240" algn="l"/>
              </a:tabLst>
            </a:pP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Libraries</a:t>
            </a:r>
            <a:endParaRPr sz="20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1000"/>
              </a:spcBef>
              <a:buChar char="■"/>
              <a:tabLst>
                <a:tab pos="396240" algn="l"/>
              </a:tabLst>
            </a:pPr>
            <a:r>
              <a:rPr sz="2000" spc="-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Add</a:t>
            </a:r>
            <a:r>
              <a:rPr sz="2000" spc="-10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JAR/Folder</a:t>
            </a:r>
            <a:endParaRPr sz="2000">
              <a:latin typeface="Franklin Gothic Medium"/>
              <a:cs typeface="Franklin Gothic Medium"/>
            </a:endParaRPr>
          </a:p>
          <a:p>
            <a:pPr marL="396240" indent="-383540">
              <a:lnSpc>
                <a:spcPct val="100000"/>
              </a:lnSpc>
              <a:spcBef>
                <a:spcPts val="1100"/>
              </a:spcBef>
              <a:buChar char="■"/>
              <a:tabLst>
                <a:tab pos="396240" algn="l"/>
              </a:tabLst>
            </a:pP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JDBC</a:t>
            </a:r>
            <a:r>
              <a:rPr sz="2000" spc="-7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driver</a:t>
            </a:r>
            <a:r>
              <a:rPr sz="2000" spc="-7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seçilir</a:t>
            </a:r>
            <a:r>
              <a:rPr sz="2000" spc="-7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ve</a:t>
            </a:r>
            <a:r>
              <a:rPr sz="2000" spc="-7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eklenir.</a:t>
            </a:r>
            <a:endParaRPr sz="2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import</a:t>
            </a:r>
            <a:r>
              <a:rPr spc="-229" dirty="0"/>
              <a:t> </a:t>
            </a:r>
            <a:r>
              <a:rPr spc="-10" dirty="0"/>
              <a:t>java.sql.*;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339" y="2176779"/>
            <a:ext cx="7485380" cy="1333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180204">
              <a:lnSpc>
                <a:spcPct val="141700"/>
              </a:lnSpc>
              <a:spcBef>
                <a:spcPts val="100"/>
              </a:spcBef>
            </a:pP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Driver’ı</a:t>
            </a:r>
            <a:r>
              <a:rPr sz="2000" spc="-4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ekledikten</a:t>
            </a:r>
            <a:r>
              <a:rPr sz="2000" spc="-4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sonra</a:t>
            </a:r>
            <a:r>
              <a:rPr sz="2000" spc="-4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,</a:t>
            </a:r>
            <a:r>
              <a:rPr sz="2000" spc="-4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artık </a:t>
            </a:r>
            <a:r>
              <a:rPr sz="2000" spc="-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import</a:t>
            </a:r>
            <a:r>
              <a:rPr sz="2000" spc="-9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java.sql.*;</a:t>
            </a:r>
            <a:endParaRPr sz="20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000" spc="-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diyerek,</a:t>
            </a:r>
            <a:r>
              <a:rPr sz="2000" spc="-8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veritabanımıza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bağlanıp,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sql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sorgularımızı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java’da</a:t>
            </a:r>
            <a:r>
              <a:rPr sz="2000" spc="-6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yazabiliririz.</a:t>
            </a:r>
            <a:endParaRPr sz="2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5798" y="1178604"/>
            <a:ext cx="798258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Kodun</a:t>
            </a:r>
            <a:r>
              <a:rPr sz="2800" spc="-110" dirty="0"/>
              <a:t> </a:t>
            </a:r>
            <a:r>
              <a:rPr sz="2800" dirty="0"/>
              <a:t>içinde</a:t>
            </a:r>
            <a:r>
              <a:rPr sz="2800" spc="-114" dirty="0"/>
              <a:t> </a:t>
            </a:r>
            <a:r>
              <a:rPr sz="2800" spc="-20" dirty="0"/>
              <a:t>veritabanına</a:t>
            </a:r>
            <a:r>
              <a:rPr sz="2800" spc="-105" dirty="0"/>
              <a:t> </a:t>
            </a:r>
            <a:r>
              <a:rPr sz="2800" spc="-20" dirty="0"/>
              <a:t>bağlanıp,</a:t>
            </a:r>
            <a:r>
              <a:rPr sz="2800" spc="-110" dirty="0"/>
              <a:t> </a:t>
            </a:r>
            <a:r>
              <a:rPr sz="2800" dirty="0"/>
              <a:t>sorgu</a:t>
            </a:r>
            <a:r>
              <a:rPr sz="2800" spc="-110" dirty="0"/>
              <a:t> </a:t>
            </a:r>
            <a:r>
              <a:rPr sz="2800" spc="-10" dirty="0"/>
              <a:t>çalıştırma;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885562" y="1849672"/>
            <a:ext cx="10603865" cy="295910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900" spc="-10" dirty="0">
                <a:solidFill>
                  <a:srgbClr val="008040"/>
                </a:solidFill>
                <a:latin typeface="Franklin Gothic Medium"/>
                <a:cs typeface="Franklin Gothic Medium"/>
              </a:rPr>
              <a:t>Connection</a:t>
            </a:r>
            <a:r>
              <a:rPr sz="1900" spc="-45" dirty="0">
                <a:solidFill>
                  <a:srgbClr val="008040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008040"/>
                </a:solidFill>
                <a:latin typeface="Franklin Gothic Medium"/>
                <a:cs typeface="Franklin Gothic Medium"/>
              </a:rPr>
              <a:t>conn</a:t>
            </a:r>
            <a:r>
              <a:rPr sz="1900" spc="-40" dirty="0">
                <a:solidFill>
                  <a:srgbClr val="008040"/>
                </a:solidFill>
                <a:latin typeface="Franklin Gothic Medium"/>
                <a:cs typeface="Franklin Gothic Medium"/>
              </a:rPr>
              <a:t> </a:t>
            </a:r>
            <a:r>
              <a:rPr sz="1900" spc="-50" dirty="0">
                <a:solidFill>
                  <a:srgbClr val="008040"/>
                </a:solidFill>
                <a:latin typeface="Franklin Gothic Medium"/>
                <a:cs typeface="Franklin Gothic Medium"/>
              </a:rPr>
              <a:t>=</a:t>
            </a:r>
            <a:endParaRPr sz="1900" dirty="0">
              <a:latin typeface="Franklin Gothic Medium"/>
              <a:cs typeface="Franklin Gothic Medium"/>
            </a:endParaRPr>
          </a:p>
          <a:p>
            <a:pPr marL="73025" marR="5080">
              <a:lnSpc>
                <a:spcPct val="127200"/>
              </a:lnSpc>
            </a:pPr>
            <a:r>
              <a:rPr sz="1900" spc="-30" dirty="0">
                <a:solidFill>
                  <a:srgbClr val="008040"/>
                </a:solidFill>
                <a:latin typeface="Franklin Gothic Medium"/>
                <a:cs typeface="Franklin Gothic Medium"/>
              </a:rPr>
              <a:t>DriverManager.getConnection("jdbc:postgresql://localhost:5432/company",</a:t>
            </a:r>
            <a:r>
              <a:rPr sz="1900" spc="180" dirty="0">
                <a:solidFill>
                  <a:srgbClr val="008040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008040"/>
                </a:solidFill>
                <a:latin typeface="Franklin Gothic Medium"/>
                <a:cs typeface="Franklin Gothic Medium"/>
              </a:rPr>
              <a:t>“user_name”,</a:t>
            </a:r>
            <a:r>
              <a:rPr sz="1900" spc="185" dirty="0">
                <a:solidFill>
                  <a:srgbClr val="008040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008040"/>
                </a:solidFill>
                <a:latin typeface="Franklin Gothic Medium"/>
                <a:cs typeface="Franklin Gothic Medium"/>
              </a:rPr>
              <a:t>“password”); </a:t>
            </a:r>
            <a:r>
              <a:rPr sz="1900" spc="-30" dirty="0">
                <a:solidFill>
                  <a:srgbClr val="FF8000"/>
                </a:solidFill>
                <a:latin typeface="Franklin Gothic Medium"/>
                <a:cs typeface="Franklin Gothic Medium"/>
              </a:rPr>
              <a:t>Statement</a:t>
            </a:r>
            <a:r>
              <a:rPr sz="1900" spc="-15" dirty="0">
                <a:solidFill>
                  <a:srgbClr val="FF8000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FF8000"/>
                </a:solidFill>
                <a:latin typeface="Franklin Gothic Medium"/>
                <a:cs typeface="Franklin Gothic Medium"/>
              </a:rPr>
              <a:t>s</a:t>
            </a:r>
            <a:r>
              <a:rPr sz="1900" spc="-10" dirty="0">
                <a:solidFill>
                  <a:srgbClr val="FF8000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FF8000"/>
                </a:solidFill>
                <a:latin typeface="Franklin Gothic Medium"/>
                <a:cs typeface="Franklin Gothic Medium"/>
              </a:rPr>
              <a:t>=</a:t>
            </a:r>
            <a:r>
              <a:rPr sz="1900" spc="-15" dirty="0">
                <a:solidFill>
                  <a:srgbClr val="FF8000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FF8000"/>
                </a:solidFill>
                <a:latin typeface="Franklin Gothic Medium"/>
                <a:cs typeface="Franklin Gothic Medium"/>
              </a:rPr>
              <a:t>conn.createStatement();</a:t>
            </a:r>
            <a:endParaRPr sz="1900" dirty="0">
              <a:latin typeface="Franklin Gothic Medium"/>
              <a:cs typeface="Franklin Gothic Medium"/>
            </a:endParaRPr>
          </a:p>
          <a:p>
            <a:pPr marL="73025">
              <a:lnSpc>
                <a:spcPct val="100000"/>
              </a:lnSpc>
              <a:spcBef>
                <a:spcPts val="620"/>
              </a:spcBef>
            </a:pPr>
            <a:r>
              <a:rPr sz="1900" spc="-20" dirty="0">
                <a:solidFill>
                  <a:srgbClr val="0000FF"/>
                </a:solidFill>
                <a:latin typeface="Franklin Gothic Medium"/>
                <a:cs typeface="Franklin Gothic Medium"/>
              </a:rPr>
              <a:t>ResultSet</a:t>
            </a:r>
            <a:r>
              <a:rPr sz="1900" spc="-25" dirty="0">
                <a:solidFill>
                  <a:srgbClr val="0000FF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0000FF"/>
                </a:solidFill>
                <a:latin typeface="Franklin Gothic Medium"/>
                <a:cs typeface="Franklin Gothic Medium"/>
              </a:rPr>
              <a:t>r</a:t>
            </a:r>
            <a:r>
              <a:rPr sz="1900" spc="-15" dirty="0">
                <a:solidFill>
                  <a:srgbClr val="0000FF"/>
                </a:solidFill>
                <a:latin typeface="Franklin Gothic Medium"/>
                <a:cs typeface="Franklin Gothic Medium"/>
              </a:rPr>
              <a:t> </a:t>
            </a:r>
            <a:r>
              <a:rPr sz="1900" dirty="0">
                <a:solidFill>
                  <a:srgbClr val="0000FF"/>
                </a:solidFill>
                <a:latin typeface="Franklin Gothic Medium"/>
                <a:cs typeface="Franklin Gothic Medium"/>
              </a:rPr>
              <a:t>=</a:t>
            </a:r>
            <a:r>
              <a:rPr sz="1900" spc="-15" dirty="0">
                <a:solidFill>
                  <a:srgbClr val="0000FF"/>
                </a:solidFill>
                <a:latin typeface="Franklin Gothic Medium"/>
                <a:cs typeface="Franklin Gothic Medium"/>
              </a:rPr>
              <a:t> </a:t>
            </a:r>
            <a:r>
              <a:rPr sz="1900" spc="-10" dirty="0">
                <a:solidFill>
                  <a:srgbClr val="0000FF"/>
                </a:solidFill>
                <a:latin typeface="Franklin Gothic Medium"/>
                <a:cs typeface="Franklin Gothic Medium"/>
              </a:rPr>
              <a:t>s.executeQuery(query);</a:t>
            </a:r>
            <a:endParaRPr sz="1900" dirty="0">
              <a:latin typeface="Franklin Gothic Medium"/>
              <a:cs typeface="Franklin Gothic Medium"/>
            </a:endParaRPr>
          </a:p>
          <a:p>
            <a:pPr marL="6351270" marR="74295">
              <a:lnSpc>
                <a:spcPts val="1560"/>
              </a:lnSpc>
              <a:spcBef>
                <a:spcPts val="950"/>
              </a:spcBef>
            </a:pPr>
            <a:r>
              <a:rPr sz="1350" b="1" spc="-10" dirty="0">
                <a:latin typeface="Times New Roman"/>
                <a:cs typeface="Times New Roman"/>
              </a:rPr>
              <a:t>jdbc:postgresql://servername:serverport/databasename</a:t>
            </a:r>
            <a:r>
              <a:rPr sz="1350" b="1" spc="500" dirty="0">
                <a:latin typeface="Times New Roman"/>
                <a:cs typeface="Times New Roman"/>
              </a:rPr>
              <a:t> </a:t>
            </a:r>
            <a:r>
              <a:rPr sz="1350" b="1" dirty="0">
                <a:latin typeface="Times New Roman"/>
                <a:cs typeface="Times New Roman"/>
              </a:rPr>
              <a:t>(port</a:t>
            </a:r>
            <a:r>
              <a:rPr sz="1350" b="1" spc="75" dirty="0">
                <a:latin typeface="Times New Roman"/>
                <a:cs typeface="Times New Roman"/>
              </a:rPr>
              <a:t> </a:t>
            </a:r>
            <a:r>
              <a:rPr sz="1350" b="1" dirty="0">
                <a:latin typeface="Times New Roman"/>
                <a:cs typeface="Times New Roman"/>
              </a:rPr>
              <a:t>numarası</a:t>
            </a:r>
            <a:r>
              <a:rPr sz="1350" b="1" spc="75" dirty="0">
                <a:latin typeface="Times New Roman"/>
                <a:cs typeface="Times New Roman"/>
              </a:rPr>
              <a:t> </a:t>
            </a:r>
            <a:r>
              <a:rPr sz="1350" b="1" dirty="0">
                <a:latin typeface="Times New Roman"/>
                <a:cs typeface="Times New Roman"/>
              </a:rPr>
              <a:t>default</a:t>
            </a:r>
            <a:r>
              <a:rPr sz="1350" b="1" spc="80" dirty="0">
                <a:latin typeface="Times New Roman"/>
                <a:cs typeface="Times New Roman"/>
              </a:rPr>
              <a:t> </a:t>
            </a:r>
            <a:r>
              <a:rPr sz="1350" b="1" dirty="0">
                <a:latin typeface="Times New Roman"/>
                <a:cs typeface="Times New Roman"/>
              </a:rPr>
              <a:t>olarak:</a:t>
            </a:r>
            <a:r>
              <a:rPr sz="1350" b="1" spc="75" dirty="0">
                <a:latin typeface="Times New Roman"/>
                <a:cs typeface="Times New Roman"/>
              </a:rPr>
              <a:t> </a:t>
            </a:r>
            <a:r>
              <a:rPr sz="1350" b="1" spc="-10" dirty="0">
                <a:latin typeface="Times New Roman"/>
                <a:cs typeface="Times New Roman"/>
              </a:rPr>
              <a:t>5432)</a:t>
            </a:r>
            <a:endParaRPr sz="1350" dirty="0">
              <a:latin typeface="Times New Roman"/>
              <a:cs typeface="Times New Roman"/>
            </a:endParaRPr>
          </a:p>
          <a:p>
            <a:pPr marL="12700">
              <a:lnSpc>
                <a:spcPts val="1730"/>
              </a:lnSpc>
            </a:pPr>
            <a:r>
              <a:rPr sz="1900" spc="-10" dirty="0">
                <a:latin typeface="Franklin Gothic Medium"/>
                <a:cs typeface="Franklin Gothic Medium"/>
              </a:rPr>
              <a:t>Connection</a:t>
            </a:r>
            <a:r>
              <a:rPr sz="1900" spc="-50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Wingdings"/>
                <a:cs typeface="Wingdings"/>
              </a:rPr>
              <a:t>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VT’ye</a:t>
            </a:r>
            <a:r>
              <a:rPr sz="1900" spc="-45" dirty="0">
                <a:latin typeface="Franklin Gothic Medium"/>
                <a:cs typeface="Franklin Gothic Medium"/>
              </a:rPr>
              <a:t> </a:t>
            </a:r>
            <a:r>
              <a:rPr sz="1900" spc="-10" dirty="0">
                <a:latin typeface="Franklin Gothic Medium"/>
                <a:cs typeface="Franklin Gothic Medium"/>
              </a:rPr>
              <a:t>irtibat</a:t>
            </a:r>
            <a:r>
              <a:rPr sz="1900" spc="-50" dirty="0">
                <a:latin typeface="Franklin Gothic Medium"/>
                <a:cs typeface="Franklin Gothic Medium"/>
              </a:rPr>
              <a:t> </a:t>
            </a:r>
            <a:r>
              <a:rPr sz="1900" spc="-40" dirty="0">
                <a:latin typeface="Franklin Gothic Medium"/>
                <a:cs typeface="Franklin Gothic Medium"/>
              </a:rPr>
              <a:t>kurmak</a:t>
            </a:r>
            <a:r>
              <a:rPr sz="1900" spc="-50" dirty="0">
                <a:latin typeface="Franklin Gothic Medium"/>
                <a:cs typeface="Franklin Gothic Medium"/>
              </a:rPr>
              <a:t> </a:t>
            </a:r>
            <a:r>
              <a:rPr sz="1900" spc="-20" dirty="0">
                <a:latin typeface="Franklin Gothic Medium"/>
                <a:cs typeface="Franklin Gothic Medium"/>
              </a:rPr>
              <a:t>için</a:t>
            </a:r>
            <a:endParaRPr sz="1900" dirty="0">
              <a:latin typeface="Franklin Gothic Medium"/>
              <a:cs typeface="Franklin Gothic Medium"/>
            </a:endParaRPr>
          </a:p>
          <a:p>
            <a:pPr marL="12700" marR="5459730">
              <a:lnSpc>
                <a:spcPct val="122800"/>
              </a:lnSpc>
              <a:spcBef>
                <a:spcPts val="100"/>
              </a:spcBef>
            </a:pPr>
            <a:r>
              <a:rPr sz="1900" spc="-30" dirty="0">
                <a:latin typeface="Franklin Gothic Medium"/>
                <a:cs typeface="Franklin Gothic Medium"/>
              </a:rPr>
              <a:t>Statement</a:t>
            </a:r>
            <a:r>
              <a:rPr sz="1900" spc="-45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Wingdings"/>
                <a:cs typeface="Wingdings"/>
              </a:rPr>
              <a:t>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SQL</a:t>
            </a:r>
            <a:r>
              <a:rPr sz="1900" spc="-40" dirty="0">
                <a:latin typeface="Franklin Gothic Medium"/>
                <a:cs typeface="Franklin Gothic Medium"/>
              </a:rPr>
              <a:t> </a:t>
            </a:r>
            <a:r>
              <a:rPr sz="1900" spc="-20" dirty="0">
                <a:latin typeface="Franklin Gothic Medium"/>
                <a:cs typeface="Franklin Gothic Medium"/>
              </a:rPr>
              <a:t>ifadelerini</a:t>
            </a:r>
            <a:r>
              <a:rPr sz="1900" spc="-35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VT’ye</a:t>
            </a:r>
            <a:r>
              <a:rPr sz="1900" spc="-45" dirty="0">
                <a:latin typeface="Franklin Gothic Medium"/>
                <a:cs typeface="Franklin Gothic Medium"/>
              </a:rPr>
              <a:t> </a:t>
            </a:r>
            <a:r>
              <a:rPr sz="1900" spc="-30" dirty="0">
                <a:latin typeface="Franklin Gothic Medium"/>
                <a:cs typeface="Franklin Gothic Medium"/>
              </a:rPr>
              <a:t>göndermek</a:t>
            </a:r>
            <a:r>
              <a:rPr sz="1900" spc="-45" dirty="0">
                <a:latin typeface="Franklin Gothic Medium"/>
                <a:cs typeface="Franklin Gothic Medium"/>
              </a:rPr>
              <a:t> </a:t>
            </a:r>
            <a:r>
              <a:rPr sz="1900" spc="-20" dirty="0">
                <a:latin typeface="Franklin Gothic Medium"/>
                <a:cs typeface="Franklin Gothic Medium"/>
              </a:rPr>
              <a:t>için ResultSet</a:t>
            </a:r>
            <a:r>
              <a:rPr sz="1900" spc="-45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Wingdings"/>
                <a:cs typeface="Wingdings"/>
              </a:rPr>
              <a:t>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Franklin Gothic Medium"/>
                <a:cs typeface="Franklin Gothic Medium"/>
              </a:rPr>
              <a:t>Sonuçları</a:t>
            </a:r>
            <a:r>
              <a:rPr sz="1900" spc="-40" dirty="0">
                <a:latin typeface="Franklin Gothic Medium"/>
                <a:cs typeface="Franklin Gothic Medium"/>
              </a:rPr>
              <a:t> almak</a:t>
            </a:r>
            <a:r>
              <a:rPr sz="1900" spc="-45" dirty="0">
                <a:latin typeface="Franklin Gothic Medium"/>
                <a:cs typeface="Franklin Gothic Medium"/>
              </a:rPr>
              <a:t> </a:t>
            </a:r>
            <a:r>
              <a:rPr sz="1900" spc="-20" dirty="0">
                <a:latin typeface="Franklin Gothic Medium"/>
                <a:cs typeface="Franklin Gothic Medium"/>
              </a:rPr>
              <a:t>için</a:t>
            </a:r>
            <a:endParaRPr sz="1900" dirty="0">
              <a:latin typeface="Franklin Gothic Medium"/>
              <a:cs typeface="Franklin Gothic Medium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458865" y="2700053"/>
            <a:ext cx="825500" cy="680720"/>
            <a:chOff x="7458865" y="2700053"/>
            <a:chExt cx="825500" cy="680720"/>
          </a:xfrm>
        </p:grpSpPr>
        <p:sp>
          <p:nvSpPr>
            <p:cNvPr id="5" name="object 5"/>
            <p:cNvSpPr/>
            <p:nvPr/>
          </p:nvSpPr>
          <p:spPr>
            <a:xfrm>
              <a:off x="7981392" y="3097498"/>
              <a:ext cx="302895" cy="283210"/>
            </a:xfrm>
            <a:custGeom>
              <a:avLst/>
              <a:gdLst/>
              <a:ahLst/>
              <a:cxnLst/>
              <a:rect l="l" t="t" r="r" b="b"/>
              <a:pathLst>
                <a:path w="302895" h="283210">
                  <a:moveTo>
                    <a:pt x="175779" y="0"/>
                  </a:moveTo>
                  <a:lnTo>
                    <a:pt x="0" y="214698"/>
                  </a:lnTo>
                  <a:lnTo>
                    <a:pt x="302588" y="283129"/>
                  </a:lnTo>
                  <a:lnTo>
                    <a:pt x="175779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86613" y="2727801"/>
              <a:ext cx="598170" cy="490220"/>
            </a:xfrm>
            <a:custGeom>
              <a:avLst/>
              <a:gdLst/>
              <a:ahLst/>
              <a:cxnLst/>
              <a:rect l="l" t="t" r="r" b="b"/>
              <a:pathLst>
                <a:path w="598170" h="490219">
                  <a:moveTo>
                    <a:pt x="0" y="0"/>
                  </a:moveTo>
                  <a:lnTo>
                    <a:pt x="19933" y="16321"/>
                  </a:lnTo>
                  <a:lnTo>
                    <a:pt x="39867" y="32641"/>
                  </a:lnTo>
                  <a:lnTo>
                    <a:pt x="59801" y="48962"/>
                  </a:lnTo>
                  <a:lnTo>
                    <a:pt x="79736" y="65283"/>
                  </a:lnTo>
                  <a:lnTo>
                    <a:pt x="99670" y="81602"/>
                  </a:lnTo>
                  <a:lnTo>
                    <a:pt x="119604" y="97923"/>
                  </a:lnTo>
                  <a:lnTo>
                    <a:pt x="139538" y="114244"/>
                  </a:lnTo>
                  <a:lnTo>
                    <a:pt x="159473" y="130565"/>
                  </a:lnTo>
                  <a:lnTo>
                    <a:pt x="179407" y="146886"/>
                  </a:lnTo>
                  <a:lnTo>
                    <a:pt x="199341" y="163206"/>
                  </a:lnTo>
                  <a:lnTo>
                    <a:pt x="219275" y="179527"/>
                  </a:lnTo>
                  <a:lnTo>
                    <a:pt x="239209" y="195848"/>
                  </a:lnTo>
                  <a:lnTo>
                    <a:pt x="259144" y="212169"/>
                  </a:lnTo>
                  <a:lnTo>
                    <a:pt x="279078" y="228489"/>
                  </a:lnTo>
                  <a:lnTo>
                    <a:pt x="299012" y="244810"/>
                  </a:lnTo>
                  <a:lnTo>
                    <a:pt x="318946" y="261131"/>
                  </a:lnTo>
                  <a:lnTo>
                    <a:pt x="338881" y="277452"/>
                  </a:lnTo>
                  <a:lnTo>
                    <a:pt x="358815" y="293772"/>
                  </a:lnTo>
                  <a:lnTo>
                    <a:pt x="378749" y="310093"/>
                  </a:lnTo>
                  <a:lnTo>
                    <a:pt x="398683" y="326413"/>
                  </a:lnTo>
                  <a:lnTo>
                    <a:pt x="418617" y="342733"/>
                  </a:lnTo>
                  <a:lnTo>
                    <a:pt x="438552" y="359054"/>
                  </a:lnTo>
                  <a:lnTo>
                    <a:pt x="458486" y="375375"/>
                  </a:lnTo>
                  <a:lnTo>
                    <a:pt x="478420" y="391696"/>
                  </a:lnTo>
                  <a:lnTo>
                    <a:pt x="498354" y="408017"/>
                  </a:lnTo>
                  <a:lnTo>
                    <a:pt x="518289" y="424337"/>
                  </a:lnTo>
                  <a:lnTo>
                    <a:pt x="538223" y="440658"/>
                  </a:lnTo>
                  <a:lnTo>
                    <a:pt x="558157" y="456979"/>
                  </a:lnTo>
                  <a:lnTo>
                    <a:pt x="578090" y="473300"/>
                  </a:lnTo>
                  <a:lnTo>
                    <a:pt x="598026" y="489620"/>
                  </a:lnTo>
                </a:path>
              </a:pathLst>
            </a:custGeom>
            <a:ln w="55495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1634" y="362221"/>
            <a:ext cx="9441815" cy="818173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2900"/>
              </a:lnSpc>
              <a:spcBef>
                <a:spcPts val="580"/>
              </a:spcBef>
            </a:pPr>
            <a:r>
              <a:rPr lang="tr-TR" sz="2800" spc="-30" dirty="0">
                <a:latin typeface="Franklin Gothic Medium"/>
                <a:cs typeface="Franklin Gothic Medium"/>
              </a:rPr>
              <a:t>Statement</a:t>
            </a:r>
            <a:r>
              <a:rPr lang="tr-TR" sz="2800" spc="-40" dirty="0">
                <a:latin typeface="Franklin Gothic Medium"/>
                <a:cs typeface="Franklin Gothic Medium"/>
              </a:rPr>
              <a:t> </a:t>
            </a:r>
            <a:r>
              <a:rPr lang="tr-TR" sz="2800" spc="-10" dirty="0">
                <a:latin typeface="Franklin Gothic Medium"/>
                <a:cs typeface="Franklin Gothic Medium"/>
              </a:rPr>
              <a:t>sınıfına</a:t>
            </a:r>
            <a:r>
              <a:rPr lang="tr-TR" sz="2800" spc="-40" dirty="0">
                <a:latin typeface="Franklin Gothic Medium"/>
                <a:cs typeface="Franklin Gothic Medium"/>
              </a:rPr>
              <a:t> </a:t>
            </a:r>
            <a:r>
              <a:rPr lang="tr-TR" sz="2800" dirty="0">
                <a:latin typeface="Franklin Gothic Medium"/>
                <a:cs typeface="Franklin Gothic Medium"/>
              </a:rPr>
              <a:t>ait</a:t>
            </a:r>
            <a:r>
              <a:rPr lang="tr-TR" sz="2800" spc="-45" dirty="0">
                <a:latin typeface="Franklin Gothic Medium"/>
                <a:cs typeface="Franklin Gothic Medium"/>
              </a:rPr>
              <a:t> </a:t>
            </a:r>
            <a:r>
              <a:rPr lang="tr-TR" sz="2800" dirty="0">
                <a:latin typeface="Franklin Gothic Medium"/>
                <a:cs typeface="Franklin Gothic Medium"/>
              </a:rPr>
              <a:t>2</a:t>
            </a:r>
            <a:r>
              <a:rPr lang="tr-TR" sz="2800" spc="-45" dirty="0">
                <a:latin typeface="Franklin Gothic Medium"/>
                <a:cs typeface="Franklin Gothic Medium"/>
              </a:rPr>
              <a:t> </a:t>
            </a:r>
            <a:r>
              <a:rPr lang="tr-TR" sz="2800" spc="-10" dirty="0" err="1">
                <a:latin typeface="Franklin Gothic Medium"/>
                <a:cs typeface="Franklin Gothic Medium"/>
              </a:rPr>
              <a:t>metod</a:t>
            </a:r>
            <a:r>
              <a:rPr lang="tr-TR" sz="2800" spc="-10" dirty="0">
                <a:latin typeface="Franklin Gothic Medium"/>
                <a:cs typeface="Franklin Gothic Medium"/>
              </a:rPr>
              <a:t>;</a:t>
            </a:r>
            <a:br>
              <a:rPr lang="tr-TR" sz="2800" dirty="0">
                <a:latin typeface="Franklin Gothic Medium"/>
                <a:cs typeface="Franklin Gothic Medium"/>
              </a:rPr>
            </a:b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885562" y="1620310"/>
            <a:ext cx="10509250" cy="126957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 dirty="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2000" dirty="0">
              <a:latin typeface="Franklin Gothic Medium"/>
              <a:cs typeface="Franklin Gothic Medium"/>
            </a:endParaRPr>
          </a:p>
          <a:p>
            <a:pPr marL="354330">
              <a:lnSpc>
                <a:spcPts val="2130"/>
              </a:lnSpc>
            </a:pPr>
            <a:r>
              <a:rPr sz="1800" spc="-25" dirty="0" err="1">
                <a:latin typeface="Franklin Gothic Medium"/>
                <a:cs typeface="Franklin Gothic Medium"/>
              </a:rPr>
              <a:t>executeQuery</a:t>
            </a:r>
            <a:r>
              <a:rPr sz="1800" spc="-25" dirty="0">
                <a:latin typeface="Franklin Gothic Medium"/>
                <a:cs typeface="Franklin Gothic Medium"/>
              </a:rPr>
              <a:t>()</a:t>
            </a:r>
            <a:r>
              <a:rPr sz="1800" spc="-5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:</a:t>
            </a:r>
            <a:r>
              <a:rPr sz="1800" spc="-5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select</a:t>
            </a:r>
            <a:r>
              <a:rPr sz="1800" spc="-5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ile</a:t>
            </a:r>
            <a:r>
              <a:rPr sz="1800" spc="-45" dirty="0">
                <a:latin typeface="Franklin Gothic Medium"/>
                <a:cs typeface="Franklin Gothic Medium"/>
              </a:rPr>
              <a:t> </a:t>
            </a:r>
            <a:r>
              <a:rPr sz="1800" spc="-20" dirty="0">
                <a:latin typeface="Franklin Gothic Medium"/>
                <a:cs typeface="Franklin Gothic Medium"/>
              </a:rPr>
              <a:t>başlayan</a:t>
            </a:r>
            <a:r>
              <a:rPr sz="1800" spc="-50" dirty="0"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Franklin Gothic Medium"/>
                <a:cs typeface="Franklin Gothic Medium"/>
              </a:rPr>
              <a:t>sorguları</a:t>
            </a:r>
            <a:r>
              <a:rPr sz="1800" spc="-45" dirty="0">
                <a:latin typeface="Franklin Gothic Medium"/>
                <a:cs typeface="Franklin Gothic Medium"/>
              </a:rPr>
              <a:t> </a:t>
            </a:r>
            <a:r>
              <a:rPr sz="1800" spc="-10" dirty="0" err="1">
                <a:latin typeface="Franklin Gothic Medium"/>
                <a:cs typeface="Franklin Gothic Medium"/>
              </a:rPr>
              <a:t>çalıştırır</a:t>
            </a:r>
            <a:r>
              <a:rPr sz="1800" spc="-10" dirty="0">
                <a:latin typeface="Franklin Gothic Medium"/>
                <a:cs typeface="Franklin Gothic Medium"/>
              </a:rPr>
              <a:t>.</a:t>
            </a:r>
            <a:endParaRPr lang="tr-TR" dirty="0">
              <a:latin typeface="Franklin Gothic Medium"/>
              <a:cs typeface="Franklin Gothic Medium"/>
            </a:endParaRPr>
          </a:p>
          <a:p>
            <a:pPr marL="354330">
              <a:lnSpc>
                <a:spcPts val="2130"/>
              </a:lnSpc>
            </a:pPr>
            <a:r>
              <a:rPr sz="1800" spc="-30" dirty="0" err="1">
                <a:latin typeface="Franklin Gothic Medium"/>
                <a:cs typeface="Franklin Gothic Medium"/>
              </a:rPr>
              <a:t>executeUpdate</a:t>
            </a:r>
            <a:r>
              <a:rPr sz="1800" spc="-30" dirty="0">
                <a:latin typeface="Franklin Gothic Medium"/>
                <a:cs typeface="Franklin Gothic Medium"/>
              </a:rPr>
              <a:t>()</a:t>
            </a:r>
            <a:r>
              <a:rPr sz="1800" spc="-4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:</a:t>
            </a:r>
            <a:r>
              <a:rPr sz="1800" spc="-30" dirty="0"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Franklin Gothic Medium"/>
                <a:cs typeface="Franklin Gothic Medium"/>
              </a:rPr>
              <a:t>veriler</a:t>
            </a:r>
            <a:r>
              <a:rPr sz="1800" spc="-3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üzerinde</a:t>
            </a:r>
            <a:r>
              <a:rPr sz="1800" spc="-40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güncelleme,</a:t>
            </a:r>
            <a:r>
              <a:rPr sz="1800" spc="-30" dirty="0">
                <a:latin typeface="Franklin Gothic Medium"/>
                <a:cs typeface="Franklin Gothic Medium"/>
              </a:rPr>
              <a:t> ekleme, </a:t>
            </a:r>
            <a:r>
              <a:rPr sz="1800" spc="-20" dirty="0">
                <a:latin typeface="Franklin Gothic Medium"/>
                <a:cs typeface="Franklin Gothic Medium"/>
              </a:rPr>
              <a:t>silme</a:t>
            </a:r>
            <a:r>
              <a:rPr sz="1800" spc="-40" dirty="0">
                <a:latin typeface="Franklin Gothic Medium"/>
                <a:cs typeface="Franklin Gothic Medium"/>
              </a:rPr>
              <a:t> </a:t>
            </a:r>
            <a:r>
              <a:rPr sz="1800" spc="-20" dirty="0">
                <a:latin typeface="Franklin Gothic Medium"/>
                <a:cs typeface="Franklin Gothic Medium"/>
              </a:rPr>
              <a:t>ifadelerini</a:t>
            </a:r>
            <a:r>
              <a:rPr sz="1800" spc="-30" dirty="0"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Franklin Gothic Medium"/>
                <a:cs typeface="Franklin Gothic Medium"/>
              </a:rPr>
              <a:t>çalıştırır.</a:t>
            </a:r>
            <a:endParaRPr sz="1800" dirty="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1634" y="362221"/>
            <a:ext cx="9441815" cy="82041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2900"/>
              </a:lnSpc>
              <a:spcBef>
                <a:spcPts val="580"/>
              </a:spcBef>
            </a:pPr>
            <a:r>
              <a:rPr sz="2800" dirty="0">
                <a:solidFill>
                  <a:srgbClr val="FF0080"/>
                </a:solidFill>
              </a:rPr>
              <a:t>Soru</a:t>
            </a:r>
            <a:r>
              <a:rPr sz="2800" spc="-80" dirty="0">
                <a:solidFill>
                  <a:srgbClr val="FF0080"/>
                </a:solidFill>
              </a:rPr>
              <a:t> </a:t>
            </a:r>
            <a:r>
              <a:rPr sz="2800" dirty="0">
                <a:solidFill>
                  <a:srgbClr val="FF0080"/>
                </a:solidFill>
              </a:rPr>
              <a:t>:</a:t>
            </a:r>
            <a:r>
              <a:rPr sz="2800" spc="-80" dirty="0">
                <a:solidFill>
                  <a:srgbClr val="FF0080"/>
                </a:solidFill>
              </a:rPr>
              <a:t> </a:t>
            </a:r>
            <a:r>
              <a:rPr sz="2800" spc="-55" dirty="0"/>
              <a:t>"DatabaseSystems"</a:t>
            </a:r>
            <a:r>
              <a:rPr sz="2800" spc="-80" dirty="0"/>
              <a:t> </a:t>
            </a:r>
            <a:r>
              <a:rPr sz="2800" spc="-10" dirty="0"/>
              <a:t>projesinde</a:t>
            </a:r>
            <a:r>
              <a:rPr sz="2800" spc="-80" dirty="0"/>
              <a:t> </a:t>
            </a:r>
            <a:r>
              <a:rPr sz="2800" spc="-10" dirty="0"/>
              <a:t>çalışan</a:t>
            </a:r>
            <a:r>
              <a:rPr sz="2800" spc="-80" dirty="0"/>
              <a:t> </a:t>
            </a:r>
            <a:r>
              <a:rPr sz="2800" spc="-20" dirty="0"/>
              <a:t>kadın</a:t>
            </a:r>
            <a:r>
              <a:rPr sz="2800" spc="-80" dirty="0"/>
              <a:t> </a:t>
            </a:r>
            <a:r>
              <a:rPr sz="2800" spc="-10" dirty="0"/>
              <a:t>işçilerin</a:t>
            </a:r>
            <a:r>
              <a:rPr sz="2800" spc="-80" dirty="0"/>
              <a:t> </a:t>
            </a:r>
            <a:r>
              <a:rPr sz="2800" spc="-25" dirty="0"/>
              <a:t>ad, </a:t>
            </a:r>
            <a:r>
              <a:rPr sz="2800" spc="-20" dirty="0"/>
              <a:t>soyad</a:t>
            </a:r>
            <a:r>
              <a:rPr sz="2800" spc="-90" dirty="0"/>
              <a:t> </a:t>
            </a:r>
            <a:r>
              <a:rPr sz="2800" dirty="0"/>
              <a:t>ve</a:t>
            </a:r>
            <a:r>
              <a:rPr sz="2800" spc="-85" dirty="0"/>
              <a:t> </a:t>
            </a:r>
            <a:r>
              <a:rPr sz="2800" spc="-35" dirty="0"/>
              <a:t>maaşlarını</a:t>
            </a:r>
            <a:r>
              <a:rPr sz="2800" spc="-85" dirty="0"/>
              <a:t> </a:t>
            </a:r>
            <a:r>
              <a:rPr sz="2800" spc="-10" dirty="0"/>
              <a:t>listeleyin.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885562" y="1620310"/>
            <a:ext cx="10509250" cy="3149067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2200"/>
              </a:lnSpc>
              <a:spcBef>
                <a:spcPts val="340"/>
              </a:spcBef>
            </a:pP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String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query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=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"SELECT</a:t>
            </a:r>
            <a:r>
              <a:rPr sz="2000" spc="-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fname,</a:t>
            </a:r>
            <a:r>
              <a:rPr sz="2000" spc="-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lname,</a:t>
            </a:r>
            <a:r>
              <a:rPr sz="2000" spc="-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salary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FROM</a:t>
            </a:r>
            <a:r>
              <a:rPr sz="2000" spc="-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4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employee</a:t>
            </a:r>
            <a:r>
              <a:rPr sz="2000" spc="-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e,</a:t>
            </a:r>
            <a:r>
              <a:rPr sz="2000" spc="-6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dept_locations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dl</a:t>
            </a:r>
            <a:r>
              <a:rPr sz="2000" spc="-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WHERE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e.dno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5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=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dl.dnumber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AND</a:t>
            </a:r>
            <a:r>
              <a:rPr sz="2000" spc="-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dlocation</a:t>
            </a:r>
            <a:r>
              <a:rPr sz="2000" spc="-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=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'Chicago’</a:t>
            </a:r>
            <a:r>
              <a:rPr sz="2000" spc="-5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";</a:t>
            </a:r>
            <a:endParaRPr sz="2000" dirty="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2190"/>
              </a:spcBef>
            </a:pPr>
            <a:endParaRPr sz="2000" dirty="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Connection</a:t>
            </a:r>
            <a:r>
              <a:rPr sz="2000" spc="-9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conn</a:t>
            </a:r>
            <a:r>
              <a:rPr sz="2000" spc="-8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5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=</a:t>
            </a:r>
            <a:endParaRPr sz="2000" dirty="0">
              <a:latin typeface="Franklin Gothic Medium"/>
              <a:cs typeface="Franklin Gothic Medium"/>
            </a:endParaRPr>
          </a:p>
          <a:p>
            <a:pPr marL="76200" marR="64769">
              <a:lnSpc>
                <a:spcPct val="141700"/>
              </a:lnSpc>
              <a:spcBef>
                <a:spcPts val="100"/>
              </a:spcBef>
            </a:pPr>
            <a:r>
              <a:rPr sz="2000" spc="-3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DriverManager.getConnection("jdbc:postgresql://localhost:5432/company",</a:t>
            </a:r>
            <a:r>
              <a:rPr sz="2000" spc="229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“postgres”,</a:t>
            </a:r>
            <a:r>
              <a:rPr sz="2000" spc="23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“1234”); </a:t>
            </a:r>
            <a:r>
              <a:rPr sz="2000" spc="-3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Statement</a:t>
            </a:r>
            <a:r>
              <a:rPr sz="2000" spc="-2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</a:t>
            </a:r>
            <a:r>
              <a:rPr sz="2000" spc="-2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=</a:t>
            </a:r>
            <a:r>
              <a:rPr sz="2000" spc="-3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conn.createStatement();</a:t>
            </a:r>
            <a:endParaRPr sz="2000" dirty="0">
              <a:latin typeface="Franklin Gothic Medium"/>
              <a:cs typeface="Franklin Gothic Medium"/>
            </a:endParaRPr>
          </a:p>
          <a:p>
            <a:pPr marL="76200">
              <a:lnSpc>
                <a:spcPct val="100000"/>
              </a:lnSpc>
              <a:spcBef>
                <a:spcPts val="1100"/>
              </a:spcBef>
            </a:pPr>
            <a:r>
              <a:rPr sz="2000" spc="-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ResultSet</a:t>
            </a:r>
            <a:r>
              <a:rPr sz="2000" spc="-3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r</a:t>
            </a:r>
            <a:r>
              <a:rPr sz="2000" spc="-2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=</a:t>
            </a:r>
            <a:r>
              <a:rPr sz="2000" spc="-2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s.executeQuery(query);</a:t>
            </a:r>
            <a:endParaRPr sz="2000" dirty="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</a:pPr>
            <a:endParaRPr sz="2000" dirty="0">
              <a:latin typeface="Franklin Gothic Medium"/>
              <a:cs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68551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executeUpdate()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1700"/>
              </a:lnSpc>
              <a:spcBef>
                <a:spcPts val="100"/>
              </a:spcBef>
            </a:pPr>
            <a:r>
              <a:rPr spc="-10" dirty="0"/>
              <a:t>String</a:t>
            </a:r>
            <a:r>
              <a:rPr spc="-45" dirty="0"/>
              <a:t> </a:t>
            </a:r>
            <a:r>
              <a:rPr spc="-20" dirty="0"/>
              <a:t>updateString</a:t>
            </a:r>
            <a:r>
              <a:rPr spc="-40" dirty="0"/>
              <a:t> </a:t>
            </a:r>
            <a:r>
              <a:rPr dirty="0"/>
              <a:t>=</a:t>
            </a:r>
            <a:r>
              <a:rPr spc="-45" dirty="0"/>
              <a:t> </a:t>
            </a:r>
            <a:r>
              <a:rPr spc="-75" dirty="0"/>
              <a:t>"UPDATE</a:t>
            </a:r>
            <a:r>
              <a:rPr spc="-40" dirty="0"/>
              <a:t> employee </a:t>
            </a:r>
            <a:r>
              <a:rPr dirty="0"/>
              <a:t>SET</a:t>
            </a:r>
            <a:r>
              <a:rPr spc="-45" dirty="0"/>
              <a:t> </a:t>
            </a:r>
            <a:r>
              <a:rPr spc="-25" dirty="0"/>
              <a:t>fname</a:t>
            </a:r>
            <a:r>
              <a:rPr spc="-45" dirty="0"/>
              <a:t> </a:t>
            </a:r>
            <a:r>
              <a:rPr dirty="0"/>
              <a:t>=</a:t>
            </a:r>
            <a:r>
              <a:rPr spc="-45" dirty="0"/>
              <a:t> </a:t>
            </a:r>
            <a:r>
              <a:rPr dirty="0"/>
              <a:t>‘John’</a:t>
            </a:r>
            <a:r>
              <a:rPr spc="-40" dirty="0"/>
              <a:t> </a:t>
            </a:r>
            <a:r>
              <a:rPr spc="-25" dirty="0"/>
              <a:t>WHERE</a:t>
            </a:r>
            <a:r>
              <a:rPr spc="-45" dirty="0"/>
              <a:t> </a:t>
            </a:r>
            <a:r>
              <a:rPr spc="-20" dirty="0"/>
              <a:t>lname</a:t>
            </a:r>
            <a:r>
              <a:rPr spc="-45" dirty="0"/>
              <a:t> </a:t>
            </a:r>
            <a:r>
              <a:rPr dirty="0"/>
              <a:t>=</a:t>
            </a:r>
            <a:r>
              <a:rPr spc="-45" dirty="0"/>
              <a:t> </a:t>
            </a:r>
            <a:r>
              <a:rPr spc="-10" dirty="0"/>
              <a:t>‘Smith’"); stmt.executeUpdate(updateString);</a:t>
            </a: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pc="-10" dirty="0"/>
          </a:p>
          <a:p>
            <a:pPr marL="12700" marR="7992109">
              <a:lnSpc>
                <a:spcPct val="144400"/>
              </a:lnSpc>
            </a:pPr>
            <a:r>
              <a:rPr spc="-10" dirty="0"/>
              <a:t>Update Delete Create</a:t>
            </a:r>
            <a:r>
              <a:rPr spc="-75" dirty="0"/>
              <a:t> </a:t>
            </a:r>
            <a:r>
              <a:rPr spc="-45" dirty="0"/>
              <a:t>Table </a:t>
            </a:r>
            <a:r>
              <a:rPr dirty="0"/>
              <a:t>Insert</a:t>
            </a:r>
            <a:r>
              <a:rPr spc="-45" dirty="0"/>
              <a:t> </a:t>
            </a:r>
            <a:r>
              <a:rPr spc="-20" dirty="0"/>
              <a:t>Into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660"/>
              </a:spcBef>
            </a:pPr>
            <a:r>
              <a:rPr sz="3600" spc="-75" dirty="0"/>
              <a:t>Tabloya</a:t>
            </a:r>
            <a:r>
              <a:rPr sz="3600" spc="-140" dirty="0"/>
              <a:t> </a:t>
            </a:r>
            <a:r>
              <a:rPr sz="3600" dirty="0"/>
              <a:t>ve</a:t>
            </a:r>
            <a:r>
              <a:rPr sz="3600" spc="-135" dirty="0"/>
              <a:t> </a:t>
            </a:r>
            <a:r>
              <a:rPr sz="3600" dirty="0"/>
              <a:t>sütunlara</a:t>
            </a:r>
            <a:r>
              <a:rPr sz="3600" spc="-140" dirty="0"/>
              <a:t> </a:t>
            </a:r>
            <a:r>
              <a:rPr sz="3600" dirty="0"/>
              <a:t>ait</a:t>
            </a:r>
            <a:r>
              <a:rPr sz="3600" spc="-135" dirty="0"/>
              <a:t> </a:t>
            </a:r>
            <a:r>
              <a:rPr sz="3600" spc="-30" dirty="0"/>
              <a:t>bilgileri</a:t>
            </a:r>
            <a:r>
              <a:rPr sz="3600" spc="-140" dirty="0"/>
              <a:t> </a:t>
            </a:r>
            <a:r>
              <a:rPr sz="3600" spc="-60" dirty="0"/>
              <a:t>öğrenmek</a:t>
            </a:r>
            <a:r>
              <a:rPr sz="3600" spc="-135" dirty="0"/>
              <a:t> </a:t>
            </a:r>
            <a:r>
              <a:rPr sz="3600" spc="-10" dirty="0"/>
              <a:t>için: getMetaData()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450339" y="2176779"/>
            <a:ext cx="6802755" cy="220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1700"/>
              </a:lnSpc>
              <a:spcBef>
                <a:spcPts val="100"/>
              </a:spcBef>
            </a:pP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Kolon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isimleri,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sayıları,</a:t>
            </a:r>
            <a:r>
              <a:rPr sz="2000" spc="-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tipleri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vs.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Bilgilere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erişmek</a:t>
            </a:r>
            <a:r>
              <a:rPr sz="2000" spc="-6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için</a:t>
            </a:r>
            <a:r>
              <a:rPr sz="2000" spc="-5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kullanırız. Örneğin,</a:t>
            </a:r>
            <a:r>
              <a:rPr sz="2000" spc="-7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3.sıradaki</a:t>
            </a:r>
            <a:r>
              <a:rPr sz="2000" spc="-7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sütunun</a:t>
            </a:r>
            <a:r>
              <a:rPr sz="2000" spc="-7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tipini</a:t>
            </a:r>
            <a:r>
              <a:rPr sz="2000" spc="-7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35" dirty="0">
                <a:solidFill>
                  <a:srgbClr val="191B0E"/>
                </a:solidFill>
                <a:latin typeface="Franklin Gothic Medium"/>
                <a:cs typeface="Franklin Gothic Medium"/>
              </a:rPr>
              <a:t>öğrenmek</a:t>
            </a:r>
            <a:r>
              <a:rPr sz="2000" spc="-7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için;</a:t>
            </a:r>
            <a:endParaRPr sz="20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2000">
              <a:latin typeface="Franklin Gothic Medium"/>
              <a:cs typeface="Franklin Gothic Medium"/>
            </a:endParaRPr>
          </a:p>
          <a:p>
            <a:pPr marL="62865" marR="548640" indent="-50800">
              <a:lnSpc>
                <a:spcPct val="145800"/>
              </a:lnSpc>
            </a:pPr>
            <a:r>
              <a:rPr sz="2000" spc="-10" dirty="0">
                <a:solidFill>
                  <a:srgbClr val="191B0E"/>
                </a:solidFill>
                <a:latin typeface="Lucida Sans Unicode"/>
                <a:cs typeface="Lucida Sans Unicode"/>
              </a:rPr>
              <a:t>ResultSetMetaData</a:t>
            </a:r>
            <a:r>
              <a:rPr sz="2000" spc="-200" dirty="0">
                <a:solidFill>
                  <a:srgbClr val="191B0E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Lucida Sans Unicode"/>
                <a:cs typeface="Lucida Sans Unicode"/>
              </a:rPr>
              <a:t>rsmd</a:t>
            </a:r>
            <a:r>
              <a:rPr sz="2000" spc="-195" dirty="0">
                <a:solidFill>
                  <a:srgbClr val="191B0E"/>
                </a:solidFill>
                <a:latin typeface="Lucida Sans Unicode"/>
                <a:cs typeface="Lucida Sans Unicode"/>
              </a:rPr>
              <a:t> </a:t>
            </a:r>
            <a:r>
              <a:rPr sz="2000" spc="-135" dirty="0">
                <a:solidFill>
                  <a:srgbClr val="191B0E"/>
                </a:solidFill>
                <a:latin typeface="Trebuchet MS"/>
                <a:cs typeface="Trebuchet MS"/>
              </a:rPr>
              <a:t>=</a:t>
            </a:r>
            <a:r>
              <a:rPr sz="2000" spc="-165" dirty="0">
                <a:solidFill>
                  <a:srgbClr val="191B0E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191B0E"/>
                </a:solidFill>
                <a:latin typeface="Lucida Sans Unicode"/>
                <a:cs typeface="Lucida Sans Unicode"/>
              </a:rPr>
              <a:t>r</a:t>
            </a:r>
            <a:r>
              <a:rPr sz="2000" spc="-10" dirty="0">
                <a:solidFill>
                  <a:srgbClr val="191B0E"/>
                </a:solidFill>
                <a:latin typeface="Trebuchet MS"/>
                <a:cs typeface="Trebuchet MS"/>
              </a:rPr>
              <a:t>.</a:t>
            </a:r>
            <a:r>
              <a:rPr sz="2000" spc="-10" dirty="0">
                <a:solidFill>
                  <a:srgbClr val="191B0E"/>
                </a:solidFill>
                <a:latin typeface="Lucida Sans Unicode"/>
                <a:cs typeface="Lucida Sans Unicode"/>
              </a:rPr>
              <a:t>getMetaData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()</a:t>
            </a:r>
            <a:r>
              <a:rPr sz="2000" spc="-10" dirty="0">
                <a:solidFill>
                  <a:srgbClr val="191B0E"/>
                </a:solidFill>
                <a:latin typeface="Lucida Sans Unicode"/>
                <a:cs typeface="Lucida Sans Unicode"/>
              </a:rPr>
              <a:t>; System</a:t>
            </a:r>
            <a:r>
              <a:rPr sz="2000" spc="-10" dirty="0">
                <a:solidFill>
                  <a:srgbClr val="191B0E"/>
                </a:solidFill>
                <a:latin typeface="Trebuchet MS"/>
                <a:cs typeface="Trebuchet MS"/>
              </a:rPr>
              <a:t>.</a:t>
            </a:r>
            <a:r>
              <a:rPr sz="2000" spc="-10" dirty="0">
                <a:solidFill>
                  <a:srgbClr val="191B0E"/>
                </a:solidFill>
                <a:latin typeface="Lucida Sans Unicode"/>
                <a:cs typeface="Lucida Sans Unicode"/>
              </a:rPr>
              <a:t>out</a:t>
            </a:r>
            <a:r>
              <a:rPr sz="2000" spc="-10" dirty="0">
                <a:solidFill>
                  <a:srgbClr val="191B0E"/>
                </a:solidFill>
                <a:latin typeface="Trebuchet MS"/>
                <a:cs typeface="Trebuchet MS"/>
              </a:rPr>
              <a:t>.</a:t>
            </a:r>
            <a:r>
              <a:rPr sz="2000" spc="-10" dirty="0">
                <a:solidFill>
                  <a:srgbClr val="191B0E"/>
                </a:solidFill>
                <a:latin typeface="Lucida Sans Unicode"/>
                <a:cs typeface="Lucida Sans Unicode"/>
              </a:rPr>
              <a:t>println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(</a:t>
            </a:r>
            <a:r>
              <a:rPr sz="2000" spc="-10" dirty="0">
                <a:solidFill>
                  <a:srgbClr val="191B0E"/>
                </a:solidFill>
                <a:latin typeface="Lucida Sans Unicode"/>
                <a:cs typeface="Lucida Sans Unicode"/>
              </a:rPr>
              <a:t>rsmd</a:t>
            </a:r>
            <a:r>
              <a:rPr sz="2000" spc="-10" dirty="0">
                <a:solidFill>
                  <a:srgbClr val="191B0E"/>
                </a:solidFill>
                <a:latin typeface="Trebuchet MS"/>
                <a:cs typeface="Trebuchet MS"/>
              </a:rPr>
              <a:t>.</a:t>
            </a:r>
            <a:r>
              <a:rPr sz="2000" spc="-10" dirty="0">
                <a:solidFill>
                  <a:srgbClr val="191B0E"/>
                </a:solidFill>
                <a:latin typeface="Lucida Sans Unicode"/>
                <a:cs typeface="Lucida Sans Unicode"/>
              </a:rPr>
              <a:t>getColumnTypeName</a:t>
            </a:r>
            <a:r>
              <a:rPr sz="2000" spc="-10" dirty="0">
                <a:solidFill>
                  <a:srgbClr val="191B0E"/>
                </a:solidFill>
                <a:latin typeface="Franklin Gothic Medium"/>
                <a:cs typeface="Franklin Gothic Medium"/>
              </a:rPr>
              <a:t>(3))</a:t>
            </a:r>
            <a:r>
              <a:rPr sz="2000" spc="-10" dirty="0">
                <a:solidFill>
                  <a:srgbClr val="191B0E"/>
                </a:solidFill>
                <a:latin typeface="Lucida Sans Unicode"/>
                <a:cs typeface="Lucida Sans Unicode"/>
              </a:rPr>
              <a:t>;</a:t>
            </a:r>
            <a:endParaRPr sz="2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Statement</a:t>
            </a:r>
            <a:r>
              <a:rPr spc="-85" dirty="0"/>
              <a:t> </a:t>
            </a:r>
            <a:r>
              <a:rPr dirty="0"/>
              <a:t>vs</a:t>
            </a:r>
            <a:r>
              <a:rPr spc="-80" dirty="0"/>
              <a:t> </a:t>
            </a:r>
            <a:r>
              <a:rPr spc="-50" dirty="0"/>
              <a:t>PreparedStatement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 marR="5080">
              <a:lnSpc>
                <a:spcPct val="93800"/>
              </a:lnSpc>
              <a:spcBef>
                <a:spcPts val="245"/>
              </a:spcBef>
            </a:pPr>
            <a:r>
              <a:rPr spc="-30" dirty="0"/>
              <a:t>Statement</a:t>
            </a:r>
            <a:r>
              <a:rPr spc="-45" dirty="0"/>
              <a:t> </a:t>
            </a:r>
            <a:r>
              <a:rPr spc="-10" dirty="0"/>
              <a:t>durumunda</a:t>
            </a:r>
            <a:r>
              <a:rPr spc="-40" dirty="0"/>
              <a:t> </a:t>
            </a:r>
            <a:r>
              <a:rPr dirty="0"/>
              <a:t>sorgu</a:t>
            </a:r>
            <a:r>
              <a:rPr spc="-45" dirty="0"/>
              <a:t> </a:t>
            </a:r>
            <a:r>
              <a:rPr dirty="0"/>
              <a:t>her</a:t>
            </a:r>
            <a:r>
              <a:rPr spc="-40" dirty="0"/>
              <a:t> </a:t>
            </a:r>
            <a:r>
              <a:rPr spc="-25" dirty="0"/>
              <a:t>çalıştırıldığında</a:t>
            </a:r>
            <a:r>
              <a:rPr spc="-45" dirty="0"/>
              <a:t> </a:t>
            </a:r>
            <a:r>
              <a:rPr dirty="0"/>
              <a:t>veri</a:t>
            </a:r>
            <a:r>
              <a:rPr spc="-40" dirty="0"/>
              <a:t> </a:t>
            </a:r>
            <a:r>
              <a:rPr spc="-20" dirty="0"/>
              <a:t>tabanının</a:t>
            </a:r>
            <a:r>
              <a:rPr spc="-45" dirty="0"/>
              <a:t> </a:t>
            </a:r>
            <a:r>
              <a:rPr spc="-20" dirty="0"/>
              <a:t>belleğinde</a:t>
            </a:r>
            <a:r>
              <a:rPr spc="-40" dirty="0"/>
              <a:t> </a:t>
            </a:r>
            <a:r>
              <a:rPr dirty="0"/>
              <a:t>bu</a:t>
            </a:r>
            <a:r>
              <a:rPr spc="-45" dirty="0"/>
              <a:t> </a:t>
            </a:r>
            <a:r>
              <a:rPr spc="-10" dirty="0"/>
              <a:t>sorgunun </a:t>
            </a:r>
            <a:r>
              <a:rPr dirty="0"/>
              <a:t>bir</a:t>
            </a:r>
            <a:r>
              <a:rPr spc="-60" dirty="0"/>
              <a:t> </a:t>
            </a:r>
            <a:r>
              <a:rPr spc="-10" dirty="0"/>
              <a:t>örneği</a:t>
            </a:r>
            <a:r>
              <a:rPr spc="-60" dirty="0"/>
              <a:t> </a:t>
            </a:r>
            <a:r>
              <a:rPr spc="-25" dirty="0"/>
              <a:t>saklanır.</a:t>
            </a:r>
            <a:r>
              <a:rPr spc="-55" dirty="0"/>
              <a:t> </a:t>
            </a:r>
            <a:r>
              <a:rPr dirty="0"/>
              <a:t>Bu</a:t>
            </a:r>
            <a:r>
              <a:rPr spc="-60" dirty="0"/>
              <a:t> </a:t>
            </a:r>
            <a:r>
              <a:rPr dirty="0"/>
              <a:t>sorgunun</a:t>
            </a:r>
            <a:r>
              <a:rPr spc="-60" dirty="0"/>
              <a:t> </a:t>
            </a:r>
            <a:r>
              <a:rPr spc="-10" dirty="0"/>
              <a:t>binlerce</a:t>
            </a:r>
            <a:r>
              <a:rPr spc="-55" dirty="0"/>
              <a:t> </a:t>
            </a:r>
            <a:r>
              <a:rPr spc="-10" dirty="0"/>
              <a:t>kere</a:t>
            </a:r>
            <a:r>
              <a:rPr spc="-60" dirty="0"/>
              <a:t> </a:t>
            </a:r>
            <a:r>
              <a:rPr spc="-25" dirty="0"/>
              <a:t>çalıştırıldığını</a:t>
            </a:r>
            <a:r>
              <a:rPr spc="-60" dirty="0"/>
              <a:t> </a:t>
            </a:r>
            <a:r>
              <a:rPr dirty="0"/>
              <a:t>düşünürsek</a:t>
            </a:r>
            <a:r>
              <a:rPr spc="-55" dirty="0"/>
              <a:t> </a:t>
            </a:r>
            <a:r>
              <a:rPr dirty="0"/>
              <a:t>bu</a:t>
            </a:r>
            <a:r>
              <a:rPr spc="-60" dirty="0"/>
              <a:t> </a:t>
            </a:r>
            <a:r>
              <a:rPr spc="-10" dirty="0"/>
              <a:t>durum </a:t>
            </a:r>
            <a:r>
              <a:rPr dirty="0"/>
              <a:t>zararlı</a:t>
            </a:r>
            <a:r>
              <a:rPr spc="-85" dirty="0"/>
              <a:t> </a:t>
            </a:r>
            <a:r>
              <a:rPr spc="-25" dirty="0"/>
              <a:t>olabilir.</a:t>
            </a:r>
            <a:r>
              <a:rPr spc="-80" dirty="0"/>
              <a:t> </a:t>
            </a:r>
            <a:r>
              <a:rPr spc="-10" dirty="0"/>
              <a:t>Veri</a:t>
            </a:r>
            <a:r>
              <a:rPr spc="-85" dirty="0"/>
              <a:t> </a:t>
            </a:r>
            <a:r>
              <a:rPr spc="-10" dirty="0"/>
              <a:t>tabanı</a:t>
            </a:r>
            <a:r>
              <a:rPr spc="-80" dirty="0"/>
              <a:t> </a:t>
            </a:r>
            <a:r>
              <a:rPr spc="-20" dirty="0"/>
              <a:t>performansı</a:t>
            </a:r>
            <a:r>
              <a:rPr spc="-85" dirty="0"/>
              <a:t> </a:t>
            </a:r>
            <a:r>
              <a:rPr dirty="0"/>
              <a:t>düşebilir</a:t>
            </a:r>
            <a:r>
              <a:rPr spc="-80" dirty="0"/>
              <a:t> </a:t>
            </a:r>
            <a:r>
              <a:rPr spc="-20" dirty="0"/>
              <a:t>veya</a:t>
            </a:r>
            <a:r>
              <a:rPr spc="-85" dirty="0"/>
              <a:t> </a:t>
            </a:r>
            <a:r>
              <a:rPr spc="-20" dirty="0"/>
              <a:t>bağlantı</a:t>
            </a:r>
            <a:r>
              <a:rPr spc="-80" dirty="0"/>
              <a:t> </a:t>
            </a:r>
            <a:r>
              <a:rPr spc="-35" dirty="0"/>
              <a:t>kopmaları</a:t>
            </a:r>
            <a:r>
              <a:rPr spc="-85" dirty="0"/>
              <a:t> </a:t>
            </a:r>
            <a:r>
              <a:rPr spc="-10" dirty="0"/>
              <a:t>yaşanabilir.</a:t>
            </a:r>
          </a:p>
          <a:p>
            <a:pPr marL="12700" marR="59055">
              <a:lnSpc>
                <a:spcPct val="93800"/>
              </a:lnSpc>
              <a:spcBef>
                <a:spcPts val="1150"/>
              </a:spcBef>
            </a:pPr>
            <a:r>
              <a:rPr dirty="0"/>
              <a:t>Bu</a:t>
            </a:r>
            <a:r>
              <a:rPr spc="-25" dirty="0"/>
              <a:t> </a:t>
            </a:r>
            <a:r>
              <a:rPr spc="-10" dirty="0"/>
              <a:t>durumda</a:t>
            </a:r>
            <a:r>
              <a:rPr spc="-25" dirty="0"/>
              <a:t> </a:t>
            </a:r>
            <a:r>
              <a:rPr spc="-30" dirty="0"/>
              <a:t>PreparedStatement</a:t>
            </a:r>
            <a:r>
              <a:rPr spc="-25" dirty="0"/>
              <a:t> </a:t>
            </a:r>
            <a:r>
              <a:rPr spc="-40" dirty="0"/>
              <a:t>kullanmak</a:t>
            </a:r>
            <a:r>
              <a:rPr spc="-20" dirty="0"/>
              <a:t> </a:t>
            </a:r>
            <a:r>
              <a:rPr spc="-35" dirty="0"/>
              <a:t>faydalıdır.</a:t>
            </a:r>
            <a:r>
              <a:rPr spc="-25" dirty="0"/>
              <a:t> </a:t>
            </a:r>
            <a:r>
              <a:rPr spc="-30" dirty="0"/>
              <a:t>PreparedStatement</a:t>
            </a:r>
            <a:r>
              <a:rPr spc="-25" dirty="0"/>
              <a:t> </a:t>
            </a:r>
            <a:r>
              <a:rPr spc="-10" dirty="0"/>
              <a:t>durumunda </a:t>
            </a:r>
            <a:r>
              <a:rPr spc="-30" dirty="0"/>
              <a:t>çalıştırdığımızda</a:t>
            </a:r>
            <a:r>
              <a:rPr spc="-60" dirty="0"/>
              <a:t> </a:t>
            </a:r>
            <a:r>
              <a:rPr dirty="0"/>
              <a:t>veri</a:t>
            </a:r>
            <a:r>
              <a:rPr spc="-60" dirty="0"/>
              <a:t> </a:t>
            </a:r>
            <a:r>
              <a:rPr spc="-10" dirty="0"/>
              <a:t>tabanında</a:t>
            </a:r>
            <a:r>
              <a:rPr spc="-60" dirty="0"/>
              <a:t> </a:t>
            </a:r>
            <a:r>
              <a:rPr dirty="0"/>
              <a:t>bu</a:t>
            </a:r>
            <a:r>
              <a:rPr spc="-55" dirty="0"/>
              <a:t> </a:t>
            </a:r>
            <a:r>
              <a:rPr dirty="0"/>
              <a:t>sorgusunun</a:t>
            </a:r>
            <a:r>
              <a:rPr spc="-60" dirty="0"/>
              <a:t> </a:t>
            </a:r>
            <a:r>
              <a:rPr dirty="0"/>
              <a:t>sadece</a:t>
            </a:r>
            <a:r>
              <a:rPr spc="-60" dirty="0"/>
              <a:t> </a:t>
            </a:r>
            <a:r>
              <a:rPr dirty="0"/>
              <a:t>bir</a:t>
            </a:r>
            <a:r>
              <a:rPr spc="-55" dirty="0"/>
              <a:t> </a:t>
            </a:r>
            <a:r>
              <a:rPr spc="-10" dirty="0"/>
              <a:t>kere</a:t>
            </a:r>
            <a:r>
              <a:rPr spc="-60" dirty="0"/>
              <a:t> </a:t>
            </a:r>
            <a:r>
              <a:rPr spc="-10" dirty="0"/>
              <a:t>örneği</a:t>
            </a:r>
            <a:r>
              <a:rPr spc="-60" dirty="0"/>
              <a:t> </a:t>
            </a:r>
            <a:r>
              <a:rPr spc="-20" dirty="0"/>
              <a:t>saklanır</a:t>
            </a:r>
            <a:r>
              <a:rPr spc="-55" dirty="0"/>
              <a:t> </a:t>
            </a:r>
            <a:r>
              <a:rPr dirty="0"/>
              <a:t>ve</a:t>
            </a:r>
            <a:r>
              <a:rPr spc="-60" dirty="0"/>
              <a:t> </a:t>
            </a:r>
            <a:r>
              <a:rPr spc="-25" dirty="0"/>
              <a:t>bin </a:t>
            </a:r>
            <a:r>
              <a:rPr spc="-10" dirty="0"/>
              <a:t>kere</a:t>
            </a:r>
            <a:r>
              <a:rPr spc="-55" dirty="0"/>
              <a:t> </a:t>
            </a:r>
            <a:r>
              <a:rPr dirty="0"/>
              <a:t>de</a:t>
            </a:r>
            <a:r>
              <a:rPr spc="-50" dirty="0"/>
              <a:t> </a:t>
            </a:r>
            <a:r>
              <a:rPr spc="-20" dirty="0"/>
              <a:t>çalıştırsak</a:t>
            </a:r>
            <a:r>
              <a:rPr spc="-50" dirty="0"/>
              <a:t> </a:t>
            </a:r>
            <a:r>
              <a:rPr dirty="0"/>
              <a:t>bu</a:t>
            </a:r>
            <a:r>
              <a:rPr spc="-50" dirty="0"/>
              <a:t> </a:t>
            </a:r>
            <a:r>
              <a:rPr dirty="0"/>
              <a:t>sorgunun</a:t>
            </a:r>
            <a:r>
              <a:rPr spc="-50" dirty="0"/>
              <a:t> </a:t>
            </a:r>
            <a:r>
              <a:rPr dirty="0"/>
              <a:t>veri</a:t>
            </a:r>
            <a:r>
              <a:rPr spc="-50" dirty="0"/>
              <a:t> </a:t>
            </a:r>
            <a:r>
              <a:rPr spc="-20" dirty="0"/>
              <a:t>tabanının</a:t>
            </a:r>
            <a:r>
              <a:rPr spc="-50" dirty="0"/>
              <a:t> </a:t>
            </a:r>
            <a:r>
              <a:rPr spc="-20" dirty="0"/>
              <a:t>belleğinde</a:t>
            </a:r>
            <a:r>
              <a:rPr spc="-50" dirty="0"/>
              <a:t> </a:t>
            </a:r>
            <a:r>
              <a:rPr dirty="0"/>
              <a:t>sadece</a:t>
            </a:r>
            <a:r>
              <a:rPr spc="-50" dirty="0"/>
              <a:t> </a:t>
            </a:r>
            <a:r>
              <a:rPr dirty="0"/>
              <a:t>bir</a:t>
            </a:r>
            <a:r>
              <a:rPr spc="-50" dirty="0"/>
              <a:t> </a:t>
            </a:r>
            <a:r>
              <a:rPr spc="-10" dirty="0"/>
              <a:t>örneği</a:t>
            </a:r>
            <a:r>
              <a:rPr spc="-50" dirty="0"/>
              <a:t> </a:t>
            </a:r>
            <a:r>
              <a:rPr spc="-10" dirty="0"/>
              <a:t>tutulur.</a:t>
            </a:r>
          </a:p>
          <a:p>
            <a:pPr marL="12700">
              <a:lnSpc>
                <a:spcPts val="2300"/>
              </a:lnSpc>
            </a:pPr>
            <a:r>
              <a:rPr spc="-10" dirty="0"/>
              <a:t>Böylece</a:t>
            </a:r>
            <a:r>
              <a:rPr spc="-60" dirty="0"/>
              <a:t> </a:t>
            </a:r>
            <a:r>
              <a:rPr spc="-30" dirty="0"/>
              <a:t>PreparedStatement</a:t>
            </a:r>
            <a:r>
              <a:rPr spc="-55" dirty="0"/>
              <a:t> </a:t>
            </a:r>
            <a:r>
              <a:rPr dirty="0"/>
              <a:t>daha</a:t>
            </a:r>
            <a:r>
              <a:rPr spc="-50" dirty="0"/>
              <a:t> </a:t>
            </a:r>
            <a:r>
              <a:rPr spc="-20" dirty="0"/>
              <a:t>performanslı</a:t>
            </a:r>
            <a:r>
              <a:rPr spc="-55" dirty="0"/>
              <a:t> </a:t>
            </a:r>
            <a:r>
              <a:rPr spc="-10" dirty="0"/>
              <a:t>olabilir.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6400" y="2738932"/>
            <a:ext cx="8153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tr-TR" sz="1200" spc="-25" dirty="0" err="1">
                <a:latin typeface="Franklin Gothic Medium"/>
                <a:cs typeface="Franklin Gothic Medium"/>
              </a:rPr>
              <a:t>Prepared</a:t>
            </a:r>
            <a:r>
              <a:rPr lang="tr-TR" sz="1200" spc="-25" dirty="0">
                <a:latin typeface="Franklin Gothic Medium"/>
                <a:cs typeface="Franklin Gothic Medium"/>
              </a:rPr>
              <a:t> Statement ve Statement farkı?</a:t>
            </a:r>
            <a:br>
              <a:rPr lang="tr-TR" sz="1200" spc="-25" dirty="0">
                <a:latin typeface="Franklin Gothic Medium"/>
                <a:cs typeface="Franklin Gothic Medium"/>
              </a:rPr>
            </a:br>
            <a:r>
              <a:rPr lang="tr-TR" sz="1200" spc="-25" dirty="0" err="1">
                <a:latin typeface="Franklin Gothic Medium"/>
                <a:cs typeface="Franklin Gothic Medium"/>
              </a:rPr>
              <a:t>ExecuteQuery</a:t>
            </a:r>
            <a:r>
              <a:rPr lang="tr-TR" sz="1200" spc="-25" dirty="0">
                <a:latin typeface="Franklin Gothic Medium"/>
                <a:cs typeface="Franklin Gothic Medium"/>
              </a:rPr>
              <a:t> ile </a:t>
            </a:r>
            <a:r>
              <a:rPr lang="tr-TR" sz="1200" spc="-25" dirty="0" err="1">
                <a:latin typeface="Franklin Gothic Medium"/>
                <a:cs typeface="Franklin Gothic Medium"/>
              </a:rPr>
              <a:t>Executeupdate</a:t>
            </a:r>
            <a:r>
              <a:rPr lang="tr-TR" sz="1200" spc="-25">
                <a:latin typeface="Franklin Gothic Medium"/>
                <a:cs typeface="Franklin Gothic Medium"/>
              </a:rPr>
              <a:t> farkı?</a:t>
            </a:r>
            <a:endParaRPr sz="1200" dirty="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3905</TotalTime>
  <Words>655</Words>
  <Application>Microsoft Office PowerPoint</Application>
  <PresentationFormat>Geniş ekran</PresentationFormat>
  <Paragraphs>61</Paragraphs>
  <Slides>13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9" baseType="lpstr">
      <vt:lpstr>Franklin Gothic Medium</vt:lpstr>
      <vt:lpstr>Lucida Sans Unicode</vt:lpstr>
      <vt:lpstr>Times New Roman</vt:lpstr>
      <vt:lpstr>Trebuchet MS</vt:lpstr>
      <vt:lpstr>Wingdings</vt:lpstr>
      <vt:lpstr>Office Theme</vt:lpstr>
      <vt:lpstr>Lab-5</vt:lpstr>
      <vt:lpstr>Geçen labı hatırlayalım..</vt:lpstr>
      <vt:lpstr>JDBC Java Database Connectivity</vt:lpstr>
      <vt:lpstr>JDBC aşağıdaki interface ve sınıfları sağlamaktadır:</vt:lpstr>
      <vt:lpstr>Projeye JDBC Eklenmesi</vt:lpstr>
      <vt:lpstr>import java.sql.*;</vt:lpstr>
      <vt:lpstr>Kodun içinde veritabanına bağlanıp, sorgu çalıştırma;</vt:lpstr>
      <vt:lpstr>Statement sınıfına ait 2 metod; </vt:lpstr>
      <vt:lpstr>Soru : "DatabaseSystems" projesinde çalışan kadın işçilerin ad, soyad ve maaşlarını listeleyin.</vt:lpstr>
      <vt:lpstr>executeUpdate()</vt:lpstr>
      <vt:lpstr>Tabloya ve sütunlara ait bilgileri öğrenmek için: getMetaData()</vt:lpstr>
      <vt:lpstr>Statement vs PreparedStatement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Lab-5</dc:title>
  <cp:lastModifiedBy>rukiye başkara</cp:lastModifiedBy>
  <cp:revision>4</cp:revision>
  <dcterms:created xsi:type="dcterms:W3CDTF">2025-11-28T12:02:02Z</dcterms:created>
  <dcterms:modified xsi:type="dcterms:W3CDTF">2025-12-01T05:07:55Z</dcterms:modified>
</cp:coreProperties>
</file>