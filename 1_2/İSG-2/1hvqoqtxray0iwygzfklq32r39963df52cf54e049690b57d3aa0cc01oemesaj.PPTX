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Default Extension="jpeg" ContentType="image/jpeg"/>
  <Override PartName="/ppt/slideLayouts/slideLayout3.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0"/>
  </p:notesMasterIdLst>
  <p:sldIdLst>
    <p:sldId id="256" r:id="rId2"/>
    <p:sldId id="326" r:id="rId3"/>
    <p:sldId id="327" r:id="rId4"/>
    <p:sldId id="328" r:id="rId5"/>
    <p:sldId id="329" r:id="rId6"/>
    <p:sldId id="330" r:id="rId7"/>
    <p:sldId id="331" r:id="rId8"/>
    <p:sldId id="332" r:id="rId9"/>
    <p:sldId id="333" r:id="rId10"/>
    <p:sldId id="334" r:id="rId11"/>
    <p:sldId id="335" r:id="rId12"/>
    <p:sldId id="336" r:id="rId13"/>
    <p:sldId id="337" r:id="rId14"/>
    <p:sldId id="338" r:id="rId15"/>
    <p:sldId id="339" r:id="rId16"/>
    <p:sldId id="340" r:id="rId17"/>
    <p:sldId id="341" r:id="rId18"/>
    <p:sldId id="342" r:id="rId19"/>
    <p:sldId id="343" r:id="rId20"/>
    <p:sldId id="344" r:id="rId21"/>
    <p:sldId id="345" r:id="rId22"/>
    <p:sldId id="346" r:id="rId23"/>
    <p:sldId id="347" r:id="rId24"/>
    <p:sldId id="348" r:id="rId25"/>
    <p:sldId id="349" r:id="rId26"/>
    <p:sldId id="350" r:id="rId27"/>
    <p:sldId id="351" r:id="rId28"/>
    <p:sldId id="352" r:id="rId29"/>
    <p:sldId id="353" r:id="rId30"/>
    <p:sldId id="354" r:id="rId31"/>
    <p:sldId id="355" r:id="rId32"/>
    <p:sldId id="356" r:id="rId33"/>
    <p:sldId id="357" r:id="rId34"/>
    <p:sldId id="358" r:id="rId35"/>
    <p:sldId id="359" r:id="rId36"/>
    <p:sldId id="361" r:id="rId37"/>
    <p:sldId id="362" r:id="rId38"/>
    <p:sldId id="363" r:id="rId39"/>
  </p:sldIdLst>
  <p:sldSz cx="9144000" cy="6858000" type="screen4x3"/>
  <p:notesSz cx="6858000" cy="9144000"/>
  <p:defaultTextStyle>
    <a:defPPr>
      <a:defRPr lang="es-E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clrMru>
    <a:srgbClr val="422C16"/>
    <a:srgbClr val="0C788E"/>
    <a:srgbClr val="025198"/>
    <a:srgbClr val="000099"/>
    <a:srgbClr val="1C1C1C"/>
    <a:srgbClr val="3366FF"/>
    <a:srgbClr val="990000"/>
    <a:srgbClr val="003399"/>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330" autoAdjust="0"/>
    <p:restoredTop sz="94622" autoAdjust="0"/>
  </p:normalViewPr>
  <p:slideViewPr>
    <p:cSldViewPr>
      <p:cViewPr>
        <p:scale>
          <a:sx n="78" d="100"/>
          <a:sy n="78" d="100"/>
        </p:scale>
        <p:origin x="-954" y="-78"/>
      </p:cViewPr>
      <p:guideLst>
        <p:guide orient="horz" pos="2160"/>
        <p:guide pos="2880"/>
      </p:guideLst>
    </p:cSldViewPr>
  </p:slideViewPr>
  <p:outlineViewPr>
    <p:cViewPr>
      <p:scale>
        <a:sx n="33" d="100"/>
        <a:sy n="33" d="100"/>
      </p:scale>
      <p:origin x="0" y="744"/>
    </p:cViewPr>
  </p:outlineViewPr>
  <p:notesTextViewPr>
    <p:cViewPr>
      <p:scale>
        <a:sx n="100" d="100"/>
        <a:sy n="100" d="100"/>
      </p:scale>
      <p:origin x="0" y="0"/>
    </p:cViewPr>
  </p:notesTextViewPr>
  <p:sorterViewPr>
    <p:cViewPr>
      <p:scale>
        <a:sx n="100" d="100"/>
        <a:sy n="100" d="100"/>
      </p:scale>
      <p:origin x="0" y="0"/>
    </p:cViewPr>
  </p:sorter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Üstbilgi Yer Tutucusu"/>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tr-TR"/>
          </a:p>
        </p:txBody>
      </p:sp>
      <p:sp>
        <p:nvSpPr>
          <p:cNvPr id="3" name="2 Veri Yer Tutucusu"/>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9AD0935-25B5-4E1D-BB3F-213E10897BDF}" type="datetimeFigureOut">
              <a:rPr lang="tr-TR" smtClean="0"/>
              <a:pPr/>
              <a:t>31.10.2018</a:t>
            </a:fld>
            <a:endParaRPr lang="tr-TR"/>
          </a:p>
        </p:txBody>
      </p:sp>
      <p:sp>
        <p:nvSpPr>
          <p:cNvPr id="4" name="3 Slayt Görüntüsü Yer Tutucusu"/>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tr-TR"/>
          </a:p>
        </p:txBody>
      </p:sp>
      <p:sp>
        <p:nvSpPr>
          <p:cNvPr id="5" name="4 Not Yer Tutucusu"/>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6" name="5 Altbilgi Yer Tutucusu"/>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tr-TR"/>
          </a:p>
        </p:txBody>
      </p:sp>
      <p:sp>
        <p:nvSpPr>
          <p:cNvPr id="7" name="6 Slayt Numarası Yer Tutucusu"/>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711B0CC-053C-4EE5-9259-30C74642B01C}" type="slidenum">
              <a:rPr lang="tr-TR" smtClean="0"/>
              <a:pPr/>
              <a:t>‹#›</a:t>
            </a:fld>
            <a:endParaRPr lang="tr-TR"/>
          </a:p>
        </p:txBody>
      </p:sp>
    </p:spTree>
    <p:extLst>
      <p:ext uri="{BB962C8B-B14F-4D97-AF65-F5344CB8AC3E}">
        <p14:creationId xmlns:p14="http://schemas.microsoft.com/office/powerpoint/2010/main" xmlns="" val="26323452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905000"/>
            <a:ext cx="7543800" cy="2593975"/>
          </a:xfrm>
        </p:spPr>
        <p:txBody>
          <a:bodyPr anchor="b"/>
          <a:lstStyle>
            <a:lvl1pPr>
              <a:defRPr sz="6600">
                <a:ln>
                  <a:noFill/>
                </a:ln>
                <a:solidFill>
                  <a:schemeClr val="tx2"/>
                </a:solidFill>
              </a:defRPr>
            </a:lvl1pPr>
          </a:lstStyle>
          <a:p>
            <a:r>
              <a:rPr lang="tr-TR" smtClean="0"/>
              <a:t>Asıl başlık stili için tıklatın</a:t>
            </a:r>
            <a:endParaRPr lang="en-US" dirty="0"/>
          </a:p>
        </p:txBody>
      </p:sp>
      <p:sp>
        <p:nvSpPr>
          <p:cNvPr id="3" name="Subtitle 2"/>
          <p:cNvSpPr>
            <a:spLocks noGrp="1"/>
          </p:cNvSpPr>
          <p:nvPr>
            <p:ph type="subTitle" idx="1"/>
          </p:nvPr>
        </p:nvSpPr>
        <p:spPr>
          <a:xfrm>
            <a:off x="685800" y="4572000"/>
            <a:ext cx="6461760" cy="1066800"/>
          </a:xfrm>
        </p:spPr>
        <p:txBody>
          <a:bodyPr anchor="t">
            <a:normAutofit/>
          </a:bodyPr>
          <a:lstStyle>
            <a:lvl1pPr marL="0" indent="0" algn="l">
              <a:buNone/>
              <a:defRPr sz="20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tr-TR" smtClean="0"/>
              <a:t>Asıl alt başlık stilini düzenlemek için tıklatın</a:t>
            </a:r>
            <a:endParaRPr lang="en-US" dirty="0"/>
          </a:p>
        </p:txBody>
      </p:sp>
      <p:sp>
        <p:nvSpPr>
          <p:cNvPr id="4" name="Date Placeholder 3"/>
          <p:cNvSpPr>
            <a:spLocks noGrp="1"/>
          </p:cNvSpPr>
          <p:nvPr>
            <p:ph type="dt" sz="half" idx="10"/>
          </p:nvPr>
        </p:nvSpPr>
        <p:spPr/>
        <p:txBody>
          <a:bodyPr/>
          <a:lstStyle/>
          <a:p>
            <a:pPr>
              <a:defRPr/>
            </a:pPr>
            <a:endParaRPr lang="es-ES"/>
          </a:p>
        </p:txBody>
      </p:sp>
      <p:sp>
        <p:nvSpPr>
          <p:cNvPr id="5" name="Footer Placeholder 4"/>
          <p:cNvSpPr>
            <a:spLocks noGrp="1"/>
          </p:cNvSpPr>
          <p:nvPr>
            <p:ph type="ftr" sz="quarter" idx="11"/>
          </p:nvPr>
        </p:nvSpPr>
        <p:spPr/>
        <p:txBody>
          <a:bodyPr/>
          <a:lstStyle/>
          <a:p>
            <a:pPr>
              <a:defRPr/>
            </a:pPr>
            <a:endParaRPr lang="es-ES"/>
          </a:p>
        </p:txBody>
      </p:sp>
      <p:sp>
        <p:nvSpPr>
          <p:cNvPr id="6" name="Slide Number Placeholder 5"/>
          <p:cNvSpPr>
            <a:spLocks noGrp="1"/>
          </p:cNvSpPr>
          <p:nvPr>
            <p:ph type="sldNum" sz="quarter" idx="12"/>
          </p:nvPr>
        </p:nvSpPr>
        <p:spPr/>
        <p:txBody>
          <a:bodyPr/>
          <a:lstStyle/>
          <a:p>
            <a:pPr>
              <a:defRPr/>
            </a:pPr>
            <a:fld id="{3404C349-0293-4C5B-BD61-8968F696ECA6}" type="slidenum">
              <a:rPr lang="es-ES" smtClean="0"/>
              <a:pPr>
                <a:defRPr/>
              </a:pPr>
              <a:t>‹#›</a:t>
            </a:fld>
            <a:endParaRPr lang="es-E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smtClean="0"/>
              <a:t>Asıl başlık stili için tıklatın</a:t>
            </a:r>
            <a:endParaRPr lang="en-US"/>
          </a:p>
        </p:txBody>
      </p:sp>
      <p:sp>
        <p:nvSpPr>
          <p:cNvPr id="3" name="Content Placeholder 2"/>
          <p:cNvSpPr>
            <a:spLocks noGrp="1"/>
          </p:cNvSpPr>
          <p:nvPr>
            <p:ph idx="1"/>
          </p:nvPr>
        </p:nvSpPr>
        <p:spPr/>
        <p:txBody>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a:p>
        </p:txBody>
      </p:sp>
      <p:sp>
        <p:nvSpPr>
          <p:cNvPr id="4" name="Date Placeholder 3"/>
          <p:cNvSpPr>
            <a:spLocks noGrp="1"/>
          </p:cNvSpPr>
          <p:nvPr>
            <p:ph type="dt" sz="half" idx="10"/>
          </p:nvPr>
        </p:nvSpPr>
        <p:spPr/>
        <p:txBody>
          <a:bodyPr/>
          <a:lstStyle/>
          <a:p>
            <a:pPr>
              <a:defRPr/>
            </a:pPr>
            <a:endParaRPr lang="es-ES"/>
          </a:p>
        </p:txBody>
      </p:sp>
      <p:sp>
        <p:nvSpPr>
          <p:cNvPr id="5" name="Footer Placeholder 4"/>
          <p:cNvSpPr>
            <a:spLocks noGrp="1"/>
          </p:cNvSpPr>
          <p:nvPr>
            <p:ph type="ftr" sz="quarter" idx="11"/>
          </p:nvPr>
        </p:nvSpPr>
        <p:spPr/>
        <p:txBody>
          <a:bodyPr/>
          <a:lstStyle/>
          <a:p>
            <a:pPr>
              <a:defRPr/>
            </a:pPr>
            <a:endParaRPr lang="es-ES"/>
          </a:p>
        </p:txBody>
      </p:sp>
      <p:sp>
        <p:nvSpPr>
          <p:cNvPr id="6" name="Slide Number Placeholder 5"/>
          <p:cNvSpPr>
            <a:spLocks noGrp="1"/>
          </p:cNvSpPr>
          <p:nvPr>
            <p:ph type="sldNum" sz="quarter" idx="12"/>
          </p:nvPr>
        </p:nvSpPr>
        <p:spPr/>
        <p:txBody>
          <a:bodyPr/>
          <a:lstStyle/>
          <a:p>
            <a:pPr>
              <a:defRPr/>
            </a:pPr>
            <a:fld id="{7289ED51-3D18-45F8-86FC-FD8561268021}" type="slidenum">
              <a:rPr lang="es-ES" smtClean="0"/>
              <a:pPr>
                <a:defRPr/>
              </a:pPr>
              <a:t>‹#›</a:t>
            </a:fld>
            <a:endParaRPr lang="es-E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bilgisi">
    <p:spTree>
      <p:nvGrpSpPr>
        <p:cNvPr id="1" name=""/>
        <p:cNvGrpSpPr/>
        <p:nvPr/>
      </p:nvGrpSpPr>
      <p:grpSpPr>
        <a:xfrm>
          <a:off x="0" y="0"/>
          <a:ext cx="0" cy="0"/>
          <a:chOff x="0" y="0"/>
          <a:chExt cx="0" cy="0"/>
        </a:xfrm>
      </p:grpSpPr>
      <p:sp>
        <p:nvSpPr>
          <p:cNvPr id="2" name="Title 1"/>
          <p:cNvSpPr>
            <a:spLocks noGrp="1"/>
          </p:cNvSpPr>
          <p:nvPr>
            <p:ph type="title"/>
          </p:nvPr>
        </p:nvSpPr>
        <p:spPr>
          <a:xfrm>
            <a:off x="722313" y="5486400"/>
            <a:ext cx="7659687" cy="1168400"/>
          </a:xfrm>
        </p:spPr>
        <p:txBody>
          <a:bodyPr anchor="t"/>
          <a:lstStyle>
            <a:lvl1pPr algn="l">
              <a:defRPr sz="3600" b="0" cap="all"/>
            </a:lvl1pPr>
          </a:lstStyle>
          <a:p>
            <a:r>
              <a:rPr lang="tr-TR" smtClean="0"/>
              <a:t>Asıl başlık stili için tıklatın</a:t>
            </a:r>
            <a:endParaRPr lang="en-US" dirty="0"/>
          </a:p>
        </p:txBody>
      </p:sp>
      <p:sp>
        <p:nvSpPr>
          <p:cNvPr id="3" name="Text Placeholder 2"/>
          <p:cNvSpPr>
            <a:spLocks noGrp="1"/>
          </p:cNvSpPr>
          <p:nvPr>
            <p:ph type="body" idx="1"/>
          </p:nvPr>
        </p:nvSpPr>
        <p:spPr>
          <a:xfrm>
            <a:off x="722313" y="3852863"/>
            <a:ext cx="6135687" cy="1633538"/>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smtClean="0"/>
              <a:t>Asıl metin stillerini düzenlemek için tıklatın</a:t>
            </a:r>
          </a:p>
        </p:txBody>
      </p:sp>
      <p:sp>
        <p:nvSpPr>
          <p:cNvPr id="4" name="Date Placeholder 3"/>
          <p:cNvSpPr>
            <a:spLocks noGrp="1"/>
          </p:cNvSpPr>
          <p:nvPr>
            <p:ph type="dt" sz="half" idx="10"/>
          </p:nvPr>
        </p:nvSpPr>
        <p:spPr/>
        <p:txBody>
          <a:bodyPr/>
          <a:lstStyle/>
          <a:p>
            <a:pPr>
              <a:defRPr/>
            </a:pPr>
            <a:endParaRPr lang="es-ES"/>
          </a:p>
        </p:txBody>
      </p:sp>
      <p:sp>
        <p:nvSpPr>
          <p:cNvPr id="5" name="Footer Placeholder 4"/>
          <p:cNvSpPr>
            <a:spLocks noGrp="1"/>
          </p:cNvSpPr>
          <p:nvPr>
            <p:ph type="ftr" sz="quarter" idx="11"/>
          </p:nvPr>
        </p:nvSpPr>
        <p:spPr/>
        <p:txBody>
          <a:bodyPr/>
          <a:lstStyle/>
          <a:p>
            <a:pPr>
              <a:defRPr/>
            </a:pPr>
            <a:endParaRPr lang="es-ES"/>
          </a:p>
        </p:txBody>
      </p:sp>
      <p:sp>
        <p:nvSpPr>
          <p:cNvPr id="6" name="Slide Number Placeholder 5"/>
          <p:cNvSpPr>
            <a:spLocks noGrp="1"/>
          </p:cNvSpPr>
          <p:nvPr>
            <p:ph type="sldNum" sz="quarter" idx="12"/>
          </p:nvPr>
        </p:nvSpPr>
        <p:spPr/>
        <p:txBody>
          <a:bodyPr/>
          <a:lstStyle/>
          <a:p>
            <a:pPr>
              <a:defRPr/>
            </a:pPr>
            <a:fld id="{B1E30559-BAA3-4562-8020-B6DCEE6D0E3E}" type="slidenum">
              <a:rPr lang="es-ES" smtClean="0"/>
              <a:pPr>
                <a:defRPr/>
              </a:pPr>
              <a:t>‹#›</a:t>
            </a:fld>
            <a:endParaRPr lang="es-E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smtClean="0"/>
              <a:t>Asıl başlık stili için tıklatın</a:t>
            </a:r>
            <a:endParaRPr lang="en-US"/>
          </a:p>
        </p:txBody>
      </p:sp>
      <p:sp>
        <p:nvSpPr>
          <p:cNvPr id="3" name="Content Placeholder 2"/>
          <p:cNvSpPr>
            <a:spLocks noGrp="1"/>
          </p:cNvSpPr>
          <p:nvPr>
            <p:ph sz="half" idx="1"/>
          </p:nvPr>
        </p:nvSpPr>
        <p:spPr>
          <a:xfrm>
            <a:off x="457200" y="1536192"/>
            <a:ext cx="36576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4" name="Content Placeholder 3"/>
          <p:cNvSpPr>
            <a:spLocks noGrp="1"/>
          </p:cNvSpPr>
          <p:nvPr>
            <p:ph sz="half" idx="2"/>
          </p:nvPr>
        </p:nvSpPr>
        <p:spPr>
          <a:xfrm>
            <a:off x="4419600" y="1536192"/>
            <a:ext cx="36576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5" name="Date Placeholder 4"/>
          <p:cNvSpPr>
            <a:spLocks noGrp="1"/>
          </p:cNvSpPr>
          <p:nvPr>
            <p:ph type="dt" sz="half" idx="10"/>
          </p:nvPr>
        </p:nvSpPr>
        <p:spPr/>
        <p:txBody>
          <a:bodyPr/>
          <a:lstStyle/>
          <a:p>
            <a:pPr>
              <a:defRPr/>
            </a:pPr>
            <a:endParaRPr lang="es-ES"/>
          </a:p>
        </p:txBody>
      </p:sp>
      <p:sp>
        <p:nvSpPr>
          <p:cNvPr id="6" name="Footer Placeholder 5"/>
          <p:cNvSpPr>
            <a:spLocks noGrp="1"/>
          </p:cNvSpPr>
          <p:nvPr>
            <p:ph type="ftr" sz="quarter" idx="11"/>
          </p:nvPr>
        </p:nvSpPr>
        <p:spPr/>
        <p:txBody>
          <a:bodyPr/>
          <a:lstStyle/>
          <a:p>
            <a:pPr>
              <a:defRPr/>
            </a:pPr>
            <a:endParaRPr lang="es-ES"/>
          </a:p>
        </p:txBody>
      </p:sp>
      <p:sp>
        <p:nvSpPr>
          <p:cNvPr id="7" name="Slide Number Placeholder 6"/>
          <p:cNvSpPr>
            <a:spLocks noGrp="1"/>
          </p:cNvSpPr>
          <p:nvPr>
            <p:ph type="sldNum" sz="quarter" idx="12"/>
          </p:nvPr>
        </p:nvSpPr>
        <p:spPr/>
        <p:txBody>
          <a:bodyPr/>
          <a:lstStyle/>
          <a:p>
            <a:pPr>
              <a:defRPr/>
            </a:pPr>
            <a:fld id="{8D37490C-9C1B-4AC9-A719-5CB7A5E923CD}" type="slidenum">
              <a:rPr lang="es-ES" smtClean="0"/>
              <a:pPr>
                <a:defRPr/>
              </a:pPr>
              <a:t>‹#›</a:t>
            </a:fld>
            <a:endParaRPr lang="es-E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tr-TR" smtClean="0"/>
              <a:t>Asıl başlık stili için tıklatın</a:t>
            </a:r>
            <a:endParaRPr lang="en-US"/>
          </a:p>
        </p:txBody>
      </p:sp>
      <p:sp>
        <p:nvSpPr>
          <p:cNvPr id="3" name="Text Placeholder 2"/>
          <p:cNvSpPr>
            <a:spLocks noGrp="1"/>
          </p:cNvSpPr>
          <p:nvPr>
            <p:ph type="body" idx="1"/>
          </p:nvPr>
        </p:nvSpPr>
        <p:spPr>
          <a:xfrm>
            <a:off x="457200" y="1535113"/>
            <a:ext cx="36576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smtClean="0"/>
              <a:t>Asıl metin stillerini düzenlemek için tıklatın</a:t>
            </a:r>
          </a:p>
        </p:txBody>
      </p:sp>
      <p:sp>
        <p:nvSpPr>
          <p:cNvPr id="4" name="Content Placeholder 3"/>
          <p:cNvSpPr>
            <a:spLocks noGrp="1"/>
          </p:cNvSpPr>
          <p:nvPr>
            <p:ph sz="half" idx="2"/>
          </p:nvPr>
        </p:nvSpPr>
        <p:spPr>
          <a:xfrm>
            <a:off x="457200" y="2174875"/>
            <a:ext cx="36576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5" name="Text Placeholder 4"/>
          <p:cNvSpPr>
            <a:spLocks noGrp="1"/>
          </p:cNvSpPr>
          <p:nvPr>
            <p:ph type="body" sz="quarter" idx="3"/>
          </p:nvPr>
        </p:nvSpPr>
        <p:spPr>
          <a:xfrm>
            <a:off x="4419600" y="1535113"/>
            <a:ext cx="36576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smtClean="0"/>
              <a:t>Asıl metin stillerini düzenlemek için tıklatın</a:t>
            </a:r>
          </a:p>
        </p:txBody>
      </p:sp>
      <p:sp>
        <p:nvSpPr>
          <p:cNvPr id="6" name="Content Placeholder 5"/>
          <p:cNvSpPr>
            <a:spLocks noGrp="1"/>
          </p:cNvSpPr>
          <p:nvPr>
            <p:ph sz="quarter" idx="4"/>
          </p:nvPr>
        </p:nvSpPr>
        <p:spPr>
          <a:xfrm>
            <a:off x="4419600" y="2174875"/>
            <a:ext cx="36576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a:p>
        </p:txBody>
      </p:sp>
      <p:sp>
        <p:nvSpPr>
          <p:cNvPr id="7" name="Date Placeholder 6"/>
          <p:cNvSpPr>
            <a:spLocks noGrp="1"/>
          </p:cNvSpPr>
          <p:nvPr>
            <p:ph type="dt" sz="half" idx="10"/>
          </p:nvPr>
        </p:nvSpPr>
        <p:spPr/>
        <p:txBody>
          <a:bodyPr/>
          <a:lstStyle/>
          <a:p>
            <a:pPr>
              <a:defRPr/>
            </a:pPr>
            <a:endParaRPr lang="es-ES"/>
          </a:p>
        </p:txBody>
      </p:sp>
      <p:sp>
        <p:nvSpPr>
          <p:cNvPr id="8" name="Footer Placeholder 7"/>
          <p:cNvSpPr>
            <a:spLocks noGrp="1"/>
          </p:cNvSpPr>
          <p:nvPr>
            <p:ph type="ftr" sz="quarter" idx="11"/>
          </p:nvPr>
        </p:nvSpPr>
        <p:spPr/>
        <p:txBody>
          <a:bodyPr/>
          <a:lstStyle/>
          <a:p>
            <a:pPr>
              <a:defRPr/>
            </a:pPr>
            <a:endParaRPr lang="es-ES"/>
          </a:p>
        </p:txBody>
      </p:sp>
      <p:sp>
        <p:nvSpPr>
          <p:cNvPr id="9" name="Slide Number Placeholder 8"/>
          <p:cNvSpPr>
            <a:spLocks noGrp="1"/>
          </p:cNvSpPr>
          <p:nvPr>
            <p:ph type="sldNum" sz="quarter" idx="12"/>
          </p:nvPr>
        </p:nvSpPr>
        <p:spPr/>
        <p:txBody>
          <a:bodyPr/>
          <a:lstStyle/>
          <a:p>
            <a:pPr>
              <a:defRPr/>
            </a:pPr>
            <a:fld id="{52C19F1E-C2C4-43B8-BE68-DBAC4ECF8BE2}" type="slidenum">
              <a:rPr lang="es-ES" smtClean="0"/>
              <a:pPr>
                <a:defRPr/>
              </a:pPr>
              <a:t>‹#›</a:t>
            </a:fld>
            <a:endParaRPr lang="es-E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smtClean="0"/>
              <a:t>Asıl başlık stili için tıklatın</a:t>
            </a:r>
            <a:endParaRPr lang="en-US"/>
          </a:p>
        </p:txBody>
      </p:sp>
      <p:sp>
        <p:nvSpPr>
          <p:cNvPr id="3" name="Date Placeholder 2"/>
          <p:cNvSpPr>
            <a:spLocks noGrp="1"/>
          </p:cNvSpPr>
          <p:nvPr>
            <p:ph type="dt" sz="half" idx="10"/>
          </p:nvPr>
        </p:nvSpPr>
        <p:spPr/>
        <p:txBody>
          <a:bodyPr/>
          <a:lstStyle/>
          <a:p>
            <a:pPr>
              <a:defRPr/>
            </a:pPr>
            <a:endParaRPr lang="es-ES"/>
          </a:p>
        </p:txBody>
      </p:sp>
      <p:sp>
        <p:nvSpPr>
          <p:cNvPr id="4" name="Footer Placeholder 3"/>
          <p:cNvSpPr>
            <a:spLocks noGrp="1"/>
          </p:cNvSpPr>
          <p:nvPr>
            <p:ph type="ftr" sz="quarter" idx="11"/>
          </p:nvPr>
        </p:nvSpPr>
        <p:spPr/>
        <p:txBody>
          <a:bodyPr/>
          <a:lstStyle/>
          <a:p>
            <a:pPr>
              <a:defRPr/>
            </a:pPr>
            <a:endParaRPr lang="es-ES"/>
          </a:p>
        </p:txBody>
      </p:sp>
      <p:sp>
        <p:nvSpPr>
          <p:cNvPr id="5" name="Slide Number Placeholder 4"/>
          <p:cNvSpPr>
            <a:spLocks noGrp="1"/>
          </p:cNvSpPr>
          <p:nvPr>
            <p:ph type="sldNum" sz="quarter" idx="12"/>
          </p:nvPr>
        </p:nvSpPr>
        <p:spPr/>
        <p:txBody>
          <a:bodyPr/>
          <a:lstStyle/>
          <a:p>
            <a:pPr>
              <a:defRPr/>
            </a:pPr>
            <a:fld id="{E68FA1EF-296B-40C1-B636-00A926A74512}" type="slidenum">
              <a:rPr lang="es-ES" smtClean="0"/>
              <a:pPr>
                <a:defRPr/>
              </a:pPr>
              <a:t>‹#›</a:t>
            </a:fld>
            <a:endParaRPr lang="es-E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endParaRPr lang="es-ES"/>
          </a:p>
        </p:txBody>
      </p:sp>
      <p:sp>
        <p:nvSpPr>
          <p:cNvPr id="3" name="Footer Placeholder 2"/>
          <p:cNvSpPr>
            <a:spLocks noGrp="1"/>
          </p:cNvSpPr>
          <p:nvPr>
            <p:ph type="ftr" sz="quarter" idx="11"/>
          </p:nvPr>
        </p:nvSpPr>
        <p:spPr/>
        <p:txBody>
          <a:bodyPr/>
          <a:lstStyle/>
          <a:p>
            <a:pPr>
              <a:defRPr/>
            </a:pPr>
            <a:endParaRPr lang="es-ES"/>
          </a:p>
        </p:txBody>
      </p:sp>
      <p:sp>
        <p:nvSpPr>
          <p:cNvPr id="4" name="Slide Number Placeholder 3"/>
          <p:cNvSpPr>
            <a:spLocks noGrp="1"/>
          </p:cNvSpPr>
          <p:nvPr>
            <p:ph type="sldNum" sz="quarter" idx="12"/>
          </p:nvPr>
        </p:nvSpPr>
        <p:spPr/>
        <p:txBody>
          <a:bodyPr/>
          <a:lstStyle/>
          <a:p>
            <a:pPr>
              <a:defRPr/>
            </a:pPr>
            <a:fld id="{3C5D3AC1-5A64-441E-A1A8-9FAE71C6AF66}" type="slidenum">
              <a:rPr lang="es-ES" smtClean="0"/>
              <a:pPr>
                <a:defRPr/>
              </a:pPr>
              <a:t>‹#›</a:t>
            </a:fld>
            <a:endParaRPr lang="es-E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Title 1"/>
          <p:cNvSpPr>
            <a:spLocks noGrp="1"/>
          </p:cNvSpPr>
          <p:nvPr>
            <p:ph type="title"/>
          </p:nvPr>
        </p:nvSpPr>
        <p:spPr>
          <a:xfrm>
            <a:off x="304801" y="5495544"/>
            <a:ext cx="7772400" cy="594360"/>
          </a:xfrm>
        </p:spPr>
        <p:txBody>
          <a:bodyPr anchor="b"/>
          <a:lstStyle>
            <a:lvl1pPr algn="ctr">
              <a:defRPr sz="2200" b="1"/>
            </a:lvl1pPr>
          </a:lstStyle>
          <a:p>
            <a:r>
              <a:rPr lang="tr-TR" smtClean="0"/>
              <a:t>Asıl başlık stili için tıklatın</a:t>
            </a:r>
            <a:endParaRPr lang="en-US" dirty="0"/>
          </a:p>
        </p:txBody>
      </p:sp>
      <p:sp>
        <p:nvSpPr>
          <p:cNvPr id="4" name="Text Placeholder 3"/>
          <p:cNvSpPr>
            <a:spLocks noGrp="1"/>
          </p:cNvSpPr>
          <p:nvPr>
            <p:ph type="body" sz="half" idx="2"/>
          </p:nvPr>
        </p:nvSpPr>
        <p:spPr>
          <a:xfrm>
            <a:off x="304799" y="6096000"/>
            <a:ext cx="7772401" cy="6096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smtClean="0"/>
              <a:t>Asıl metin stillerini düzenlemek için tıklatın</a:t>
            </a:r>
          </a:p>
        </p:txBody>
      </p:sp>
      <p:sp>
        <p:nvSpPr>
          <p:cNvPr id="5" name="Date Placeholder 4"/>
          <p:cNvSpPr>
            <a:spLocks noGrp="1"/>
          </p:cNvSpPr>
          <p:nvPr>
            <p:ph type="dt" sz="half" idx="10"/>
          </p:nvPr>
        </p:nvSpPr>
        <p:spPr/>
        <p:txBody>
          <a:bodyPr/>
          <a:lstStyle/>
          <a:p>
            <a:pPr>
              <a:defRPr/>
            </a:pPr>
            <a:endParaRPr lang="es-ES"/>
          </a:p>
        </p:txBody>
      </p:sp>
      <p:sp>
        <p:nvSpPr>
          <p:cNvPr id="6" name="Footer Placeholder 5"/>
          <p:cNvSpPr>
            <a:spLocks noGrp="1"/>
          </p:cNvSpPr>
          <p:nvPr>
            <p:ph type="ftr" sz="quarter" idx="11"/>
          </p:nvPr>
        </p:nvSpPr>
        <p:spPr/>
        <p:txBody>
          <a:bodyPr/>
          <a:lstStyle/>
          <a:p>
            <a:pPr>
              <a:defRPr/>
            </a:pPr>
            <a:endParaRPr lang="es-ES"/>
          </a:p>
        </p:txBody>
      </p:sp>
      <p:sp>
        <p:nvSpPr>
          <p:cNvPr id="7" name="Slide Number Placeholder 6"/>
          <p:cNvSpPr>
            <a:spLocks noGrp="1"/>
          </p:cNvSpPr>
          <p:nvPr>
            <p:ph type="sldNum" sz="quarter" idx="12"/>
          </p:nvPr>
        </p:nvSpPr>
        <p:spPr/>
        <p:txBody>
          <a:bodyPr/>
          <a:lstStyle/>
          <a:p>
            <a:pPr>
              <a:defRPr/>
            </a:pPr>
            <a:fld id="{9D65BA48-3AB7-42AA-A309-B1E404C47DBD}" type="slidenum">
              <a:rPr lang="es-ES" smtClean="0"/>
              <a:pPr>
                <a:defRPr/>
              </a:pPr>
              <a:t>‹#›</a:t>
            </a:fld>
            <a:endParaRPr lang="es-ES"/>
          </a:p>
        </p:txBody>
      </p:sp>
      <p:sp>
        <p:nvSpPr>
          <p:cNvPr id="9" name="Content Placeholder 8"/>
          <p:cNvSpPr>
            <a:spLocks noGrp="1"/>
          </p:cNvSpPr>
          <p:nvPr>
            <p:ph sz="quarter" idx="13"/>
          </p:nvPr>
        </p:nvSpPr>
        <p:spPr>
          <a:xfrm>
            <a:off x="304800" y="381000"/>
            <a:ext cx="7772400" cy="4942840"/>
          </a:xfrm>
        </p:spPr>
        <p:txBody>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Title 1"/>
          <p:cNvSpPr>
            <a:spLocks noGrp="1"/>
          </p:cNvSpPr>
          <p:nvPr>
            <p:ph type="title"/>
          </p:nvPr>
        </p:nvSpPr>
        <p:spPr>
          <a:xfrm>
            <a:off x="301752" y="5495278"/>
            <a:ext cx="7772400" cy="594626"/>
          </a:xfrm>
        </p:spPr>
        <p:txBody>
          <a:bodyPr anchor="b"/>
          <a:lstStyle>
            <a:lvl1pPr algn="ctr">
              <a:defRPr sz="2200" b="1">
                <a:ln>
                  <a:noFill/>
                </a:ln>
                <a:solidFill>
                  <a:schemeClr val="tx2"/>
                </a:solidFill>
              </a:defRPr>
            </a:lvl1pPr>
          </a:lstStyle>
          <a:p>
            <a:r>
              <a:rPr lang="tr-TR" smtClean="0"/>
              <a:t>Asıl başlık stili için tıklatın</a:t>
            </a:r>
            <a:endParaRPr lang="en-US" dirty="0"/>
          </a:p>
        </p:txBody>
      </p:sp>
      <p:sp>
        <p:nvSpPr>
          <p:cNvPr id="3" name="Picture Placeholder 2"/>
          <p:cNvSpPr>
            <a:spLocks noGrp="1"/>
          </p:cNvSpPr>
          <p:nvPr>
            <p:ph type="pic" idx="1"/>
          </p:nvPr>
        </p:nvSpPr>
        <p:spPr>
          <a:xfrm>
            <a:off x="0" y="0"/>
            <a:ext cx="8458200" cy="54864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tr-TR" smtClean="0"/>
              <a:t>Resim eklemek için simgeyi tıklatın</a:t>
            </a:r>
            <a:endParaRPr lang="en-US" dirty="0"/>
          </a:p>
        </p:txBody>
      </p:sp>
      <p:sp>
        <p:nvSpPr>
          <p:cNvPr id="4" name="Text Placeholder 3"/>
          <p:cNvSpPr>
            <a:spLocks noGrp="1"/>
          </p:cNvSpPr>
          <p:nvPr>
            <p:ph type="body" sz="half" idx="2"/>
          </p:nvPr>
        </p:nvSpPr>
        <p:spPr>
          <a:xfrm>
            <a:off x="301752" y="6096000"/>
            <a:ext cx="7772400" cy="612648"/>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smtClean="0"/>
              <a:t>Asıl metin stillerini düzenlemek için tıklatın</a:t>
            </a:r>
          </a:p>
        </p:txBody>
      </p:sp>
      <p:sp>
        <p:nvSpPr>
          <p:cNvPr id="8" name="Date Placeholder 7"/>
          <p:cNvSpPr>
            <a:spLocks noGrp="1"/>
          </p:cNvSpPr>
          <p:nvPr>
            <p:ph type="dt" sz="half" idx="10"/>
          </p:nvPr>
        </p:nvSpPr>
        <p:spPr/>
        <p:txBody>
          <a:bodyPr/>
          <a:lstStyle/>
          <a:p>
            <a:pPr>
              <a:defRPr/>
            </a:pPr>
            <a:endParaRPr lang="es-ES"/>
          </a:p>
        </p:txBody>
      </p:sp>
      <p:sp>
        <p:nvSpPr>
          <p:cNvPr id="9" name="Slide Number Placeholder 8"/>
          <p:cNvSpPr>
            <a:spLocks noGrp="1"/>
          </p:cNvSpPr>
          <p:nvPr>
            <p:ph type="sldNum" sz="quarter" idx="11"/>
          </p:nvPr>
        </p:nvSpPr>
        <p:spPr/>
        <p:txBody>
          <a:bodyPr/>
          <a:lstStyle/>
          <a:p>
            <a:pPr>
              <a:defRPr/>
            </a:pPr>
            <a:fld id="{D731D35F-B073-4216-8697-E08C0989EA53}" type="slidenum">
              <a:rPr lang="es-ES" smtClean="0"/>
              <a:pPr>
                <a:defRPr/>
              </a:pPr>
              <a:t>‹#›</a:t>
            </a:fld>
            <a:endParaRPr lang="es-ES"/>
          </a:p>
        </p:txBody>
      </p:sp>
      <p:sp>
        <p:nvSpPr>
          <p:cNvPr id="10" name="Footer Placeholder 9"/>
          <p:cNvSpPr>
            <a:spLocks noGrp="1"/>
          </p:cNvSpPr>
          <p:nvPr>
            <p:ph type="ftr" sz="quarter" idx="12"/>
          </p:nvPr>
        </p:nvSpPr>
        <p:spPr/>
        <p:txBody>
          <a:bodyPr/>
          <a:lstStyle/>
          <a:p>
            <a:pPr>
              <a:defRPr/>
            </a:pPr>
            <a:endParaRPr lang="es-E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Dikey Meti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smtClean="0"/>
              <a:t>Asıl başlık stili için tıklatın</a:t>
            </a:r>
            <a:endParaRPr lang="en-US"/>
          </a:p>
        </p:txBody>
      </p:sp>
      <p:sp>
        <p:nvSpPr>
          <p:cNvPr id="3" name="Vertical Text Placeholder 2"/>
          <p:cNvSpPr>
            <a:spLocks noGrp="1"/>
          </p:cNvSpPr>
          <p:nvPr>
            <p:ph type="body" orient="vert" idx="1"/>
          </p:nvPr>
        </p:nvSpPr>
        <p:spPr/>
        <p:txBody>
          <a:bodyPr vert="eaVert"/>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a:p>
        </p:txBody>
      </p:sp>
      <p:sp>
        <p:nvSpPr>
          <p:cNvPr id="4" name="Date Placeholder 3"/>
          <p:cNvSpPr>
            <a:spLocks noGrp="1"/>
          </p:cNvSpPr>
          <p:nvPr>
            <p:ph type="dt" sz="half" idx="10"/>
          </p:nvPr>
        </p:nvSpPr>
        <p:spPr/>
        <p:txBody>
          <a:bodyPr/>
          <a:lstStyle/>
          <a:p>
            <a:pPr>
              <a:defRPr/>
            </a:pPr>
            <a:endParaRPr lang="es-ES"/>
          </a:p>
        </p:txBody>
      </p:sp>
      <p:sp>
        <p:nvSpPr>
          <p:cNvPr id="5" name="Footer Placeholder 4"/>
          <p:cNvSpPr>
            <a:spLocks noGrp="1"/>
          </p:cNvSpPr>
          <p:nvPr>
            <p:ph type="ftr" sz="quarter" idx="11"/>
          </p:nvPr>
        </p:nvSpPr>
        <p:spPr/>
        <p:txBody>
          <a:bodyPr/>
          <a:lstStyle/>
          <a:p>
            <a:pPr>
              <a:defRPr/>
            </a:pPr>
            <a:endParaRPr lang="es-ES"/>
          </a:p>
        </p:txBody>
      </p:sp>
      <p:sp>
        <p:nvSpPr>
          <p:cNvPr id="6" name="Slide Number Placeholder 5"/>
          <p:cNvSpPr>
            <a:spLocks noGrp="1"/>
          </p:cNvSpPr>
          <p:nvPr>
            <p:ph type="sldNum" sz="quarter" idx="12"/>
          </p:nvPr>
        </p:nvSpPr>
        <p:spPr/>
        <p:txBody>
          <a:bodyPr/>
          <a:lstStyle/>
          <a:p>
            <a:pPr>
              <a:defRPr/>
            </a:pPr>
            <a:fld id="{FB694EDE-81EF-4BAB-96DB-6066A9EED78C}" type="slidenum">
              <a:rPr lang="es-ES" smtClean="0"/>
              <a:pPr>
                <a:defRPr/>
              </a:pPr>
              <a:t>‹#›</a:t>
            </a:fld>
            <a:endParaRPr lang="es-E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1752600" cy="5851525"/>
          </a:xfrm>
        </p:spPr>
        <p:txBody>
          <a:bodyPr vert="eaVert" anchor="b" anchorCtr="0"/>
          <a:lstStyle/>
          <a:p>
            <a:r>
              <a:rPr lang="tr-TR" smtClean="0"/>
              <a:t>Asıl başlık stili için tıklatın</a:t>
            </a:r>
            <a:endParaRPr lang="en-US" dirty="0"/>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a:p>
        </p:txBody>
      </p:sp>
      <p:sp>
        <p:nvSpPr>
          <p:cNvPr id="4" name="Date Placeholder 3"/>
          <p:cNvSpPr>
            <a:spLocks noGrp="1"/>
          </p:cNvSpPr>
          <p:nvPr>
            <p:ph type="dt" sz="half" idx="10"/>
          </p:nvPr>
        </p:nvSpPr>
        <p:spPr/>
        <p:txBody>
          <a:bodyPr/>
          <a:lstStyle/>
          <a:p>
            <a:pPr>
              <a:defRPr/>
            </a:pPr>
            <a:endParaRPr lang="es-ES"/>
          </a:p>
        </p:txBody>
      </p:sp>
      <p:sp>
        <p:nvSpPr>
          <p:cNvPr id="5" name="Footer Placeholder 4"/>
          <p:cNvSpPr>
            <a:spLocks noGrp="1"/>
          </p:cNvSpPr>
          <p:nvPr>
            <p:ph type="ftr" sz="quarter" idx="11"/>
          </p:nvPr>
        </p:nvSpPr>
        <p:spPr/>
        <p:txBody>
          <a:bodyPr/>
          <a:lstStyle/>
          <a:p>
            <a:pPr>
              <a:defRPr/>
            </a:pPr>
            <a:endParaRPr lang="es-ES"/>
          </a:p>
        </p:txBody>
      </p:sp>
      <p:sp>
        <p:nvSpPr>
          <p:cNvPr id="6" name="Slide Number Placeholder 5"/>
          <p:cNvSpPr>
            <a:spLocks noGrp="1"/>
          </p:cNvSpPr>
          <p:nvPr>
            <p:ph type="sldNum" sz="quarter" idx="12"/>
          </p:nvPr>
        </p:nvSpPr>
        <p:spPr/>
        <p:txBody>
          <a:bodyPr/>
          <a:lstStyle/>
          <a:p>
            <a:pPr>
              <a:defRPr/>
            </a:pPr>
            <a:fld id="{D900CEFE-2B5D-4039-8D04-AC77E9226A17}" type="slidenum">
              <a:rPr lang="es-ES" smtClean="0"/>
              <a:pPr>
                <a:defRPr/>
              </a:pPr>
              <a:t>‹#›</a:t>
            </a:fld>
            <a:endParaRPr lang="es-E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7620000" cy="1143000"/>
          </a:xfrm>
          <a:prstGeom prst="rect">
            <a:avLst/>
          </a:prstGeom>
        </p:spPr>
        <p:txBody>
          <a:bodyPr vert="horz" lIns="91440" tIns="45720" rIns="91440" bIns="45720" rtlCol="0" anchor="ctr">
            <a:noAutofit/>
          </a:bodyPr>
          <a:lstStyle/>
          <a:p>
            <a:r>
              <a:rPr lang="tr-TR" smtClean="0"/>
              <a:t>Asıl başlık stili için tıklatın</a:t>
            </a:r>
            <a:endParaRPr lang="en-US" dirty="0"/>
          </a:p>
        </p:txBody>
      </p:sp>
      <p:sp>
        <p:nvSpPr>
          <p:cNvPr id="3" name="Text Placeholder 2"/>
          <p:cNvSpPr>
            <a:spLocks noGrp="1"/>
          </p:cNvSpPr>
          <p:nvPr>
            <p:ph type="body" idx="1"/>
          </p:nvPr>
        </p:nvSpPr>
        <p:spPr>
          <a:xfrm>
            <a:off x="457200" y="1600200"/>
            <a:ext cx="7620000" cy="4800600"/>
          </a:xfrm>
          <a:prstGeom prst="rect">
            <a:avLst/>
          </a:prstGeom>
        </p:spPr>
        <p:txBody>
          <a:bodyPr vert="horz" lIns="91440" tIns="45720" rIns="91440" bIns="45720" rtlCol="0">
            <a:normAutofit/>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7" name="Rectangle 6"/>
          <p:cNvSpPr/>
          <p:nvPr/>
        </p:nvSpPr>
        <p:spPr>
          <a:xfrm>
            <a:off x="8458200" y="0"/>
            <a:ext cx="6858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8458200" y="5486400"/>
            <a:ext cx="685800" cy="6858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p:cNvSpPr>
            <a:spLocks noGrp="1"/>
          </p:cNvSpPr>
          <p:nvPr>
            <p:ph type="sldNum" sz="quarter" idx="4"/>
          </p:nvPr>
        </p:nvSpPr>
        <p:spPr>
          <a:xfrm>
            <a:off x="8531788" y="5648960"/>
            <a:ext cx="548640" cy="396240"/>
          </a:xfrm>
          <a:prstGeom prst="bracketPair">
            <a:avLst>
              <a:gd name="adj" fmla="val 17949"/>
            </a:avLst>
          </a:prstGeom>
          <a:ln w="19050">
            <a:solidFill>
              <a:srgbClr val="FFFFFF"/>
            </a:solidFill>
          </a:ln>
        </p:spPr>
        <p:txBody>
          <a:bodyPr vert="horz" lIns="0" tIns="0" rIns="0" bIns="0" rtlCol="0" anchor="ctr"/>
          <a:lstStyle>
            <a:lvl1pPr algn="ctr">
              <a:defRPr sz="1800">
                <a:solidFill>
                  <a:srgbClr val="FFFFFF"/>
                </a:solidFill>
              </a:defRPr>
            </a:lvl1pPr>
          </a:lstStyle>
          <a:p>
            <a:pPr>
              <a:defRPr/>
            </a:pPr>
            <a:fld id="{8752DBB7-8610-4E58-9205-33D206425DAC}" type="slidenum">
              <a:rPr lang="es-ES" smtClean="0"/>
              <a:pPr>
                <a:defRPr/>
              </a:pPr>
              <a:t>‹#›</a:t>
            </a:fld>
            <a:endParaRPr lang="es-ES"/>
          </a:p>
        </p:txBody>
      </p:sp>
      <p:sp>
        <p:nvSpPr>
          <p:cNvPr id="5" name="Footer Placeholder 4"/>
          <p:cNvSpPr>
            <a:spLocks noGrp="1"/>
          </p:cNvSpPr>
          <p:nvPr>
            <p:ph type="ftr" sz="quarter" idx="3"/>
          </p:nvPr>
        </p:nvSpPr>
        <p:spPr>
          <a:xfrm rot="16200000">
            <a:off x="7586910" y="4048760"/>
            <a:ext cx="2367281" cy="365760"/>
          </a:xfrm>
          <a:prstGeom prst="rect">
            <a:avLst/>
          </a:prstGeom>
        </p:spPr>
        <p:txBody>
          <a:bodyPr vert="horz" lIns="91440" tIns="45720" rIns="91440" bIns="45720" rtlCol="0" anchor="ctr"/>
          <a:lstStyle>
            <a:lvl1pPr algn="r">
              <a:defRPr sz="1200">
                <a:solidFill>
                  <a:schemeClr val="bg2"/>
                </a:solidFill>
              </a:defRPr>
            </a:lvl1pPr>
          </a:lstStyle>
          <a:p>
            <a:pPr>
              <a:defRPr/>
            </a:pPr>
            <a:endParaRPr lang="es-ES"/>
          </a:p>
        </p:txBody>
      </p:sp>
      <p:sp>
        <p:nvSpPr>
          <p:cNvPr id="4" name="Date Placeholder 3"/>
          <p:cNvSpPr>
            <a:spLocks noGrp="1"/>
          </p:cNvSpPr>
          <p:nvPr>
            <p:ph type="dt" sz="half" idx="2"/>
          </p:nvPr>
        </p:nvSpPr>
        <p:spPr>
          <a:xfrm rot="16200000">
            <a:off x="7551351" y="1645920"/>
            <a:ext cx="2438399" cy="365760"/>
          </a:xfrm>
          <a:prstGeom prst="rect">
            <a:avLst/>
          </a:prstGeom>
        </p:spPr>
        <p:txBody>
          <a:bodyPr vert="horz" lIns="91440" tIns="45720" rIns="91440" bIns="45720" rtlCol="0" anchor="ctr"/>
          <a:lstStyle>
            <a:lvl1pPr algn="l">
              <a:defRPr sz="1200">
                <a:solidFill>
                  <a:schemeClr val="bg2"/>
                </a:solidFill>
              </a:defRPr>
            </a:lvl1pPr>
          </a:lstStyle>
          <a:p>
            <a:pPr>
              <a:defRPr/>
            </a:pPr>
            <a:endParaRPr lang="es-E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spcBef>
          <a:spcPct val="0"/>
        </a:spcBef>
        <a:buNone/>
        <a:defRPr sz="4600" kern="1200" cap="none" spc="-100" baseline="0">
          <a:ln>
            <a:noFill/>
          </a:ln>
          <a:solidFill>
            <a:schemeClr val="tx2"/>
          </a:solidFill>
          <a:effectLst/>
          <a:latin typeface="+mj-lt"/>
          <a:ea typeface="+mj-ea"/>
          <a:cs typeface="+mj-cs"/>
        </a:defRPr>
      </a:lvl1pPr>
    </p:titleStyle>
    <p:body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lum/>
          </a:blip>
          <a:srcRect/>
          <a:stretch>
            <a:fillRect/>
          </a:stretch>
        </a:blipFill>
        <a:effectLst/>
      </p:bgPr>
    </p:bg>
    <p:spTree>
      <p:nvGrpSpPr>
        <p:cNvPr id="1" name=""/>
        <p:cNvGrpSpPr/>
        <p:nvPr/>
      </p:nvGrpSpPr>
      <p:grpSpPr>
        <a:xfrm>
          <a:off x="0" y="0"/>
          <a:ext cx="0" cy="0"/>
          <a:chOff x="0" y="0"/>
          <a:chExt cx="0" cy="0"/>
        </a:xfrm>
      </p:grpSpPr>
      <p:sp>
        <p:nvSpPr>
          <p:cNvPr id="2050" name="Rectangle 110"/>
          <p:cNvSpPr>
            <a:spLocks noGrp="1" noChangeArrowheads="1"/>
          </p:cNvSpPr>
          <p:nvPr>
            <p:ph type="ctrTitle"/>
          </p:nvPr>
        </p:nvSpPr>
        <p:spPr>
          <a:xfrm>
            <a:off x="4284663" y="4076700"/>
            <a:ext cx="4319587" cy="544513"/>
          </a:xfrm>
          <a:noFill/>
        </p:spPr>
        <p:txBody>
          <a:bodyPr/>
          <a:lstStyle/>
          <a:p>
            <a:pPr eaLnBrk="1" hangingPunct="1"/>
            <a:r>
              <a:rPr lang="tr-TR" sz="2800" b="1" dirty="0"/>
              <a:t>BAKIM ONARIM </a:t>
            </a:r>
            <a:r>
              <a:rPr lang="tr-TR" sz="2800" b="1" dirty="0" smtClean="0"/>
              <a:t>İŞLERİ İŞ GÜVENLİĞİ VE SAĞLIĞI</a:t>
            </a:r>
            <a:endParaRPr lang="es-ES" sz="1600" b="1" dirty="0" smtClean="0">
              <a:solidFill>
                <a:schemeClr val="bg1"/>
              </a:solidFill>
            </a:endParaRPr>
          </a:p>
        </p:txBody>
      </p:sp>
      <p:sp>
        <p:nvSpPr>
          <p:cNvPr id="2051" name="Rectangle 115"/>
          <p:cNvSpPr>
            <a:spLocks noGrp="1" noChangeArrowheads="1"/>
          </p:cNvSpPr>
          <p:nvPr>
            <p:ph type="subTitle" idx="1"/>
          </p:nvPr>
        </p:nvSpPr>
        <p:spPr>
          <a:xfrm>
            <a:off x="5003800" y="4868863"/>
            <a:ext cx="3527425" cy="479425"/>
          </a:xfrm>
        </p:spPr>
        <p:txBody>
          <a:bodyPr/>
          <a:lstStyle/>
          <a:p>
            <a:pPr algn="r" eaLnBrk="1" hangingPunct="1"/>
            <a:r>
              <a:rPr lang="es-ES" sz="1800" smtClean="0">
                <a:solidFill>
                  <a:schemeClr val="bg1"/>
                </a:solidFill>
              </a:rPr>
              <a:t>Your company information</a:t>
            </a:r>
          </a:p>
        </p:txBody>
      </p:sp>
      <p:sp>
        <p:nvSpPr>
          <p:cNvPr id="2052" name="Rectangle 110"/>
          <p:cNvSpPr txBox="1">
            <a:spLocks noChangeArrowheads="1"/>
          </p:cNvSpPr>
          <p:nvPr/>
        </p:nvSpPr>
        <p:spPr bwMode="auto">
          <a:xfrm>
            <a:off x="4437063" y="4229100"/>
            <a:ext cx="4319587" cy="544513"/>
          </a:xfrm>
          <a:prstGeom prst="rect">
            <a:avLst/>
          </a:prstGeom>
          <a:noFill/>
          <a:ln w="9525">
            <a:noFill/>
            <a:miter lim="800000"/>
            <a:headEnd/>
            <a:tailEnd/>
          </a:ln>
          <a:effectLst/>
        </p:spPr>
        <p:txBody>
          <a:bodyPr anchor="ctr"/>
          <a:lstStyle/>
          <a:p>
            <a:pPr algn="r"/>
            <a:endParaRPr lang="es-ES" sz="3600" b="1" dirty="0"/>
          </a:p>
        </p:txBody>
      </p:sp>
      <p:sp>
        <p:nvSpPr>
          <p:cNvPr id="2053" name="Rectangle 115"/>
          <p:cNvSpPr txBox="1">
            <a:spLocks noChangeArrowheads="1"/>
          </p:cNvSpPr>
          <p:nvPr/>
        </p:nvSpPr>
        <p:spPr bwMode="auto">
          <a:xfrm>
            <a:off x="5156200" y="5021263"/>
            <a:ext cx="3527425" cy="479425"/>
          </a:xfrm>
          <a:prstGeom prst="rect">
            <a:avLst/>
          </a:prstGeom>
          <a:noFill/>
          <a:ln w="9525">
            <a:noFill/>
            <a:miter lim="800000"/>
            <a:headEnd/>
            <a:tailEnd/>
          </a:ln>
          <a:effectLst/>
        </p:spPr>
        <p:txBody>
          <a:bodyPr/>
          <a:lstStyle/>
          <a:p>
            <a:pPr algn="r">
              <a:spcBef>
                <a:spcPct val="20000"/>
              </a:spcBef>
            </a:pPr>
            <a:endParaRPr lang="es-ES" dirty="0"/>
          </a:p>
        </p:txBody>
      </p:sp>
      <p:sp>
        <p:nvSpPr>
          <p:cNvPr id="6" name="Metin kutusu 5"/>
          <p:cNvSpPr txBox="1"/>
          <p:nvPr/>
        </p:nvSpPr>
        <p:spPr>
          <a:xfrm>
            <a:off x="539552" y="476672"/>
            <a:ext cx="3168352" cy="720080"/>
          </a:xfrm>
          <a:prstGeom prst="rect">
            <a:avLst/>
          </a:prstGeom>
          <a:solidFill>
            <a:schemeClr val="bg1">
              <a:lumMod val="95000"/>
            </a:schemeClr>
          </a:solidFill>
        </p:spPr>
        <p:txBody>
          <a:bodyPr wrap="square" rtlCol="0">
            <a:spAutoFit/>
          </a:bodyPr>
          <a:lstStyle/>
          <a:p>
            <a:endParaRPr lang="tr-TR" dirty="0"/>
          </a:p>
        </p:txBody>
      </p:sp>
      <p:sp>
        <p:nvSpPr>
          <p:cNvPr id="2" name="Slayt Numarası Yer Tutucusu 1"/>
          <p:cNvSpPr>
            <a:spLocks noGrp="1"/>
          </p:cNvSpPr>
          <p:nvPr>
            <p:ph type="sldNum" sz="quarter" idx="12"/>
          </p:nvPr>
        </p:nvSpPr>
        <p:spPr/>
        <p:txBody>
          <a:bodyPr/>
          <a:lstStyle/>
          <a:p>
            <a:pPr>
              <a:defRPr/>
            </a:pPr>
            <a:fld id="{3404C349-0293-4C5B-BD61-8968F696ECA6}" type="slidenum">
              <a:rPr lang="es-ES" smtClean="0"/>
              <a:pPr>
                <a:defRPr/>
              </a:pPr>
              <a:t>1</a:t>
            </a:fld>
            <a:endParaRPr lang="es-ES"/>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a:xfrm>
            <a:off x="467544" y="188640"/>
            <a:ext cx="8229600" cy="1000108"/>
          </a:xfrm>
        </p:spPr>
        <p:txBody>
          <a:bodyPr>
            <a:normAutofit/>
          </a:bodyPr>
          <a:lstStyle/>
          <a:p>
            <a:r>
              <a:rPr lang="tr-TR" sz="2400" b="1" dirty="0" smtClean="0"/>
              <a:t>BAKIM ONARIM İŞLERİNDE İSG</a:t>
            </a:r>
            <a:endParaRPr lang="tr-TR" sz="2400" dirty="0"/>
          </a:p>
        </p:txBody>
      </p:sp>
      <p:sp>
        <p:nvSpPr>
          <p:cNvPr id="3" name="2 İçerik Yer Tutucusu"/>
          <p:cNvSpPr>
            <a:spLocks noGrp="1"/>
          </p:cNvSpPr>
          <p:nvPr>
            <p:ph idx="1"/>
          </p:nvPr>
        </p:nvSpPr>
        <p:spPr>
          <a:xfrm>
            <a:off x="285720" y="928670"/>
            <a:ext cx="8102704" cy="5929330"/>
          </a:xfrm>
        </p:spPr>
        <p:txBody>
          <a:bodyPr>
            <a:noAutofit/>
          </a:bodyPr>
          <a:lstStyle/>
          <a:p>
            <a:pPr algn="just">
              <a:buNone/>
            </a:pPr>
            <a:r>
              <a:rPr lang="tr-TR" sz="1500" b="1" dirty="0"/>
              <a:t>AMAÇ: </a:t>
            </a:r>
            <a:endParaRPr lang="tr-TR" sz="1500" b="1" dirty="0" smtClean="0"/>
          </a:p>
          <a:p>
            <a:pPr algn="just">
              <a:buNone/>
            </a:pPr>
            <a:r>
              <a:rPr lang="tr-TR" sz="1500" b="1" dirty="0" smtClean="0"/>
              <a:t>BAKIM </a:t>
            </a:r>
            <a:r>
              <a:rPr lang="tr-TR" sz="1500" b="1" dirty="0"/>
              <a:t>ONARIM SIRASINDA MEYDANA GELMESİ OLASI </a:t>
            </a:r>
            <a:r>
              <a:rPr lang="tr-TR" sz="1500" b="1" dirty="0" smtClean="0"/>
              <a:t>RİSKLER </a:t>
            </a:r>
            <a:r>
              <a:rPr lang="tr-TR" sz="1500" b="1" dirty="0"/>
              <a:t>VE BU RİSKLER KARŞISINDA ALINMASI GEREKEN </a:t>
            </a:r>
            <a:r>
              <a:rPr lang="tr-TR" sz="1500" b="1" dirty="0" smtClean="0"/>
              <a:t>ÖNLEMLER </a:t>
            </a:r>
            <a:r>
              <a:rPr lang="tr-TR" sz="1500" b="1" dirty="0"/>
              <a:t>KONUSUNDA BİLGİ SAHİBİ </a:t>
            </a:r>
            <a:r>
              <a:rPr lang="tr-TR" sz="1500" b="1" dirty="0" smtClean="0"/>
              <a:t>OLMAKTIR.</a:t>
            </a:r>
            <a:endParaRPr lang="tr-TR" sz="1500" dirty="0" smtClean="0"/>
          </a:p>
          <a:p>
            <a:pPr algn="just">
              <a:buNone/>
            </a:pPr>
            <a:r>
              <a:rPr lang="tr-TR" sz="1500" b="1" dirty="0" smtClean="0"/>
              <a:t>HEDEF</a:t>
            </a:r>
            <a:r>
              <a:rPr lang="tr-TR" sz="1500" b="1" dirty="0"/>
              <a:t>: </a:t>
            </a:r>
            <a:endParaRPr lang="tr-TR" sz="1500" b="1" dirty="0" smtClean="0"/>
          </a:p>
          <a:p>
            <a:pPr algn="just">
              <a:buNone/>
            </a:pPr>
            <a:r>
              <a:rPr lang="tr-TR" sz="1500" b="1" dirty="0" smtClean="0"/>
              <a:t>BİNA</a:t>
            </a:r>
            <a:r>
              <a:rPr lang="tr-TR" sz="1500" b="1" dirty="0"/>
              <a:t>, TESİS, İMALAT TEZGAHLARI VE TÜM MAKİNELERİN </a:t>
            </a:r>
            <a:r>
              <a:rPr lang="tr-TR" sz="1500" b="1" dirty="0" smtClean="0"/>
              <a:t>BAKIM </a:t>
            </a:r>
            <a:r>
              <a:rPr lang="tr-TR" sz="1500" b="1" dirty="0"/>
              <a:t>VE ONARIMLARI SIRASINDA MEYDANA GELEBİLECEK TEHLİKELİ RİSKLERİ ÖNLEMEK İÇİN GEREKEN GÜVENLİK ÖNLEMLERİNİ ALMAKTIR</a:t>
            </a:r>
            <a:r>
              <a:rPr lang="tr-TR" sz="1500" b="1" dirty="0" smtClean="0"/>
              <a:t>.</a:t>
            </a:r>
          </a:p>
          <a:p>
            <a:pPr algn="just">
              <a:buNone/>
            </a:pPr>
            <a:r>
              <a:rPr lang="tr-TR" sz="1500" b="1" dirty="0" smtClean="0"/>
              <a:t>BAKIMIN TANIMI: BİR EKİPMANDA, İLERİDE DAHA BÜYÜK BİR ARIZA DOĞMASINI </a:t>
            </a:r>
            <a:r>
              <a:rPr lang="tr-TR" sz="1500" b="1" dirty="0" smtClean="0"/>
              <a:t>ÖNLEMEK </a:t>
            </a:r>
            <a:r>
              <a:rPr lang="tr-TR" sz="1500" b="1" dirty="0" smtClean="0"/>
              <a:t>MAKSADI İLE İŞLETMENİN ÇALIŞMASINI DURDURMAMAK, İŞLETMEYİ DAHA BÜYÜK MASRAFTAN KORUYUP EKONOMİ SAĞLAMAK İÇİN YAPILAN PERYODİK KONTROLLERE BAKIM – ONARIM DENİR. </a:t>
            </a:r>
          </a:p>
          <a:p>
            <a:pPr algn="just">
              <a:buNone/>
            </a:pPr>
            <a:endParaRPr lang="tr-TR" sz="1500" dirty="0"/>
          </a:p>
          <a:p>
            <a:pPr lvl="0" algn="just">
              <a:buNone/>
            </a:pPr>
            <a:r>
              <a:rPr lang="tr-TR" sz="1500" b="1" dirty="0" smtClean="0"/>
              <a:t>İŞ DÜNYASININ EN </a:t>
            </a:r>
            <a:r>
              <a:rPr lang="tr-TR" sz="1500" b="1" dirty="0"/>
              <a:t>ÖNEMLİ SORUNLARININ BAŞINDA, </a:t>
            </a:r>
            <a:r>
              <a:rPr lang="tr-TR" sz="1500" b="1" dirty="0">
                <a:solidFill>
                  <a:srgbClr val="FF0000"/>
                </a:solidFill>
              </a:rPr>
              <a:t>İŞ SAĞLIĞI VE GÜVENLİĞİ GELMEKTEDİR.</a:t>
            </a:r>
            <a:r>
              <a:rPr lang="tr-TR" sz="1500" b="1" dirty="0"/>
              <a:t> İŞ </a:t>
            </a:r>
            <a:r>
              <a:rPr lang="tr-TR" sz="1500" b="1" dirty="0" smtClean="0"/>
              <a:t>ALANLARINDA; </a:t>
            </a:r>
            <a:r>
              <a:rPr lang="tr-TR" sz="1500" b="1" dirty="0" smtClean="0">
                <a:solidFill>
                  <a:srgbClr val="FF0000"/>
                </a:solidFill>
              </a:rPr>
              <a:t>NÜFUSUN </a:t>
            </a:r>
            <a:r>
              <a:rPr lang="tr-TR" sz="1500" b="1" dirty="0" smtClean="0">
                <a:solidFill>
                  <a:srgbClr val="FF0000"/>
                </a:solidFill>
              </a:rPr>
              <a:t>2/3’ÜNÜN </a:t>
            </a:r>
            <a:r>
              <a:rPr lang="tr-TR" sz="1500" b="1" dirty="0">
                <a:solidFill>
                  <a:srgbClr val="FF0000"/>
                </a:solidFill>
              </a:rPr>
              <a:t>ÇEŞİTLİ SANAYİ DALLARINDA </a:t>
            </a:r>
            <a:r>
              <a:rPr lang="tr-TR" sz="1500" b="1" dirty="0"/>
              <a:t>ÇALIŞTIĞI GÖZ ÖNÜNE ALINDIĞINDA, </a:t>
            </a:r>
            <a:r>
              <a:rPr lang="tr-TR" sz="1500" b="1" dirty="0" smtClean="0"/>
              <a:t>“İŞ </a:t>
            </a:r>
            <a:r>
              <a:rPr lang="tr-TR" sz="1500" b="1" dirty="0"/>
              <a:t>SAĞLIĞI VE </a:t>
            </a:r>
            <a:r>
              <a:rPr lang="tr-TR" sz="1500" b="1" dirty="0" smtClean="0"/>
              <a:t>GÜVENLİĞİ”NİN SORUNLARIN </a:t>
            </a:r>
            <a:r>
              <a:rPr lang="tr-TR" sz="1500" b="1" dirty="0"/>
              <a:t>BAŞINDA BULUNMASI DOĞAL BİR OLGUDUR.</a:t>
            </a:r>
            <a:endParaRPr lang="tr-TR" sz="1500" dirty="0"/>
          </a:p>
          <a:p>
            <a:pPr lvl="0" algn="just">
              <a:buNone/>
            </a:pPr>
            <a:r>
              <a:rPr lang="tr-TR" sz="1500" b="1" dirty="0"/>
              <a:t>İŞ SAĞLIĞI VE GÜVENLİĞİ SORUNUNUN </a:t>
            </a:r>
            <a:r>
              <a:rPr lang="tr-TR" sz="1500" b="1" dirty="0" smtClean="0"/>
              <a:t>ÇÖZÜMÜNDE</a:t>
            </a:r>
            <a:r>
              <a:rPr lang="tr-TR" sz="1500" b="1" dirty="0"/>
              <a:t>, SANAYİDE </a:t>
            </a:r>
            <a:r>
              <a:rPr lang="tr-TR" sz="1500" b="1" dirty="0" smtClean="0"/>
              <a:t>ÇALIŞANLAR </a:t>
            </a:r>
            <a:r>
              <a:rPr lang="tr-TR" sz="1500" b="1" dirty="0"/>
              <a:t>ARASINDA </a:t>
            </a:r>
            <a:r>
              <a:rPr lang="tr-TR" sz="1500" b="1" dirty="0" smtClean="0"/>
              <a:t>İLİŞKİLERİN BİR DÜZENE SOKULMASI VE </a:t>
            </a:r>
            <a:r>
              <a:rPr lang="tr-TR" sz="1500" b="1" dirty="0"/>
              <a:t>BİR KURALA </a:t>
            </a:r>
            <a:r>
              <a:rPr lang="tr-TR" sz="1500" b="1" dirty="0" smtClean="0"/>
              <a:t>BAĞLANMASI, ÖZELLİKLE DE </a:t>
            </a:r>
            <a:r>
              <a:rPr lang="tr-TR" sz="1500" b="1" dirty="0"/>
              <a:t>BU KURALA UYULMASI GEREKİR.</a:t>
            </a:r>
            <a:endParaRPr lang="tr-TR" sz="1500" dirty="0"/>
          </a:p>
          <a:p>
            <a:pPr lvl="0" algn="just">
              <a:buNone/>
            </a:pPr>
            <a:endParaRPr lang="tr-TR" sz="1500" dirty="0"/>
          </a:p>
        </p:txBody>
      </p:sp>
      <p:sp>
        <p:nvSpPr>
          <p:cNvPr id="4" name="Slayt Numarası Yer Tutucusu 3"/>
          <p:cNvSpPr>
            <a:spLocks noGrp="1"/>
          </p:cNvSpPr>
          <p:nvPr>
            <p:ph type="sldNum" sz="quarter" idx="12"/>
          </p:nvPr>
        </p:nvSpPr>
        <p:spPr/>
        <p:txBody>
          <a:bodyPr/>
          <a:lstStyle/>
          <a:p>
            <a:pPr>
              <a:defRPr/>
            </a:pPr>
            <a:fld id="{7289ED51-3D18-45F8-86FC-FD8561268021}" type="slidenum">
              <a:rPr lang="es-ES" smtClean="0"/>
              <a:pPr>
                <a:defRPr/>
              </a:pPr>
              <a:t>2</a:t>
            </a:fld>
            <a:endParaRPr lang="es-ES"/>
          </a:p>
        </p:txBody>
      </p:sp>
    </p:spTree>
    <p:extLst>
      <p:ext uri="{BB962C8B-B14F-4D97-AF65-F5344CB8AC3E}">
        <p14:creationId xmlns:p14="http://schemas.microsoft.com/office/powerpoint/2010/main" xmlns="" val="135251991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1"/>
          </p:nvPr>
        </p:nvSpPr>
        <p:spPr>
          <a:xfrm>
            <a:off x="457200" y="476672"/>
            <a:ext cx="7931224" cy="6264696"/>
          </a:xfrm>
        </p:spPr>
        <p:txBody>
          <a:bodyPr>
            <a:normAutofit/>
          </a:bodyPr>
          <a:lstStyle/>
          <a:p>
            <a:pPr lvl="0">
              <a:buNone/>
            </a:pPr>
            <a:endParaRPr lang="tr-TR" sz="2000" b="1" dirty="0" smtClean="0"/>
          </a:p>
          <a:p>
            <a:pPr lvl="0" algn="just">
              <a:buNone/>
            </a:pPr>
            <a:r>
              <a:rPr lang="tr-TR" sz="2000" b="1" dirty="0" smtClean="0">
                <a:solidFill>
                  <a:srgbClr val="FF0000"/>
                </a:solidFill>
              </a:rPr>
              <a:t>BAKIM </a:t>
            </a:r>
            <a:r>
              <a:rPr lang="tr-TR" sz="2000" b="1" dirty="0">
                <a:solidFill>
                  <a:srgbClr val="FF0000"/>
                </a:solidFill>
              </a:rPr>
              <a:t>ONARIM STANDARTLARI </a:t>
            </a:r>
            <a:r>
              <a:rPr lang="tr-TR" sz="2000" b="1" dirty="0" smtClean="0">
                <a:solidFill>
                  <a:srgbClr val="FF0000"/>
                </a:solidFill>
              </a:rPr>
              <a:t>BELİRLENEN</a:t>
            </a:r>
            <a:r>
              <a:rPr lang="tr-TR" sz="2000" b="1" dirty="0" smtClean="0">
                <a:solidFill>
                  <a:srgbClr val="FF0000"/>
                </a:solidFill>
              </a:rPr>
              <a:t> </a:t>
            </a:r>
            <a:r>
              <a:rPr lang="tr-TR" sz="2000" b="1" dirty="0" smtClean="0">
                <a:solidFill>
                  <a:srgbClr val="FF0000"/>
                </a:solidFill>
              </a:rPr>
              <a:t>YERLERDE</a:t>
            </a:r>
            <a:r>
              <a:rPr lang="tr-TR" sz="2000" b="1" dirty="0" smtClean="0"/>
              <a:t>, </a:t>
            </a:r>
            <a:r>
              <a:rPr lang="tr-TR" sz="2000" b="1" dirty="0"/>
              <a:t>BAKIM ONARIM DIŞINDA DİĞER </a:t>
            </a:r>
            <a:r>
              <a:rPr lang="tr-TR" sz="2000" b="1" dirty="0">
                <a:solidFill>
                  <a:srgbClr val="FF0000"/>
                </a:solidFill>
              </a:rPr>
              <a:t>İŞ KAZALARI DA AZALMAKTADIR</a:t>
            </a:r>
            <a:r>
              <a:rPr lang="tr-TR" sz="2000" b="1" dirty="0"/>
              <a:t>. BU </a:t>
            </a:r>
            <a:r>
              <a:rPr lang="tr-TR" sz="2000" b="1" dirty="0" smtClean="0"/>
              <a:t>AÇIDAN</a:t>
            </a:r>
            <a:r>
              <a:rPr lang="tr-TR" sz="2000" b="1" dirty="0" smtClean="0"/>
              <a:t>, </a:t>
            </a:r>
            <a:r>
              <a:rPr lang="tr-TR" sz="2000" b="1" dirty="0"/>
              <a:t>BAKIM </a:t>
            </a:r>
            <a:r>
              <a:rPr lang="tr-TR" sz="2000" b="1" dirty="0" smtClean="0"/>
              <a:t>ONARIMDA; İŞ </a:t>
            </a:r>
            <a:r>
              <a:rPr lang="tr-TR" sz="2000" b="1" dirty="0"/>
              <a:t>SAĞLIĞI VE GÜVENLİĞİ, EN ÖNEMLİ HALKALARDAN </a:t>
            </a:r>
            <a:r>
              <a:rPr lang="tr-TR" sz="2000" b="1" dirty="0" smtClean="0"/>
              <a:t>BİRİSİDİR</a:t>
            </a:r>
            <a:r>
              <a:rPr lang="tr-TR" sz="2000" b="1" dirty="0"/>
              <a:t>.</a:t>
            </a:r>
            <a:endParaRPr lang="tr-TR" sz="2000" dirty="0"/>
          </a:p>
          <a:p>
            <a:pPr lvl="0" algn="just">
              <a:buNone/>
            </a:pPr>
            <a:r>
              <a:rPr lang="tr-TR" sz="2000" b="1" dirty="0"/>
              <a:t>BAKIM ONARIMDA İŞ SAĞLIĞI VE </a:t>
            </a:r>
            <a:r>
              <a:rPr lang="tr-TR" sz="2000" b="1" dirty="0" smtClean="0"/>
              <a:t>GÜVENLİĞİNİ, </a:t>
            </a:r>
            <a:r>
              <a:rPr lang="tr-TR" sz="2000" b="1" dirty="0"/>
              <a:t>BEŞ BAŞLIKTA </a:t>
            </a:r>
            <a:endParaRPr lang="tr-TR" sz="2000" dirty="0"/>
          </a:p>
          <a:p>
            <a:pPr algn="just">
              <a:buNone/>
            </a:pPr>
            <a:r>
              <a:rPr lang="tr-TR" sz="2000" b="1" dirty="0" smtClean="0"/>
              <a:t>      İNCELEMEK MÜMKÜNDÜR.</a:t>
            </a:r>
          </a:p>
          <a:p>
            <a:pPr algn="just">
              <a:buNone/>
            </a:pPr>
            <a:r>
              <a:rPr lang="tr-TR" sz="2000" b="1" dirty="0" smtClean="0"/>
              <a:t>BUNLAR:</a:t>
            </a:r>
          </a:p>
          <a:p>
            <a:pPr marL="571500" indent="-457200" algn="just">
              <a:buAutoNum type="arabicPeriod"/>
            </a:pPr>
            <a:r>
              <a:rPr lang="tr-TR" sz="2000" b="1" dirty="0" smtClean="0"/>
              <a:t>MAKİNE </a:t>
            </a:r>
            <a:r>
              <a:rPr lang="tr-TR" sz="2000" b="1" dirty="0"/>
              <a:t>VE ELEKTRİK İŞLERİNİN BAKIM VE </a:t>
            </a:r>
            <a:r>
              <a:rPr lang="tr-TR" sz="2000" b="1" dirty="0" smtClean="0"/>
              <a:t>ONARIMINDA İSG.</a:t>
            </a:r>
          </a:p>
          <a:p>
            <a:pPr marL="571500" indent="-457200" algn="just">
              <a:buAutoNum type="arabicPeriod"/>
            </a:pPr>
            <a:endParaRPr lang="tr-TR" sz="2000" dirty="0" smtClean="0"/>
          </a:p>
          <a:p>
            <a:pPr algn="just">
              <a:buNone/>
            </a:pPr>
            <a:r>
              <a:rPr lang="tr-TR" sz="2000" b="1" dirty="0" smtClean="0"/>
              <a:t> </a:t>
            </a:r>
            <a:r>
              <a:rPr lang="tr-TR" sz="2000" b="1" dirty="0"/>
              <a:t>2</a:t>
            </a:r>
            <a:r>
              <a:rPr lang="tr-TR" sz="2000" b="1" dirty="0" smtClean="0"/>
              <a:t>. BASINÇLI </a:t>
            </a:r>
            <a:r>
              <a:rPr lang="tr-TR" sz="2000" b="1" dirty="0"/>
              <a:t>KAPLAR VE DEPOLARIN BAKIM </a:t>
            </a:r>
            <a:r>
              <a:rPr lang="tr-TR" sz="2000" b="1" dirty="0" smtClean="0"/>
              <a:t>ONARIMINDA İSG.</a:t>
            </a:r>
          </a:p>
          <a:p>
            <a:pPr algn="just">
              <a:buNone/>
            </a:pPr>
            <a:endParaRPr lang="tr-TR" sz="2000" dirty="0"/>
          </a:p>
          <a:p>
            <a:pPr algn="just">
              <a:buNone/>
            </a:pPr>
            <a:r>
              <a:rPr lang="tr-TR" sz="2000" b="1" dirty="0" smtClean="0"/>
              <a:t>3. YER </a:t>
            </a:r>
            <a:r>
              <a:rPr lang="tr-TR" sz="2000" b="1" dirty="0"/>
              <a:t>ALTI TESİSLERİNİN BAKIM </a:t>
            </a:r>
            <a:r>
              <a:rPr lang="tr-TR" sz="2000" b="1" dirty="0" smtClean="0"/>
              <a:t>ONARIMINDA İSG.</a:t>
            </a:r>
          </a:p>
          <a:p>
            <a:pPr algn="just">
              <a:buNone/>
            </a:pPr>
            <a:endParaRPr lang="tr-TR" sz="2000" dirty="0" smtClean="0"/>
          </a:p>
          <a:p>
            <a:pPr algn="just">
              <a:buNone/>
            </a:pPr>
            <a:r>
              <a:rPr lang="tr-TR" sz="2000" b="1" dirty="0" smtClean="0"/>
              <a:t>4</a:t>
            </a:r>
            <a:r>
              <a:rPr lang="tr-TR" sz="2000" b="1" dirty="0"/>
              <a:t>. BİNALARIN VE KAPALI ALANLARIN BAKIM </a:t>
            </a:r>
            <a:r>
              <a:rPr lang="tr-TR" sz="2000" b="1" dirty="0" smtClean="0"/>
              <a:t>ONARIMLARINDA İSG.</a:t>
            </a:r>
          </a:p>
          <a:p>
            <a:pPr algn="just">
              <a:buNone/>
            </a:pPr>
            <a:endParaRPr lang="tr-TR" sz="2000" dirty="0"/>
          </a:p>
          <a:p>
            <a:pPr algn="just">
              <a:buNone/>
            </a:pPr>
            <a:r>
              <a:rPr lang="tr-TR" sz="2000" b="1" dirty="0" smtClean="0"/>
              <a:t>5</a:t>
            </a:r>
            <a:r>
              <a:rPr lang="tr-TR" sz="2000" b="1" dirty="0"/>
              <a:t>. İNŞAAT İŞLERİ BAKIM ONARIMLARININ YAPILMASI SIRASINDA İSG</a:t>
            </a:r>
            <a:r>
              <a:rPr lang="tr-TR" sz="2000" b="1" dirty="0" smtClean="0"/>
              <a:t>.</a:t>
            </a:r>
          </a:p>
          <a:p>
            <a:pPr algn="just">
              <a:buNone/>
            </a:pPr>
            <a:endParaRPr lang="tr-TR" sz="2000" dirty="0"/>
          </a:p>
          <a:p>
            <a:endParaRPr lang="tr-TR" sz="2000" dirty="0"/>
          </a:p>
        </p:txBody>
      </p:sp>
      <p:sp>
        <p:nvSpPr>
          <p:cNvPr id="2" name="Slayt Numarası Yer Tutucusu 1"/>
          <p:cNvSpPr>
            <a:spLocks noGrp="1"/>
          </p:cNvSpPr>
          <p:nvPr>
            <p:ph type="sldNum" sz="quarter" idx="12"/>
          </p:nvPr>
        </p:nvSpPr>
        <p:spPr/>
        <p:txBody>
          <a:bodyPr/>
          <a:lstStyle/>
          <a:p>
            <a:pPr>
              <a:defRPr/>
            </a:pPr>
            <a:fld id="{7289ED51-3D18-45F8-86FC-FD8561268021}" type="slidenum">
              <a:rPr lang="es-ES" smtClean="0"/>
              <a:pPr>
                <a:defRPr/>
              </a:pPr>
              <a:t>3</a:t>
            </a:fld>
            <a:endParaRPr lang="es-ES"/>
          </a:p>
        </p:txBody>
      </p:sp>
    </p:spTree>
    <p:extLst>
      <p:ext uri="{BB962C8B-B14F-4D97-AF65-F5344CB8AC3E}">
        <p14:creationId xmlns:p14="http://schemas.microsoft.com/office/powerpoint/2010/main" xmlns="" val="8410318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a:xfrm>
            <a:off x="457200" y="274638"/>
            <a:ext cx="8229600" cy="634082"/>
          </a:xfrm>
        </p:spPr>
        <p:txBody>
          <a:bodyPr>
            <a:normAutofit/>
          </a:bodyPr>
          <a:lstStyle/>
          <a:p>
            <a:r>
              <a:rPr lang="tr-TR" sz="2400" b="1" dirty="0"/>
              <a:t>İŞ KAZALARININ MEYDANA GELMESİNDEKİ NEDENLER:</a:t>
            </a:r>
            <a:endParaRPr lang="tr-TR" sz="2400" dirty="0"/>
          </a:p>
        </p:txBody>
      </p:sp>
      <p:sp>
        <p:nvSpPr>
          <p:cNvPr id="3" name="2 İçerik Yer Tutucusu"/>
          <p:cNvSpPr>
            <a:spLocks noGrp="1"/>
          </p:cNvSpPr>
          <p:nvPr>
            <p:ph idx="1"/>
          </p:nvPr>
        </p:nvSpPr>
        <p:spPr>
          <a:xfrm>
            <a:off x="457200" y="908720"/>
            <a:ext cx="7787208" cy="5688632"/>
          </a:xfrm>
        </p:spPr>
        <p:txBody>
          <a:bodyPr>
            <a:normAutofit/>
          </a:bodyPr>
          <a:lstStyle/>
          <a:p>
            <a:endParaRPr lang="tr-TR" sz="2000" b="1" dirty="0" smtClean="0"/>
          </a:p>
          <a:p>
            <a:endParaRPr lang="tr-TR" sz="2000" b="1" dirty="0" smtClean="0"/>
          </a:p>
          <a:p>
            <a:pPr>
              <a:buNone/>
            </a:pPr>
            <a:r>
              <a:rPr lang="tr-TR" sz="2000" b="1" dirty="0" smtClean="0">
                <a:solidFill>
                  <a:srgbClr val="FF0000"/>
                </a:solidFill>
              </a:rPr>
              <a:t>1. İNSAN </a:t>
            </a:r>
            <a:r>
              <a:rPr lang="tr-TR" sz="2000" b="1" dirty="0">
                <a:solidFill>
                  <a:srgbClr val="FF0000"/>
                </a:solidFill>
              </a:rPr>
              <a:t>BÜNYESİNİN </a:t>
            </a:r>
            <a:r>
              <a:rPr lang="tr-TR" sz="2000" b="1" dirty="0" smtClean="0">
                <a:solidFill>
                  <a:srgbClr val="FF0000"/>
                </a:solidFill>
              </a:rPr>
              <a:t>DOĞAL ÇEVREYE UYUM ZAYIFLIĞI,</a:t>
            </a:r>
            <a:endParaRPr lang="tr-TR" sz="2000" dirty="0">
              <a:solidFill>
                <a:srgbClr val="FF0000"/>
              </a:solidFill>
            </a:endParaRPr>
          </a:p>
          <a:p>
            <a:pPr>
              <a:buNone/>
            </a:pPr>
            <a:r>
              <a:rPr lang="tr-TR" sz="2000" b="1" dirty="0" smtClean="0"/>
              <a:t>2</a:t>
            </a:r>
            <a:r>
              <a:rPr lang="tr-TR" sz="2000" b="1" dirty="0"/>
              <a:t>. KİŞİSEL </a:t>
            </a:r>
            <a:r>
              <a:rPr lang="tr-TR" sz="2000" b="1" dirty="0" smtClean="0"/>
              <a:t>ÖZÜRLERİ, </a:t>
            </a:r>
            <a:r>
              <a:rPr lang="tr-TR" sz="2000" b="1" dirty="0"/>
              <a:t>İNSANIN </a:t>
            </a:r>
            <a:r>
              <a:rPr lang="tr-TR" sz="2000" b="1" dirty="0" smtClean="0"/>
              <a:t>KUSURSUZ </a:t>
            </a:r>
            <a:r>
              <a:rPr lang="tr-TR" sz="2000" b="1" dirty="0"/>
              <a:t>OLMAYIŞI, BİR </a:t>
            </a:r>
            <a:r>
              <a:rPr lang="tr-TR" sz="2000" b="1" dirty="0" smtClean="0"/>
              <a:t>TAKIM</a:t>
            </a:r>
          </a:p>
          <a:p>
            <a:pPr>
              <a:buNone/>
            </a:pPr>
            <a:r>
              <a:rPr lang="tr-TR" sz="2000" b="1" dirty="0" smtClean="0"/>
              <a:t>     ZAAFLARININ BULUNMASI,</a:t>
            </a:r>
            <a:endParaRPr lang="tr-TR" sz="2000" b="1" dirty="0"/>
          </a:p>
          <a:p>
            <a:pPr>
              <a:buNone/>
            </a:pPr>
            <a:r>
              <a:rPr lang="tr-TR" sz="2000" b="1" dirty="0" smtClean="0"/>
              <a:t>3</a:t>
            </a:r>
            <a:r>
              <a:rPr lang="tr-TR" sz="2000" b="1" dirty="0">
                <a:solidFill>
                  <a:srgbClr val="FF0000"/>
                </a:solidFill>
              </a:rPr>
              <a:t>. TEHLİKELİ </a:t>
            </a:r>
            <a:r>
              <a:rPr lang="tr-TR" sz="2000" b="1" dirty="0" smtClean="0">
                <a:solidFill>
                  <a:srgbClr val="FF0000"/>
                </a:solidFill>
              </a:rPr>
              <a:t>DURUMLAR </a:t>
            </a:r>
            <a:r>
              <a:rPr lang="tr-TR" sz="2000" b="1" dirty="0">
                <a:solidFill>
                  <a:srgbClr val="FF0000"/>
                </a:solidFill>
              </a:rPr>
              <a:t>VE TEHLİKELİ </a:t>
            </a:r>
            <a:r>
              <a:rPr lang="tr-TR" sz="2000" b="1" dirty="0" smtClean="0">
                <a:solidFill>
                  <a:srgbClr val="FF0000"/>
                </a:solidFill>
              </a:rPr>
              <a:t>DAVRANIŞLAR,</a:t>
            </a:r>
            <a:endParaRPr lang="tr-TR" sz="2000" b="1" dirty="0">
              <a:solidFill>
                <a:srgbClr val="FF0000"/>
              </a:solidFill>
            </a:endParaRPr>
          </a:p>
          <a:p>
            <a:pPr>
              <a:buNone/>
            </a:pPr>
            <a:r>
              <a:rPr lang="tr-TR" sz="2000" b="1" dirty="0" smtClean="0"/>
              <a:t>4</a:t>
            </a:r>
            <a:r>
              <a:rPr lang="tr-TR" sz="2000" b="1" dirty="0"/>
              <a:t>. KAZA OLAYI, KAZANIN </a:t>
            </a:r>
            <a:r>
              <a:rPr lang="tr-TR" sz="2000" b="1" dirty="0" smtClean="0"/>
              <a:t>OLUŞU,</a:t>
            </a:r>
            <a:endParaRPr lang="tr-TR" sz="2000" b="1" dirty="0"/>
          </a:p>
          <a:p>
            <a:pPr>
              <a:buNone/>
            </a:pPr>
            <a:r>
              <a:rPr lang="tr-TR" sz="2000" b="1" dirty="0" smtClean="0"/>
              <a:t>5. </a:t>
            </a:r>
            <a:r>
              <a:rPr lang="tr-TR" sz="2000" b="1" dirty="0" smtClean="0">
                <a:solidFill>
                  <a:srgbClr val="FF0000"/>
                </a:solidFill>
              </a:rPr>
              <a:t>YARALANMA</a:t>
            </a:r>
            <a:r>
              <a:rPr lang="tr-TR" sz="2000" b="1" dirty="0">
                <a:solidFill>
                  <a:srgbClr val="FF0000"/>
                </a:solidFill>
              </a:rPr>
              <a:t>, ZARAR VE HASAR</a:t>
            </a:r>
            <a:r>
              <a:rPr lang="tr-TR" sz="2000" b="1" dirty="0"/>
              <a:t>.</a:t>
            </a:r>
            <a:endParaRPr lang="tr-TR" sz="2000" dirty="0"/>
          </a:p>
          <a:p>
            <a:pPr>
              <a:buNone/>
            </a:pPr>
            <a:endParaRPr lang="tr-TR" sz="2000" b="1" dirty="0" smtClean="0"/>
          </a:p>
          <a:p>
            <a:pPr>
              <a:buNone/>
            </a:pPr>
            <a:r>
              <a:rPr lang="tr-TR" sz="2000" b="1" dirty="0" smtClean="0">
                <a:solidFill>
                  <a:srgbClr val="FF0000"/>
                </a:solidFill>
              </a:rPr>
              <a:t>KAZALAR</a:t>
            </a:r>
            <a:r>
              <a:rPr lang="tr-TR" sz="2000" b="1" dirty="0" smtClean="0"/>
              <a:t> </a:t>
            </a:r>
            <a:r>
              <a:rPr lang="tr-TR" sz="2000" b="1" dirty="0"/>
              <a:t>BU NEDENLERİN </a:t>
            </a:r>
            <a:r>
              <a:rPr lang="tr-TR" sz="2000" b="1" dirty="0">
                <a:solidFill>
                  <a:srgbClr val="FF0000"/>
                </a:solidFill>
              </a:rPr>
              <a:t>ARKA ARKAYA DİZİLMESİNDEN MEYDANA GELİR. </a:t>
            </a:r>
            <a:r>
              <a:rPr lang="tr-TR" sz="2000" b="1" dirty="0"/>
              <a:t>BUNLARDAN BİRİ OLMAYINCA İŞ KAZASI MEYDANA GELMEMEKTEDİR.</a:t>
            </a:r>
            <a:endParaRPr lang="tr-TR" sz="2000" dirty="0"/>
          </a:p>
          <a:p>
            <a:endParaRPr lang="tr-TR" sz="2000" dirty="0"/>
          </a:p>
        </p:txBody>
      </p:sp>
      <p:sp>
        <p:nvSpPr>
          <p:cNvPr id="4" name="Slayt Numarası Yer Tutucusu 3"/>
          <p:cNvSpPr>
            <a:spLocks noGrp="1"/>
          </p:cNvSpPr>
          <p:nvPr>
            <p:ph type="sldNum" sz="quarter" idx="12"/>
          </p:nvPr>
        </p:nvSpPr>
        <p:spPr/>
        <p:txBody>
          <a:bodyPr/>
          <a:lstStyle/>
          <a:p>
            <a:pPr>
              <a:defRPr/>
            </a:pPr>
            <a:fld id="{7289ED51-3D18-45F8-86FC-FD8561268021}" type="slidenum">
              <a:rPr lang="es-ES" smtClean="0"/>
              <a:pPr>
                <a:defRPr/>
              </a:pPr>
              <a:t>4</a:t>
            </a:fld>
            <a:endParaRPr lang="es-ES"/>
          </a:p>
        </p:txBody>
      </p:sp>
    </p:spTree>
    <p:extLst>
      <p:ext uri="{BB962C8B-B14F-4D97-AF65-F5344CB8AC3E}">
        <p14:creationId xmlns:p14="http://schemas.microsoft.com/office/powerpoint/2010/main" xmlns="" val="343771054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a:xfrm>
            <a:off x="457200" y="274638"/>
            <a:ext cx="8229600" cy="706090"/>
          </a:xfrm>
        </p:spPr>
        <p:txBody>
          <a:bodyPr>
            <a:noAutofit/>
          </a:bodyPr>
          <a:lstStyle/>
          <a:p>
            <a:r>
              <a:rPr lang="tr-TR" sz="2400" b="1" dirty="0"/>
              <a:t>İŞ SAĞLIĞI VE GÜVENLİĞİNİ SAĞLAMAK İÇİN</a:t>
            </a:r>
            <a:br>
              <a:rPr lang="tr-TR" sz="2400" b="1" dirty="0"/>
            </a:br>
            <a:r>
              <a:rPr lang="tr-TR" sz="2400" b="1" dirty="0"/>
              <a:t>         DİKKAT </a:t>
            </a:r>
            <a:r>
              <a:rPr lang="tr-TR" sz="2400" b="1" dirty="0" smtClean="0"/>
              <a:t>EDİLMESİ GEREKEN </a:t>
            </a:r>
            <a:r>
              <a:rPr lang="tr-TR" sz="2400" b="1" dirty="0"/>
              <a:t>HUSUSLAR:</a:t>
            </a:r>
          </a:p>
        </p:txBody>
      </p:sp>
      <p:sp>
        <p:nvSpPr>
          <p:cNvPr id="3" name="2 İçerik Yer Tutucusu"/>
          <p:cNvSpPr>
            <a:spLocks noGrp="1"/>
          </p:cNvSpPr>
          <p:nvPr>
            <p:ph idx="1"/>
          </p:nvPr>
        </p:nvSpPr>
        <p:spPr>
          <a:xfrm>
            <a:off x="428596" y="1357298"/>
            <a:ext cx="8229600" cy="4785395"/>
          </a:xfrm>
        </p:spPr>
        <p:txBody>
          <a:bodyPr>
            <a:normAutofit/>
          </a:bodyPr>
          <a:lstStyle/>
          <a:p>
            <a:pPr lvl="0">
              <a:buNone/>
            </a:pPr>
            <a:endParaRPr lang="tr-TR" sz="2000" b="1" dirty="0" smtClean="0"/>
          </a:p>
          <a:p>
            <a:pPr lvl="0">
              <a:buFont typeface="Wingdings" pitchFamily="2" charset="2"/>
              <a:buChar char="ü"/>
            </a:pPr>
            <a:r>
              <a:rPr lang="tr-TR" sz="2000" b="1" dirty="0" smtClean="0">
                <a:solidFill>
                  <a:srgbClr val="FF0000"/>
                </a:solidFill>
              </a:rPr>
              <a:t>TEHLİKELİ </a:t>
            </a:r>
            <a:r>
              <a:rPr lang="tr-TR" sz="2000" b="1" dirty="0">
                <a:solidFill>
                  <a:srgbClr val="FF0000"/>
                </a:solidFill>
              </a:rPr>
              <a:t>DURUMLARIN VE </a:t>
            </a:r>
            <a:r>
              <a:rPr lang="tr-TR" sz="2000" b="1" dirty="0" smtClean="0">
                <a:solidFill>
                  <a:srgbClr val="FF0000"/>
                </a:solidFill>
              </a:rPr>
              <a:t>TEHLİKELİ HAREKET </a:t>
            </a:r>
            <a:r>
              <a:rPr lang="tr-TR" sz="2000" b="1" dirty="0">
                <a:solidFill>
                  <a:srgbClr val="FF0000"/>
                </a:solidFill>
              </a:rPr>
              <a:t>KAYNAKLARININ ORTADAN </a:t>
            </a:r>
            <a:r>
              <a:rPr lang="tr-TR" sz="2000" b="1" dirty="0" smtClean="0">
                <a:solidFill>
                  <a:srgbClr val="FF0000"/>
                </a:solidFill>
              </a:rPr>
              <a:t>KALDIRILMASI,</a:t>
            </a:r>
          </a:p>
          <a:p>
            <a:pPr lvl="0">
              <a:buFont typeface="Wingdings" pitchFamily="2" charset="2"/>
              <a:buChar char="ü"/>
            </a:pPr>
            <a:endParaRPr lang="tr-TR" sz="2000" dirty="0"/>
          </a:p>
          <a:p>
            <a:pPr lvl="0">
              <a:buFont typeface="Wingdings" pitchFamily="2" charset="2"/>
              <a:buChar char="ü"/>
            </a:pPr>
            <a:r>
              <a:rPr lang="tr-TR" sz="2000" b="1" dirty="0"/>
              <a:t>İŞÇİLER ARASINDA TEHLİKELİ DAVRANIŞLARIN ÖNLENMESİ</a:t>
            </a:r>
            <a:r>
              <a:rPr lang="tr-TR" sz="2000" b="1" dirty="0" smtClean="0"/>
              <a:t>,</a:t>
            </a:r>
          </a:p>
          <a:p>
            <a:pPr lvl="0">
              <a:buFont typeface="Wingdings" pitchFamily="2" charset="2"/>
              <a:buChar char="ü"/>
            </a:pPr>
            <a:endParaRPr lang="tr-TR" sz="2000" dirty="0"/>
          </a:p>
          <a:p>
            <a:pPr lvl="0">
              <a:buFont typeface="Wingdings" pitchFamily="2" charset="2"/>
              <a:buChar char="ü"/>
            </a:pPr>
            <a:r>
              <a:rPr lang="tr-TR" sz="2000" b="1" dirty="0">
                <a:solidFill>
                  <a:srgbClr val="FF0000"/>
                </a:solidFill>
              </a:rPr>
              <a:t>BİR İŞ YERİNDE TEHLİKE KAYNAĞININ İNSAN FAKTÖRÜ </a:t>
            </a:r>
            <a:r>
              <a:rPr lang="tr-TR" sz="2000" b="1" dirty="0" smtClean="0">
                <a:solidFill>
                  <a:srgbClr val="FF0000"/>
                </a:solidFill>
              </a:rPr>
              <a:t>OLDUĞU </a:t>
            </a:r>
            <a:r>
              <a:rPr lang="tr-TR" sz="2000" b="1" dirty="0" smtClean="0">
                <a:solidFill>
                  <a:srgbClr val="FF0000"/>
                </a:solidFill>
              </a:rPr>
              <a:t>UNUTULMAMALIDIR.</a:t>
            </a:r>
          </a:p>
          <a:p>
            <a:pPr lvl="0">
              <a:buFont typeface="Wingdings" pitchFamily="2" charset="2"/>
              <a:buChar char="ü"/>
            </a:pPr>
            <a:endParaRPr lang="tr-TR" sz="2000" dirty="0"/>
          </a:p>
          <a:p>
            <a:pPr lvl="0">
              <a:buFont typeface="Wingdings" pitchFamily="2" charset="2"/>
              <a:buChar char="ü"/>
            </a:pPr>
            <a:r>
              <a:rPr lang="tr-TR" sz="2000" b="1" dirty="0"/>
              <a:t>BAKIM VE ONARIMDA, KONU İŞ SAĞLIĞI VE GÜVENLİĞİ OLDUĞUNA GÖRE, TEHLİKELİ DURUMLAR VE </a:t>
            </a:r>
            <a:r>
              <a:rPr lang="tr-TR" sz="2000" b="1" dirty="0" smtClean="0"/>
              <a:t>TEHLİKELİ HAREKET </a:t>
            </a:r>
            <a:r>
              <a:rPr lang="tr-TR" sz="2000" b="1" dirty="0"/>
              <a:t>KAYNAKLARI NELERDİR? </a:t>
            </a:r>
            <a:r>
              <a:rPr lang="tr-TR" sz="2000" b="1" dirty="0" smtClean="0">
                <a:solidFill>
                  <a:srgbClr val="FF0000"/>
                </a:solidFill>
              </a:rPr>
              <a:t>TESPİT </a:t>
            </a:r>
            <a:r>
              <a:rPr lang="tr-TR" sz="2000" b="1" dirty="0">
                <a:solidFill>
                  <a:srgbClr val="FF0000"/>
                </a:solidFill>
              </a:rPr>
              <a:t>EDİLMELİ</a:t>
            </a:r>
            <a:r>
              <a:rPr lang="tr-TR" sz="2000" b="1" dirty="0"/>
              <a:t>, TEHLİKELİ </a:t>
            </a:r>
            <a:r>
              <a:rPr lang="tr-TR" sz="2000" b="1" dirty="0" smtClean="0"/>
              <a:t>HAREKETLERİ, DURUMLARI </a:t>
            </a:r>
            <a:r>
              <a:rPr lang="tr-TR" sz="2000" b="1" dirty="0"/>
              <a:t>ÖNLEME ARAŞTIRMALARI YAPILMALIDIR.</a:t>
            </a:r>
            <a:endParaRPr lang="tr-TR" sz="2000" dirty="0"/>
          </a:p>
        </p:txBody>
      </p:sp>
      <p:sp>
        <p:nvSpPr>
          <p:cNvPr id="4" name="Slayt Numarası Yer Tutucusu 3"/>
          <p:cNvSpPr>
            <a:spLocks noGrp="1"/>
          </p:cNvSpPr>
          <p:nvPr>
            <p:ph type="sldNum" sz="quarter" idx="12"/>
          </p:nvPr>
        </p:nvSpPr>
        <p:spPr/>
        <p:txBody>
          <a:bodyPr/>
          <a:lstStyle/>
          <a:p>
            <a:pPr>
              <a:defRPr/>
            </a:pPr>
            <a:fld id="{7289ED51-3D18-45F8-86FC-FD8561268021}" type="slidenum">
              <a:rPr lang="es-ES" smtClean="0"/>
              <a:pPr>
                <a:defRPr/>
              </a:pPr>
              <a:t>5</a:t>
            </a:fld>
            <a:endParaRPr lang="es-ES"/>
          </a:p>
        </p:txBody>
      </p:sp>
    </p:spTree>
    <p:extLst>
      <p:ext uri="{BB962C8B-B14F-4D97-AF65-F5344CB8AC3E}">
        <p14:creationId xmlns:p14="http://schemas.microsoft.com/office/powerpoint/2010/main" xmlns="" val="152423355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a:xfrm>
            <a:off x="457200" y="274638"/>
            <a:ext cx="8229600" cy="1296974"/>
          </a:xfrm>
        </p:spPr>
        <p:txBody>
          <a:bodyPr>
            <a:normAutofit/>
          </a:bodyPr>
          <a:lstStyle/>
          <a:p>
            <a:r>
              <a:rPr lang="tr-TR" sz="2000" b="1" dirty="0"/>
              <a:t>BİR İŞ YERİNDE, İŞİ YAPTIRAN VE YAPAN KİŞİLERDE</a:t>
            </a:r>
            <a:r>
              <a:rPr lang="tr-TR" sz="2000" dirty="0"/>
              <a:t/>
            </a:r>
            <a:br>
              <a:rPr lang="tr-TR" sz="2000" dirty="0"/>
            </a:br>
            <a:r>
              <a:rPr lang="tr-TR" sz="2000" b="1" dirty="0" smtClean="0"/>
              <a:t>AŞAĞIDA </a:t>
            </a:r>
            <a:r>
              <a:rPr lang="tr-TR" sz="2000" b="1" dirty="0"/>
              <a:t>ÇIKARILAN </a:t>
            </a:r>
            <a:r>
              <a:rPr lang="tr-TR" sz="2000" b="1" dirty="0" smtClean="0"/>
              <a:t>KAVRAMLARIN YERLEŞMESİ GEREKİR.</a:t>
            </a:r>
            <a:br>
              <a:rPr lang="tr-TR" sz="2000" b="1" dirty="0" smtClean="0"/>
            </a:br>
            <a:r>
              <a:rPr lang="tr-TR" sz="2000" b="1" dirty="0" smtClean="0"/>
              <a:t>BU KAVRAMLAR:</a:t>
            </a:r>
            <a:endParaRPr lang="tr-TR" sz="2000" dirty="0"/>
          </a:p>
        </p:txBody>
      </p:sp>
      <p:sp>
        <p:nvSpPr>
          <p:cNvPr id="3" name="2 İçerik Yer Tutucusu"/>
          <p:cNvSpPr>
            <a:spLocks noGrp="1"/>
          </p:cNvSpPr>
          <p:nvPr>
            <p:ph idx="1"/>
          </p:nvPr>
        </p:nvSpPr>
        <p:spPr/>
        <p:txBody>
          <a:bodyPr>
            <a:normAutofit/>
          </a:bodyPr>
          <a:lstStyle/>
          <a:p>
            <a:pPr lvl="0">
              <a:buNone/>
            </a:pPr>
            <a:r>
              <a:rPr lang="tr-TR" sz="2000" b="1" u="sng" dirty="0"/>
              <a:t>A. GÜVENLİK BİLİNCİ: </a:t>
            </a:r>
            <a:endParaRPr lang="tr-TR" sz="2000" u="sng" dirty="0"/>
          </a:p>
          <a:p>
            <a:pPr>
              <a:buNone/>
            </a:pPr>
            <a:r>
              <a:rPr lang="tr-TR" sz="2000" b="1" dirty="0"/>
              <a:t> </a:t>
            </a:r>
            <a:endParaRPr lang="tr-TR" sz="2000" dirty="0"/>
          </a:p>
          <a:p>
            <a:pPr lvl="0">
              <a:buFont typeface="Wingdings" pitchFamily="2" charset="2"/>
              <a:buChar char="ü"/>
            </a:pPr>
            <a:r>
              <a:rPr lang="tr-TR" sz="2000" b="1" dirty="0">
                <a:solidFill>
                  <a:srgbClr val="FF0000"/>
                </a:solidFill>
              </a:rPr>
              <a:t>KİŞİNİN GÜVENSİZ DURUM VE DAVRANIŞLARI TANIYABİLMESİ VE BU İŞLERE ZAMAN AYIRMASININ </a:t>
            </a:r>
            <a:r>
              <a:rPr lang="tr-TR" sz="2000" b="1" dirty="0" smtClean="0">
                <a:solidFill>
                  <a:srgbClr val="FF0000"/>
                </a:solidFill>
              </a:rPr>
              <a:t>ÖLÇÜTÜDÜR,</a:t>
            </a:r>
            <a:endParaRPr lang="tr-TR" sz="2000" dirty="0">
              <a:solidFill>
                <a:srgbClr val="FF0000"/>
              </a:solidFill>
            </a:endParaRPr>
          </a:p>
          <a:p>
            <a:pPr lvl="0">
              <a:buFont typeface="Wingdings" pitchFamily="2" charset="2"/>
              <a:buChar char="ü"/>
            </a:pPr>
            <a:r>
              <a:rPr lang="tr-TR" sz="2000" b="1" dirty="0"/>
              <a:t>BİLİNÇLİ OLMAK, GÜVENLİĞİN TEMEL </a:t>
            </a:r>
            <a:r>
              <a:rPr lang="tr-TR" sz="2000" b="1" dirty="0" smtClean="0"/>
              <a:t>ANAHTARIDIR,</a:t>
            </a:r>
            <a:endParaRPr lang="tr-TR" sz="2000" dirty="0"/>
          </a:p>
          <a:p>
            <a:pPr lvl="0">
              <a:buFont typeface="Wingdings" pitchFamily="2" charset="2"/>
              <a:buChar char="ü"/>
            </a:pPr>
            <a:r>
              <a:rPr lang="tr-TR" sz="2000" b="1" dirty="0">
                <a:solidFill>
                  <a:srgbClr val="FF0000"/>
                </a:solidFill>
              </a:rPr>
              <a:t>YAPILAN HER İŞ BİLİNÇLİ OLARAK </a:t>
            </a:r>
            <a:r>
              <a:rPr lang="tr-TR" sz="2000" b="1" dirty="0" smtClean="0">
                <a:solidFill>
                  <a:srgbClr val="FF0000"/>
                </a:solidFill>
              </a:rPr>
              <a:t>YAPILMALIDIR</a:t>
            </a:r>
            <a:r>
              <a:rPr lang="tr-TR" sz="2000" b="1" dirty="0" smtClean="0"/>
              <a:t>,</a:t>
            </a:r>
            <a:endParaRPr lang="tr-TR" sz="2000" dirty="0"/>
          </a:p>
          <a:p>
            <a:pPr lvl="0">
              <a:buFont typeface="Wingdings" pitchFamily="2" charset="2"/>
              <a:buChar char="ü"/>
            </a:pPr>
            <a:r>
              <a:rPr lang="tr-TR" sz="2000" b="1" dirty="0"/>
              <a:t>KONUYU BİLMEDEN VE BİLİNÇSİZ YAPILAN İŞLERİN , İŞİ YAPAN KİŞİYE VE ÇEVRESİNDEKİLERE ZARAR VERECEĞİ UNUTULMAMALI.</a:t>
            </a:r>
            <a:endParaRPr lang="tr-TR" sz="2000" dirty="0"/>
          </a:p>
          <a:p>
            <a:pPr>
              <a:buNone/>
            </a:pPr>
            <a:r>
              <a:rPr lang="tr-TR" sz="2000" b="1" dirty="0"/>
              <a:t> </a:t>
            </a:r>
            <a:endParaRPr lang="tr-TR" sz="2000" dirty="0"/>
          </a:p>
          <a:p>
            <a:pPr lvl="0">
              <a:buNone/>
            </a:pPr>
            <a:r>
              <a:rPr lang="tr-TR" sz="2000" b="1" u="sng" dirty="0"/>
              <a:t>B. DOĞRU VE GÜVENLİ ÇALIŞMA ALIŞKANLIĞI:</a:t>
            </a:r>
            <a:endParaRPr lang="tr-TR" sz="2000" u="sng" dirty="0"/>
          </a:p>
          <a:p>
            <a:pPr>
              <a:buNone/>
            </a:pPr>
            <a:r>
              <a:rPr lang="tr-TR" sz="2000" b="1" dirty="0"/>
              <a:t> </a:t>
            </a:r>
            <a:endParaRPr lang="tr-TR" sz="2000" dirty="0"/>
          </a:p>
          <a:p>
            <a:pPr>
              <a:buFont typeface="Wingdings" pitchFamily="2" charset="2"/>
              <a:buChar char="ü"/>
            </a:pPr>
            <a:r>
              <a:rPr lang="tr-TR" sz="2000" b="1" dirty="0"/>
              <a:t>YAPILAN İŞ GÜVENLİ DEĞİLSE, DOĞRU YAPILMIŞ </a:t>
            </a:r>
            <a:r>
              <a:rPr lang="tr-TR" sz="2000" b="1" dirty="0" smtClean="0"/>
              <a:t>SAYILMAZ,</a:t>
            </a:r>
            <a:endParaRPr lang="tr-TR" sz="2000" dirty="0"/>
          </a:p>
          <a:p>
            <a:pPr lvl="0">
              <a:buNone/>
            </a:pPr>
            <a:r>
              <a:rPr lang="tr-TR" sz="2000" b="1" dirty="0" smtClean="0"/>
              <a:t>      DOĞRULUĞUNDAN </a:t>
            </a:r>
            <a:r>
              <a:rPr lang="tr-TR" sz="2000" b="1" dirty="0"/>
              <a:t>EMİN OLUNMAYAN İŞ YAPILMAMALIDIR.</a:t>
            </a:r>
            <a:endParaRPr lang="tr-TR" sz="2000" dirty="0"/>
          </a:p>
          <a:p>
            <a:endParaRPr lang="tr-TR" sz="2000" dirty="0"/>
          </a:p>
        </p:txBody>
      </p:sp>
      <p:sp>
        <p:nvSpPr>
          <p:cNvPr id="4" name="Slayt Numarası Yer Tutucusu 3"/>
          <p:cNvSpPr>
            <a:spLocks noGrp="1"/>
          </p:cNvSpPr>
          <p:nvPr>
            <p:ph type="sldNum" sz="quarter" idx="12"/>
          </p:nvPr>
        </p:nvSpPr>
        <p:spPr/>
        <p:txBody>
          <a:bodyPr/>
          <a:lstStyle/>
          <a:p>
            <a:pPr>
              <a:defRPr/>
            </a:pPr>
            <a:fld id="{7289ED51-3D18-45F8-86FC-FD8561268021}" type="slidenum">
              <a:rPr lang="es-ES" smtClean="0"/>
              <a:pPr>
                <a:defRPr/>
              </a:pPr>
              <a:t>6</a:t>
            </a:fld>
            <a:endParaRPr lang="es-ES"/>
          </a:p>
        </p:txBody>
      </p:sp>
    </p:spTree>
    <p:extLst>
      <p:ext uri="{BB962C8B-B14F-4D97-AF65-F5344CB8AC3E}">
        <p14:creationId xmlns:p14="http://schemas.microsoft.com/office/powerpoint/2010/main" xmlns="" val="339160092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1"/>
          </p:nvPr>
        </p:nvSpPr>
        <p:spPr>
          <a:xfrm>
            <a:off x="457200" y="188640"/>
            <a:ext cx="8229600" cy="5937523"/>
          </a:xfrm>
        </p:spPr>
        <p:txBody>
          <a:bodyPr>
            <a:normAutofit/>
          </a:bodyPr>
          <a:lstStyle/>
          <a:p>
            <a:pPr lvl="0">
              <a:buNone/>
            </a:pPr>
            <a:r>
              <a:rPr lang="tr-TR" sz="2000" b="1" u="sng" dirty="0"/>
              <a:t>C. GÖR-DÜŞÜN-YAP PRENSİBİ:</a:t>
            </a:r>
            <a:endParaRPr lang="tr-TR" sz="2000" u="sng" dirty="0"/>
          </a:p>
          <a:p>
            <a:pPr>
              <a:buNone/>
            </a:pPr>
            <a:endParaRPr lang="tr-TR" sz="2000" u="sng" dirty="0"/>
          </a:p>
          <a:p>
            <a:pPr lvl="0">
              <a:buFont typeface="Wingdings" pitchFamily="2" charset="2"/>
              <a:buChar char="ü"/>
            </a:pPr>
            <a:r>
              <a:rPr lang="tr-TR" sz="2000" b="1" dirty="0">
                <a:solidFill>
                  <a:srgbClr val="FF0000"/>
                </a:solidFill>
              </a:rPr>
              <a:t>YAPILAN HER İŞDE GÖR-DÜŞÜN YAP PRENSİBİ UYGULANMALIDIR</a:t>
            </a:r>
            <a:r>
              <a:rPr lang="tr-TR" sz="2000" b="1" dirty="0"/>
              <a:t>.</a:t>
            </a:r>
            <a:endParaRPr lang="tr-TR" sz="2000" dirty="0"/>
          </a:p>
          <a:p>
            <a:pPr lvl="0">
              <a:buFont typeface="Wingdings" pitchFamily="2" charset="2"/>
              <a:buChar char="ü"/>
            </a:pPr>
            <a:r>
              <a:rPr lang="tr-TR" sz="2000" b="1" dirty="0"/>
              <a:t>KİŞİ YAPACAĞI HER İŞİ GÖRÜP NASIL YAPACAĞINI DÜŞÜNDÜKTEN SONRA YAPMALIDIR. BU KURALA UYMADAN YAPILAN HER İŞTE KAZA OLASILIĞI VARDIR.</a:t>
            </a:r>
            <a:endParaRPr lang="tr-TR" sz="2000" dirty="0"/>
          </a:p>
          <a:p>
            <a:pPr lvl="0">
              <a:buFont typeface="Wingdings" pitchFamily="2" charset="2"/>
              <a:buChar char="ü"/>
            </a:pPr>
            <a:r>
              <a:rPr lang="tr-TR" sz="2000" b="1" dirty="0">
                <a:solidFill>
                  <a:srgbClr val="FF0000"/>
                </a:solidFill>
              </a:rPr>
              <a:t>KİŞİ YAPACAĞI BAKIM-ONARIM İŞLERİNDE YAPACAĞI BAKIMA AİT TÜM TEKNİK BİLGİLERİ ÖĞRENMEDEN İŞE BAŞLAMAMALIDIR.</a:t>
            </a:r>
            <a:endParaRPr lang="tr-TR" sz="2000" dirty="0">
              <a:solidFill>
                <a:srgbClr val="FF0000"/>
              </a:solidFill>
            </a:endParaRPr>
          </a:p>
          <a:p>
            <a:pPr>
              <a:buNone/>
            </a:pPr>
            <a:r>
              <a:rPr lang="tr-TR" sz="2000" b="1" dirty="0"/>
              <a:t> </a:t>
            </a:r>
            <a:endParaRPr lang="tr-TR" sz="2000" dirty="0"/>
          </a:p>
          <a:p>
            <a:pPr lvl="0">
              <a:buNone/>
            </a:pPr>
            <a:r>
              <a:rPr lang="tr-TR" sz="2000" b="1" u="sng" dirty="0"/>
              <a:t>D. KORUYUCU </a:t>
            </a:r>
            <a:r>
              <a:rPr lang="tr-TR" sz="2000" b="1" u="sng" dirty="0" smtClean="0"/>
              <a:t>DONANIM KULLANMA </a:t>
            </a:r>
            <a:r>
              <a:rPr lang="tr-TR" sz="2000" b="1" u="sng" dirty="0"/>
              <a:t>ALIŞKANLIĞI:</a:t>
            </a:r>
            <a:endParaRPr lang="tr-TR" sz="2000" u="sng" dirty="0"/>
          </a:p>
          <a:p>
            <a:pPr>
              <a:buNone/>
            </a:pPr>
            <a:endParaRPr lang="tr-TR" sz="2000" u="sng" dirty="0"/>
          </a:p>
          <a:p>
            <a:pPr lvl="0">
              <a:buFont typeface="Wingdings" pitchFamily="2" charset="2"/>
              <a:buChar char="ü"/>
            </a:pPr>
            <a:r>
              <a:rPr lang="tr-TR" sz="2000" b="1" dirty="0">
                <a:solidFill>
                  <a:srgbClr val="FF0000"/>
                </a:solidFill>
              </a:rPr>
              <a:t>GEREKLİ OLAN YERLERDE VERİLMİŞ OLAN K.K.D. MUTLAKA KULLANILMALIDIR. İŞÇİLER NE KADAR DENEYİMLİ OLURSA OLSUN KKD. KULLANMADAN BAKIM ONARIM İŞİNE BAŞLATILMAMALI.</a:t>
            </a:r>
            <a:endParaRPr lang="tr-TR" sz="2000" dirty="0">
              <a:solidFill>
                <a:srgbClr val="FF0000"/>
              </a:solidFill>
            </a:endParaRPr>
          </a:p>
          <a:p>
            <a:pPr lvl="0">
              <a:buFont typeface="Wingdings" pitchFamily="2" charset="2"/>
              <a:buChar char="ü"/>
            </a:pPr>
            <a:r>
              <a:rPr lang="tr-TR" sz="2000" b="1" dirty="0"/>
              <a:t>KKD. KULLANMAK KİMSEYE ZARAR VERMEZ; KULLANMAMAK ZARAR VERİR.</a:t>
            </a:r>
            <a:endParaRPr lang="tr-TR" sz="2000" dirty="0"/>
          </a:p>
          <a:p>
            <a:pPr>
              <a:buNone/>
            </a:pPr>
            <a:r>
              <a:rPr lang="tr-TR" sz="2000" b="1" dirty="0"/>
              <a:t> </a:t>
            </a:r>
            <a:endParaRPr lang="tr-TR" sz="2000" dirty="0"/>
          </a:p>
          <a:p>
            <a:endParaRPr lang="tr-TR" sz="2000" dirty="0"/>
          </a:p>
        </p:txBody>
      </p:sp>
      <p:sp>
        <p:nvSpPr>
          <p:cNvPr id="2" name="Slayt Numarası Yer Tutucusu 1"/>
          <p:cNvSpPr>
            <a:spLocks noGrp="1"/>
          </p:cNvSpPr>
          <p:nvPr>
            <p:ph type="sldNum" sz="quarter" idx="12"/>
          </p:nvPr>
        </p:nvSpPr>
        <p:spPr/>
        <p:txBody>
          <a:bodyPr/>
          <a:lstStyle/>
          <a:p>
            <a:pPr>
              <a:defRPr/>
            </a:pPr>
            <a:fld id="{7289ED51-3D18-45F8-86FC-FD8561268021}" type="slidenum">
              <a:rPr lang="es-ES" smtClean="0"/>
              <a:pPr>
                <a:defRPr/>
              </a:pPr>
              <a:t>7</a:t>
            </a:fld>
            <a:endParaRPr lang="es-ES"/>
          </a:p>
        </p:txBody>
      </p:sp>
    </p:spTree>
    <p:extLst>
      <p:ext uri="{BB962C8B-B14F-4D97-AF65-F5344CB8AC3E}">
        <p14:creationId xmlns:p14="http://schemas.microsoft.com/office/powerpoint/2010/main" xmlns="" val="9252262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1"/>
          </p:nvPr>
        </p:nvSpPr>
        <p:spPr>
          <a:xfrm>
            <a:off x="457200" y="476672"/>
            <a:ext cx="7787208" cy="5976664"/>
          </a:xfrm>
        </p:spPr>
        <p:txBody>
          <a:bodyPr>
            <a:normAutofit/>
          </a:bodyPr>
          <a:lstStyle/>
          <a:p>
            <a:pPr lvl="0">
              <a:buNone/>
            </a:pPr>
            <a:endParaRPr lang="tr-TR" sz="2000" b="1" u="sng" dirty="0" smtClean="0"/>
          </a:p>
          <a:p>
            <a:pPr lvl="0">
              <a:buNone/>
            </a:pPr>
            <a:r>
              <a:rPr lang="tr-TR" sz="2000" b="1" u="sng" dirty="0" smtClean="0"/>
              <a:t>E</a:t>
            </a:r>
            <a:r>
              <a:rPr lang="tr-TR" sz="2000" b="1" u="sng" dirty="0"/>
              <a:t>. GÜVENLİK KURALLARINA UYMA ALIŞKANLIĞI:</a:t>
            </a:r>
            <a:endParaRPr lang="tr-TR" sz="2000" u="sng" dirty="0"/>
          </a:p>
          <a:p>
            <a:pPr>
              <a:buNone/>
            </a:pPr>
            <a:r>
              <a:rPr lang="tr-TR" sz="2000" b="1" dirty="0"/>
              <a:t> </a:t>
            </a:r>
            <a:endParaRPr lang="tr-TR" sz="2000" dirty="0"/>
          </a:p>
          <a:p>
            <a:pPr lvl="0">
              <a:buFont typeface="Wingdings" pitchFamily="2" charset="2"/>
              <a:buChar char="ü"/>
            </a:pPr>
            <a:r>
              <a:rPr lang="tr-TR" sz="2000" b="1" dirty="0"/>
              <a:t>GÜVENLİK KURALLARINA UYARAK ÇALIŞANLAR, KENDİ MENFAATLERİNE HAREKET ETTİKLERİNİ BİLMELİDİRLER. ZİRA KAZA YAPTIKLARINDA, HER ŞEYDEN ÖNCE KİŞİNİN KENDİSİ ZARAR </a:t>
            </a:r>
            <a:r>
              <a:rPr lang="tr-TR" sz="2000" b="1" dirty="0" smtClean="0"/>
              <a:t>GÖRECEĞİ UNUTULMAMALIDIR.</a:t>
            </a:r>
            <a:endParaRPr lang="tr-TR" sz="2000" dirty="0"/>
          </a:p>
          <a:p>
            <a:endParaRPr lang="tr-TR" sz="2000" dirty="0"/>
          </a:p>
        </p:txBody>
      </p:sp>
      <p:sp>
        <p:nvSpPr>
          <p:cNvPr id="2" name="Slayt Numarası Yer Tutucusu 1"/>
          <p:cNvSpPr>
            <a:spLocks noGrp="1"/>
          </p:cNvSpPr>
          <p:nvPr>
            <p:ph type="sldNum" sz="quarter" idx="12"/>
          </p:nvPr>
        </p:nvSpPr>
        <p:spPr/>
        <p:txBody>
          <a:bodyPr/>
          <a:lstStyle/>
          <a:p>
            <a:pPr>
              <a:defRPr/>
            </a:pPr>
            <a:fld id="{7289ED51-3D18-45F8-86FC-FD8561268021}" type="slidenum">
              <a:rPr lang="es-ES" smtClean="0"/>
              <a:pPr>
                <a:defRPr/>
              </a:pPr>
              <a:t>8</a:t>
            </a:fld>
            <a:endParaRPr lang="es-ES"/>
          </a:p>
        </p:txBody>
      </p:sp>
    </p:spTree>
    <p:extLst>
      <p:ext uri="{BB962C8B-B14F-4D97-AF65-F5344CB8AC3E}">
        <p14:creationId xmlns:p14="http://schemas.microsoft.com/office/powerpoint/2010/main" xmlns="" val="358266087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a:xfrm>
            <a:off x="467544" y="116632"/>
            <a:ext cx="8229600" cy="511156"/>
          </a:xfrm>
        </p:spPr>
        <p:txBody>
          <a:bodyPr>
            <a:normAutofit/>
          </a:bodyPr>
          <a:lstStyle/>
          <a:p>
            <a:r>
              <a:rPr lang="tr-TR" sz="2400" b="1" dirty="0"/>
              <a:t>MAKİNE BAKIM-ONARIM İŞLERİNDE İSG</a:t>
            </a:r>
            <a:endParaRPr lang="tr-TR" sz="2400" dirty="0"/>
          </a:p>
        </p:txBody>
      </p:sp>
      <p:sp>
        <p:nvSpPr>
          <p:cNvPr id="3" name="2 İçerik Yer Tutucusu"/>
          <p:cNvSpPr>
            <a:spLocks noGrp="1"/>
          </p:cNvSpPr>
          <p:nvPr>
            <p:ph idx="1"/>
          </p:nvPr>
        </p:nvSpPr>
        <p:spPr>
          <a:xfrm>
            <a:off x="0" y="620688"/>
            <a:ext cx="9144000" cy="6237312"/>
          </a:xfrm>
          <a:solidFill>
            <a:schemeClr val="bg1"/>
          </a:solidFill>
        </p:spPr>
        <p:txBody>
          <a:bodyPr>
            <a:noAutofit/>
          </a:bodyPr>
          <a:lstStyle/>
          <a:p>
            <a:pPr lvl="0">
              <a:buNone/>
            </a:pPr>
            <a:r>
              <a:rPr lang="tr-TR" sz="2000" b="1" dirty="0" smtClean="0">
                <a:solidFill>
                  <a:srgbClr val="0070C0"/>
                </a:solidFill>
              </a:rPr>
              <a:t>BAKIMA BAŞLAMADAN ÖNCE AŞAĞIYA ÇIKARILAN HUSUSLARA DİKKAT EDİLMELİDİR</a:t>
            </a:r>
          </a:p>
          <a:p>
            <a:pPr>
              <a:buNone/>
            </a:pPr>
            <a:endParaRPr lang="tr-TR" sz="1000" b="1" dirty="0" smtClean="0">
              <a:solidFill>
                <a:srgbClr val="0070C0"/>
              </a:solidFill>
            </a:endParaRPr>
          </a:p>
          <a:p>
            <a:pPr>
              <a:buFont typeface="Wingdings" pitchFamily="2" charset="2"/>
              <a:buChar char="ü"/>
            </a:pPr>
            <a:r>
              <a:rPr lang="tr-TR" sz="1800" b="1" dirty="0" smtClean="0">
                <a:solidFill>
                  <a:srgbClr val="FF0000"/>
                </a:solidFill>
              </a:rPr>
              <a:t>BAKIM EKİBİ EĞİTİMLİ VE DENEYİMLİ OLMALIDIR,</a:t>
            </a:r>
          </a:p>
          <a:p>
            <a:pPr>
              <a:buFont typeface="Wingdings" pitchFamily="2" charset="2"/>
              <a:buChar char="ü"/>
            </a:pPr>
            <a:r>
              <a:rPr lang="tr-TR" sz="1800" b="1" dirty="0"/>
              <a:t> </a:t>
            </a:r>
            <a:r>
              <a:rPr lang="tr-TR" sz="1800" b="1" dirty="0" smtClean="0"/>
              <a:t>BAKIMA BAŞLAMADAN ÖNCE, DEĞİŞECEK PARÇALAR,KULANILACAK TAKIMLAR HAZIRLANMALI,</a:t>
            </a:r>
          </a:p>
          <a:p>
            <a:pPr>
              <a:buFont typeface="Wingdings" pitchFamily="2" charset="2"/>
              <a:buChar char="ü"/>
            </a:pPr>
            <a:r>
              <a:rPr lang="tr-TR" sz="1800" b="1" dirty="0" smtClean="0">
                <a:solidFill>
                  <a:srgbClr val="FF0000"/>
                </a:solidFill>
              </a:rPr>
              <a:t>YÜRÜYÜŞ TAKIMLARININ BAKIMLARI, KRİKO ÜZERİNDE DEĞİL, SEHPALAR ÜZERİNDE YAPILMALI,</a:t>
            </a:r>
          </a:p>
          <a:p>
            <a:pPr>
              <a:buFont typeface="Wingdings" pitchFamily="2" charset="2"/>
              <a:buChar char="ü"/>
            </a:pPr>
            <a:r>
              <a:rPr lang="tr-TR" sz="1800" b="1" dirty="0" smtClean="0"/>
              <a:t>BAKIM SIRASINDA AKÜ KUTUP BAŞLARINA DEĞECEK ŞEKİLDE TAKIM KONMAMASINA DİKKAT EDİLMELİ,</a:t>
            </a:r>
          </a:p>
          <a:p>
            <a:pPr>
              <a:buFont typeface="Wingdings" pitchFamily="2" charset="2"/>
              <a:buChar char="ü"/>
            </a:pPr>
            <a:r>
              <a:rPr lang="tr-TR" sz="1800" b="1" dirty="0" smtClean="0"/>
              <a:t> BAKIMIN HAREKET HALİNDE YAPILMA ZARURİYETİ VARSA, BUNLARA DOKUNMAMAK ŞARTI </a:t>
            </a:r>
            <a:r>
              <a:rPr lang="tr-TR" sz="1800" b="1" dirty="0" smtClean="0">
                <a:solidFill>
                  <a:srgbClr val="FF0000"/>
                </a:solidFill>
              </a:rPr>
              <a:t>İLE 1 KİŞİ BAKIM YAPARKEN 1 KİŞİDE DİREKSİYON BAŞINDA </a:t>
            </a:r>
            <a:r>
              <a:rPr lang="tr-TR" sz="1800" b="1" dirty="0" smtClean="0"/>
              <a:t>BULUNMALIDIR,</a:t>
            </a:r>
          </a:p>
          <a:p>
            <a:pPr>
              <a:buFont typeface="Wingdings" pitchFamily="2" charset="2"/>
              <a:buChar char="ü"/>
            </a:pPr>
            <a:r>
              <a:rPr lang="tr-TR" sz="1800" b="1" dirty="0" smtClean="0"/>
              <a:t>BÜYÜK BAKIM ÜNİTESİNDE, </a:t>
            </a:r>
            <a:r>
              <a:rPr lang="tr-TR" sz="1800" b="1" dirty="0"/>
              <a:t>MAKİNE DONANIMDA YAPILACAK BAKIMLARDA, İŞİN YAPILMA ŞEKLİ VE ZAMANI İÇİN, İŞ SAHİBİ İLE ANLAŞMA SAĞLANMALIDIR</a:t>
            </a:r>
            <a:r>
              <a:rPr lang="tr-TR" sz="1800" b="1" dirty="0" smtClean="0"/>
              <a:t>.( PROSYONEL BAKIM EKİPLERİ İÇİN)</a:t>
            </a:r>
          </a:p>
          <a:p>
            <a:pPr lvl="0">
              <a:buFont typeface="Wingdings" pitchFamily="2" charset="2"/>
              <a:buChar char="ü"/>
            </a:pPr>
            <a:r>
              <a:rPr lang="tr-TR" sz="1800" b="1" dirty="0" smtClean="0">
                <a:solidFill>
                  <a:srgbClr val="FF0000"/>
                </a:solidFill>
              </a:rPr>
              <a:t>BAKIM </a:t>
            </a:r>
            <a:r>
              <a:rPr lang="tr-TR" sz="1800" b="1" dirty="0">
                <a:solidFill>
                  <a:srgbClr val="FF0000"/>
                </a:solidFill>
              </a:rPr>
              <a:t>YAPILACAK YERİN, BAKIMA BAŞLAMADAN ÖNCE İYİCE TEMİZLİĞİ YAPILMALIDIR</a:t>
            </a:r>
            <a:r>
              <a:rPr lang="tr-TR" sz="1800" b="1" dirty="0" smtClean="0"/>
              <a:t>.</a:t>
            </a:r>
          </a:p>
          <a:p>
            <a:pPr lvl="0">
              <a:buFont typeface="Wingdings" pitchFamily="2" charset="2"/>
              <a:buChar char="ü"/>
            </a:pPr>
            <a:r>
              <a:rPr lang="tr-TR" sz="1800" b="1" dirty="0" smtClean="0"/>
              <a:t>GEREKLİ </a:t>
            </a:r>
            <a:r>
              <a:rPr lang="tr-TR" sz="1800" b="1" dirty="0"/>
              <a:t>HALLERDE, ZEHİRLİ, YANICI VE ZARAR VEREBİLECEK MAKİNELERİN OLUP OLMADIĞI KONUSUNDA İŞ GÜVENLİĞİ SERVİSİNE KONTROL ETTİRİLDİKTEN SONRA BAKIM ONARIM İŞİNE BAŞLANMALIDIR</a:t>
            </a:r>
            <a:r>
              <a:rPr lang="tr-TR" sz="1800" b="1" dirty="0" smtClean="0"/>
              <a:t>.</a:t>
            </a:r>
          </a:p>
          <a:p>
            <a:pPr lvl="0">
              <a:buFont typeface="Wingdings" pitchFamily="2" charset="2"/>
              <a:buChar char="ü"/>
            </a:pPr>
            <a:r>
              <a:rPr lang="tr-TR" sz="1800" b="1" dirty="0" smtClean="0">
                <a:solidFill>
                  <a:srgbClr val="FF0000"/>
                </a:solidFill>
              </a:rPr>
              <a:t>BAKIM </a:t>
            </a:r>
            <a:r>
              <a:rPr lang="tr-TR" sz="1800" b="1" dirty="0">
                <a:solidFill>
                  <a:srgbClr val="FF0000"/>
                </a:solidFill>
              </a:rPr>
              <a:t>ÖZELLİĞİNE GÖRE İŞÇİLERE ALEV GEÇİRMEYEN ELBİSELER GİYDİRİLMELİDİR</a:t>
            </a:r>
            <a:r>
              <a:rPr lang="tr-TR" sz="1800" b="1" dirty="0"/>
              <a:t>.</a:t>
            </a:r>
            <a:endParaRPr lang="tr-TR" sz="1800" dirty="0"/>
          </a:p>
          <a:p>
            <a:endParaRPr lang="tr-TR" sz="2000" dirty="0"/>
          </a:p>
        </p:txBody>
      </p:sp>
      <p:sp>
        <p:nvSpPr>
          <p:cNvPr id="4" name="Slayt Numarası Yer Tutucusu 3"/>
          <p:cNvSpPr>
            <a:spLocks noGrp="1"/>
          </p:cNvSpPr>
          <p:nvPr>
            <p:ph type="sldNum" sz="quarter" idx="12"/>
          </p:nvPr>
        </p:nvSpPr>
        <p:spPr/>
        <p:txBody>
          <a:bodyPr/>
          <a:lstStyle/>
          <a:p>
            <a:pPr>
              <a:defRPr/>
            </a:pPr>
            <a:fld id="{7289ED51-3D18-45F8-86FC-FD8561268021}" type="slidenum">
              <a:rPr lang="es-ES" smtClean="0"/>
              <a:pPr>
                <a:defRPr/>
              </a:pPr>
              <a:t>9</a:t>
            </a:fld>
            <a:endParaRPr lang="es-ES"/>
          </a:p>
        </p:txBody>
      </p:sp>
    </p:spTree>
    <p:extLst>
      <p:ext uri="{BB962C8B-B14F-4D97-AF65-F5344CB8AC3E}">
        <p14:creationId xmlns:p14="http://schemas.microsoft.com/office/powerpoint/2010/main" xmlns="" val="135485045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1"/>
          </p:nvPr>
        </p:nvSpPr>
        <p:spPr>
          <a:xfrm>
            <a:off x="0" y="116632"/>
            <a:ext cx="8460432" cy="6624736"/>
          </a:xfrm>
        </p:spPr>
        <p:txBody>
          <a:bodyPr>
            <a:normAutofit/>
          </a:bodyPr>
          <a:lstStyle/>
          <a:p>
            <a:pPr lvl="0">
              <a:buFont typeface="Wingdings" pitchFamily="2" charset="2"/>
              <a:buChar char="ü"/>
            </a:pPr>
            <a:endParaRPr lang="tr-TR" sz="2000" b="1" dirty="0" smtClean="0"/>
          </a:p>
          <a:p>
            <a:pPr lvl="0" algn="just">
              <a:buFont typeface="Wingdings" pitchFamily="2" charset="2"/>
              <a:buChar char="ü"/>
            </a:pPr>
            <a:r>
              <a:rPr lang="tr-TR" sz="1800" b="1" dirty="0" smtClean="0">
                <a:solidFill>
                  <a:srgbClr val="FF0000"/>
                </a:solidFill>
              </a:rPr>
              <a:t>BAKIMA </a:t>
            </a:r>
            <a:r>
              <a:rPr lang="tr-TR" sz="1800" b="1" dirty="0">
                <a:solidFill>
                  <a:srgbClr val="FF0000"/>
                </a:solidFill>
              </a:rPr>
              <a:t>BAŞLAMADAN ÖNCE AĞIR PARÇALARI TAŞIMAK İÇİN BAKIMCILARA EL ARABASI VERİLMELİDİR</a:t>
            </a:r>
            <a:r>
              <a:rPr lang="tr-TR" sz="1800" b="1" dirty="0" smtClean="0">
                <a:solidFill>
                  <a:srgbClr val="FF0000"/>
                </a:solidFill>
              </a:rPr>
              <a:t>.</a:t>
            </a:r>
          </a:p>
          <a:p>
            <a:pPr lvl="0" algn="just">
              <a:buFont typeface="Wingdings" pitchFamily="2" charset="2"/>
              <a:buChar char="ü"/>
            </a:pPr>
            <a:endParaRPr lang="tr-TR" sz="1800" dirty="0"/>
          </a:p>
          <a:p>
            <a:pPr lvl="0" algn="just">
              <a:buFont typeface="Wingdings" pitchFamily="2" charset="2"/>
              <a:buChar char="ü"/>
            </a:pPr>
            <a:r>
              <a:rPr lang="tr-TR" sz="1800" b="1" dirty="0"/>
              <a:t>BAKIMA BAŞLAMADAN ÖNCE BİR EVVELKİ </a:t>
            </a:r>
            <a:r>
              <a:rPr lang="tr-TR" sz="1800" b="1" dirty="0" smtClean="0"/>
              <a:t>BAKIMDA </a:t>
            </a:r>
            <a:r>
              <a:rPr lang="tr-TR" sz="1800" b="1" dirty="0"/>
              <a:t>NELERİN YAPILDIĞI HAKKINDA BİLGİ EDİNİLMELİDİR</a:t>
            </a:r>
            <a:r>
              <a:rPr lang="tr-TR" sz="1800" b="1" dirty="0" smtClean="0"/>
              <a:t>.</a:t>
            </a:r>
          </a:p>
          <a:p>
            <a:pPr lvl="0" algn="just">
              <a:buNone/>
            </a:pPr>
            <a:endParaRPr lang="tr-TR" sz="1800" dirty="0"/>
          </a:p>
          <a:p>
            <a:pPr lvl="0" algn="just">
              <a:buFont typeface="Wingdings" pitchFamily="2" charset="2"/>
              <a:buChar char="ü"/>
            </a:pPr>
            <a:r>
              <a:rPr lang="tr-TR" sz="1800" b="1" dirty="0">
                <a:solidFill>
                  <a:srgbClr val="FF0000"/>
                </a:solidFill>
              </a:rPr>
              <a:t>BAKIM YAPILACAK MAKİNENİN OPERATÖRÜ, BAKIM EKİBİNİN YANINDA BULUNMALIDIR</a:t>
            </a:r>
            <a:r>
              <a:rPr lang="tr-TR" sz="1800" b="1" dirty="0" smtClean="0">
                <a:solidFill>
                  <a:srgbClr val="FF0000"/>
                </a:solidFill>
              </a:rPr>
              <a:t>.</a:t>
            </a:r>
          </a:p>
          <a:p>
            <a:pPr lvl="0" algn="just">
              <a:buFont typeface="Wingdings" pitchFamily="2" charset="2"/>
              <a:buChar char="ü"/>
            </a:pPr>
            <a:endParaRPr lang="tr-TR" sz="1800" dirty="0"/>
          </a:p>
          <a:p>
            <a:pPr lvl="0" algn="just">
              <a:buFont typeface="Wingdings" pitchFamily="2" charset="2"/>
              <a:buChar char="ü"/>
            </a:pPr>
            <a:r>
              <a:rPr lang="tr-TR" sz="1800" b="1" dirty="0"/>
              <a:t>BAKIMI YAPILACAK MAKİNE DÜZ VE DÜZLEM BİR YERE YERLEŞTİRİLDİKTEN SONRA, MOTORUN SOĞUMASINI TAKİBEN </a:t>
            </a:r>
            <a:r>
              <a:rPr lang="tr-TR" sz="1800" b="1" dirty="0" smtClean="0"/>
              <a:t>BAKIM-ONARIM </a:t>
            </a:r>
            <a:r>
              <a:rPr lang="tr-TR" sz="1800" b="1" dirty="0"/>
              <a:t>İŞİNE BAŞLANMALIDIR</a:t>
            </a:r>
            <a:r>
              <a:rPr lang="tr-TR" sz="1800" b="1" dirty="0" smtClean="0"/>
              <a:t>.</a:t>
            </a:r>
          </a:p>
          <a:p>
            <a:pPr lvl="0" algn="just">
              <a:buFont typeface="Wingdings" pitchFamily="2" charset="2"/>
              <a:buChar char="ü"/>
            </a:pPr>
            <a:endParaRPr lang="tr-TR" sz="1800" dirty="0"/>
          </a:p>
          <a:p>
            <a:pPr lvl="0" algn="just">
              <a:buFont typeface="Wingdings" pitchFamily="2" charset="2"/>
              <a:buChar char="ü"/>
            </a:pPr>
            <a:r>
              <a:rPr lang="tr-TR" sz="1800" b="1" dirty="0">
                <a:solidFill>
                  <a:srgbClr val="FF0000"/>
                </a:solidFill>
              </a:rPr>
              <a:t>BAKIMI YAPILACAK MAKİNE ÖNCE İYİCE </a:t>
            </a:r>
            <a:r>
              <a:rPr lang="tr-TR" sz="1800" b="1" dirty="0" smtClean="0">
                <a:solidFill>
                  <a:srgbClr val="FF0000"/>
                </a:solidFill>
              </a:rPr>
              <a:t>TEMİZLENMELİDİR</a:t>
            </a:r>
            <a:r>
              <a:rPr lang="tr-TR" sz="1800" b="1" dirty="0" smtClean="0"/>
              <a:t>.</a:t>
            </a:r>
          </a:p>
          <a:p>
            <a:pPr lvl="0" algn="just">
              <a:buNone/>
            </a:pPr>
            <a:endParaRPr lang="tr-TR" sz="1800" dirty="0"/>
          </a:p>
          <a:p>
            <a:pPr lvl="0" algn="just">
              <a:buFont typeface="Wingdings" pitchFamily="2" charset="2"/>
              <a:buChar char="ü"/>
            </a:pPr>
            <a:r>
              <a:rPr lang="tr-TR" sz="1800" b="1" dirty="0"/>
              <a:t>BAKIMA BAŞLAMADAN ÖNCE, YANGIN SÖNDÜRME CİHAZLARININ ÇALIŞIR VAZİYETTE OLDUĞU KONTROL EDİLMELİDİR</a:t>
            </a:r>
            <a:r>
              <a:rPr lang="tr-TR" sz="1800" b="1" dirty="0" smtClean="0"/>
              <a:t>.</a:t>
            </a:r>
          </a:p>
          <a:p>
            <a:pPr lvl="0" algn="just">
              <a:buNone/>
            </a:pPr>
            <a:endParaRPr lang="tr-TR" sz="1800" dirty="0"/>
          </a:p>
          <a:p>
            <a:pPr lvl="0" algn="just">
              <a:buFont typeface="Wingdings" pitchFamily="2" charset="2"/>
              <a:buChar char="ü"/>
            </a:pPr>
            <a:r>
              <a:rPr lang="tr-TR" sz="1800" b="1" dirty="0">
                <a:solidFill>
                  <a:srgbClr val="FF0000"/>
                </a:solidFill>
              </a:rPr>
              <a:t>İŞ MAKİNELERİNİN BAKIMINA BAŞLAMADAN ÖNCE, MAKİNE DÜZ VE SAĞLAM ZEMİN ÜZERİNDE, KEPÇELERİ,RİPPERLERİ YERE </a:t>
            </a:r>
            <a:r>
              <a:rPr lang="tr-TR" sz="1800" b="1" dirty="0" smtClean="0">
                <a:solidFill>
                  <a:srgbClr val="FF0000"/>
                </a:solidFill>
              </a:rPr>
              <a:t>İNDİRİLMELİ </a:t>
            </a:r>
            <a:r>
              <a:rPr lang="tr-TR" sz="1800" b="1" dirty="0">
                <a:solidFill>
                  <a:srgbClr val="FF0000"/>
                </a:solidFill>
              </a:rPr>
              <a:t>VE MOTOR STOP EDİLMELİDİR.</a:t>
            </a:r>
            <a:endParaRPr lang="tr-TR" sz="1800" dirty="0">
              <a:solidFill>
                <a:srgbClr val="FF0000"/>
              </a:solidFill>
            </a:endParaRPr>
          </a:p>
          <a:p>
            <a:endParaRPr lang="tr-TR" sz="2000" dirty="0"/>
          </a:p>
        </p:txBody>
      </p:sp>
      <p:sp>
        <p:nvSpPr>
          <p:cNvPr id="2" name="Slayt Numarası Yer Tutucusu 1"/>
          <p:cNvSpPr>
            <a:spLocks noGrp="1"/>
          </p:cNvSpPr>
          <p:nvPr>
            <p:ph type="sldNum" sz="quarter" idx="12"/>
          </p:nvPr>
        </p:nvSpPr>
        <p:spPr/>
        <p:txBody>
          <a:bodyPr/>
          <a:lstStyle/>
          <a:p>
            <a:pPr>
              <a:defRPr/>
            </a:pPr>
            <a:fld id="{7289ED51-3D18-45F8-86FC-FD8561268021}" type="slidenum">
              <a:rPr lang="es-ES" smtClean="0"/>
              <a:pPr>
                <a:defRPr/>
              </a:pPr>
              <a:t>10</a:t>
            </a:fld>
            <a:endParaRPr lang="es-ES"/>
          </a:p>
        </p:txBody>
      </p:sp>
    </p:spTree>
    <p:extLst>
      <p:ext uri="{BB962C8B-B14F-4D97-AF65-F5344CB8AC3E}">
        <p14:creationId xmlns:p14="http://schemas.microsoft.com/office/powerpoint/2010/main" xmlns="" val="330478136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1"/>
          </p:nvPr>
        </p:nvSpPr>
        <p:spPr>
          <a:xfrm>
            <a:off x="0" y="404664"/>
            <a:ext cx="8388424" cy="6120680"/>
          </a:xfrm>
        </p:spPr>
        <p:txBody>
          <a:bodyPr>
            <a:normAutofit/>
          </a:bodyPr>
          <a:lstStyle/>
          <a:p>
            <a:pPr lvl="0" algn="just">
              <a:buFont typeface="Wingdings" pitchFamily="2" charset="2"/>
              <a:buChar char="ü"/>
            </a:pPr>
            <a:r>
              <a:rPr lang="tr-TR" sz="2000" b="1" dirty="0"/>
              <a:t>BAKIMA BAŞLAMADAN </a:t>
            </a:r>
            <a:r>
              <a:rPr lang="tr-TR" sz="2000" b="1" dirty="0" smtClean="0"/>
              <a:t>ÖNCE, MAKİNE ÇALIŞTIRILMAMALIDIR; </a:t>
            </a:r>
            <a:r>
              <a:rPr lang="tr-TR" sz="2000" b="1" dirty="0">
                <a:solidFill>
                  <a:srgbClr val="FF0000"/>
                </a:solidFill>
              </a:rPr>
              <a:t>BAKIM YAPILIYOR LEVHASI </a:t>
            </a:r>
            <a:r>
              <a:rPr lang="tr-TR" sz="2000" b="1" dirty="0" smtClean="0">
                <a:solidFill>
                  <a:srgbClr val="FF0000"/>
                </a:solidFill>
              </a:rPr>
              <a:t>ASILMALIDIR</a:t>
            </a:r>
            <a:endParaRPr lang="tr-TR" sz="2000" dirty="0">
              <a:solidFill>
                <a:srgbClr val="FF0000"/>
              </a:solidFill>
            </a:endParaRPr>
          </a:p>
          <a:p>
            <a:pPr lvl="0" algn="just">
              <a:buFont typeface="Wingdings" pitchFamily="2" charset="2"/>
              <a:buChar char="ü"/>
            </a:pPr>
            <a:r>
              <a:rPr lang="tr-TR" sz="2000" b="1" dirty="0"/>
              <a:t>MAKİNE ALT TAKIMLARININ BAKIMINDA, BAKIM VE ONARIM </a:t>
            </a:r>
            <a:r>
              <a:rPr lang="tr-TR" sz="2000" b="1" dirty="0">
                <a:solidFill>
                  <a:srgbClr val="FF0000"/>
                </a:solidFill>
              </a:rPr>
              <a:t>KRİKOLAR ÜZERİNDE YAPILMAMALI; </a:t>
            </a:r>
            <a:r>
              <a:rPr lang="tr-TR" sz="2000" b="1" dirty="0"/>
              <a:t>SEHPALAR ÜZERİNDE YAPILMALI.</a:t>
            </a:r>
            <a:endParaRPr lang="tr-TR" sz="2000" dirty="0"/>
          </a:p>
          <a:p>
            <a:pPr lvl="0" algn="just">
              <a:buFont typeface="Wingdings" pitchFamily="2" charset="2"/>
              <a:buChar char="ü"/>
            </a:pPr>
            <a:r>
              <a:rPr lang="tr-TR" sz="2000" b="1" dirty="0"/>
              <a:t>İŞ MAKİNELERİNİN ATAŞMANLARININ BAKIMI YUKARI KALKIK YAPILMASI GEREKİYORSA, ATAŞMANLARIN ALTI DESTEKLENMELİDİR.</a:t>
            </a:r>
            <a:endParaRPr lang="tr-TR" sz="2000" dirty="0"/>
          </a:p>
          <a:p>
            <a:pPr lvl="0" algn="just">
              <a:buFont typeface="Wingdings" pitchFamily="2" charset="2"/>
              <a:buChar char="ü"/>
            </a:pPr>
            <a:r>
              <a:rPr lang="tr-TR" sz="2000" b="1" dirty="0"/>
              <a:t>BAKIMDAN ÖNCE. BOYALI YERLERİN KAYNATILMASI GEREKİYORSA, BOYALAR TEMİZLENDİKTEN SONRA KAYNAK İŞLERİ YAPILMALIDIR</a:t>
            </a:r>
            <a:r>
              <a:rPr lang="tr-TR" sz="2000" b="1" dirty="0" smtClean="0"/>
              <a:t>.</a:t>
            </a:r>
          </a:p>
          <a:p>
            <a:pPr lvl="0" algn="just">
              <a:buFont typeface="Wingdings" pitchFamily="2" charset="2"/>
              <a:buChar char="ü"/>
            </a:pPr>
            <a:r>
              <a:rPr lang="tr-TR" sz="2000" b="1" dirty="0"/>
              <a:t>BAKIMI YAPILACAK TAŞIT VE İŞ MAKİNELERİNİN AŞAĞIYA ÇIKARILAN PARÇALARIN SOĞUMASI BEKLENMEDEN BAKIMLARINA BAŞLANIRSA, YARALANMALAR OLABİLİR.</a:t>
            </a:r>
            <a:endParaRPr lang="tr-TR" sz="2000" dirty="0"/>
          </a:p>
          <a:p>
            <a:pPr marL="457200" lvl="0" indent="-457200" algn="just">
              <a:buNone/>
            </a:pPr>
            <a:r>
              <a:rPr lang="tr-TR" sz="2000" b="1" dirty="0" smtClean="0"/>
              <a:t>		1.  MOTOR</a:t>
            </a:r>
            <a:r>
              <a:rPr lang="tr-TR" sz="2000" b="1" dirty="0"/>
              <a:t>,</a:t>
            </a:r>
            <a:endParaRPr lang="tr-TR" sz="2000" dirty="0"/>
          </a:p>
          <a:p>
            <a:pPr marL="457200" lvl="0" indent="-457200" algn="just">
              <a:buNone/>
            </a:pPr>
            <a:r>
              <a:rPr lang="tr-TR" sz="2000" b="1" dirty="0" smtClean="0"/>
              <a:t>		2. EGZOZ</a:t>
            </a:r>
            <a:r>
              <a:rPr lang="tr-TR" sz="2000" b="1" dirty="0"/>
              <a:t>,</a:t>
            </a:r>
            <a:endParaRPr lang="tr-TR" sz="2000" dirty="0"/>
          </a:p>
          <a:p>
            <a:pPr marL="457200" lvl="0" indent="-457200" algn="just">
              <a:buNone/>
            </a:pPr>
            <a:r>
              <a:rPr lang="tr-TR" sz="2000" b="1" dirty="0" smtClean="0"/>
              <a:t>		3. RADYATÖR</a:t>
            </a:r>
            <a:r>
              <a:rPr lang="tr-TR" sz="2000" b="1" dirty="0"/>
              <a:t>,</a:t>
            </a:r>
            <a:endParaRPr lang="tr-TR" sz="2000" dirty="0"/>
          </a:p>
          <a:p>
            <a:pPr marL="457200" lvl="0" indent="-457200" algn="just">
              <a:buNone/>
            </a:pPr>
            <a:r>
              <a:rPr lang="tr-TR" sz="2000" b="1" dirty="0" smtClean="0"/>
              <a:t>		4. DİNGİL </a:t>
            </a:r>
            <a:r>
              <a:rPr lang="tr-TR" sz="2000" b="1" dirty="0"/>
              <a:t>MUHAFAZALARI,</a:t>
            </a:r>
            <a:endParaRPr lang="tr-TR" sz="2000" dirty="0"/>
          </a:p>
          <a:p>
            <a:pPr marL="457200" lvl="0" indent="-457200" algn="just">
              <a:buNone/>
            </a:pPr>
            <a:r>
              <a:rPr lang="tr-TR" sz="2000" b="1" dirty="0" smtClean="0"/>
              <a:t>		5. TRANSFER </a:t>
            </a:r>
            <a:r>
              <a:rPr lang="tr-TR" sz="2000" b="1" dirty="0"/>
              <a:t>DİŞLİ KUTUSU,</a:t>
            </a:r>
            <a:endParaRPr lang="tr-TR" sz="2000" dirty="0"/>
          </a:p>
          <a:p>
            <a:pPr lvl="0"/>
            <a:endParaRPr lang="tr-TR" sz="2000" dirty="0"/>
          </a:p>
          <a:p>
            <a:endParaRPr lang="tr-TR" sz="2000" dirty="0"/>
          </a:p>
        </p:txBody>
      </p:sp>
      <p:sp>
        <p:nvSpPr>
          <p:cNvPr id="2" name="Slayt Numarası Yer Tutucusu 1"/>
          <p:cNvSpPr>
            <a:spLocks noGrp="1"/>
          </p:cNvSpPr>
          <p:nvPr>
            <p:ph type="sldNum" sz="quarter" idx="12"/>
          </p:nvPr>
        </p:nvSpPr>
        <p:spPr/>
        <p:txBody>
          <a:bodyPr/>
          <a:lstStyle/>
          <a:p>
            <a:pPr>
              <a:defRPr/>
            </a:pPr>
            <a:fld id="{7289ED51-3D18-45F8-86FC-FD8561268021}" type="slidenum">
              <a:rPr lang="es-ES" smtClean="0"/>
              <a:pPr>
                <a:defRPr/>
              </a:pPr>
              <a:t>11</a:t>
            </a:fld>
            <a:endParaRPr lang="es-ES"/>
          </a:p>
        </p:txBody>
      </p:sp>
    </p:spTree>
    <p:extLst>
      <p:ext uri="{BB962C8B-B14F-4D97-AF65-F5344CB8AC3E}">
        <p14:creationId xmlns:p14="http://schemas.microsoft.com/office/powerpoint/2010/main" xmlns="" val="225727599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1"/>
          </p:nvPr>
        </p:nvSpPr>
        <p:spPr>
          <a:xfrm>
            <a:off x="357158" y="188641"/>
            <a:ext cx="8031266" cy="6552728"/>
          </a:xfrm>
        </p:spPr>
        <p:txBody>
          <a:bodyPr>
            <a:normAutofit lnSpcReduction="10000"/>
          </a:bodyPr>
          <a:lstStyle/>
          <a:p>
            <a:pPr lvl="0" algn="just">
              <a:buFont typeface="Wingdings" pitchFamily="2" charset="2"/>
              <a:buChar char="ü"/>
            </a:pPr>
            <a:r>
              <a:rPr lang="tr-TR" b="1" dirty="0" smtClean="0">
                <a:solidFill>
                  <a:srgbClr val="FF0000"/>
                </a:solidFill>
              </a:rPr>
              <a:t>ELEKTRİK </a:t>
            </a:r>
            <a:r>
              <a:rPr lang="tr-TR" b="1" dirty="0">
                <a:solidFill>
                  <a:srgbClr val="FF0000"/>
                </a:solidFill>
              </a:rPr>
              <a:t>BAKIM İŞLERİNE BAŞLAMADAN ÖNCE, AKÜ KUTUP </a:t>
            </a:r>
            <a:r>
              <a:rPr lang="tr-TR" b="1" dirty="0" smtClean="0">
                <a:solidFill>
                  <a:srgbClr val="FF0000"/>
                </a:solidFill>
              </a:rPr>
              <a:t>BAŞLARINI EKSİ( –)KUTUPTAN </a:t>
            </a:r>
            <a:r>
              <a:rPr lang="tr-TR" b="1" dirty="0">
                <a:solidFill>
                  <a:srgbClr val="FF0000"/>
                </a:solidFill>
              </a:rPr>
              <a:t>BAŞLAYARAK ÇIKARILMALIDIR</a:t>
            </a:r>
            <a:r>
              <a:rPr lang="tr-TR" b="1" dirty="0" smtClean="0">
                <a:solidFill>
                  <a:srgbClr val="FF0000"/>
                </a:solidFill>
              </a:rPr>
              <a:t>.</a:t>
            </a:r>
          </a:p>
          <a:p>
            <a:pPr lvl="0" algn="just">
              <a:buFont typeface="Wingdings" pitchFamily="2" charset="2"/>
              <a:buChar char="ü"/>
            </a:pPr>
            <a:endParaRPr lang="tr-TR" dirty="0">
              <a:solidFill>
                <a:srgbClr val="FF0000"/>
              </a:solidFill>
            </a:endParaRPr>
          </a:p>
          <a:p>
            <a:pPr lvl="0" algn="just">
              <a:buFont typeface="Wingdings" pitchFamily="2" charset="2"/>
              <a:buChar char="ü"/>
            </a:pPr>
            <a:r>
              <a:rPr lang="tr-TR" b="1" dirty="0"/>
              <a:t>MAFSAL TAKOZLARI, ATAŞMAN SABİTLEME PİMLERİ, BAKIMA BAŞLAMADAN ÖNCE YERLERİNE TAKILMALIDIR</a:t>
            </a:r>
            <a:r>
              <a:rPr lang="tr-TR" b="1" dirty="0" smtClean="0"/>
              <a:t>.</a:t>
            </a:r>
          </a:p>
          <a:p>
            <a:pPr lvl="0" algn="just">
              <a:buFont typeface="Wingdings" pitchFamily="2" charset="2"/>
              <a:buChar char="ü"/>
            </a:pPr>
            <a:endParaRPr lang="tr-TR" dirty="0"/>
          </a:p>
          <a:p>
            <a:pPr lvl="0" algn="just">
              <a:buFont typeface="Wingdings" pitchFamily="2" charset="2"/>
              <a:buChar char="ü"/>
            </a:pPr>
            <a:r>
              <a:rPr lang="tr-TR" b="1" dirty="0">
                <a:solidFill>
                  <a:srgbClr val="FF0000"/>
                </a:solidFill>
              </a:rPr>
              <a:t>BAKIMA BAŞLAMADAN ÖNCE BAKIM YERİNİN YETERLİ AYDINLATMASI YAPILMALI</a:t>
            </a:r>
            <a:r>
              <a:rPr lang="tr-TR" b="1" dirty="0" smtClean="0">
                <a:solidFill>
                  <a:srgbClr val="FF0000"/>
                </a:solidFill>
              </a:rPr>
              <a:t>.</a:t>
            </a:r>
          </a:p>
          <a:p>
            <a:pPr lvl="0" algn="just">
              <a:buFont typeface="Wingdings" pitchFamily="2" charset="2"/>
              <a:buChar char="ü"/>
            </a:pPr>
            <a:endParaRPr lang="tr-TR" dirty="0">
              <a:solidFill>
                <a:srgbClr val="FF0000"/>
              </a:solidFill>
            </a:endParaRPr>
          </a:p>
          <a:p>
            <a:pPr lvl="0" algn="just">
              <a:buFont typeface="Wingdings" pitchFamily="2" charset="2"/>
              <a:buChar char="ü"/>
            </a:pPr>
            <a:r>
              <a:rPr lang="tr-TR" b="1" dirty="0"/>
              <a:t>BAKIMI YAPILACAK MAKİNENİN YEDEK PARÇALARI HAZIR </a:t>
            </a:r>
            <a:r>
              <a:rPr lang="tr-TR" b="1" dirty="0" smtClean="0"/>
              <a:t>BULUNDURULMALI.</a:t>
            </a:r>
          </a:p>
          <a:p>
            <a:pPr lvl="0" algn="just">
              <a:buFont typeface="Wingdings" pitchFamily="2" charset="2"/>
              <a:buChar char="ü"/>
            </a:pPr>
            <a:endParaRPr lang="tr-TR" dirty="0"/>
          </a:p>
          <a:p>
            <a:pPr lvl="0" algn="just">
              <a:buFont typeface="Wingdings" pitchFamily="2" charset="2"/>
              <a:buChar char="ü"/>
            </a:pPr>
            <a:r>
              <a:rPr lang="tr-TR" b="1" dirty="0">
                <a:solidFill>
                  <a:srgbClr val="FF0000"/>
                </a:solidFill>
              </a:rPr>
              <a:t>BAKIM YERİNDE KAFİ MİKTAR VE KAPASİTEDE ÇÖP KUTUSU BULUNDURULMALI</a:t>
            </a:r>
            <a:r>
              <a:rPr lang="tr-TR" b="1" dirty="0" smtClean="0">
                <a:solidFill>
                  <a:srgbClr val="FF0000"/>
                </a:solidFill>
              </a:rPr>
              <a:t>.</a:t>
            </a:r>
          </a:p>
          <a:p>
            <a:pPr lvl="0" algn="just">
              <a:buFont typeface="Wingdings" pitchFamily="2" charset="2"/>
              <a:buChar char="ü"/>
            </a:pPr>
            <a:endParaRPr lang="tr-TR" dirty="0">
              <a:solidFill>
                <a:srgbClr val="FF0000"/>
              </a:solidFill>
            </a:endParaRPr>
          </a:p>
          <a:p>
            <a:pPr lvl="0" algn="just">
              <a:buFont typeface="Wingdings" pitchFamily="2" charset="2"/>
              <a:buChar char="ü"/>
            </a:pPr>
            <a:r>
              <a:rPr lang="tr-TR" b="1" dirty="0"/>
              <a:t>TRANSMİSYON KAYIŞLA </a:t>
            </a:r>
            <a:r>
              <a:rPr lang="tr-TR" b="1" dirty="0" smtClean="0"/>
              <a:t>ÇALIŞAN </a:t>
            </a:r>
            <a:r>
              <a:rPr lang="tr-TR" b="1" dirty="0"/>
              <a:t>MAKİNELERİN, BAKIM VE ONARIMINA GEÇMEDEN ÖNCE, TRANSMİSYON KAYIŞLARI BOŞA </a:t>
            </a:r>
            <a:r>
              <a:rPr lang="tr-TR" b="1" dirty="0" smtClean="0"/>
              <a:t>ALINMALI; </a:t>
            </a:r>
            <a:r>
              <a:rPr lang="tr-TR" b="1" dirty="0"/>
              <a:t>BİR YERE TUTTURULMALIDIR</a:t>
            </a:r>
            <a:r>
              <a:rPr lang="tr-TR" b="1" dirty="0" smtClean="0"/>
              <a:t>.</a:t>
            </a:r>
            <a:endParaRPr lang="tr-TR" dirty="0"/>
          </a:p>
        </p:txBody>
      </p:sp>
      <p:sp>
        <p:nvSpPr>
          <p:cNvPr id="2" name="Slayt Numarası Yer Tutucusu 1"/>
          <p:cNvSpPr>
            <a:spLocks noGrp="1"/>
          </p:cNvSpPr>
          <p:nvPr>
            <p:ph type="sldNum" sz="quarter" idx="12"/>
          </p:nvPr>
        </p:nvSpPr>
        <p:spPr/>
        <p:txBody>
          <a:bodyPr/>
          <a:lstStyle/>
          <a:p>
            <a:pPr>
              <a:defRPr/>
            </a:pPr>
            <a:fld id="{7289ED51-3D18-45F8-86FC-FD8561268021}" type="slidenum">
              <a:rPr lang="es-ES" smtClean="0"/>
              <a:pPr>
                <a:defRPr/>
              </a:pPr>
              <a:t>12</a:t>
            </a:fld>
            <a:endParaRPr lang="es-ES"/>
          </a:p>
        </p:txBody>
      </p:sp>
    </p:spTree>
    <p:extLst>
      <p:ext uri="{BB962C8B-B14F-4D97-AF65-F5344CB8AC3E}">
        <p14:creationId xmlns:p14="http://schemas.microsoft.com/office/powerpoint/2010/main" xmlns="" val="52379802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1"/>
          </p:nvPr>
        </p:nvSpPr>
        <p:spPr>
          <a:xfrm>
            <a:off x="457200" y="332656"/>
            <a:ext cx="7931224" cy="6408712"/>
          </a:xfrm>
        </p:spPr>
        <p:txBody>
          <a:bodyPr>
            <a:normAutofit/>
          </a:bodyPr>
          <a:lstStyle/>
          <a:p>
            <a:pPr>
              <a:buNone/>
            </a:pPr>
            <a:r>
              <a:rPr lang="tr-TR" sz="2000" b="1" u="sng" dirty="0"/>
              <a:t>BAKIM SIRASINDA İSG</a:t>
            </a:r>
            <a:endParaRPr lang="tr-TR" sz="2000" u="sng" dirty="0"/>
          </a:p>
          <a:p>
            <a:pPr>
              <a:buNone/>
            </a:pPr>
            <a:r>
              <a:rPr lang="tr-TR" sz="2000" b="1" dirty="0"/>
              <a:t> </a:t>
            </a:r>
            <a:endParaRPr lang="tr-TR" sz="2000" dirty="0"/>
          </a:p>
          <a:p>
            <a:pPr lvl="0" algn="just">
              <a:buFont typeface="Wingdings" pitchFamily="2" charset="2"/>
              <a:buChar char="ü"/>
            </a:pPr>
            <a:r>
              <a:rPr lang="tr-TR" sz="2000" b="1" dirty="0">
                <a:solidFill>
                  <a:srgbClr val="FF0000"/>
                </a:solidFill>
              </a:rPr>
              <a:t>TÜM MAKİNE MOTORLARININ YAĞ DEĞİŞİMİNDE, YAĞLAR MOTOR SICAK İKEN </a:t>
            </a:r>
            <a:r>
              <a:rPr lang="tr-TR" sz="2000" b="1" dirty="0" smtClean="0">
                <a:solidFill>
                  <a:srgbClr val="FF0000"/>
                </a:solidFill>
              </a:rPr>
              <a:t>BOŞALTILMALI, </a:t>
            </a:r>
            <a:r>
              <a:rPr lang="tr-TR" sz="2000" b="1" dirty="0">
                <a:solidFill>
                  <a:srgbClr val="FF0000"/>
                </a:solidFill>
              </a:rPr>
              <a:t>BOŞALTMA SIRASINDA YAĞ KOYMA KAPAĞI AÇIK </a:t>
            </a:r>
            <a:r>
              <a:rPr lang="tr-TR" sz="2000" b="1" dirty="0" smtClean="0">
                <a:solidFill>
                  <a:srgbClr val="FF0000"/>
                </a:solidFill>
              </a:rPr>
              <a:t>BULUNMALIDIR.</a:t>
            </a:r>
            <a:endParaRPr lang="tr-TR" sz="2000" dirty="0">
              <a:solidFill>
                <a:srgbClr val="FF0000"/>
              </a:solidFill>
            </a:endParaRPr>
          </a:p>
          <a:p>
            <a:pPr lvl="0" algn="just">
              <a:buFont typeface="Wingdings" pitchFamily="2" charset="2"/>
              <a:buChar char="ü"/>
            </a:pPr>
            <a:r>
              <a:rPr lang="tr-TR" sz="2000" b="1" dirty="0"/>
              <a:t>TÜM MAKİNELERİN YAĞ DEĞİŞİMİNDE, ÖNCE YAĞ KOYMA KAPAĞI VE ÇEVRESİ TEMİZLENMELİDİR.</a:t>
            </a:r>
            <a:endParaRPr lang="tr-TR" sz="2000" dirty="0"/>
          </a:p>
          <a:p>
            <a:pPr lvl="0" algn="just">
              <a:buFont typeface="Wingdings" pitchFamily="2" charset="2"/>
              <a:buChar char="ü"/>
            </a:pPr>
            <a:r>
              <a:rPr lang="tr-TR" sz="2000" b="1" dirty="0">
                <a:solidFill>
                  <a:srgbClr val="FF0000"/>
                </a:solidFill>
              </a:rPr>
              <a:t>TÜM MAKİNELERDE YAĞ SEVİYE KONTROLU, MAKİNE DÜZ VE DÜZLEM ZEMİNDE, MOTOR STOP EDİLECEK, YAĞIN KARTERE SÜZÜLMESİ BEKLENDİKTEN SONRA YAPILACAKTIR.</a:t>
            </a:r>
            <a:endParaRPr lang="tr-TR" sz="2000" dirty="0">
              <a:solidFill>
                <a:srgbClr val="FF0000"/>
              </a:solidFill>
            </a:endParaRPr>
          </a:p>
          <a:p>
            <a:pPr lvl="0" algn="just">
              <a:buFont typeface="Wingdings" pitchFamily="2" charset="2"/>
              <a:buChar char="ü"/>
            </a:pPr>
            <a:r>
              <a:rPr lang="tr-TR" sz="2000" b="1" dirty="0"/>
              <a:t>İŞ MAKİNELERİNİN ATAŞMANLARININ BAKIMI, KULLANMA VE BAKIM TALİMATLARINDA BELİRTİLEN KONUMLARDA İKEN YAPILMALIDIR</a:t>
            </a:r>
            <a:r>
              <a:rPr lang="tr-TR" sz="2000" b="1" dirty="0" smtClean="0"/>
              <a:t>.</a:t>
            </a:r>
          </a:p>
          <a:p>
            <a:pPr lvl="0" algn="just">
              <a:buFont typeface="Wingdings" pitchFamily="2" charset="2"/>
              <a:buChar char="ü"/>
            </a:pPr>
            <a:r>
              <a:rPr lang="tr-TR" sz="2000" b="1" dirty="0">
                <a:solidFill>
                  <a:srgbClr val="FF0000"/>
                </a:solidFill>
              </a:rPr>
              <a:t>TAŞITLARIN VE İŞ MAKİNELERİNİN TRANSMİSYON, DEFRANSİYEL VE DİĞER DİŞLİ KUTULARI YAĞLARI İÇERİSİNDE METAL PARÇACIKLARI OLUP OLMADIĞI ARAŞTIRILMALI, DİŞLİ KUTULARI BU PARÇACIKLARDAN TEMİZLENMELİDİR.</a:t>
            </a:r>
            <a:endParaRPr lang="tr-TR" sz="2000" dirty="0">
              <a:solidFill>
                <a:srgbClr val="FF0000"/>
              </a:solidFill>
            </a:endParaRPr>
          </a:p>
          <a:p>
            <a:pPr lvl="0" algn="just">
              <a:buFont typeface="Wingdings" pitchFamily="2" charset="2"/>
              <a:buChar char="ü"/>
            </a:pPr>
            <a:r>
              <a:rPr lang="tr-TR" sz="2000" b="1" dirty="0" smtClean="0"/>
              <a:t>GRESÖRLÜKLERE </a:t>
            </a:r>
            <a:r>
              <a:rPr lang="tr-TR" sz="2000" b="1" dirty="0"/>
              <a:t>YAĞ BASILMADAN ÖNCE </a:t>
            </a:r>
            <a:r>
              <a:rPr lang="tr-TR" sz="2000" b="1" dirty="0" smtClean="0"/>
              <a:t>GRESÖRLÜKLER </a:t>
            </a:r>
            <a:r>
              <a:rPr lang="tr-TR" sz="2000" b="1" dirty="0"/>
              <a:t>VE ETRAFI İYİCE TEMİZLENMELİDİR.</a:t>
            </a:r>
            <a:endParaRPr lang="tr-TR" sz="2000" dirty="0"/>
          </a:p>
          <a:p>
            <a:pPr lvl="0"/>
            <a:endParaRPr lang="tr-TR" sz="2000" dirty="0"/>
          </a:p>
          <a:p>
            <a:endParaRPr lang="tr-TR" sz="2000" dirty="0"/>
          </a:p>
        </p:txBody>
      </p:sp>
      <p:sp>
        <p:nvSpPr>
          <p:cNvPr id="2" name="Slayt Numarası Yer Tutucusu 1"/>
          <p:cNvSpPr>
            <a:spLocks noGrp="1"/>
          </p:cNvSpPr>
          <p:nvPr>
            <p:ph type="sldNum" sz="quarter" idx="12"/>
          </p:nvPr>
        </p:nvSpPr>
        <p:spPr/>
        <p:txBody>
          <a:bodyPr/>
          <a:lstStyle/>
          <a:p>
            <a:pPr>
              <a:defRPr/>
            </a:pPr>
            <a:fld id="{7289ED51-3D18-45F8-86FC-FD8561268021}" type="slidenum">
              <a:rPr lang="es-ES" smtClean="0"/>
              <a:pPr>
                <a:defRPr/>
              </a:pPr>
              <a:t>13</a:t>
            </a:fld>
            <a:endParaRPr lang="es-ES"/>
          </a:p>
        </p:txBody>
      </p:sp>
    </p:spTree>
    <p:extLst>
      <p:ext uri="{BB962C8B-B14F-4D97-AF65-F5344CB8AC3E}">
        <p14:creationId xmlns:p14="http://schemas.microsoft.com/office/powerpoint/2010/main" xmlns="" val="176442619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1"/>
          </p:nvPr>
        </p:nvSpPr>
        <p:spPr>
          <a:xfrm>
            <a:off x="179512" y="188640"/>
            <a:ext cx="8136904" cy="6408712"/>
          </a:xfrm>
        </p:spPr>
        <p:txBody>
          <a:bodyPr>
            <a:normAutofit/>
          </a:bodyPr>
          <a:lstStyle/>
          <a:p>
            <a:pPr lvl="0" algn="just">
              <a:buFont typeface="Wingdings" pitchFamily="2" charset="2"/>
              <a:buChar char="ü"/>
            </a:pPr>
            <a:r>
              <a:rPr lang="tr-TR" sz="2000" b="1" dirty="0" smtClean="0">
                <a:solidFill>
                  <a:srgbClr val="FF0000"/>
                </a:solidFill>
              </a:rPr>
              <a:t>SOĞUTMA </a:t>
            </a:r>
            <a:r>
              <a:rPr lang="tr-TR" sz="2000" b="1" dirty="0">
                <a:solidFill>
                  <a:srgbClr val="FF0000"/>
                </a:solidFill>
              </a:rPr>
              <a:t>SİSTEMİNDEKİ ANTİFİRİZ, YAZ-KIŞ DURUMUNA GÖRE ÖNCEDEN AYARLANDIKTAN SONRA, SİSTEMDE HAVA ODACIĞI OLUŞMAMASI İÇİN YAVAŞ YAVAŞ DOLDURULMALI, MOTOR BİRAZ ÇALIŞTIRILDIKTAN SONRA SOĞUTMA SUYU SEVİYESİ KONTROL EDİLMELİDİR</a:t>
            </a:r>
            <a:r>
              <a:rPr lang="tr-TR" sz="2000" b="1" dirty="0" smtClean="0">
                <a:solidFill>
                  <a:srgbClr val="FF0000"/>
                </a:solidFill>
              </a:rPr>
              <a:t>.</a:t>
            </a:r>
          </a:p>
          <a:p>
            <a:pPr lvl="0" algn="just">
              <a:buFont typeface="Wingdings" pitchFamily="2" charset="2"/>
              <a:buChar char="ü"/>
            </a:pPr>
            <a:endParaRPr lang="tr-TR" sz="2000" dirty="0">
              <a:solidFill>
                <a:srgbClr val="FF0000"/>
              </a:solidFill>
            </a:endParaRPr>
          </a:p>
          <a:p>
            <a:pPr lvl="0" algn="just">
              <a:buFont typeface="Wingdings" pitchFamily="2" charset="2"/>
              <a:buChar char="ü"/>
            </a:pPr>
            <a:r>
              <a:rPr lang="tr-TR" sz="2000" b="1" dirty="0"/>
              <a:t>MOTORLARIN VANTİLATÖR KAYIŞ AYARLARI YAPILDIKTAN SONRA, MOTOR BİRAZ ÇALIŞTIRILACAK VE KAYIŞ TEKRAR KONTROL EDİLECEKTİR</a:t>
            </a:r>
            <a:r>
              <a:rPr lang="tr-TR" sz="2000" b="1" dirty="0" smtClean="0"/>
              <a:t>.</a:t>
            </a:r>
          </a:p>
          <a:p>
            <a:pPr lvl="0" algn="just">
              <a:buFont typeface="Wingdings" pitchFamily="2" charset="2"/>
              <a:buChar char="ü"/>
            </a:pPr>
            <a:endParaRPr lang="tr-TR" sz="2000" dirty="0"/>
          </a:p>
          <a:p>
            <a:pPr lvl="0" algn="just">
              <a:buFont typeface="Wingdings" pitchFamily="2" charset="2"/>
              <a:buChar char="ü"/>
            </a:pPr>
            <a:r>
              <a:rPr lang="tr-TR" sz="2000" b="1" dirty="0">
                <a:solidFill>
                  <a:srgbClr val="FF0000"/>
                </a:solidFill>
              </a:rPr>
              <a:t>AKÜ BAKIMINDA, KUTUP BAŞLARININ GEVŞEK OLMAMASINA, TEMİZLENMİŞ OLMASINA, ELEKTROLOTİK SEVİYESİNİN PLAKALARIN 1 CM. ÜZERİNDE OLMASINA, AKÜ KAPAK DELİKLERİNİN AÇIK OLMASINA DİKKAT EDİLMELİDİR</a:t>
            </a:r>
            <a:r>
              <a:rPr lang="tr-TR" sz="2000" b="1" dirty="0" smtClean="0">
                <a:solidFill>
                  <a:srgbClr val="FF0000"/>
                </a:solidFill>
              </a:rPr>
              <a:t>.</a:t>
            </a:r>
          </a:p>
          <a:p>
            <a:pPr lvl="0" algn="just">
              <a:buFont typeface="Wingdings" pitchFamily="2" charset="2"/>
              <a:buChar char="ü"/>
            </a:pPr>
            <a:endParaRPr lang="tr-TR" sz="2000" dirty="0">
              <a:solidFill>
                <a:srgbClr val="FF0000"/>
              </a:solidFill>
            </a:endParaRPr>
          </a:p>
          <a:p>
            <a:pPr lvl="0" algn="just">
              <a:buFont typeface="Wingdings" pitchFamily="2" charset="2"/>
              <a:buChar char="ü"/>
            </a:pPr>
            <a:r>
              <a:rPr lang="tr-TR" sz="2000" b="1" dirty="0"/>
              <a:t>HAVA </a:t>
            </a:r>
            <a:r>
              <a:rPr lang="tr-TR" sz="2000" b="1" dirty="0" smtClean="0"/>
              <a:t>FİLTRE </a:t>
            </a:r>
            <a:r>
              <a:rPr lang="tr-TR" sz="2000" b="1" dirty="0"/>
              <a:t>ELMANLARININ TEMİZLENMESİNDE, YAKLAŞIK 2 BAR BASINCINDA HAVA KULLANILMALI, HAVA ELEMANIN İÇİNDEN DIŞINA DOĞRU VE PİLELER </a:t>
            </a:r>
            <a:r>
              <a:rPr lang="tr-TR" sz="2000" b="1" dirty="0" smtClean="0"/>
              <a:t>BOYUNCA </a:t>
            </a:r>
            <a:r>
              <a:rPr lang="tr-TR" sz="2000" b="1" dirty="0"/>
              <a:t>TUTULMALIDIR. SONRA ELEMANIN LAMBA İLE SIZINTI KONTROLU YAPILMALIDIR</a:t>
            </a:r>
            <a:r>
              <a:rPr lang="tr-TR" sz="2000" b="1" dirty="0" smtClean="0"/>
              <a:t>.</a:t>
            </a:r>
            <a:endParaRPr lang="tr-TR" sz="2000" dirty="0"/>
          </a:p>
        </p:txBody>
      </p:sp>
      <p:sp>
        <p:nvSpPr>
          <p:cNvPr id="2" name="Slayt Numarası Yer Tutucusu 1"/>
          <p:cNvSpPr>
            <a:spLocks noGrp="1"/>
          </p:cNvSpPr>
          <p:nvPr>
            <p:ph type="sldNum" sz="quarter" idx="12"/>
          </p:nvPr>
        </p:nvSpPr>
        <p:spPr/>
        <p:txBody>
          <a:bodyPr/>
          <a:lstStyle/>
          <a:p>
            <a:pPr>
              <a:defRPr/>
            </a:pPr>
            <a:fld id="{7289ED51-3D18-45F8-86FC-FD8561268021}" type="slidenum">
              <a:rPr lang="es-ES" smtClean="0"/>
              <a:pPr>
                <a:defRPr/>
              </a:pPr>
              <a:t>14</a:t>
            </a:fld>
            <a:endParaRPr lang="es-ES"/>
          </a:p>
        </p:txBody>
      </p:sp>
    </p:spTree>
    <p:extLst>
      <p:ext uri="{BB962C8B-B14F-4D97-AF65-F5344CB8AC3E}">
        <p14:creationId xmlns:p14="http://schemas.microsoft.com/office/powerpoint/2010/main" xmlns="" val="72302465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1"/>
          </p:nvPr>
        </p:nvSpPr>
        <p:spPr>
          <a:xfrm>
            <a:off x="0" y="332656"/>
            <a:ext cx="8388424" cy="6336704"/>
          </a:xfrm>
        </p:spPr>
        <p:txBody>
          <a:bodyPr>
            <a:normAutofit lnSpcReduction="10000"/>
          </a:bodyPr>
          <a:lstStyle/>
          <a:p>
            <a:pPr lvl="0" algn="just">
              <a:buFont typeface="Wingdings" pitchFamily="2" charset="2"/>
              <a:buChar char="ü"/>
            </a:pPr>
            <a:r>
              <a:rPr lang="tr-TR" sz="2000" b="1" dirty="0" smtClean="0">
                <a:solidFill>
                  <a:srgbClr val="FF0000"/>
                </a:solidFill>
              </a:rPr>
              <a:t>ÇALIŞMA </a:t>
            </a:r>
            <a:r>
              <a:rPr lang="tr-TR" sz="2000" b="1" dirty="0">
                <a:solidFill>
                  <a:srgbClr val="FF0000"/>
                </a:solidFill>
              </a:rPr>
              <a:t>SICAKLIĞININ ÜZERİNDE </a:t>
            </a:r>
            <a:r>
              <a:rPr lang="tr-TR" sz="2000" b="1" dirty="0" smtClean="0">
                <a:solidFill>
                  <a:srgbClr val="FF0000"/>
                </a:solidFill>
              </a:rPr>
              <a:t>ÇALIŞMIŞ (</a:t>
            </a:r>
            <a:r>
              <a:rPr lang="tr-TR" sz="2000" b="1" dirty="0">
                <a:solidFill>
                  <a:srgbClr val="FF0000"/>
                </a:solidFill>
              </a:rPr>
              <a:t>HARARET YAPMIŞ) MOTORLAR ANİ OLARAK STOP </a:t>
            </a:r>
            <a:r>
              <a:rPr lang="tr-TR" sz="2000" b="1" dirty="0" smtClean="0">
                <a:solidFill>
                  <a:srgbClr val="FF0000"/>
                </a:solidFill>
              </a:rPr>
              <a:t>EDİLMEYEREK</a:t>
            </a:r>
            <a:r>
              <a:rPr lang="tr-TR" sz="2000" b="1" dirty="0">
                <a:solidFill>
                  <a:srgbClr val="FF0000"/>
                </a:solidFill>
              </a:rPr>
              <a:t>, 3-5 DK. RELANTİDE ÇALIŞTIRILDIKTAN SONRA STOP EDİLMELİDİR. TURBOŞARJLI MOTORLARDA ÖNCE TURBOŞARJ DEVRİ DÜŞÜRÜLMELİDİR</a:t>
            </a:r>
            <a:r>
              <a:rPr lang="tr-TR" sz="2000" b="1" dirty="0" smtClean="0">
                <a:solidFill>
                  <a:srgbClr val="FF0000"/>
                </a:solidFill>
              </a:rPr>
              <a:t>.</a:t>
            </a:r>
          </a:p>
          <a:p>
            <a:pPr lvl="0" algn="just">
              <a:buFont typeface="Wingdings" pitchFamily="2" charset="2"/>
              <a:buChar char="ü"/>
            </a:pPr>
            <a:endParaRPr lang="tr-TR" sz="2000" dirty="0">
              <a:solidFill>
                <a:srgbClr val="FF0000"/>
              </a:solidFill>
            </a:endParaRPr>
          </a:p>
          <a:p>
            <a:pPr lvl="0" algn="just">
              <a:buFont typeface="Wingdings" pitchFamily="2" charset="2"/>
              <a:buChar char="ü"/>
            </a:pPr>
            <a:r>
              <a:rPr lang="tr-TR" sz="2000" b="1" dirty="0"/>
              <a:t>BAKIM EKİP ÇALIŞMALARI ÖNEMLİDİR. EKİPBAŞININ TALİMATLARINA GÖRE BAKIM YAPILMALIDIR. İSTENENİN DIŞINDA BİRŞEY YAPILMAMALIDIR</a:t>
            </a:r>
            <a:r>
              <a:rPr lang="tr-TR" sz="2000" b="1" dirty="0" smtClean="0"/>
              <a:t>.</a:t>
            </a:r>
          </a:p>
          <a:p>
            <a:pPr lvl="0" algn="just">
              <a:buFont typeface="Wingdings" pitchFamily="2" charset="2"/>
              <a:buChar char="ü"/>
            </a:pPr>
            <a:endParaRPr lang="tr-TR" sz="2000" b="1" dirty="0" smtClean="0"/>
          </a:p>
          <a:p>
            <a:pPr lvl="0" algn="just">
              <a:buFont typeface="Wingdings" pitchFamily="2" charset="2"/>
              <a:buChar char="ü"/>
            </a:pPr>
            <a:r>
              <a:rPr lang="tr-TR" sz="2000" b="1" dirty="0">
                <a:solidFill>
                  <a:srgbClr val="FF0000"/>
                </a:solidFill>
              </a:rPr>
              <a:t>BAKIM SIRASINDA ISLAK ELDİVEN TAKMAK ZORUNLULUĞUNDA VE ISLAK ZEMİNDE ÇALIŞILIYORSA ELEKTRİK DONANIMINA DOKUNULMAMALI</a:t>
            </a:r>
            <a:r>
              <a:rPr lang="tr-TR" sz="2000" b="1" dirty="0" smtClean="0">
                <a:solidFill>
                  <a:srgbClr val="FF0000"/>
                </a:solidFill>
              </a:rPr>
              <a:t>.</a:t>
            </a:r>
          </a:p>
          <a:p>
            <a:pPr lvl="0" algn="just">
              <a:buFont typeface="Wingdings" pitchFamily="2" charset="2"/>
              <a:buChar char="ü"/>
            </a:pPr>
            <a:endParaRPr lang="tr-TR" sz="2000" dirty="0">
              <a:solidFill>
                <a:srgbClr val="FF0000"/>
              </a:solidFill>
            </a:endParaRPr>
          </a:p>
          <a:p>
            <a:pPr lvl="0" algn="just">
              <a:buFont typeface="Wingdings" pitchFamily="2" charset="2"/>
              <a:buChar char="ü"/>
            </a:pPr>
            <a:r>
              <a:rPr lang="tr-TR" sz="2000" b="1" dirty="0"/>
              <a:t>BAKIM SIRASINDA YETKİLİLER DIŞINDA BAŞKALALARININ MAKİNE YAKININDA OLMASINA İZİN VERİLMEMELİDİR</a:t>
            </a:r>
            <a:r>
              <a:rPr lang="tr-TR" sz="2000" b="1" dirty="0" smtClean="0"/>
              <a:t>.</a:t>
            </a:r>
          </a:p>
          <a:p>
            <a:pPr lvl="0" algn="just">
              <a:buFont typeface="Wingdings" pitchFamily="2" charset="2"/>
              <a:buChar char="ü"/>
            </a:pPr>
            <a:endParaRPr lang="tr-TR" sz="2000" dirty="0"/>
          </a:p>
          <a:p>
            <a:pPr lvl="0" algn="just">
              <a:buFont typeface="Wingdings" pitchFamily="2" charset="2"/>
              <a:buChar char="ü"/>
            </a:pPr>
            <a:r>
              <a:rPr lang="tr-TR" sz="2000" b="1" dirty="0">
                <a:solidFill>
                  <a:srgbClr val="FF0000"/>
                </a:solidFill>
              </a:rPr>
              <a:t>MOTOR ÇALIŞIRKEN BAKIM YAPMA ZARURİYETİ VAR İSE, BİR KİŞİ OPERATÖR YERİNDE, DİĞERİ BAKIM YAPMAK ÜZERE 2 KİŞİYE İHTİYAÇ </a:t>
            </a:r>
            <a:r>
              <a:rPr lang="tr-TR" sz="2000" b="1" dirty="0" smtClean="0">
                <a:solidFill>
                  <a:srgbClr val="FF0000"/>
                </a:solidFill>
              </a:rPr>
              <a:t>VAR Kİ </a:t>
            </a:r>
            <a:r>
              <a:rPr lang="tr-TR" sz="2000" b="1" dirty="0">
                <a:solidFill>
                  <a:srgbClr val="FF0000"/>
                </a:solidFill>
              </a:rPr>
              <a:t>BU DURUMDA DA HAREKETLİ PARÇALARA DOKUNMAMAYA ÇALIŞILMALIDIR.</a:t>
            </a:r>
            <a:endParaRPr lang="tr-TR" sz="2000" dirty="0">
              <a:solidFill>
                <a:srgbClr val="FF0000"/>
              </a:solidFill>
            </a:endParaRPr>
          </a:p>
          <a:p>
            <a:pPr lvl="0"/>
            <a:endParaRPr lang="tr-TR" sz="2000" dirty="0"/>
          </a:p>
        </p:txBody>
      </p:sp>
      <p:sp>
        <p:nvSpPr>
          <p:cNvPr id="2" name="Slayt Numarası Yer Tutucusu 1"/>
          <p:cNvSpPr>
            <a:spLocks noGrp="1"/>
          </p:cNvSpPr>
          <p:nvPr>
            <p:ph type="sldNum" sz="quarter" idx="12"/>
          </p:nvPr>
        </p:nvSpPr>
        <p:spPr/>
        <p:txBody>
          <a:bodyPr/>
          <a:lstStyle/>
          <a:p>
            <a:pPr>
              <a:defRPr/>
            </a:pPr>
            <a:fld id="{7289ED51-3D18-45F8-86FC-FD8561268021}" type="slidenum">
              <a:rPr lang="es-ES" smtClean="0"/>
              <a:pPr>
                <a:defRPr/>
              </a:pPr>
              <a:t>15</a:t>
            </a:fld>
            <a:endParaRPr lang="es-ES"/>
          </a:p>
        </p:txBody>
      </p:sp>
    </p:spTree>
    <p:extLst>
      <p:ext uri="{BB962C8B-B14F-4D97-AF65-F5344CB8AC3E}">
        <p14:creationId xmlns:p14="http://schemas.microsoft.com/office/powerpoint/2010/main" xmlns="" val="188833719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1"/>
          </p:nvPr>
        </p:nvSpPr>
        <p:spPr>
          <a:xfrm>
            <a:off x="107504" y="260648"/>
            <a:ext cx="8229600" cy="5793507"/>
          </a:xfrm>
        </p:spPr>
        <p:txBody>
          <a:bodyPr>
            <a:normAutofit lnSpcReduction="10000"/>
          </a:bodyPr>
          <a:lstStyle/>
          <a:p>
            <a:pPr lvl="0">
              <a:buFont typeface="Wingdings" pitchFamily="2" charset="2"/>
              <a:buChar char="ü"/>
            </a:pPr>
            <a:endParaRPr lang="tr-TR" sz="2000" b="1" dirty="0" smtClean="0"/>
          </a:p>
          <a:p>
            <a:pPr lvl="0">
              <a:buFont typeface="Wingdings" pitchFamily="2" charset="2"/>
              <a:buChar char="ü"/>
            </a:pPr>
            <a:endParaRPr lang="tr-TR" sz="2000" b="1" dirty="0" smtClean="0"/>
          </a:p>
          <a:p>
            <a:pPr lvl="0" algn="just">
              <a:buFont typeface="Wingdings" pitchFamily="2" charset="2"/>
              <a:buChar char="Ø"/>
            </a:pPr>
            <a:r>
              <a:rPr lang="tr-TR" sz="2000" b="1" dirty="0" smtClean="0">
                <a:solidFill>
                  <a:srgbClr val="FF0000"/>
                </a:solidFill>
              </a:rPr>
              <a:t>HİDROLİK </a:t>
            </a:r>
            <a:r>
              <a:rPr lang="tr-TR" sz="2000" b="1" dirty="0">
                <a:solidFill>
                  <a:srgbClr val="FF0000"/>
                </a:solidFill>
              </a:rPr>
              <a:t>DEVRELERİN BAKIMINDA, ÖNCE BASINCIN DÜŞÜRÜLMESİ, ATAŞMANLARIN YERE </a:t>
            </a:r>
            <a:r>
              <a:rPr lang="tr-TR" sz="2000" b="1" dirty="0" smtClean="0">
                <a:solidFill>
                  <a:srgbClr val="FF0000"/>
                </a:solidFill>
              </a:rPr>
              <a:t>İNDİRİLMESİ </a:t>
            </a:r>
            <a:r>
              <a:rPr lang="tr-TR" sz="2000" b="1" dirty="0">
                <a:solidFill>
                  <a:srgbClr val="FF0000"/>
                </a:solidFill>
              </a:rPr>
              <a:t>GEREKİR VE </a:t>
            </a:r>
            <a:r>
              <a:rPr lang="tr-TR" sz="2000" b="1" dirty="0" smtClean="0">
                <a:solidFill>
                  <a:srgbClr val="FF0000"/>
                </a:solidFill>
              </a:rPr>
              <a:t>MOTOR </a:t>
            </a:r>
            <a:r>
              <a:rPr lang="tr-TR" sz="2000" b="1" dirty="0">
                <a:solidFill>
                  <a:srgbClr val="FF0000"/>
                </a:solidFill>
              </a:rPr>
              <a:t>STOP ETTİRİLİR</a:t>
            </a:r>
            <a:r>
              <a:rPr lang="tr-TR" sz="2000" b="1" dirty="0" smtClean="0">
                <a:solidFill>
                  <a:srgbClr val="FF0000"/>
                </a:solidFill>
              </a:rPr>
              <a:t>,</a:t>
            </a:r>
          </a:p>
          <a:p>
            <a:pPr lvl="0" algn="just">
              <a:buFont typeface="Wingdings" pitchFamily="2" charset="2"/>
              <a:buChar char="ü"/>
            </a:pPr>
            <a:endParaRPr lang="tr-TR" sz="2000" dirty="0"/>
          </a:p>
          <a:p>
            <a:pPr algn="just">
              <a:buFont typeface="Wingdings" pitchFamily="2" charset="2"/>
              <a:buChar char="Ø"/>
            </a:pPr>
            <a:r>
              <a:rPr lang="tr-TR" sz="2000" b="1" dirty="0"/>
              <a:t> </a:t>
            </a:r>
            <a:r>
              <a:rPr lang="tr-TR" sz="2000" b="1" dirty="0" smtClean="0"/>
              <a:t>TÜM </a:t>
            </a:r>
            <a:r>
              <a:rPr lang="tr-TR" sz="2000" b="1" dirty="0"/>
              <a:t>KUMANDA KOLLARI, HER DURUMDA 2-3 DEFA HAREKET     </a:t>
            </a:r>
            <a:r>
              <a:rPr lang="tr-TR" sz="2000" b="1" dirty="0" smtClean="0"/>
              <a:t> </a:t>
            </a:r>
            <a:r>
              <a:rPr lang="tr-TR" sz="2000" b="1" dirty="0"/>
              <a:t>ETTİRİLİR</a:t>
            </a:r>
            <a:r>
              <a:rPr lang="tr-TR" sz="2000" b="1" dirty="0" smtClean="0"/>
              <a:t>,</a:t>
            </a:r>
          </a:p>
          <a:p>
            <a:pPr algn="just">
              <a:buFont typeface="Wingdings" pitchFamily="2" charset="2"/>
              <a:buChar char="Ø"/>
            </a:pPr>
            <a:endParaRPr lang="tr-TR" sz="2000" dirty="0"/>
          </a:p>
          <a:p>
            <a:pPr algn="just">
              <a:buFont typeface="Wingdings" pitchFamily="2" charset="2"/>
              <a:buChar char="Ø"/>
            </a:pPr>
            <a:r>
              <a:rPr lang="tr-TR" sz="2000" b="1" dirty="0"/>
              <a:t> </a:t>
            </a:r>
            <a:r>
              <a:rPr lang="tr-TR" sz="2000" b="1" dirty="0" smtClean="0">
                <a:solidFill>
                  <a:srgbClr val="FF0000"/>
                </a:solidFill>
              </a:rPr>
              <a:t>YAĞ </a:t>
            </a:r>
            <a:r>
              <a:rPr lang="tr-TR" sz="2000" b="1" dirty="0">
                <a:solidFill>
                  <a:srgbClr val="FF0000"/>
                </a:solidFill>
              </a:rPr>
              <a:t>TANKININ KAPAĞI YAVAŞ YAVAŞ AÇILIR VE BAKIMA </a:t>
            </a:r>
            <a:r>
              <a:rPr lang="tr-TR" sz="2000" b="1" dirty="0" smtClean="0">
                <a:solidFill>
                  <a:srgbClr val="FF0000"/>
                </a:solidFill>
              </a:rPr>
              <a:t> </a:t>
            </a:r>
            <a:r>
              <a:rPr lang="tr-TR" sz="2000" b="1" dirty="0">
                <a:solidFill>
                  <a:srgbClr val="FF0000"/>
                </a:solidFill>
              </a:rPr>
              <a:t>BAŞLANIR</a:t>
            </a:r>
            <a:r>
              <a:rPr lang="tr-TR" sz="2000" b="1" dirty="0" smtClean="0"/>
              <a:t>.</a:t>
            </a:r>
          </a:p>
          <a:p>
            <a:pPr algn="just">
              <a:buFont typeface="Wingdings" pitchFamily="2" charset="2"/>
              <a:buChar char="Ø"/>
            </a:pPr>
            <a:endParaRPr lang="tr-TR" sz="2000" dirty="0"/>
          </a:p>
          <a:p>
            <a:pPr lvl="0" algn="just">
              <a:buFont typeface="Wingdings" pitchFamily="2" charset="2"/>
              <a:buChar char="Ø"/>
            </a:pPr>
            <a:r>
              <a:rPr lang="tr-TR" sz="2000" b="1" dirty="0"/>
              <a:t>İŞ MAKİNELERİNİN BAKIMINDA ÖNCE, VİTES KOLU BOŞA ALINIR, FRENLEME TATBİK EDİLİR, KUMANDA </a:t>
            </a:r>
            <a:r>
              <a:rPr lang="tr-TR" sz="2000" b="1" dirty="0" smtClean="0"/>
              <a:t>KOLLARININ </a:t>
            </a:r>
            <a:r>
              <a:rPr lang="tr-TR" sz="2000" b="1" dirty="0"/>
              <a:t>KİLİTLİ HALE GETİRİLMESİ GEREKİR</a:t>
            </a:r>
            <a:r>
              <a:rPr lang="tr-TR" sz="2000" b="1" dirty="0" smtClean="0"/>
              <a:t>.</a:t>
            </a:r>
          </a:p>
          <a:p>
            <a:pPr lvl="0" algn="just">
              <a:buNone/>
            </a:pPr>
            <a:endParaRPr lang="tr-TR" sz="2000" dirty="0"/>
          </a:p>
          <a:p>
            <a:pPr lvl="0" algn="just">
              <a:buFont typeface="Wingdings" pitchFamily="2" charset="2"/>
              <a:buChar char="ü"/>
            </a:pPr>
            <a:r>
              <a:rPr lang="tr-TR" sz="2000" b="1" dirty="0">
                <a:solidFill>
                  <a:srgbClr val="FF0000"/>
                </a:solidFill>
              </a:rPr>
              <a:t>BAKIM SIRASINDA MAKİNEYE AİT PARÇALARIN TEMİZLİĞİNDE TİNER, BENZİN VB. KULLANILMAMALI; TEMİZLİK MADDESİ SOLVENT KULLANILMALI.</a:t>
            </a:r>
            <a:endParaRPr lang="tr-TR" sz="2000" dirty="0">
              <a:solidFill>
                <a:srgbClr val="FF0000"/>
              </a:solidFill>
            </a:endParaRPr>
          </a:p>
          <a:p>
            <a:pPr algn="just">
              <a:buNone/>
            </a:pPr>
            <a:r>
              <a:rPr lang="tr-TR" sz="2000" b="1" dirty="0"/>
              <a:t> </a:t>
            </a:r>
            <a:endParaRPr lang="tr-TR" sz="2000" dirty="0"/>
          </a:p>
          <a:p>
            <a:endParaRPr lang="tr-TR" sz="2000" dirty="0"/>
          </a:p>
        </p:txBody>
      </p:sp>
      <p:sp>
        <p:nvSpPr>
          <p:cNvPr id="2" name="Slayt Numarası Yer Tutucusu 1"/>
          <p:cNvSpPr>
            <a:spLocks noGrp="1"/>
          </p:cNvSpPr>
          <p:nvPr>
            <p:ph type="sldNum" sz="quarter" idx="12"/>
          </p:nvPr>
        </p:nvSpPr>
        <p:spPr/>
        <p:txBody>
          <a:bodyPr/>
          <a:lstStyle/>
          <a:p>
            <a:pPr>
              <a:defRPr/>
            </a:pPr>
            <a:fld id="{7289ED51-3D18-45F8-86FC-FD8561268021}" type="slidenum">
              <a:rPr lang="es-ES" smtClean="0"/>
              <a:pPr>
                <a:defRPr/>
              </a:pPr>
              <a:t>16</a:t>
            </a:fld>
            <a:endParaRPr lang="es-ES"/>
          </a:p>
        </p:txBody>
      </p:sp>
    </p:spTree>
    <p:extLst>
      <p:ext uri="{BB962C8B-B14F-4D97-AF65-F5344CB8AC3E}">
        <p14:creationId xmlns:p14="http://schemas.microsoft.com/office/powerpoint/2010/main" xmlns="" val="91515756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1"/>
          </p:nvPr>
        </p:nvSpPr>
        <p:spPr>
          <a:xfrm>
            <a:off x="107504" y="0"/>
            <a:ext cx="8352928" cy="6741368"/>
          </a:xfrm>
        </p:spPr>
        <p:txBody>
          <a:bodyPr>
            <a:normAutofit fontScale="92500" lnSpcReduction="10000"/>
          </a:bodyPr>
          <a:lstStyle/>
          <a:p>
            <a:pPr>
              <a:buNone/>
            </a:pPr>
            <a:endParaRPr lang="tr-TR" sz="2000" b="1" u="sng" dirty="0" smtClean="0"/>
          </a:p>
          <a:p>
            <a:pPr>
              <a:buNone/>
            </a:pPr>
            <a:r>
              <a:rPr lang="tr-TR" sz="2000" b="1" u="sng" dirty="0" smtClean="0">
                <a:solidFill>
                  <a:srgbClr val="FF0000"/>
                </a:solidFill>
              </a:rPr>
              <a:t>BAKIM </a:t>
            </a:r>
            <a:r>
              <a:rPr lang="tr-TR" sz="2000" b="1" u="sng" dirty="0">
                <a:solidFill>
                  <a:srgbClr val="FF0000"/>
                </a:solidFill>
              </a:rPr>
              <a:t>SONRASI İSG</a:t>
            </a:r>
            <a:endParaRPr lang="tr-TR" sz="2000" u="sng" dirty="0">
              <a:solidFill>
                <a:srgbClr val="FF0000"/>
              </a:solidFill>
            </a:endParaRPr>
          </a:p>
          <a:p>
            <a:pPr>
              <a:buNone/>
            </a:pPr>
            <a:r>
              <a:rPr lang="tr-TR" sz="2000" b="1" dirty="0"/>
              <a:t> </a:t>
            </a:r>
            <a:endParaRPr lang="tr-TR" sz="2000" dirty="0"/>
          </a:p>
          <a:p>
            <a:pPr lvl="0">
              <a:buFont typeface="Wingdings" pitchFamily="2" charset="2"/>
              <a:buChar char="ü"/>
            </a:pPr>
            <a:r>
              <a:rPr lang="tr-TR" sz="2000" b="1" dirty="0"/>
              <a:t>BAKIMI YAPILAN MAKİNELERİN HER YERİ İYİCE TEMİZLENMELİ</a:t>
            </a:r>
            <a:r>
              <a:rPr lang="tr-TR" sz="2000" b="1" dirty="0" smtClean="0"/>
              <a:t>,</a:t>
            </a:r>
          </a:p>
          <a:p>
            <a:pPr lvl="0">
              <a:buNone/>
            </a:pPr>
            <a:endParaRPr lang="tr-TR" sz="2000" dirty="0"/>
          </a:p>
          <a:p>
            <a:pPr lvl="0">
              <a:buFont typeface="Wingdings" pitchFamily="2" charset="2"/>
              <a:buChar char="ü"/>
            </a:pPr>
            <a:r>
              <a:rPr lang="tr-TR" sz="2000" b="1" dirty="0">
                <a:solidFill>
                  <a:srgbClr val="FF0000"/>
                </a:solidFill>
              </a:rPr>
              <a:t>ÖNEMLİ OLAN </a:t>
            </a:r>
            <a:r>
              <a:rPr lang="tr-TR" sz="2000" b="1" dirty="0" smtClean="0">
                <a:solidFill>
                  <a:srgbClr val="FF0000"/>
                </a:solidFill>
              </a:rPr>
              <a:t>YAĞ DEĞİŞİMLERİ </a:t>
            </a:r>
            <a:r>
              <a:rPr lang="tr-TR" sz="2000" b="1" dirty="0">
                <a:solidFill>
                  <a:srgbClr val="FF0000"/>
                </a:solidFill>
              </a:rPr>
              <a:t>VE TRİGER KAYIŞININ DEĞİŞME TARİHİ, BAKIM DEFTERİNE İŞLENMELİDİR</a:t>
            </a:r>
            <a:r>
              <a:rPr lang="tr-TR" sz="2000" b="1" dirty="0" smtClean="0">
                <a:solidFill>
                  <a:srgbClr val="FF0000"/>
                </a:solidFill>
              </a:rPr>
              <a:t>.</a:t>
            </a:r>
          </a:p>
          <a:p>
            <a:pPr lvl="0">
              <a:buFont typeface="Wingdings" pitchFamily="2" charset="2"/>
              <a:buChar char="ü"/>
            </a:pPr>
            <a:endParaRPr lang="tr-TR" sz="2000" dirty="0"/>
          </a:p>
          <a:p>
            <a:pPr lvl="0">
              <a:buFont typeface="Wingdings" pitchFamily="2" charset="2"/>
              <a:buChar char="ü"/>
            </a:pPr>
            <a:r>
              <a:rPr lang="tr-TR" sz="2000" b="1" dirty="0"/>
              <a:t>BİR SORAKİ BAKIMDA DEĞİŞME OLASILIĞI OLAN PARÇALARA AİT NOT KONMALIDIR</a:t>
            </a:r>
            <a:r>
              <a:rPr lang="tr-TR" sz="2000" b="1" dirty="0" smtClean="0"/>
              <a:t>.</a:t>
            </a:r>
          </a:p>
          <a:p>
            <a:pPr lvl="0">
              <a:buNone/>
            </a:pPr>
            <a:endParaRPr lang="tr-TR" sz="2000" dirty="0"/>
          </a:p>
          <a:p>
            <a:pPr lvl="0">
              <a:buFont typeface="Wingdings" pitchFamily="2" charset="2"/>
              <a:buChar char="ü"/>
            </a:pPr>
            <a:r>
              <a:rPr lang="tr-TR" sz="2000" b="1" dirty="0">
                <a:solidFill>
                  <a:srgbClr val="FF0000"/>
                </a:solidFill>
              </a:rPr>
              <a:t>BAKIMI YAPILAN MAKİNENİN ÜZERİNE, HANGİ BAKIMIN YAPILDIĞI, HANGİ PAÇALARIN DEĞİŞTİĞİ, BİR SONRAKİ BAKIM VE TARİHİ BELİRTEN BİR LEVHA </a:t>
            </a:r>
            <a:r>
              <a:rPr lang="tr-TR" sz="2000" b="1" dirty="0" smtClean="0">
                <a:solidFill>
                  <a:srgbClr val="FF0000"/>
                </a:solidFill>
              </a:rPr>
              <a:t>KONMALI</a:t>
            </a:r>
          </a:p>
          <a:p>
            <a:pPr lvl="0">
              <a:buNone/>
            </a:pPr>
            <a:endParaRPr lang="tr-TR" sz="2000" b="1" dirty="0" smtClean="0"/>
          </a:p>
          <a:p>
            <a:pPr lvl="0">
              <a:buFont typeface="Wingdings" pitchFamily="2" charset="2"/>
              <a:buChar char="ü"/>
            </a:pPr>
            <a:r>
              <a:rPr lang="tr-TR" sz="2000" b="1" dirty="0"/>
              <a:t>MAKİNE PARKA ÇEKİLEREK, ÜZERİNE BAKIMI YAPILMIŞTIR LEVHASI ASILMALIDIR</a:t>
            </a:r>
            <a:r>
              <a:rPr lang="tr-TR" sz="2000" b="1" dirty="0" smtClean="0"/>
              <a:t>.</a:t>
            </a:r>
          </a:p>
          <a:p>
            <a:pPr lvl="0">
              <a:buNone/>
            </a:pPr>
            <a:endParaRPr lang="tr-TR" sz="2000" dirty="0"/>
          </a:p>
          <a:p>
            <a:pPr lvl="0">
              <a:buFont typeface="Wingdings" pitchFamily="2" charset="2"/>
              <a:buChar char="ü"/>
            </a:pPr>
            <a:r>
              <a:rPr lang="tr-TR" sz="2000" b="1" dirty="0">
                <a:solidFill>
                  <a:srgbClr val="FF0000"/>
                </a:solidFill>
              </a:rPr>
              <a:t>BAKIM YERİ İKİNCİ BAKIM İÇİN TEMİZLENMELİDİR</a:t>
            </a:r>
            <a:r>
              <a:rPr lang="tr-TR" sz="2000" b="1" dirty="0" smtClean="0">
                <a:solidFill>
                  <a:srgbClr val="FF0000"/>
                </a:solidFill>
              </a:rPr>
              <a:t>,</a:t>
            </a:r>
          </a:p>
          <a:p>
            <a:pPr lvl="0">
              <a:buNone/>
            </a:pPr>
            <a:endParaRPr lang="tr-TR" sz="2000" b="1" dirty="0" smtClean="0">
              <a:solidFill>
                <a:srgbClr val="FF0000"/>
              </a:solidFill>
            </a:endParaRPr>
          </a:p>
          <a:p>
            <a:pPr lvl="0">
              <a:buFont typeface="Wingdings" pitchFamily="2" charset="2"/>
              <a:buChar char="ü"/>
            </a:pPr>
            <a:r>
              <a:rPr lang="tr-TR" sz="2000" b="1" dirty="0" smtClean="0"/>
              <a:t>YAPILAN BAKIM, BAKIM DEFTERİNE İŞLENMELİDİR,</a:t>
            </a:r>
            <a:endParaRPr lang="tr-TR" sz="2000" dirty="0"/>
          </a:p>
          <a:p>
            <a:pPr lvl="0"/>
            <a:endParaRPr lang="tr-TR" sz="2000" dirty="0"/>
          </a:p>
        </p:txBody>
      </p:sp>
      <p:sp>
        <p:nvSpPr>
          <p:cNvPr id="2" name="Slayt Numarası Yer Tutucusu 1"/>
          <p:cNvSpPr>
            <a:spLocks noGrp="1"/>
          </p:cNvSpPr>
          <p:nvPr>
            <p:ph type="sldNum" sz="quarter" idx="12"/>
          </p:nvPr>
        </p:nvSpPr>
        <p:spPr/>
        <p:txBody>
          <a:bodyPr/>
          <a:lstStyle/>
          <a:p>
            <a:pPr>
              <a:defRPr/>
            </a:pPr>
            <a:fld id="{7289ED51-3D18-45F8-86FC-FD8561268021}" type="slidenum">
              <a:rPr lang="es-ES" smtClean="0"/>
              <a:pPr>
                <a:defRPr/>
              </a:pPr>
              <a:t>17</a:t>
            </a:fld>
            <a:endParaRPr lang="es-ES"/>
          </a:p>
        </p:txBody>
      </p:sp>
    </p:spTree>
    <p:extLst>
      <p:ext uri="{BB962C8B-B14F-4D97-AF65-F5344CB8AC3E}">
        <p14:creationId xmlns:p14="http://schemas.microsoft.com/office/powerpoint/2010/main" xmlns="" val="73799109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a:xfrm>
            <a:off x="457200" y="274638"/>
            <a:ext cx="8229600" cy="706090"/>
          </a:xfrm>
        </p:spPr>
        <p:txBody>
          <a:bodyPr>
            <a:normAutofit fontScale="90000"/>
          </a:bodyPr>
          <a:lstStyle/>
          <a:p>
            <a:r>
              <a:rPr lang="tr-TR" sz="2400" b="1" dirty="0">
                <a:solidFill>
                  <a:srgbClr val="FF0000"/>
                </a:solidFill>
              </a:rPr>
              <a:t>ELEKTRİK İŞLERİNDE İSG</a:t>
            </a:r>
            <a:r>
              <a:rPr lang="tr-TR" sz="2400" dirty="0">
                <a:solidFill>
                  <a:srgbClr val="FF0000"/>
                </a:solidFill>
              </a:rPr>
              <a:t/>
            </a:r>
            <a:br>
              <a:rPr lang="tr-TR" sz="2400" dirty="0">
                <a:solidFill>
                  <a:srgbClr val="FF0000"/>
                </a:solidFill>
              </a:rPr>
            </a:br>
            <a:endParaRPr lang="tr-TR" sz="2400" dirty="0">
              <a:solidFill>
                <a:srgbClr val="FF0000"/>
              </a:solidFill>
            </a:endParaRPr>
          </a:p>
        </p:txBody>
      </p:sp>
      <p:sp>
        <p:nvSpPr>
          <p:cNvPr id="3" name="2 İçerik Yer Tutucusu"/>
          <p:cNvSpPr>
            <a:spLocks noGrp="1"/>
          </p:cNvSpPr>
          <p:nvPr>
            <p:ph idx="1"/>
          </p:nvPr>
        </p:nvSpPr>
        <p:spPr>
          <a:xfrm>
            <a:off x="-5328" y="980728"/>
            <a:ext cx="8393752" cy="5688632"/>
          </a:xfrm>
        </p:spPr>
        <p:txBody>
          <a:bodyPr>
            <a:normAutofit/>
          </a:bodyPr>
          <a:lstStyle/>
          <a:p>
            <a:pPr algn="just">
              <a:buFont typeface="Wingdings" pitchFamily="2" charset="2"/>
              <a:buChar char="ü"/>
            </a:pPr>
            <a:r>
              <a:rPr lang="tr-TR" sz="2000" b="1" dirty="0"/>
              <a:t>ATELYELERDEKİ ELEKTRİK MOTORLARI, ELEKTRİKLİ EL ALETLERİ </a:t>
            </a:r>
            <a:r>
              <a:rPr lang="tr-TR" sz="2000" b="1" dirty="0" smtClean="0"/>
              <a:t>VB</a:t>
            </a:r>
            <a:r>
              <a:rPr lang="tr-TR" sz="2000" b="1" dirty="0"/>
              <a:t>. ELEKTRİK MOTORLARININ </a:t>
            </a:r>
            <a:r>
              <a:rPr lang="tr-TR" sz="2000" b="1" dirty="0" smtClean="0"/>
              <a:t>BAKIMLARINDA  AŞAĞIDAKİ</a:t>
            </a:r>
            <a:r>
              <a:rPr lang="tr-TR" sz="2000" dirty="0" smtClean="0"/>
              <a:t> </a:t>
            </a:r>
            <a:r>
              <a:rPr lang="tr-TR" sz="2000" b="1" dirty="0" smtClean="0"/>
              <a:t>HUSUSLAR </a:t>
            </a:r>
            <a:r>
              <a:rPr lang="tr-TR" sz="2000" b="1" dirty="0"/>
              <a:t>DİKKATE ALINMALIDIR.</a:t>
            </a:r>
            <a:endParaRPr lang="tr-TR" sz="2000" dirty="0"/>
          </a:p>
          <a:p>
            <a:pPr lvl="0" algn="just">
              <a:buFont typeface="Wingdings" pitchFamily="2" charset="2"/>
              <a:buChar char="ü"/>
            </a:pPr>
            <a:r>
              <a:rPr lang="tr-TR" sz="2000" dirty="0" smtClean="0"/>
              <a:t>      </a:t>
            </a:r>
            <a:r>
              <a:rPr lang="tr-TR" sz="2000" b="1" dirty="0" smtClean="0">
                <a:solidFill>
                  <a:srgbClr val="FF0000"/>
                </a:solidFill>
              </a:rPr>
              <a:t>ELEKTRİK </a:t>
            </a:r>
            <a:r>
              <a:rPr lang="tr-TR" sz="2000" b="1" dirty="0">
                <a:solidFill>
                  <a:srgbClr val="FF0000"/>
                </a:solidFill>
              </a:rPr>
              <a:t>MOTORLARININ BAKIMINA BAŞLAMADAN ÖNCE GÖVDE ÜZERİNDE ELEKTRİK KAÇAĞI OLUP OLMADIĞI KONTROL EDİLMELİDİR.</a:t>
            </a:r>
            <a:endParaRPr lang="tr-TR" sz="2000" dirty="0">
              <a:solidFill>
                <a:srgbClr val="FF0000"/>
              </a:solidFill>
            </a:endParaRPr>
          </a:p>
          <a:p>
            <a:pPr lvl="0" algn="just">
              <a:buFont typeface="Wingdings" pitchFamily="2" charset="2"/>
              <a:buChar char="ü"/>
            </a:pPr>
            <a:r>
              <a:rPr lang="tr-TR" sz="2000" b="1" dirty="0"/>
              <a:t>KLEMENSLERDE OKSİDASYON KONNTROLU YAPILMALIDIR.</a:t>
            </a:r>
            <a:endParaRPr lang="tr-TR" sz="2000" dirty="0"/>
          </a:p>
          <a:p>
            <a:pPr lvl="0" algn="just">
              <a:buFont typeface="Wingdings" pitchFamily="2" charset="2"/>
              <a:buChar char="ü"/>
            </a:pPr>
            <a:r>
              <a:rPr lang="tr-TR" sz="2000" b="1" dirty="0">
                <a:solidFill>
                  <a:srgbClr val="FF0000"/>
                </a:solidFill>
              </a:rPr>
              <a:t>ELEKTRİKLE ÇALIŞAN MOTORLARIN ÇEVRESİNDE SU KANALLARI VARSA, KANALLARIN ÜZERİ KAPATILMALIDIR; MOTOR NEMDEN KORUNMALIDIR.</a:t>
            </a:r>
            <a:endParaRPr lang="tr-TR" sz="2000" dirty="0">
              <a:solidFill>
                <a:srgbClr val="FF0000"/>
              </a:solidFill>
            </a:endParaRPr>
          </a:p>
          <a:p>
            <a:pPr lvl="0" algn="just">
              <a:buFont typeface="Wingdings" pitchFamily="2" charset="2"/>
              <a:buChar char="ü"/>
            </a:pPr>
            <a:r>
              <a:rPr lang="tr-TR" sz="2000" b="1" dirty="0"/>
              <a:t>ELEKTRİK MOTORLARINA AKIM GETİREN KABLOLARIN BORU İÇERİSİNDE OLMASI GEREKİR. DEĞİLSE BORU İÇERİSİNE ALINMALI</a:t>
            </a:r>
            <a:r>
              <a:rPr lang="tr-TR" sz="2000" b="1" dirty="0" smtClean="0"/>
              <a:t>.</a:t>
            </a:r>
          </a:p>
          <a:p>
            <a:pPr lvl="0" algn="just">
              <a:buFont typeface="Wingdings" pitchFamily="2" charset="2"/>
              <a:buChar char="ü"/>
            </a:pPr>
            <a:r>
              <a:rPr lang="tr-TR" sz="2000" b="1" dirty="0">
                <a:solidFill>
                  <a:srgbClr val="FF0000"/>
                </a:solidFill>
              </a:rPr>
              <a:t>ELEKTRİK PANOLARINDAKİ OTOMATİK SİGORTALAR, AMPERMETRE VE VOLTMETRELERİN SAĞLIKLI ÇALIŞIP ÇALIŞMADIĞI KONTROL EDİLMELİ.</a:t>
            </a:r>
            <a:endParaRPr lang="tr-TR" sz="2000" dirty="0">
              <a:solidFill>
                <a:srgbClr val="FF0000"/>
              </a:solidFill>
            </a:endParaRPr>
          </a:p>
          <a:p>
            <a:pPr lvl="0" algn="just">
              <a:buFont typeface="Wingdings" pitchFamily="2" charset="2"/>
              <a:buChar char="ü"/>
            </a:pPr>
            <a:r>
              <a:rPr lang="tr-TR" sz="2000" b="1" dirty="0"/>
              <a:t>ELEKTRİKLİ EL ALETLERİNİN GÖVDEYE </a:t>
            </a:r>
            <a:r>
              <a:rPr lang="tr-TR" sz="2000" b="1" dirty="0" smtClean="0"/>
              <a:t>ELEKTİRİK </a:t>
            </a:r>
            <a:r>
              <a:rPr lang="tr-TR" sz="2000" b="1" dirty="0"/>
              <a:t>KAÇAĞI KONTROL EDİLMELİ.</a:t>
            </a:r>
            <a:endParaRPr lang="tr-TR" sz="2000" dirty="0"/>
          </a:p>
          <a:p>
            <a:pPr lvl="0" algn="just">
              <a:buFont typeface="Wingdings" pitchFamily="2" charset="2"/>
              <a:buChar char="ü"/>
            </a:pPr>
            <a:r>
              <a:rPr lang="tr-TR" sz="2000" b="1" dirty="0">
                <a:solidFill>
                  <a:srgbClr val="FF0000"/>
                </a:solidFill>
              </a:rPr>
              <a:t>ELEKTRİKLİ EL ALETLERİNİN ÇALIŞTIRMA ANAHTARLARI KONTROL EDİLMELİ.</a:t>
            </a:r>
            <a:endParaRPr lang="tr-TR" sz="2000" dirty="0">
              <a:solidFill>
                <a:srgbClr val="FF0000"/>
              </a:solidFill>
            </a:endParaRPr>
          </a:p>
          <a:p>
            <a:pPr lvl="0"/>
            <a:endParaRPr lang="tr-TR" sz="2000" dirty="0"/>
          </a:p>
          <a:p>
            <a:endParaRPr lang="tr-TR" sz="2000" dirty="0"/>
          </a:p>
        </p:txBody>
      </p:sp>
      <p:sp>
        <p:nvSpPr>
          <p:cNvPr id="4" name="Slayt Numarası Yer Tutucusu 3"/>
          <p:cNvSpPr>
            <a:spLocks noGrp="1"/>
          </p:cNvSpPr>
          <p:nvPr>
            <p:ph type="sldNum" sz="quarter" idx="12"/>
          </p:nvPr>
        </p:nvSpPr>
        <p:spPr/>
        <p:txBody>
          <a:bodyPr/>
          <a:lstStyle/>
          <a:p>
            <a:pPr>
              <a:defRPr/>
            </a:pPr>
            <a:fld id="{7289ED51-3D18-45F8-86FC-FD8561268021}" type="slidenum">
              <a:rPr lang="es-ES" smtClean="0"/>
              <a:pPr>
                <a:defRPr/>
              </a:pPr>
              <a:t>18</a:t>
            </a:fld>
            <a:endParaRPr lang="es-ES"/>
          </a:p>
        </p:txBody>
      </p:sp>
    </p:spTree>
    <p:extLst>
      <p:ext uri="{BB962C8B-B14F-4D97-AF65-F5344CB8AC3E}">
        <p14:creationId xmlns:p14="http://schemas.microsoft.com/office/powerpoint/2010/main" xmlns="" val="143963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a:xfrm>
            <a:off x="457200" y="274638"/>
            <a:ext cx="8229600" cy="778098"/>
          </a:xfrm>
        </p:spPr>
        <p:txBody>
          <a:bodyPr>
            <a:normAutofit/>
          </a:bodyPr>
          <a:lstStyle/>
          <a:p>
            <a:r>
              <a:rPr lang="tr-TR" sz="2400" b="1" dirty="0"/>
              <a:t>ELEKTRİK KAZALARININ OLUŞ NEDENLERİ:</a:t>
            </a:r>
            <a:endParaRPr lang="tr-TR" sz="2400" dirty="0"/>
          </a:p>
        </p:txBody>
      </p:sp>
      <p:sp>
        <p:nvSpPr>
          <p:cNvPr id="3" name="2 İçerik Yer Tutucusu"/>
          <p:cNvSpPr>
            <a:spLocks noGrp="1"/>
          </p:cNvSpPr>
          <p:nvPr>
            <p:ph idx="1"/>
          </p:nvPr>
        </p:nvSpPr>
        <p:spPr>
          <a:xfrm>
            <a:off x="33568" y="908720"/>
            <a:ext cx="8354856" cy="5688632"/>
          </a:xfrm>
        </p:spPr>
        <p:txBody>
          <a:bodyPr>
            <a:normAutofit/>
          </a:bodyPr>
          <a:lstStyle/>
          <a:p>
            <a:pPr lvl="0">
              <a:buFont typeface="Wingdings" pitchFamily="2" charset="2"/>
              <a:buChar char="ü"/>
            </a:pPr>
            <a:endParaRPr lang="tr-TR" b="1" dirty="0" smtClean="0"/>
          </a:p>
          <a:p>
            <a:pPr lvl="0">
              <a:buFont typeface="Wingdings" pitchFamily="2" charset="2"/>
              <a:buChar char="ü"/>
            </a:pPr>
            <a:r>
              <a:rPr lang="tr-TR" b="1" dirty="0" smtClean="0">
                <a:solidFill>
                  <a:srgbClr val="FF0000"/>
                </a:solidFill>
              </a:rPr>
              <a:t>ELEKTRİK </a:t>
            </a:r>
            <a:r>
              <a:rPr lang="tr-TR" b="1" dirty="0">
                <a:solidFill>
                  <a:srgbClr val="FF0000"/>
                </a:solidFill>
              </a:rPr>
              <a:t>ENERJİSİ HAKKINDA YETERLİ EĞİTİM </a:t>
            </a:r>
            <a:r>
              <a:rPr lang="tr-TR" b="1" dirty="0" smtClean="0">
                <a:solidFill>
                  <a:srgbClr val="FF0000"/>
                </a:solidFill>
              </a:rPr>
              <a:t>ALMAMIŞ </a:t>
            </a:r>
            <a:r>
              <a:rPr lang="tr-TR" b="1" dirty="0">
                <a:solidFill>
                  <a:srgbClr val="FF0000"/>
                </a:solidFill>
              </a:rPr>
              <a:t>OLANLARIN İŞ YAPMALARI,</a:t>
            </a:r>
            <a:endParaRPr lang="tr-TR" dirty="0">
              <a:solidFill>
                <a:srgbClr val="FF0000"/>
              </a:solidFill>
            </a:endParaRPr>
          </a:p>
          <a:p>
            <a:pPr lvl="0">
              <a:buFont typeface="Wingdings" pitchFamily="2" charset="2"/>
              <a:buChar char="ü"/>
            </a:pPr>
            <a:r>
              <a:rPr lang="tr-TR" b="1" dirty="0"/>
              <a:t>ELEKTRİK İLETİCİLERİNİN YETERİNCE YALITKAN OLMAMASI,</a:t>
            </a:r>
            <a:endParaRPr lang="tr-TR" dirty="0"/>
          </a:p>
          <a:p>
            <a:pPr lvl="0">
              <a:buFont typeface="Wingdings" pitchFamily="2" charset="2"/>
              <a:buChar char="ü"/>
            </a:pPr>
            <a:r>
              <a:rPr lang="tr-TR" b="1" dirty="0">
                <a:solidFill>
                  <a:srgbClr val="FF0000"/>
                </a:solidFill>
              </a:rPr>
              <a:t>ELEKTRİKLE İLGİLİ PERSONELİN, KENDİLERİNE AŞIRI GÜVENMESİ,</a:t>
            </a:r>
            <a:endParaRPr lang="tr-TR" dirty="0">
              <a:solidFill>
                <a:srgbClr val="FF0000"/>
              </a:solidFill>
            </a:endParaRPr>
          </a:p>
          <a:p>
            <a:pPr lvl="0">
              <a:buFont typeface="Wingdings" pitchFamily="2" charset="2"/>
              <a:buChar char="ü"/>
            </a:pPr>
            <a:r>
              <a:rPr lang="tr-TR" b="1" dirty="0"/>
              <a:t>ELEKTRİK İŞLERİNDE ACELECİ OLMAK,</a:t>
            </a:r>
            <a:endParaRPr lang="tr-TR" dirty="0"/>
          </a:p>
          <a:p>
            <a:pPr lvl="0">
              <a:buFont typeface="Wingdings" pitchFamily="2" charset="2"/>
              <a:buChar char="ü"/>
            </a:pPr>
            <a:r>
              <a:rPr lang="tr-TR" b="1" dirty="0">
                <a:solidFill>
                  <a:srgbClr val="FF0000"/>
                </a:solidFill>
              </a:rPr>
              <a:t>YÖNETMENLİKLERE VE İŞ DİSİPLİNİNE UYMAMAK,</a:t>
            </a:r>
            <a:endParaRPr lang="tr-TR" dirty="0">
              <a:solidFill>
                <a:srgbClr val="FF0000"/>
              </a:solidFill>
            </a:endParaRPr>
          </a:p>
          <a:p>
            <a:pPr lvl="0">
              <a:buFont typeface="Wingdings" pitchFamily="2" charset="2"/>
              <a:buChar char="ü"/>
            </a:pPr>
            <a:r>
              <a:rPr lang="tr-TR" b="1" dirty="0"/>
              <a:t>KALİTELİ MALZEMELER KULLANMAMAK,</a:t>
            </a:r>
            <a:endParaRPr lang="tr-TR" dirty="0"/>
          </a:p>
          <a:p>
            <a:pPr lvl="0">
              <a:buFont typeface="Wingdings" pitchFamily="2" charset="2"/>
              <a:buChar char="ü"/>
            </a:pPr>
            <a:r>
              <a:rPr lang="tr-TR" b="1" dirty="0">
                <a:solidFill>
                  <a:srgbClr val="FF0000"/>
                </a:solidFill>
              </a:rPr>
              <a:t>ELEKTRİK TESİSATLARINDA İYİ TOPRAKLAMA YAPMAMAK</a:t>
            </a:r>
            <a:r>
              <a:rPr lang="tr-TR" b="1" dirty="0"/>
              <a:t>,</a:t>
            </a:r>
            <a:endParaRPr lang="tr-TR" dirty="0"/>
          </a:p>
          <a:p>
            <a:pPr lvl="0">
              <a:buFont typeface="Wingdings" pitchFamily="2" charset="2"/>
              <a:buChar char="ü"/>
            </a:pPr>
            <a:r>
              <a:rPr lang="tr-TR" b="1" dirty="0"/>
              <a:t>ELEKTRİKLİ TEÇHİZATIN PERYODİK BAKIMLARININ ZAMANINDA YAPILMAMASI,</a:t>
            </a:r>
            <a:endParaRPr lang="tr-TR" dirty="0"/>
          </a:p>
          <a:p>
            <a:pPr lvl="0">
              <a:buFont typeface="Wingdings" pitchFamily="2" charset="2"/>
              <a:buChar char="ü"/>
            </a:pPr>
            <a:r>
              <a:rPr lang="tr-TR" b="1" dirty="0">
                <a:solidFill>
                  <a:srgbClr val="FF0000"/>
                </a:solidFill>
              </a:rPr>
              <a:t>EHLİYETSİZ OLANLARIN ARIZAYA MÜDAHALE ETMESİ</a:t>
            </a:r>
            <a:r>
              <a:rPr lang="tr-TR" b="1" dirty="0"/>
              <a:t>,</a:t>
            </a:r>
            <a:endParaRPr lang="tr-TR" dirty="0"/>
          </a:p>
          <a:p>
            <a:endParaRPr lang="tr-TR" sz="2000" dirty="0"/>
          </a:p>
        </p:txBody>
      </p:sp>
      <p:sp>
        <p:nvSpPr>
          <p:cNvPr id="4" name="Slayt Numarası Yer Tutucusu 3"/>
          <p:cNvSpPr>
            <a:spLocks noGrp="1"/>
          </p:cNvSpPr>
          <p:nvPr>
            <p:ph type="sldNum" sz="quarter" idx="12"/>
          </p:nvPr>
        </p:nvSpPr>
        <p:spPr/>
        <p:txBody>
          <a:bodyPr/>
          <a:lstStyle/>
          <a:p>
            <a:pPr>
              <a:defRPr/>
            </a:pPr>
            <a:fld id="{7289ED51-3D18-45F8-86FC-FD8561268021}" type="slidenum">
              <a:rPr lang="es-ES" smtClean="0"/>
              <a:pPr>
                <a:defRPr/>
              </a:pPr>
              <a:t>19</a:t>
            </a:fld>
            <a:endParaRPr lang="es-ES"/>
          </a:p>
        </p:txBody>
      </p:sp>
    </p:spTree>
    <p:extLst>
      <p:ext uri="{BB962C8B-B14F-4D97-AF65-F5344CB8AC3E}">
        <p14:creationId xmlns:p14="http://schemas.microsoft.com/office/powerpoint/2010/main" xmlns="" val="54877147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a:xfrm>
            <a:off x="467544" y="116632"/>
            <a:ext cx="8229600" cy="706090"/>
          </a:xfrm>
        </p:spPr>
        <p:txBody>
          <a:bodyPr>
            <a:noAutofit/>
          </a:bodyPr>
          <a:lstStyle/>
          <a:p>
            <a:r>
              <a:rPr lang="tr-TR" sz="2400" b="1" dirty="0"/>
              <a:t>BASINÇLI KAPLARDA </a:t>
            </a:r>
            <a:r>
              <a:rPr lang="tr-TR" sz="2400" b="1" dirty="0" smtClean="0"/>
              <a:t>BAKIM-ONARIMA BAŞLAMADAN İSG</a:t>
            </a:r>
            <a:endParaRPr lang="tr-TR" sz="2400" dirty="0"/>
          </a:p>
        </p:txBody>
      </p:sp>
      <p:sp>
        <p:nvSpPr>
          <p:cNvPr id="3" name="2 İçerik Yer Tutucusu"/>
          <p:cNvSpPr>
            <a:spLocks noGrp="1"/>
          </p:cNvSpPr>
          <p:nvPr>
            <p:ph idx="1"/>
          </p:nvPr>
        </p:nvSpPr>
        <p:spPr>
          <a:xfrm>
            <a:off x="107504" y="692696"/>
            <a:ext cx="8387248" cy="5904656"/>
          </a:xfrm>
        </p:spPr>
        <p:txBody>
          <a:bodyPr>
            <a:noAutofit/>
          </a:bodyPr>
          <a:lstStyle/>
          <a:p>
            <a:pPr lvl="0" algn="just">
              <a:buFont typeface="Wingdings" pitchFamily="2" charset="2"/>
              <a:buChar char="ü"/>
            </a:pPr>
            <a:r>
              <a:rPr lang="tr-TR" sz="1800" b="1" dirty="0">
                <a:solidFill>
                  <a:srgbClr val="FF0000"/>
                </a:solidFill>
              </a:rPr>
              <a:t>KALORİFER KAZANLARININ BAKIMINA BAŞLAMADAN ÖNCE, KAZANLAR SÖNDÜRÜLMELİ, SOĞUDUKTAN SONRA BAKIMA BAŞLANMALI,</a:t>
            </a:r>
            <a:endParaRPr lang="tr-TR" sz="1800" dirty="0">
              <a:solidFill>
                <a:srgbClr val="FF0000"/>
              </a:solidFill>
            </a:endParaRPr>
          </a:p>
          <a:p>
            <a:pPr lvl="0" algn="just">
              <a:buFont typeface="Wingdings" pitchFamily="2" charset="2"/>
              <a:buChar char="ü"/>
            </a:pPr>
            <a:r>
              <a:rPr lang="tr-TR" sz="1800" b="1" dirty="0"/>
              <a:t>TÜM ÖLÇÜ VE EMNİYET SİSTEMLERİNİN DOĞRU ÇALIŞIP ÇALIŞMADIĞI KONTROL EDİLMELİ.</a:t>
            </a:r>
            <a:endParaRPr lang="tr-TR" sz="1800" dirty="0"/>
          </a:p>
          <a:p>
            <a:pPr lvl="0" algn="just">
              <a:buFont typeface="Wingdings" pitchFamily="2" charset="2"/>
              <a:buChar char="ü"/>
            </a:pPr>
            <a:r>
              <a:rPr lang="tr-TR" sz="1800" b="1" dirty="0"/>
              <a:t>KAT’İ SURETTE BASINÇLI KAPLAR VE KAZANLAR, </a:t>
            </a:r>
            <a:r>
              <a:rPr lang="tr-TR" sz="1800" b="1" dirty="0">
                <a:solidFill>
                  <a:srgbClr val="FF0000"/>
                </a:solidFill>
              </a:rPr>
              <a:t>BASINÇ ALTINDA İKEN BAKIM ONARIM VE TAMİR İŞLERİNE GİRİŞİLMEMELİDİR.</a:t>
            </a:r>
            <a:endParaRPr lang="tr-TR" sz="1800" dirty="0">
              <a:solidFill>
                <a:srgbClr val="FF0000"/>
              </a:solidFill>
            </a:endParaRPr>
          </a:p>
          <a:p>
            <a:pPr lvl="0" algn="just">
              <a:buFont typeface="Wingdings" pitchFamily="2" charset="2"/>
              <a:buChar char="ü"/>
            </a:pPr>
            <a:r>
              <a:rPr lang="tr-TR" sz="1800" b="1" dirty="0"/>
              <a:t>DIŞARIDAN TEMİZLENMESİ İMKANSIZ OLAN </a:t>
            </a:r>
            <a:r>
              <a:rPr lang="tr-TR" sz="1800" b="1" dirty="0" smtClean="0"/>
              <a:t>DEPOLARIN</a:t>
            </a:r>
            <a:r>
              <a:rPr lang="tr-TR" sz="1800" b="1" dirty="0"/>
              <a:t>, İÇTEN TEMİZLİĞİNİ YAPACAK İŞÇİLERE, ÇİZME, GÖZLÜK, ELDİVEN UYGUN ELBİSE VE MASKE VERİLMELİDİR.</a:t>
            </a:r>
            <a:endParaRPr lang="tr-TR" sz="1800" dirty="0"/>
          </a:p>
          <a:p>
            <a:pPr lvl="0" algn="just">
              <a:buFont typeface="Wingdings" pitchFamily="2" charset="2"/>
              <a:buChar char="ü"/>
            </a:pPr>
            <a:r>
              <a:rPr lang="tr-TR" sz="1800" b="1" dirty="0">
                <a:solidFill>
                  <a:srgbClr val="FF0000"/>
                </a:solidFill>
              </a:rPr>
              <a:t>GÖMLEKLİ VEYA ÇİFT CİDARLI VEYA KAPALI KAPLARDA ISI VEYA KAYNAK </a:t>
            </a:r>
            <a:r>
              <a:rPr lang="tr-TR" sz="1800" b="1" dirty="0" smtClean="0">
                <a:solidFill>
                  <a:srgbClr val="FF0000"/>
                </a:solidFill>
              </a:rPr>
              <a:t>İŞLERİ </a:t>
            </a:r>
            <a:r>
              <a:rPr lang="tr-TR" sz="1800" b="1" dirty="0">
                <a:solidFill>
                  <a:srgbClr val="FF0000"/>
                </a:solidFill>
              </a:rPr>
              <a:t>YAPILMADAN ÖNCE, BU KAPLAR İYİCE HAVALANDIRILMALI, </a:t>
            </a:r>
            <a:r>
              <a:rPr lang="tr-TR" sz="1800" b="1" dirty="0" smtClean="0">
                <a:solidFill>
                  <a:srgbClr val="FF0000"/>
                </a:solidFill>
              </a:rPr>
              <a:t>KAYNAK SIRASINDA </a:t>
            </a:r>
            <a:r>
              <a:rPr lang="tr-TR" sz="1800" b="1" dirty="0">
                <a:solidFill>
                  <a:srgbClr val="FF0000"/>
                </a:solidFill>
              </a:rPr>
              <a:t>HAVALANDIRMAYA DEVAM EDİLMELİDİR</a:t>
            </a:r>
            <a:r>
              <a:rPr lang="tr-TR" sz="1800" b="1" dirty="0" smtClean="0">
                <a:solidFill>
                  <a:srgbClr val="FF0000"/>
                </a:solidFill>
              </a:rPr>
              <a:t>.</a:t>
            </a:r>
          </a:p>
          <a:p>
            <a:pPr algn="just">
              <a:buFont typeface="Wingdings" pitchFamily="2" charset="2"/>
              <a:buChar char="ü"/>
            </a:pPr>
            <a:r>
              <a:rPr lang="tr-TR" sz="1800" b="1" dirty="0"/>
              <a:t>İÇİNDE İŞÇİLERİN ÇALIŞTIĞI KÜÇÜK DEPO VE KAPALI YERLERE SÜREKLİ OLARAK TEMİZ HAVA </a:t>
            </a:r>
            <a:r>
              <a:rPr lang="tr-TR" sz="1800" b="1" dirty="0" smtClean="0"/>
              <a:t>VERİLMELİDİR.</a:t>
            </a:r>
          </a:p>
          <a:p>
            <a:pPr algn="just">
              <a:buFont typeface="Wingdings" pitchFamily="2" charset="2"/>
              <a:buChar char="ü"/>
            </a:pPr>
            <a:r>
              <a:rPr lang="tr-TR" sz="1800" b="1" dirty="0" smtClean="0">
                <a:solidFill>
                  <a:srgbClr val="FF0000"/>
                </a:solidFill>
              </a:rPr>
              <a:t>PARELEL ÇALIŞAN KAZANLARIN BİRBİRİ İLE BAĞLANTILARI KESİLİP, VANALARI KİLİTLENDİKTEN VE GEREKEN YERLERLER KÖRLENDİKTEN SONRA BAKIMA BAŞLANMALIDIR, </a:t>
            </a:r>
            <a:endParaRPr lang="tr-TR" sz="1800" dirty="0">
              <a:solidFill>
                <a:srgbClr val="FF0000"/>
              </a:solidFill>
            </a:endParaRPr>
          </a:p>
          <a:p>
            <a:pPr lvl="0">
              <a:buFont typeface="Wingdings" pitchFamily="2" charset="2"/>
              <a:buChar char="ü"/>
            </a:pPr>
            <a:r>
              <a:rPr lang="tr-TR" sz="1800" b="1" dirty="0" smtClean="0"/>
              <a:t>BAKIM İÇİN KAZANA İŞÇİYİ GÖZETLEMEK GEREĞİNDE BİR İŞÇİ KAPAK BAŞINDA BEKLEYECEKTİR,</a:t>
            </a:r>
          </a:p>
          <a:p>
            <a:pPr lvl="0">
              <a:buFont typeface="Wingdings" pitchFamily="2" charset="2"/>
              <a:buChar char="ü"/>
            </a:pPr>
            <a:r>
              <a:rPr lang="tr-TR" sz="1800" b="1" dirty="0" smtClean="0">
                <a:solidFill>
                  <a:srgbClr val="FF0000"/>
                </a:solidFill>
              </a:rPr>
              <a:t>KAZAN İÇERİSİNDEKİ TAMİRATLARDA, MAKİNELER KAZAN DIŞINDA KALACAK, EL ALETLERİ KAZAN İÇERİSİNE SOKULABİLECEKTİR,</a:t>
            </a:r>
            <a:endParaRPr lang="tr-TR" sz="1800" b="1" dirty="0">
              <a:solidFill>
                <a:srgbClr val="FF0000"/>
              </a:solidFill>
            </a:endParaRPr>
          </a:p>
          <a:p>
            <a:endParaRPr lang="tr-TR" sz="1600" dirty="0"/>
          </a:p>
        </p:txBody>
      </p:sp>
      <p:sp>
        <p:nvSpPr>
          <p:cNvPr id="4" name="Slayt Numarası Yer Tutucusu 3"/>
          <p:cNvSpPr>
            <a:spLocks noGrp="1"/>
          </p:cNvSpPr>
          <p:nvPr>
            <p:ph type="sldNum" sz="quarter" idx="12"/>
          </p:nvPr>
        </p:nvSpPr>
        <p:spPr/>
        <p:txBody>
          <a:bodyPr/>
          <a:lstStyle/>
          <a:p>
            <a:pPr>
              <a:defRPr/>
            </a:pPr>
            <a:fld id="{7289ED51-3D18-45F8-86FC-FD8561268021}" type="slidenum">
              <a:rPr lang="es-ES" smtClean="0"/>
              <a:pPr>
                <a:defRPr/>
              </a:pPr>
              <a:t>20</a:t>
            </a:fld>
            <a:endParaRPr lang="es-ES"/>
          </a:p>
        </p:txBody>
      </p:sp>
    </p:spTree>
    <p:extLst>
      <p:ext uri="{BB962C8B-B14F-4D97-AF65-F5344CB8AC3E}">
        <p14:creationId xmlns:p14="http://schemas.microsoft.com/office/powerpoint/2010/main" xmlns="" val="135358171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1"/>
          </p:nvPr>
        </p:nvSpPr>
        <p:spPr>
          <a:xfrm>
            <a:off x="0" y="188640"/>
            <a:ext cx="8388424" cy="6453336"/>
          </a:xfrm>
        </p:spPr>
        <p:txBody>
          <a:bodyPr>
            <a:noAutofit/>
          </a:bodyPr>
          <a:lstStyle/>
          <a:p>
            <a:pPr lvl="0" algn="just">
              <a:buFont typeface="Wingdings" pitchFamily="2" charset="2"/>
              <a:buChar char="ü"/>
            </a:pPr>
            <a:r>
              <a:rPr lang="tr-TR" b="1" dirty="0">
                <a:solidFill>
                  <a:srgbClr val="FF0000"/>
                </a:solidFill>
              </a:rPr>
              <a:t>İŞİN BİTİMİNDE, DEPONUN İÇİ İYİCE TEMİZLENDİKTEN SORA, YENİDEN HAVALANDIRILMALIDIR.</a:t>
            </a:r>
            <a:endParaRPr lang="tr-TR" dirty="0">
              <a:solidFill>
                <a:srgbClr val="FF0000"/>
              </a:solidFill>
            </a:endParaRPr>
          </a:p>
          <a:p>
            <a:pPr lvl="0" algn="just">
              <a:buFont typeface="Wingdings" pitchFamily="2" charset="2"/>
              <a:buChar char="ü"/>
            </a:pPr>
            <a:r>
              <a:rPr lang="tr-TR" b="1" dirty="0"/>
              <a:t>İŞ YERLERİNDEKİ BASINÇLI KAPLARIN TEMİZLENMESİNDE KULLANILACAK BUHAR YOK İSE, DEPO SU İLE DOLDURULACAK VE </a:t>
            </a:r>
            <a:r>
              <a:rPr lang="tr-TR" b="1" dirty="0" smtClean="0"/>
              <a:t>EN AZ </a:t>
            </a:r>
            <a:r>
              <a:rPr lang="tr-TR" b="1" dirty="0"/>
              <a:t>24 SAAT SU VERİLEREK KARIŞTIRILACAK, DİPTE TOPLANAN RUSUBATLAR TEMİZLENDİKTEN SONRA YİNE BASINÇLI SU İLE YIKANACAKTIR.</a:t>
            </a:r>
            <a:endParaRPr lang="tr-TR" dirty="0"/>
          </a:p>
          <a:p>
            <a:pPr lvl="0" algn="just">
              <a:buFont typeface="Wingdings" pitchFamily="2" charset="2"/>
              <a:buChar char="ü"/>
            </a:pPr>
            <a:r>
              <a:rPr lang="tr-TR" b="1" dirty="0">
                <a:solidFill>
                  <a:srgbClr val="FF0000"/>
                </a:solidFill>
              </a:rPr>
              <a:t>PARLAYICI VE PATLAYICI MADDE TAŞIYAN KAPLARIN ÜZERİNDE KAYNAK YAPILMASI GEREKİYORSA, ÖNCE BU KAPLAR BUHARLA, VEYA BAŞKA USULLERLE TEMİZLENDİKTEN SONRA KAP İÇERİSİNDE KALINTI OLUP OLMADIĞI KONTROL EDİLMELİ; TEMİZLENDİĞİNDEN EMİN OLUNDUKTAN SONRA ,KARBON DİOKSİT VEYA AZOT VEYA ASAL GAZLARDAN BİRİ İLE DOLDURULDUKTAN SONRA KAYNAK İŞLERİNE BAŞLANMALIDIR</a:t>
            </a:r>
            <a:r>
              <a:rPr lang="tr-TR" b="1" dirty="0" smtClean="0">
                <a:solidFill>
                  <a:srgbClr val="FF0000"/>
                </a:solidFill>
              </a:rPr>
              <a:t>.</a:t>
            </a:r>
          </a:p>
          <a:p>
            <a:pPr lvl="0" algn="just">
              <a:buFont typeface="Wingdings" pitchFamily="2" charset="2"/>
              <a:buChar char="ü"/>
            </a:pPr>
            <a:r>
              <a:rPr lang="tr-TR" b="1" dirty="0"/>
              <a:t>KAYNAK İŞLERİ YAPILACAK DEPO ETRAFINDA, GAZ TÜPLERİ, BORULARI, ELEKTRİK KABLOLARI ZARAR GÖRMEYECEK ŞEKİLDE GEREKLİ ÖNLEMLER ALINACAKTIR.</a:t>
            </a:r>
            <a:endParaRPr lang="tr-TR" dirty="0"/>
          </a:p>
          <a:p>
            <a:pPr lvl="0" algn="just">
              <a:buFont typeface="Wingdings" pitchFamily="2" charset="2"/>
              <a:buChar char="ü"/>
            </a:pPr>
            <a:r>
              <a:rPr lang="tr-TR" b="1" dirty="0">
                <a:solidFill>
                  <a:srgbClr val="FF0000"/>
                </a:solidFill>
              </a:rPr>
              <a:t>KAYNAK YAPILACAK DEPOLARIN ETRAFI PARAVANALAR İLE ÇEVRİLECEKTİR.</a:t>
            </a:r>
            <a:endParaRPr lang="tr-TR" dirty="0">
              <a:solidFill>
                <a:srgbClr val="FF0000"/>
              </a:solidFill>
            </a:endParaRPr>
          </a:p>
          <a:p>
            <a:pPr marL="114300" lvl="0" indent="0">
              <a:buNone/>
            </a:pPr>
            <a:endParaRPr lang="tr-TR" dirty="0"/>
          </a:p>
        </p:txBody>
      </p:sp>
      <p:sp>
        <p:nvSpPr>
          <p:cNvPr id="2" name="Slayt Numarası Yer Tutucusu 1"/>
          <p:cNvSpPr>
            <a:spLocks noGrp="1"/>
          </p:cNvSpPr>
          <p:nvPr>
            <p:ph type="sldNum" sz="quarter" idx="12"/>
          </p:nvPr>
        </p:nvSpPr>
        <p:spPr/>
        <p:txBody>
          <a:bodyPr/>
          <a:lstStyle/>
          <a:p>
            <a:pPr>
              <a:defRPr/>
            </a:pPr>
            <a:fld id="{7289ED51-3D18-45F8-86FC-FD8561268021}" type="slidenum">
              <a:rPr lang="es-ES" smtClean="0"/>
              <a:pPr>
                <a:defRPr/>
              </a:pPr>
              <a:t>21</a:t>
            </a:fld>
            <a:endParaRPr lang="es-ES"/>
          </a:p>
        </p:txBody>
      </p:sp>
    </p:spTree>
    <p:extLst>
      <p:ext uri="{BB962C8B-B14F-4D97-AF65-F5344CB8AC3E}">
        <p14:creationId xmlns:p14="http://schemas.microsoft.com/office/powerpoint/2010/main" xmlns="" val="28966387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1"/>
          </p:nvPr>
        </p:nvSpPr>
        <p:spPr>
          <a:xfrm>
            <a:off x="457200" y="332656"/>
            <a:ext cx="7859216" cy="6408712"/>
          </a:xfrm>
        </p:spPr>
        <p:txBody>
          <a:bodyPr>
            <a:normAutofit/>
          </a:bodyPr>
          <a:lstStyle/>
          <a:p>
            <a:pPr lvl="0">
              <a:buFont typeface="Wingdings" pitchFamily="2" charset="2"/>
              <a:buChar char="ü"/>
            </a:pPr>
            <a:endParaRPr lang="tr-TR" sz="2000" b="1" dirty="0" smtClean="0"/>
          </a:p>
          <a:p>
            <a:pPr lvl="0">
              <a:buFont typeface="Wingdings" pitchFamily="2" charset="2"/>
              <a:buChar char="ü"/>
            </a:pPr>
            <a:endParaRPr lang="tr-TR" sz="2000" b="1" dirty="0" smtClean="0"/>
          </a:p>
          <a:p>
            <a:pPr lvl="0" algn="just">
              <a:buFont typeface="Wingdings" pitchFamily="2" charset="2"/>
              <a:buChar char="ü"/>
            </a:pPr>
            <a:r>
              <a:rPr lang="tr-TR" sz="2400" b="1" dirty="0" smtClean="0">
                <a:solidFill>
                  <a:srgbClr val="FF0000"/>
                </a:solidFill>
              </a:rPr>
              <a:t>BAKIM </a:t>
            </a:r>
            <a:r>
              <a:rPr lang="tr-TR" sz="2400" b="1" dirty="0">
                <a:solidFill>
                  <a:srgbClr val="FF0000"/>
                </a:solidFill>
              </a:rPr>
              <a:t>VE ONARIMI YAPILACAK TANK VE DEPOLARIN İÇİNDE KARIŞTIRICI BİR SİSTEM BULUNUYORSA, ÖNCE KARIŞTIRICI TERTİBATIN GÜÇ KAYNAĞI İLE İLİŞİĞİ KESİLECEKTİR. KARIŞTIRICILARIN HAREKET ETMEMESİ İÇİN TAKOZLANACAK VE BAĞLANACAKTIR</a:t>
            </a:r>
            <a:r>
              <a:rPr lang="tr-TR" sz="2400" b="1" dirty="0" smtClean="0">
                <a:solidFill>
                  <a:srgbClr val="FF0000"/>
                </a:solidFill>
              </a:rPr>
              <a:t>.</a:t>
            </a:r>
          </a:p>
          <a:p>
            <a:pPr lvl="0" algn="just">
              <a:buFont typeface="Wingdings" pitchFamily="2" charset="2"/>
              <a:buChar char="ü"/>
            </a:pPr>
            <a:endParaRPr lang="tr-TR" sz="2400" dirty="0"/>
          </a:p>
          <a:p>
            <a:pPr lvl="0" algn="just">
              <a:buFont typeface="Wingdings" pitchFamily="2" charset="2"/>
              <a:buChar char="ü"/>
            </a:pPr>
            <a:r>
              <a:rPr lang="tr-TR" sz="2400" b="1" dirty="0"/>
              <a:t>BAKIMI YAPILACAK DEPOLARIN VE TANKLARIN BAŞKALARI İLE İRTİBATLI İSE, İRTİBATI KESMEK İÇİN VANALARI KAPATILACAK, BAĞLANTI BORULARI SÖKÜLECEK, AĞIZLARI KÖR TAPALARLA KAPATILACAKTIR.</a:t>
            </a:r>
            <a:endParaRPr lang="tr-TR" sz="2400" dirty="0"/>
          </a:p>
          <a:p>
            <a:pPr algn="just"/>
            <a:endParaRPr lang="tr-TR" sz="2000" dirty="0"/>
          </a:p>
        </p:txBody>
      </p:sp>
      <p:sp>
        <p:nvSpPr>
          <p:cNvPr id="2" name="Slayt Numarası Yer Tutucusu 1"/>
          <p:cNvSpPr>
            <a:spLocks noGrp="1"/>
          </p:cNvSpPr>
          <p:nvPr>
            <p:ph type="sldNum" sz="quarter" idx="12"/>
          </p:nvPr>
        </p:nvSpPr>
        <p:spPr/>
        <p:txBody>
          <a:bodyPr/>
          <a:lstStyle/>
          <a:p>
            <a:pPr>
              <a:defRPr/>
            </a:pPr>
            <a:fld id="{7289ED51-3D18-45F8-86FC-FD8561268021}" type="slidenum">
              <a:rPr lang="es-ES" smtClean="0"/>
              <a:pPr>
                <a:defRPr/>
              </a:pPr>
              <a:t>22</a:t>
            </a:fld>
            <a:endParaRPr lang="es-ES"/>
          </a:p>
        </p:txBody>
      </p:sp>
    </p:spTree>
    <p:extLst>
      <p:ext uri="{BB962C8B-B14F-4D97-AF65-F5344CB8AC3E}">
        <p14:creationId xmlns:p14="http://schemas.microsoft.com/office/powerpoint/2010/main" xmlns="" val="2347032194"/>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a:xfrm>
            <a:off x="457200" y="274638"/>
            <a:ext cx="8229600" cy="706090"/>
          </a:xfrm>
        </p:spPr>
        <p:txBody>
          <a:bodyPr>
            <a:normAutofit fontScale="90000"/>
          </a:bodyPr>
          <a:lstStyle/>
          <a:p>
            <a:r>
              <a:rPr lang="tr-TR" sz="2400" b="1" dirty="0"/>
              <a:t>BASINÇLI KAPLARIN </a:t>
            </a:r>
            <a:r>
              <a:rPr lang="tr-TR" sz="2400" b="1" dirty="0" smtClean="0"/>
              <a:t>BAKIM - ONARIM SIRASINDA İSG </a:t>
            </a:r>
            <a:r>
              <a:rPr lang="tr-TR" sz="2400" dirty="0"/>
              <a:t/>
            </a:r>
            <a:br>
              <a:rPr lang="tr-TR" sz="2400" dirty="0"/>
            </a:br>
            <a:endParaRPr lang="tr-TR" sz="2400" dirty="0"/>
          </a:p>
        </p:txBody>
      </p:sp>
      <p:sp>
        <p:nvSpPr>
          <p:cNvPr id="3" name="2 İçerik Yer Tutucusu"/>
          <p:cNvSpPr>
            <a:spLocks noGrp="1"/>
          </p:cNvSpPr>
          <p:nvPr>
            <p:ph idx="1"/>
          </p:nvPr>
        </p:nvSpPr>
        <p:spPr>
          <a:xfrm>
            <a:off x="0" y="764704"/>
            <a:ext cx="8532440" cy="6093296"/>
          </a:xfrm>
        </p:spPr>
        <p:txBody>
          <a:bodyPr>
            <a:normAutofit/>
          </a:bodyPr>
          <a:lstStyle/>
          <a:p>
            <a:pPr lvl="0">
              <a:buFont typeface="Wingdings" pitchFamily="2" charset="2"/>
              <a:buChar char="ü"/>
            </a:pPr>
            <a:endParaRPr lang="tr-TR" b="1" dirty="0" smtClean="0"/>
          </a:p>
          <a:p>
            <a:pPr lvl="0" algn="just">
              <a:buFont typeface="Wingdings" pitchFamily="2" charset="2"/>
              <a:buChar char="ü"/>
            </a:pPr>
            <a:r>
              <a:rPr lang="tr-TR" b="1" dirty="0" smtClean="0"/>
              <a:t>DEPO </a:t>
            </a:r>
            <a:r>
              <a:rPr lang="tr-TR" b="1" dirty="0"/>
              <a:t>VE TANKLARIN BAKIM VE ONARIMI SIRASINDA DEPO VE TANK AĞIZLARINDA </a:t>
            </a:r>
            <a:r>
              <a:rPr lang="tr-TR" b="1" dirty="0">
                <a:solidFill>
                  <a:srgbClr val="FF0000"/>
                </a:solidFill>
              </a:rPr>
              <a:t>BİR GÖZLEMCİ BULUNDURULACAKTIR</a:t>
            </a:r>
            <a:r>
              <a:rPr lang="tr-TR" b="1" dirty="0" smtClean="0"/>
              <a:t>.</a:t>
            </a:r>
          </a:p>
          <a:p>
            <a:pPr lvl="0" algn="just">
              <a:buNone/>
            </a:pPr>
            <a:endParaRPr lang="tr-TR" dirty="0"/>
          </a:p>
          <a:p>
            <a:pPr lvl="0" algn="just">
              <a:buFont typeface="Wingdings" pitchFamily="2" charset="2"/>
              <a:buChar char="ü"/>
            </a:pPr>
            <a:r>
              <a:rPr lang="tr-TR" b="1" dirty="0"/>
              <a:t>TEHLİKELİ SIVILARIN BULUNDUĞU </a:t>
            </a:r>
            <a:r>
              <a:rPr lang="tr-TR" b="1" dirty="0">
                <a:solidFill>
                  <a:srgbClr val="FF0000"/>
                </a:solidFill>
              </a:rPr>
              <a:t>TANKLAR VE DEPOLAR EN GEÇ SENEDE BİR DEFA KONTROL EDİLECEK</a:t>
            </a:r>
            <a:r>
              <a:rPr lang="tr-TR" b="1" dirty="0"/>
              <a:t>, GEREKLİ BAKIM –ONARIM YAPILACAKTIR</a:t>
            </a:r>
            <a:r>
              <a:rPr lang="tr-TR" b="1" dirty="0" smtClean="0"/>
              <a:t>.</a:t>
            </a:r>
          </a:p>
          <a:p>
            <a:pPr lvl="0" algn="just">
              <a:buNone/>
            </a:pPr>
            <a:endParaRPr lang="tr-TR" dirty="0"/>
          </a:p>
          <a:p>
            <a:pPr lvl="0" algn="just">
              <a:buFont typeface="Wingdings" pitchFamily="2" charset="2"/>
              <a:buChar char="ü"/>
            </a:pPr>
            <a:r>
              <a:rPr lang="tr-TR" b="1" dirty="0"/>
              <a:t>TANK VE DEPOLAR ÜZERİNDE BULUNAN GÖSTERGELER VE EMNİYET VENTİLLERİNİN </a:t>
            </a:r>
            <a:r>
              <a:rPr lang="tr-TR" b="1" dirty="0">
                <a:solidFill>
                  <a:srgbClr val="FF0000"/>
                </a:solidFill>
              </a:rPr>
              <a:t>SENEDE BİR </a:t>
            </a:r>
            <a:r>
              <a:rPr lang="tr-TR" b="1" dirty="0"/>
              <a:t>SIHHATLİ ÇALIŞIP ÇALIŞMADIĞI TESTLERİ </a:t>
            </a:r>
            <a:r>
              <a:rPr lang="tr-TR" b="1" dirty="0" smtClean="0"/>
              <a:t>YAPILMALIDIR</a:t>
            </a:r>
          </a:p>
          <a:p>
            <a:pPr lvl="0" algn="just">
              <a:buNone/>
            </a:pPr>
            <a:endParaRPr lang="tr-TR" dirty="0"/>
          </a:p>
          <a:p>
            <a:pPr lvl="0" algn="just">
              <a:buFont typeface="Wingdings" pitchFamily="2" charset="2"/>
              <a:buChar char="ü"/>
            </a:pPr>
            <a:r>
              <a:rPr lang="tr-TR" b="1" dirty="0">
                <a:solidFill>
                  <a:srgbClr val="FF0000"/>
                </a:solidFill>
              </a:rPr>
              <a:t>SENEDE BİR VANALARIN BAKIMLARI YAPILMALIDIR</a:t>
            </a:r>
            <a:r>
              <a:rPr lang="tr-TR" b="1" dirty="0" smtClean="0"/>
              <a:t>.</a:t>
            </a:r>
          </a:p>
          <a:p>
            <a:pPr lvl="0" algn="just">
              <a:buNone/>
            </a:pPr>
            <a:endParaRPr lang="tr-TR" dirty="0"/>
          </a:p>
          <a:p>
            <a:pPr lvl="0" algn="just">
              <a:buFont typeface="Wingdings" pitchFamily="2" charset="2"/>
              <a:buChar char="ü"/>
            </a:pPr>
            <a:r>
              <a:rPr lang="tr-TR" b="1" dirty="0"/>
              <a:t>SENEDE BİR TANK VE DEPOLARIN DIŞ CEPHE </a:t>
            </a:r>
            <a:r>
              <a:rPr lang="tr-TR" b="1" dirty="0" smtClean="0"/>
              <a:t>KONTROLLARI </a:t>
            </a:r>
            <a:r>
              <a:rPr lang="tr-TR" b="1" dirty="0"/>
              <a:t>YAPILARAK KAVLAMIŞ VE DÖKÜLMÜŞ BOYALAR YENİLENMELİDİR</a:t>
            </a:r>
            <a:endParaRPr lang="tr-TR" dirty="0"/>
          </a:p>
          <a:p>
            <a:endParaRPr lang="tr-TR" dirty="0"/>
          </a:p>
        </p:txBody>
      </p:sp>
      <p:sp>
        <p:nvSpPr>
          <p:cNvPr id="4" name="Slayt Numarası Yer Tutucusu 3"/>
          <p:cNvSpPr>
            <a:spLocks noGrp="1"/>
          </p:cNvSpPr>
          <p:nvPr>
            <p:ph type="sldNum" sz="quarter" idx="12"/>
          </p:nvPr>
        </p:nvSpPr>
        <p:spPr/>
        <p:txBody>
          <a:bodyPr/>
          <a:lstStyle/>
          <a:p>
            <a:pPr>
              <a:defRPr/>
            </a:pPr>
            <a:fld id="{7289ED51-3D18-45F8-86FC-FD8561268021}" type="slidenum">
              <a:rPr lang="es-ES" smtClean="0"/>
              <a:pPr>
                <a:defRPr/>
              </a:pPr>
              <a:t>23</a:t>
            </a:fld>
            <a:endParaRPr lang="es-ES"/>
          </a:p>
        </p:txBody>
      </p:sp>
    </p:spTree>
    <p:extLst>
      <p:ext uri="{BB962C8B-B14F-4D97-AF65-F5344CB8AC3E}">
        <p14:creationId xmlns:p14="http://schemas.microsoft.com/office/powerpoint/2010/main" xmlns="" val="2546871832"/>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a:xfrm>
            <a:off x="457200" y="274638"/>
            <a:ext cx="8229600" cy="850106"/>
          </a:xfrm>
        </p:spPr>
        <p:txBody>
          <a:bodyPr>
            <a:normAutofit/>
          </a:bodyPr>
          <a:lstStyle/>
          <a:p>
            <a:r>
              <a:rPr lang="tr-TR" sz="2400" b="1" dirty="0"/>
              <a:t>YER ALTI TESİSLERİNDE BAKIM-ONARIMDAN ÖNCE  İSG</a:t>
            </a:r>
            <a:endParaRPr lang="tr-TR" sz="2400" dirty="0"/>
          </a:p>
        </p:txBody>
      </p:sp>
      <p:sp>
        <p:nvSpPr>
          <p:cNvPr id="3" name="2 İçerik Yer Tutucusu"/>
          <p:cNvSpPr>
            <a:spLocks noGrp="1"/>
          </p:cNvSpPr>
          <p:nvPr>
            <p:ph idx="1"/>
          </p:nvPr>
        </p:nvSpPr>
        <p:spPr>
          <a:xfrm>
            <a:off x="27096" y="1052736"/>
            <a:ext cx="8433336" cy="5616624"/>
          </a:xfrm>
        </p:spPr>
        <p:txBody>
          <a:bodyPr>
            <a:normAutofit/>
          </a:bodyPr>
          <a:lstStyle/>
          <a:p>
            <a:pPr algn="just">
              <a:buFont typeface="Wingdings" pitchFamily="2" charset="2"/>
              <a:buChar char="ü"/>
            </a:pPr>
            <a:r>
              <a:rPr lang="tr-TR" sz="2600" b="1" dirty="0">
                <a:solidFill>
                  <a:srgbClr val="002060"/>
                </a:solidFill>
              </a:rPr>
              <a:t>BAKIMDAN ÖNCE </a:t>
            </a:r>
            <a:r>
              <a:rPr lang="tr-TR" sz="2600" b="1" dirty="0" smtClean="0">
                <a:solidFill>
                  <a:srgbClr val="002060"/>
                </a:solidFill>
              </a:rPr>
              <a:t>İSG</a:t>
            </a:r>
            <a:endParaRPr lang="tr-TR" sz="2600" dirty="0">
              <a:solidFill>
                <a:srgbClr val="002060"/>
              </a:solidFill>
            </a:endParaRPr>
          </a:p>
          <a:p>
            <a:pPr lvl="0" algn="just">
              <a:buFont typeface="Wingdings" pitchFamily="2" charset="2"/>
              <a:buChar char="ü"/>
            </a:pPr>
            <a:r>
              <a:rPr lang="tr-TR" sz="2000" b="1" dirty="0">
                <a:solidFill>
                  <a:srgbClr val="FF0000"/>
                </a:solidFill>
              </a:rPr>
              <a:t>TEHLİKELİ MADDELERİ TAŞIYAN BORU VE KANALLARDAKİ BAKIM ÇALIŞMALARINA BAŞLAMADAN ÖNCE İŞÇİLERE BU BAKIM İÇİN EĞİTİM VERİLMELİDİR.</a:t>
            </a:r>
            <a:endParaRPr lang="tr-TR" sz="2000" dirty="0">
              <a:solidFill>
                <a:srgbClr val="FF0000"/>
              </a:solidFill>
            </a:endParaRPr>
          </a:p>
          <a:p>
            <a:pPr lvl="0" algn="just">
              <a:buFont typeface="Wingdings" pitchFamily="2" charset="2"/>
              <a:buChar char="ü"/>
            </a:pPr>
            <a:r>
              <a:rPr lang="tr-TR" sz="2000" b="1" dirty="0"/>
              <a:t>TEHLİKELİ MADDELERİN TAŞINDIĞI BORU VE KANALLARIN ONARIM İŞİ İLE UĞRAŞAN İŞÇİLERE, TAŞINAN MADDELERİN ÖZELLİĞİNE UYGUN, KKD. MALZEMELERİ VERİLMELİDİR.</a:t>
            </a:r>
            <a:endParaRPr lang="tr-TR" sz="2000" dirty="0"/>
          </a:p>
          <a:p>
            <a:pPr lvl="0" algn="just">
              <a:buFont typeface="Wingdings" pitchFamily="2" charset="2"/>
              <a:buChar char="ü"/>
            </a:pPr>
            <a:r>
              <a:rPr lang="tr-TR" sz="2000" b="1" dirty="0">
                <a:solidFill>
                  <a:srgbClr val="FF0000"/>
                </a:solidFill>
              </a:rPr>
              <a:t>BAKIMI YAPILACAK TEHLİKELİ BORU VE VANALARIN ÖNCE BORUDAKİ GAZLARIN VE </a:t>
            </a:r>
            <a:r>
              <a:rPr lang="tr-TR" sz="2000" b="1" dirty="0" smtClean="0">
                <a:solidFill>
                  <a:srgbClr val="FF0000"/>
                </a:solidFill>
              </a:rPr>
              <a:t>SIVILARIN </a:t>
            </a:r>
            <a:r>
              <a:rPr lang="tr-TR" sz="2000" b="1" dirty="0">
                <a:solidFill>
                  <a:srgbClr val="FF0000"/>
                </a:solidFill>
              </a:rPr>
              <a:t>AKIŞI DURDURULACAK</a:t>
            </a:r>
            <a:r>
              <a:rPr lang="tr-TR" sz="2000" b="1" dirty="0" smtClean="0">
                <a:solidFill>
                  <a:srgbClr val="FF0000"/>
                </a:solidFill>
              </a:rPr>
              <a:t>.</a:t>
            </a:r>
          </a:p>
          <a:p>
            <a:pPr lvl="0" algn="just">
              <a:buFont typeface="Wingdings" pitchFamily="2" charset="2"/>
              <a:buChar char="ü"/>
            </a:pPr>
            <a:r>
              <a:rPr lang="tr-TR" sz="2000" b="1" dirty="0"/>
              <a:t>KOROZIF, PARLAYICI, PATLAYICI VE ZEHİRLİ MADDELERİN TAŞINDIĞI BORU VE KANALLARIN BAKIM VE ONARIMINA BAŞLAMADAN ÖNCE, ANA VANALAR İYİCE KAPATILIP KİLİTLENECEK VE UYGUN SÜRGÜ TERTİBATI İLE BAĞLANACAK, BORU KANALLARI TAMAMEN BOŞALACAK, GAZ DAĞILIMI KAYBOLUNCAYA KADAR BEKLENECEKTİR.</a:t>
            </a:r>
            <a:endParaRPr lang="tr-TR" sz="2000" dirty="0"/>
          </a:p>
          <a:p>
            <a:pPr lvl="0" algn="just">
              <a:buFont typeface="Wingdings" pitchFamily="2" charset="2"/>
              <a:buChar char="ü"/>
            </a:pPr>
            <a:r>
              <a:rPr lang="tr-TR" sz="2000" b="1" dirty="0">
                <a:solidFill>
                  <a:srgbClr val="FF0000"/>
                </a:solidFill>
              </a:rPr>
              <a:t>OKSİ-ASETİLEN İLE KAYNAK YAPILACAK İSE, BORULAR YIKANACAK, GEREKTİĞİNDE KAYNAR SU VEYA BUHAR GEÇİRİLECEKTİR.</a:t>
            </a:r>
            <a:endParaRPr lang="tr-TR" sz="2000" dirty="0">
              <a:solidFill>
                <a:srgbClr val="FF0000"/>
              </a:solidFill>
            </a:endParaRPr>
          </a:p>
          <a:p>
            <a:pPr lvl="0"/>
            <a:endParaRPr lang="tr-TR" sz="2000" dirty="0"/>
          </a:p>
          <a:p>
            <a:endParaRPr lang="tr-TR" sz="2000" dirty="0"/>
          </a:p>
        </p:txBody>
      </p:sp>
      <p:sp>
        <p:nvSpPr>
          <p:cNvPr id="4" name="Slayt Numarası Yer Tutucusu 3"/>
          <p:cNvSpPr>
            <a:spLocks noGrp="1"/>
          </p:cNvSpPr>
          <p:nvPr>
            <p:ph type="sldNum" sz="quarter" idx="12"/>
          </p:nvPr>
        </p:nvSpPr>
        <p:spPr/>
        <p:txBody>
          <a:bodyPr/>
          <a:lstStyle/>
          <a:p>
            <a:pPr>
              <a:defRPr/>
            </a:pPr>
            <a:fld id="{7289ED51-3D18-45F8-86FC-FD8561268021}" type="slidenum">
              <a:rPr lang="es-ES" smtClean="0"/>
              <a:pPr>
                <a:defRPr/>
              </a:pPr>
              <a:t>24</a:t>
            </a:fld>
            <a:endParaRPr lang="es-ES"/>
          </a:p>
        </p:txBody>
      </p:sp>
    </p:spTree>
    <p:extLst>
      <p:ext uri="{BB962C8B-B14F-4D97-AF65-F5344CB8AC3E}">
        <p14:creationId xmlns:p14="http://schemas.microsoft.com/office/powerpoint/2010/main" xmlns="" val="541516631"/>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1"/>
          </p:nvPr>
        </p:nvSpPr>
        <p:spPr>
          <a:xfrm>
            <a:off x="107504" y="116632"/>
            <a:ext cx="8280920" cy="6624736"/>
          </a:xfrm>
        </p:spPr>
        <p:txBody>
          <a:bodyPr>
            <a:normAutofit/>
          </a:bodyPr>
          <a:lstStyle/>
          <a:p>
            <a:pPr lvl="0" algn="just">
              <a:buFont typeface="Wingdings" pitchFamily="2" charset="2"/>
              <a:buChar char="ü"/>
            </a:pPr>
            <a:r>
              <a:rPr lang="tr-TR" sz="2000" b="1" dirty="0"/>
              <a:t>KAPALI ALANLARDA, KANALİZAZYON BACALARINDA, DOĞALGAZ, PETROL VE KİMYEVİ MADDE TAŞIYAN BORULARIN GALERİLERİNDE, BAKIM ONARIM İŞİNE BAŞLAMADAN ÖNCE, ŞU ÖLÇÜMLER YAPILMALIDIR</a:t>
            </a:r>
            <a:endParaRPr lang="tr-TR" sz="2000" dirty="0"/>
          </a:p>
          <a:p>
            <a:pPr lvl="0" algn="just">
              <a:buFont typeface="Wingdings" pitchFamily="2" charset="2"/>
              <a:buChar char="ü"/>
            </a:pPr>
            <a:r>
              <a:rPr lang="tr-TR" sz="2000" b="1" dirty="0">
                <a:solidFill>
                  <a:srgbClr val="FF0000"/>
                </a:solidFill>
              </a:rPr>
              <a:t>OKSİJEN SEVİYESİ(ZORUNLU OLARAK İLK ÖLÇÜMDE</a:t>
            </a:r>
            <a:endParaRPr lang="tr-TR" sz="2000" dirty="0">
              <a:solidFill>
                <a:srgbClr val="FF0000"/>
              </a:solidFill>
            </a:endParaRPr>
          </a:p>
          <a:p>
            <a:pPr marL="114300" indent="0" algn="just">
              <a:buNone/>
            </a:pPr>
            <a:r>
              <a:rPr lang="tr-TR" sz="2000" b="1" dirty="0">
                <a:solidFill>
                  <a:srgbClr val="FF0000"/>
                </a:solidFill>
              </a:rPr>
              <a:t>19.5 %&lt; O</a:t>
            </a:r>
            <a:r>
              <a:rPr lang="tr-TR" sz="2000" b="1" baseline="-25000" dirty="0">
                <a:solidFill>
                  <a:srgbClr val="FF0000"/>
                </a:solidFill>
              </a:rPr>
              <a:t>2</a:t>
            </a:r>
            <a:r>
              <a:rPr lang="tr-TR" sz="2000" b="1" dirty="0">
                <a:solidFill>
                  <a:srgbClr val="FF0000"/>
                </a:solidFill>
              </a:rPr>
              <a:t> &lt; 23 % OLMALIDIR.</a:t>
            </a:r>
            <a:endParaRPr lang="tr-TR" sz="2000" dirty="0">
              <a:solidFill>
                <a:srgbClr val="FF0000"/>
              </a:solidFill>
            </a:endParaRPr>
          </a:p>
          <a:p>
            <a:pPr algn="just">
              <a:buFont typeface="Wingdings" pitchFamily="2" charset="2"/>
              <a:buChar char="ü"/>
            </a:pPr>
            <a:r>
              <a:rPr lang="tr-TR" sz="2000" b="1" dirty="0"/>
              <a:t>2. </a:t>
            </a:r>
            <a:r>
              <a:rPr lang="tr-TR" sz="2000" b="1" dirty="0">
                <a:solidFill>
                  <a:srgbClr val="FF0000"/>
                </a:solidFill>
              </a:rPr>
              <a:t>PARLAYABİLİR GAZ SEVİYESİ: PARLAYICI GAZ İÇİN PARLAMA </a:t>
            </a:r>
            <a:endParaRPr lang="tr-TR" sz="2000" dirty="0">
              <a:solidFill>
                <a:srgbClr val="FF0000"/>
              </a:solidFill>
            </a:endParaRPr>
          </a:p>
          <a:p>
            <a:pPr algn="just">
              <a:buNone/>
            </a:pPr>
            <a:r>
              <a:rPr lang="tr-TR" sz="2000" b="1" dirty="0">
                <a:solidFill>
                  <a:srgbClr val="FF0000"/>
                </a:solidFill>
              </a:rPr>
              <a:t>           SEVİYESİ:&lt; % 10 LEL (</a:t>
            </a:r>
            <a:r>
              <a:rPr lang="tr-TR" sz="2000" b="1" dirty="0"/>
              <a:t>EN DÜŞÜK PATLAMA LİMİTİ)</a:t>
            </a:r>
            <a:endParaRPr lang="tr-TR" sz="2000" dirty="0"/>
          </a:p>
          <a:p>
            <a:pPr algn="just">
              <a:buNone/>
            </a:pPr>
            <a:r>
              <a:rPr lang="tr-TR" sz="2000" b="1" u="sng" dirty="0" smtClean="0"/>
              <a:t>     CİNSİ                                                </a:t>
            </a:r>
            <a:r>
              <a:rPr lang="tr-TR" sz="2000" b="1" u="sng" dirty="0"/>
              <a:t>LEL %               UEL %</a:t>
            </a:r>
            <a:endParaRPr lang="tr-TR" sz="2000" dirty="0"/>
          </a:p>
          <a:p>
            <a:pPr algn="just">
              <a:buNone/>
            </a:pPr>
            <a:r>
              <a:rPr lang="tr-TR" sz="2000" b="1" dirty="0" smtClean="0"/>
              <a:t>     ETANOL (ETHANOL)                       </a:t>
            </a:r>
            <a:r>
              <a:rPr lang="tr-TR" sz="2000" b="1" dirty="0"/>
              <a:t>3.5                    15</a:t>
            </a:r>
            <a:endParaRPr lang="tr-TR" sz="2000" dirty="0"/>
          </a:p>
          <a:p>
            <a:pPr algn="just">
              <a:buNone/>
            </a:pPr>
            <a:r>
              <a:rPr lang="tr-TR" sz="2000" b="1" dirty="0" smtClean="0"/>
              <a:t>     AMONYAK NH</a:t>
            </a:r>
            <a:r>
              <a:rPr lang="tr-TR" sz="2000" b="1" baseline="-25000" dirty="0" smtClean="0"/>
              <a:t>3                                            </a:t>
            </a:r>
            <a:r>
              <a:rPr lang="tr-TR" sz="2000" b="1" dirty="0" smtClean="0"/>
              <a:t>15                       28</a:t>
            </a:r>
            <a:endParaRPr lang="tr-TR" sz="2000" dirty="0"/>
          </a:p>
          <a:p>
            <a:pPr algn="just">
              <a:buNone/>
            </a:pPr>
            <a:r>
              <a:rPr lang="tr-TR" sz="2000" b="1" dirty="0" smtClean="0"/>
              <a:t>     ETER (ETHER)                                   1.7                    48</a:t>
            </a:r>
            <a:endParaRPr lang="tr-TR" sz="2000" dirty="0"/>
          </a:p>
          <a:p>
            <a:pPr algn="just">
              <a:buNone/>
            </a:pPr>
            <a:r>
              <a:rPr lang="tr-TR" sz="2000" b="1" dirty="0" smtClean="0"/>
              <a:t>     METAN (METHANE)                        5                       15</a:t>
            </a:r>
            <a:endParaRPr lang="tr-TR" sz="2000" dirty="0"/>
          </a:p>
          <a:p>
            <a:pPr algn="just">
              <a:buNone/>
            </a:pPr>
            <a:r>
              <a:rPr lang="tr-TR" sz="2000" b="1" dirty="0" smtClean="0"/>
              <a:t>     ASETİLEN (ACETHYLENE)               1.5                    82</a:t>
            </a:r>
            <a:endParaRPr lang="tr-TR" sz="2000" dirty="0"/>
          </a:p>
          <a:p>
            <a:pPr algn="just">
              <a:buNone/>
            </a:pPr>
            <a:r>
              <a:rPr lang="tr-TR" sz="2000" b="1" dirty="0" smtClean="0"/>
              <a:t>     HİDROJEN H</a:t>
            </a:r>
            <a:r>
              <a:rPr lang="tr-TR" sz="2000" b="1" baseline="-25000" dirty="0" smtClean="0"/>
              <a:t>2                                                      </a:t>
            </a:r>
            <a:r>
              <a:rPr lang="tr-TR" sz="2000" b="1" dirty="0" smtClean="0"/>
              <a:t>4                       76</a:t>
            </a:r>
            <a:endParaRPr lang="tr-TR" sz="2000" dirty="0"/>
          </a:p>
          <a:p>
            <a:pPr lvl="0" algn="just">
              <a:buFont typeface="Wingdings" pitchFamily="2" charset="2"/>
              <a:buChar char="ü"/>
            </a:pPr>
            <a:r>
              <a:rPr lang="tr-TR" sz="2000" b="1" dirty="0"/>
              <a:t>HENDEK, ÇUKUR VE DİĞER KAZI İŞLERİNİNİN YAPILDIĞI YERİN ÇEVRESİ UYGUN ŞEKİLDE KORKULUKLAR İLE KORUMA ALTINA ALINMALIDIR. GECELERİ IŞIKLI UYARMA LEVHALARI KONMALI.</a:t>
            </a:r>
            <a:endParaRPr lang="tr-TR" sz="2000" dirty="0"/>
          </a:p>
          <a:p>
            <a:endParaRPr lang="tr-TR" sz="2000" dirty="0"/>
          </a:p>
        </p:txBody>
      </p:sp>
      <p:sp>
        <p:nvSpPr>
          <p:cNvPr id="2" name="Slayt Numarası Yer Tutucusu 1"/>
          <p:cNvSpPr>
            <a:spLocks noGrp="1"/>
          </p:cNvSpPr>
          <p:nvPr>
            <p:ph type="sldNum" sz="quarter" idx="12"/>
          </p:nvPr>
        </p:nvSpPr>
        <p:spPr/>
        <p:txBody>
          <a:bodyPr/>
          <a:lstStyle/>
          <a:p>
            <a:pPr>
              <a:defRPr/>
            </a:pPr>
            <a:fld id="{7289ED51-3D18-45F8-86FC-FD8561268021}" type="slidenum">
              <a:rPr lang="es-ES" smtClean="0"/>
              <a:pPr>
                <a:defRPr/>
              </a:pPr>
              <a:t>25</a:t>
            </a:fld>
            <a:endParaRPr lang="es-ES"/>
          </a:p>
        </p:txBody>
      </p:sp>
    </p:spTree>
    <p:extLst>
      <p:ext uri="{BB962C8B-B14F-4D97-AF65-F5344CB8AC3E}">
        <p14:creationId xmlns:p14="http://schemas.microsoft.com/office/powerpoint/2010/main" xmlns="" val="614694341"/>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a:xfrm>
            <a:off x="457200" y="274638"/>
            <a:ext cx="8229600" cy="778098"/>
          </a:xfrm>
        </p:spPr>
        <p:txBody>
          <a:bodyPr>
            <a:normAutofit/>
          </a:bodyPr>
          <a:lstStyle/>
          <a:p>
            <a:r>
              <a:rPr lang="tr-TR" sz="2400" b="1" dirty="0"/>
              <a:t>YER ALTI </a:t>
            </a:r>
            <a:r>
              <a:rPr lang="tr-TR" sz="2400" b="1" dirty="0" smtClean="0"/>
              <a:t>TESİSLERİ </a:t>
            </a:r>
            <a:r>
              <a:rPr lang="tr-TR" sz="2400" b="1" dirty="0"/>
              <a:t>BAKIM ONARIM </a:t>
            </a:r>
            <a:r>
              <a:rPr lang="tr-TR" sz="2400" b="1" dirty="0" smtClean="0"/>
              <a:t>SIRASINDA İSG</a:t>
            </a:r>
            <a:endParaRPr lang="tr-TR" sz="2400" dirty="0"/>
          </a:p>
        </p:txBody>
      </p:sp>
      <p:sp>
        <p:nvSpPr>
          <p:cNvPr id="3" name="2 İçerik Yer Tutucusu"/>
          <p:cNvSpPr>
            <a:spLocks noGrp="1"/>
          </p:cNvSpPr>
          <p:nvPr>
            <p:ph idx="1"/>
          </p:nvPr>
        </p:nvSpPr>
        <p:spPr>
          <a:xfrm>
            <a:off x="0" y="836712"/>
            <a:ext cx="8388424" cy="6021288"/>
          </a:xfrm>
        </p:spPr>
        <p:txBody>
          <a:bodyPr>
            <a:normAutofit/>
          </a:bodyPr>
          <a:lstStyle/>
          <a:p>
            <a:pPr lvl="0" algn="just">
              <a:buFont typeface="Wingdings" pitchFamily="2" charset="2"/>
              <a:buChar char="ü"/>
            </a:pPr>
            <a:r>
              <a:rPr lang="tr-TR" sz="1800" b="1" dirty="0">
                <a:solidFill>
                  <a:srgbClr val="FF0000"/>
                </a:solidFill>
              </a:rPr>
              <a:t>TEHLİKELİ MADDELERİN TAŞINDIĞI BORULARIN MANŞON VE FLANŞLARININ SÖKÜLMESİ GEREKTİĞİNDE, </a:t>
            </a:r>
            <a:r>
              <a:rPr lang="tr-TR" sz="1800" b="1" dirty="0" smtClean="0">
                <a:solidFill>
                  <a:srgbClr val="FF0000"/>
                </a:solidFill>
              </a:rPr>
              <a:t>MANŞON </a:t>
            </a:r>
            <a:r>
              <a:rPr lang="tr-TR" sz="1800" b="1" dirty="0">
                <a:solidFill>
                  <a:srgbClr val="FF0000"/>
                </a:solidFill>
              </a:rPr>
              <a:t>VE FLANŞLARIN ETRAFI KURŞUN LEVHA İLE SARILARAK KORUNACAK, ÖNCE FLANŞLARIN ALT KISMINDAKİ SOMUNLAR SIZINTI BAŞLAYINCAYA KADAR GEVŞETİLECEK. SIZINTI TAMAMEN KESİLİNCE FLANŞLAR TAMAMEN AÇILACAK.</a:t>
            </a:r>
            <a:endParaRPr lang="tr-TR" sz="1800" dirty="0">
              <a:solidFill>
                <a:srgbClr val="FF0000"/>
              </a:solidFill>
            </a:endParaRPr>
          </a:p>
          <a:p>
            <a:pPr lvl="0" algn="just">
              <a:buFont typeface="Wingdings" pitchFamily="2" charset="2"/>
              <a:buChar char="ü"/>
            </a:pPr>
            <a:r>
              <a:rPr lang="tr-TR" sz="1800" b="1" dirty="0"/>
              <a:t>BORULARDAKİ BİRBİRİNE YAPIŞMIŞ FLANŞLARIN CİVATALARI SÖKÜLDÜKTEN SONRA, YAPIŞMIŞ OLAN FLANŞLAR UYGUN BİR MANEVELA VEYA SİVRİ BİR KESKİ İLE BİRBİRİNDEN AYRILACAK.</a:t>
            </a:r>
            <a:endParaRPr lang="tr-TR" sz="1800" dirty="0"/>
          </a:p>
          <a:p>
            <a:pPr lvl="0" algn="just">
              <a:buFont typeface="Wingdings" pitchFamily="2" charset="2"/>
              <a:buChar char="ü"/>
            </a:pPr>
            <a:r>
              <a:rPr lang="tr-TR" sz="2400" b="1" dirty="0">
                <a:solidFill>
                  <a:srgbClr val="FF0000"/>
                </a:solidFill>
              </a:rPr>
              <a:t>BETONDAN YAPILMIŞ DEPOLAR İÇİNDE BAKIM-ONARIM YAPILACAKSA, ÖZELLİKLE BETONUN KIRILMASI GEREKİYORSA, BETON TARAFINDAN EMİLMİŞ ZEHİRLİ MADDELERİN MEYDANA GETİRECEĞİ TEHLİKELERE KARŞI GEREKLİ ÖZEL KORUMA TEDBİRLERİ ALINMALIDIR</a:t>
            </a:r>
            <a:r>
              <a:rPr lang="tr-TR" sz="2400" b="1" dirty="0" smtClean="0">
                <a:solidFill>
                  <a:srgbClr val="FF0000"/>
                </a:solidFill>
              </a:rPr>
              <a:t>.</a:t>
            </a:r>
          </a:p>
          <a:p>
            <a:pPr lvl="0" algn="just">
              <a:buFont typeface="Wingdings" pitchFamily="2" charset="2"/>
              <a:buChar char="ü"/>
            </a:pPr>
            <a:endParaRPr lang="tr-TR" sz="2400" dirty="0">
              <a:solidFill>
                <a:srgbClr val="FF0000"/>
              </a:solidFill>
            </a:endParaRPr>
          </a:p>
          <a:p>
            <a:pPr lvl="0" algn="just">
              <a:buFont typeface="Wingdings" pitchFamily="2" charset="2"/>
              <a:buChar char="ü"/>
            </a:pPr>
            <a:r>
              <a:rPr lang="tr-TR" sz="2400" b="1" dirty="0"/>
              <a:t>TEHLİKELİ DEPO VE TANKLARIN BAKIM-ONARIMI YAPILIRKEN TECRÜBELİ TEKNİK VE SAĞLIK PERSONELİNDEN BİRER GÖZLEMCİ GÖREVLENDİRİLMELİDİR.</a:t>
            </a:r>
            <a:endParaRPr lang="tr-TR" sz="2400" dirty="0"/>
          </a:p>
          <a:p>
            <a:endParaRPr lang="tr-TR" sz="2000" dirty="0"/>
          </a:p>
        </p:txBody>
      </p:sp>
      <p:sp>
        <p:nvSpPr>
          <p:cNvPr id="4" name="Slayt Numarası Yer Tutucusu 3"/>
          <p:cNvSpPr>
            <a:spLocks noGrp="1"/>
          </p:cNvSpPr>
          <p:nvPr>
            <p:ph type="sldNum" sz="quarter" idx="12"/>
          </p:nvPr>
        </p:nvSpPr>
        <p:spPr/>
        <p:txBody>
          <a:bodyPr/>
          <a:lstStyle/>
          <a:p>
            <a:pPr>
              <a:defRPr/>
            </a:pPr>
            <a:fld id="{7289ED51-3D18-45F8-86FC-FD8561268021}" type="slidenum">
              <a:rPr lang="es-ES" smtClean="0"/>
              <a:pPr>
                <a:defRPr/>
              </a:pPr>
              <a:t>26</a:t>
            </a:fld>
            <a:endParaRPr lang="es-ES"/>
          </a:p>
        </p:txBody>
      </p:sp>
    </p:spTree>
    <p:extLst>
      <p:ext uri="{BB962C8B-B14F-4D97-AF65-F5344CB8AC3E}">
        <p14:creationId xmlns:p14="http://schemas.microsoft.com/office/powerpoint/2010/main" xmlns="" val="3565912742"/>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a:bodyPr>
          <a:lstStyle/>
          <a:p>
            <a:r>
              <a:rPr lang="tr-TR" sz="2400" b="1" dirty="0"/>
              <a:t>İNŞAAT  İŞLERİNDE BİNALARDA YAPILAN BAKIM-ONARIMDA İSG</a:t>
            </a:r>
            <a:endParaRPr lang="tr-TR" sz="2400" dirty="0"/>
          </a:p>
        </p:txBody>
      </p:sp>
      <p:sp>
        <p:nvSpPr>
          <p:cNvPr id="3" name="2 İçerik Yer Tutucusu"/>
          <p:cNvSpPr>
            <a:spLocks noGrp="1"/>
          </p:cNvSpPr>
          <p:nvPr>
            <p:ph idx="1"/>
          </p:nvPr>
        </p:nvSpPr>
        <p:spPr>
          <a:xfrm>
            <a:off x="179512" y="1196752"/>
            <a:ext cx="8208912" cy="5661248"/>
          </a:xfrm>
        </p:spPr>
        <p:txBody>
          <a:bodyPr>
            <a:normAutofit/>
          </a:bodyPr>
          <a:lstStyle/>
          <a:p>
            <a:pPr>
              <a:buNone/>
            </a:pPr>
            <a:r>
              <a:rPr lang="tr-TR" sz="2400" b="1" u="sng" dirty="0"/>
              <a:t>BAKIMDAN ÖNCE İSG</a:t>
            </a:r>
            <a:endParaRPr lang="tr-TR" sz="2400" u="sng" dirty="0"/>
          </a:p>
          <a:p>
            <a:pPr>
              <a:buNone/>
            </a:pPr>
            <a:r>
              <a:rPr lang="tr-TR" sz="2400" b="1" dirty="0"/>
              <a:t> </a:t>
            </a:r>
            <a:endParaRPr lang="tr-TR" sz="2400" dirty="0"/>
          </a:p>
          <a:p>
            <a:pPr lvl="0" algn="just">
              <a:buFont typeface="Wingdings" pitchFamily="2" charset="2"/>
              <a:buChar char="ü"/>
            </a:pPr>
            <a:r>
              <a:rPr lang="tr-TR" sz="2400" b="1" dirty="0">
                <a:solidFill>
                  <a:srgbClr val="FF0000"/>
                </a:solidFill>
              </a:rPr>
              <a:t>BİNA SAÇAKLARININ VE OLUKLARIN BAKIMINA BAŞLAMADAN ÖNCE  SAĞLAM İSKELELER KURULMALI. BU İSKELELER BİNAYA ANKARAJLARI YAPILMALIDIR.</a:t>
            </a:r>
            <a:endParaRPr lang="tr-TR" sz="2400" dirty="0">
              <a:solidFill>
                <a:srgbClr val="FF0000"/>
              </a:solidFill>
            </a:endParaRPr>
          </a:p>
          <a:p>
            <a:pPr lvl="0" algn="just">
              <a:buFont typeface="Wingdings" pitchFamily="2" charset="2"/>
              <a:buChar char="ü"/>
            </a:pPr>
            <a:r>
              <a:rPr lang="tr-TR" sz="2400" b="1" dirty="0"/>
              <a:t>İSKELELER STANDARTLARA UYGUN OLMALIDIR,</a:t>
            </a:r>
            <a:endParaRPr lang="tr-TR" sz="2400" dirty="0"/>
          </a:p>
          <a:p>
            <a:pPr lvl="0" algn="just">
              <a:buFont typeface="Wingdings" pitchFamily="2" charset="2"/>
              <a:buChar char="ü"/>
            </a:pPr>
            <a:r>
              <a:rPr lang="tr-TR" sz="2400" b="1" dirty="0">
                <a:solidFill>
                  <a:srgbClr val="FF0000"/>
                </a:solidFill>
              </a:rPr>
              <a:t>BAKIM ONARIM SIRASINDA, BİNANININ ETRAFINDAN GEÇECEK OLANLARIN ÜZERLERİNE BİRŞEYLERİN DÜŞMEMESİ İÇİN BİNA ÇEVRESİ ÇEPEÇEVRE KAPATILMALIDIR</a:t>
            </a:r>
            <a:endParaRPr lang="tr-TR" sz="2400" dirty="0">
              <a:solidFill>
                <a:srgbClr val="FF0000"/>
              </a:solidFill>
            </a:endParaRPr>
          </a:p>
          <a:p>
            <a:pPr lvl="0" algn="just">
              <a:buFont typeface="Wingdings" pitchFamily="2" charset="2"/>
              <a:buChar char="ü"/>
            </a:pPr>
            <a:r>
              <a:rPr lang="tr-TR" sz="2400" b="1" dirty="0"/>
              <a:t>BİNANIN GÖRÜNÜR YERİNE, BİNANIN BAKIM ONARIMI </a:t>
            </a:r>
            <a:r>
              <a:rPr lang="tr-TR" sz="2400" b="1" dirty="0" smtClean="0"/>
              <a:t>YAPILDIĞINI </a:t>
            </a:r>
            <a:r>
              <a:rPr lang="tr-TR" sz="2400" b="1" dirty="0"/>
              <a:t>BELİRTEN VE BİNA ETRAFINDAN GEÇMENİN TEHLİKELİ OLACAĞINI BELİRTEN LEVHA ASILMALIDIR.</a:t>
            </a:r>
            <a:endParaRPr lang="tr-TR" sz="2400" dirty="0"/>
          </a:p>
          <a:p>
            <a:pPr lvl="0" algn="just">
              <a:buFont typeface="Wingdings" pitchFamily="2" charset="2"/>
              <a:buChar char="ü"/>
            </a:pPr>
            <a:r>
              <a:rPr lang="tr-TR" sz="2400" b="1" dirty="0" smtClean="0">
                <a:solidFill>
                  <a:srgbClr val="FF0000"/>
                </a:solidFill>
              </a:rPr>
              <a:t>BİNA TESİSAT </a:t>
            </a:r>
            <a:r>
              <a:rPr lang="tr-TR" sz="2400" b="1" dirty="0">
                <a:solidFill>
                  <a:srgbClr val="FF0000"/>
                </a:solidFill>
              </a:rPr>
              <a:t>BAKIM-ONARIM İŞLERİNDE İŞÇİLERE GÜVENLİ MERDİVEN VEYA PLATFORMLU KALDIRICILAR VERİLMELİDİR</a:t>
            </a:r>
            <a:r>
              <a:rPr lang="tr-TR" sz="2000" b="1" dirty="0"/>
              <a:t>.</a:t>
            </a:r>
            <a:endParaRPr lang="tr-TR" sz="2000" dirty="0"/>
          </a:p>
          <a:p>
            <a:pPr>
              <a:buFont typeface="Wingdings" pitchFamily="2" charset="2"/>
              <a:buChar char="ü"/>
            </a:pPr>
            <a:endParaRPr lang="tr-TR" sz="2000" dirty="0"/>
          </a:p>
        </p:txBody>
      </p:sp>
      <p:sp>
        <p:nvSpPr>
          <p:cNvPr id="4" name="Slayt Numarası Yer Tutucusu 3"/>
          <p:cNvSpPr>
            <a:spLocks noGrp="1"/>
          </p:cNvSpPr>
          <p:nvPr>
            <p:ph type="sldNum" sz="quarter" idx="12"/>
          </p:nvPr>
        </p:nvSpPr>
        <p:spPr/>
        <p:txBody>
          <a:bodyPr/>
          <a:lstStyle/>
          <a:p>
            <a:pPr>
              <a:defRPr/>
            </a:pPr>
            <a:fld id="{7289ED51-3D18-45F8-86FC-FD8561268021}" type="slidenum">
              <a:rPr lang="es-ES" smtClean="0"/>
              <a:pPr>
                <a:defRPr/>
              </a:pPr>
              <a:t>27</a:t>
            </a:fld>
            <a:endParaRPr lang="es-ES"/>
          </a:p>
        </p:txBody>
      </p:sp>
    </p:spTree>
    <p:extLst>
      <p:ext uri="{BB962C8B-B14F-4D97-AF65-F5344CB8AC3E}">
        <p14:creationId xmlns:p14="http://schemas.microsoft.com/office/powerpoint/2010/main" xmlns="" val="3052220012"/>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1"/>
          </p:nvPr>
        </p:nvSpPr>
        <p:spPr>
          <a:xfrm>
            <a:off x="0" y="332656"/>
            <a:ext cx="8460432" cy="6525344"/>
          </a:xfrm>
        </p:spPr>
        <p:txBody>
          <a:bodyPr>
            <a:normAutofit fontScale="92500" lnSpcReduction="10000"/>
          </a:bodyPr>
          <a:lstStyle/>
          <a:p>
            <a:pPr lvl="0">
              <a:buFont typeface="Wingdings" pitchFamily="2" charset="2"/>
              <a:buChar char="ü"/>
            </a:pPr>
            <a:r>
              <a:rPr lang="tr-TR" sz="2500" b="1" dirty="0" smtClean="0"/>
              <a:t>KUYU</a:t>
            </a:r>
            <a:r>
              <a:rPr lang="tr-TR" sz="2500" b="1" dirty="0"/>
              <a:t>, KANALİZASYON BAKIMLARINDA ZEHİRLİ GAZLARA KARŞI GEREKLİ GÜVENLİK ÖNLEMLERİ ÖNCEDEN ALINMALIDIR.</a:t>
            </a:r>
            <a:endParaRPr lang="tr-TR" sz="2500" dirty="0"/>
          </a:p>
          <a:p>
            <a:pPr>
              <a:buNone/>
            </a:pPr>
            <a:r>
              <a:rPr lang="tr-TR" sz="2500" b="1" u="sng" dirty="0">
                <a:solidFill>
                  <a:srgbClr val="FF0000"/>
                </a:solidFill>
              </a:rPr>
              <a:t>BAKIM SIRASINDA İSG</a:t>
            </a:r>
            <a:endParaRPr lang="tr-TR" sz="2500" u="sng" dirty="0">
              <a:solidFill>
                <a:srgbClr val="FF0000"/>
              </a:solidFill>
            </a:endParaRPr>
          </a:p>
          <a:p>
            <a:pPr lvl="0" algn="just">
              <a:buFont typeface="Wingdings" pitchFamily="2" charset="2"/>
              <a:buChar char="ü"/>
            </a:pPr>
            <a:r>
              <a:rPr lang="tr-TR" sz="2500" b="1" dirty="0"/>
              <a:t>YÜKSEK YERLERDE ÇALIŞMALARDA İŞÇİLERİN DÜŞMEMELER İÇİN GEREKLİ GÜVENLİK ÖNLEMLERİ ALINMALIDIR.</a:t>
            </a:r>
            <a:endParaRPr lang="tr-TR" sz="2500" dirty="0"/>
          </a:p>
          <a:p>
            <a:pPr lvl="0" algn="just">
              <a:buFont typeface="Wingdings" pitchFamily="2" charset="2"/>
              <a:buChar char="ü"/>
            </a:pPr>
            <a:r>
              <a:rPr lang="tr-TR" sz="2500" b="1" dirty="0">
                <a:solidFill>
                  <a:srgbClr val="FF0000"/>
                </a:solidFill>
              </a:rPr>
              <a:t>İKİ METREDEN DAHA YÜKSEK YERLERDE YAPILACAK BAKIM- ONARIMLARDA </a:t>
            </a:r>
            <a:r>
              <a:rPr lang="tr-TR" sz="2500" b="1" dirty="0" smtClean="0">
                <a:solidFill>
                  <a:srgbClr val="FF0000"/>
                </a:solidFill>
              </a:rPr>
              <a:t>İŞÇİLERİN MERDİVENDEN </a:t>
            </a:r>
            <a:r>
              <a:rPr lang="tr-TR" sz="2500" b="1" dirty="0">
                <a:solidFill>
                  <a:srgbClr val="FF0000"/>
                </a:solidFill>
              </a:rPr>
              <a:t>DÜŞMELERİNİ ÖNLEYECEK HALAT BAĞLANTILARI YAPILMALI.</a:t>
            </a:r>
            <a:endParaRPr lang="tr-TR" sz="2500" dirty="0">
              <a:solidFill>
                <a:srgbClr val="FF0000"/>
              </a:solidFill>
            </a:endParaRPr>
          </a:p>
          <a:p>
            <a:pPr lvl="0" algn="just">
              <a:buFont typeface="Wingdings" pitchFamily="2" charset="2"/>
              <a:buChar char="ü"/>
            </a:pPr>
            <a:r>
              <a:rPr lang="tr-TR" sz="2500" b="1" dirty="0"/>
              <a:t>İŞCİLER PLATFORM ÜZERİNDE ÇALIŞIRKEN AYAKLARININ KAYMAMASI İÇİN PLATFORM TABANI UYGUN BİR MADDE İLE KAPLANMALIDIR.</a:t>
            </a:r>
            <a:endParaRPr lang="tr-TR" sz="2500" dirty="0"/>
          </a:p>
          <a:p>
            <a:pPr lvl="0" algn="just">
              <a:buFont typeface="Wingdings" pitchFamily="2" charset="2"/>
              <a:buChar char="ü"/>
            </a:pPr>
            <a:r>
              <a:rPr lang="tr-TR" sz="2500" b="1" dirty="0">
                <a:solidFill>
                  <a:srgbClr val="FF0000"/>
                </a:solidFill>
              </a:rPr>
              <a:t>ÇALIŞMA PLATFORMUN ETRAFI KORKULUKLARLA ÇEVRİLİ OLMALIDIR.</a:t>
            </a:r>
            <a:endParaRPr lang="tr-TR" sz="2500" dirty="0">
              <a:solidFill>
                <a:srgbClr val="FF0000"/>
              </a:solidFill>
            </a:endParaRPr>
          </a:p>
          <a:p>
            <a:pPr lvl="0" algn="just">
              <a:buFont typeface="Wingdings" pitchFamily="2" charset="2"/>
              <a:buChar char="ü"/>
            </a:pPr>
            <a:r>
              <a:rPr lang="tr-TR" sz="2500" b="1" dirty="0"/>
              <a:t>TEMEL AÇMA, DERİN KANALLARIN AÇILMASINDA, TOPRAK ÇÖKMESİNİ ÖNLEMEK İÇİN GEREKLİ DAYAMA </a:t>
            </a:r>
            <a:r>
              <a:rPr lang="tr-TR" sz="2500" b="1" dirty="0" smtClean="0"/>
              <a:t>PAYANDALARI</a:t>
            </a:r>
            <a:r>
              <a:rPr lang="tr-TR" sz="2500" dirty="0"/>
              <a:t> </a:t>
            </a:r>
            <a:r>
              <a:rPr lang="tr-TR" sz="2500" b="1" dirty="0" smtClean="0"/>
              <a:t>KONARAK </a:t>
            </a:r>
            <a:r>
              <a:rPr lang="tr-TR" sz="2500" b="1" dirty="0"/>
              <a:t>EMNİYET TEDBİRLERİ ALINMALIDIR</a:t>
            </a:r>
            <a:r>
              <a:rPr lang="tr-TR" sz="2500" b="1" dirty="0" smtClean="0"/>
              <a:t>.</a:t>
            </a:r>
          </a:p>
          <a:p>
            <a:pPr lvl="0" algn="just">
              <a:buFont typeface="Wingdings" pitchFamily="2" charset="2"/>
              <a:buChar char="ü"/>
            </a:pPr>
            <a:r>
              <a:rPr lang="tr-TR" sz="2500" b="1" dirty="0">
                <a:solidFill>
                  <a:srgbClr val="FF0000"/>
                </a:solidFill>
              </a:rPr>
              <a:t>HER TÜRLÜ ÇUKURLARI ETRAFI BARİYERLERLE ÇEVRİLMELİ GECE IŞIKLI CİHAZLAR KONMALIDIR.</a:t>
            </a:r>
            <a:endParaRPr lang="tr-TR" sz="2500" dirty="0">
              <a:solidFill>
                <a:srgbClr val="FF0000"/>
              </a:solidFill>
            </a:endParaRPr>
          </a:p>
          <a:p>
            <a:endParaRPr lang="tr-TR" sz="2000" dirty="0"/>
          </a:p>
          <a:p>
            <a:endParaRPr lang="tr-TR" sz="2000" dirty="0"/>
          </a:p>
        </p:txBody>
      </p:sp>
      <p:sp>
        <p:nvSpPr>
          <p:cNvPr id="2" name="Slayt Numarası Yer Tutucusu 1"/>
          <p:cNvSpPr>
            <a:spLocks noGrp="1"/>
          </p:cNvSpPr>
          <p:nvPr>
            <p:ph type="sldNum" sz="quarter" idx="12"/>
          </p:nvPr>
        </p:nvSpPr>
        <p:spPr/>
        <p:txBody>
          <a:bodyPr/>
          <a:lstStyle/>
          <a:p>
            <a:pPr>
              <a:defRPr/>
            </a:pPr>
            <a:fld id="{7289ED51-3D18-45F8-86FC-FD8561268021}" type="slidenum">
              <a:rPr lang="es-ES" smtClean="0"/>
              <a:pPr>
                <a:defRPr/>
              </a:pPr>
              <a:t>28</a:t>
            </a:fld>
            <a:endParaRPr lang="es-ES"/>
          </a:p>
        </p:txBody>
      </p:sp>
    </p:spTree>
    <p:extLst>
      <p:ext uri="{BB962C8B-B14F-4D97-AF65-F5344CB8AC3E}">
        <p14:creationId xmlns:p14="http://schemas.microsoft.com/office/powerpoint/2010/main" xmlns="" val="560227038"/>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1"/>
          </p:nvPr>
        </p:nvSpPr>
        <p:spPr>
          <a:xfrm>
            <a:off x="0" y="332656"/>
            <a:ext cx="8460432" cy="6525344"/>
          </a:xfrm>
        </p:spPr>
        <p:txBody>
          <a:bodyPr>
            <a:normAutofit lnSpcReduction="10000"/>
          </a:bodyPr>
          <a:lstStyle/>
          <a:p>
            <a:pPr lvl="0" algn="just">
              <a:buFont typeface="Wingdings" pitchFamily="2" charset="2"/>
              <a:buChar char="ü"/>
            </a:pPr>
            <a:r>
              <a:rPr lang="tr-TR" sz="2400" b="1" dirty="0"/>
              <a:t>KORKULUKLU PLATFOM İLE ÇALIŞMA SAĞLANAMAYAN VE 4 MT. DEN YÜKSEK YERLERDEKİ BAKIM – ONARIMLARDA, HER TÜRLÜ YIKIM VE SÖKÜM İŞLERİNDE, GEREKLİ GÜVENLİK TEDBİRLERİ ALINMALIDIR. İŞÇİLERE UYGUN BARET, EMNİYET KEMERİ, BAĞLAMA İPLERİ İLE KKD MALZEMELERİ VERİLMELİDİR.</a:t>
            </a:r>
            <a:endParaRPr lang="tr-TR" sz="2400" dirty="0"/>
          </a:p>
          <a:p>
            <a:pPr lvl="0" algn="just">
              <a:buFont typeface="Wingdings" pitchFamily="2" charset="2"/>
              <a:buChar char="ü"/>
            </a:pPr>
            <a:r>
              <a:rPr lang="tr-TR" sz="2400" b="1" dirty="0">
                <a:solidFill>
                  <a:srgbClr val="FF0000"/>
                </a:solidFill>
              </a:rPr>
              <a:t>YÜKSEK </a:t>
            </a:r>
            <a:r>
              <a:rPr lang="tr-TR" sz="2400" b="1" dirty="0" smtClean="0">
                <a:solidFill>
                  <a:srgbClr val="FF0000"/>
                </a:solidFill>
              </a:rPr>
              <a:t>BİNALARIN ÜZERİNDEKİ </a:t>
            </a:r>
            <a:r>
              <a:rPr lang="tr-TR" sz="2400" b="1" dirty="0">
                <a:solidFill>
                  <a:srgbClr val="FF0000"/>
                </a:solidFill>
              </a:rPr>
              <a:t>BAKIM-ONARIM ÇALIŞMALARINDA, DÜŞMELERİ ÖNLEYEN TOPLU KORUMAYA YÖNELİK KORUYUCULAR ÖZEL BİR İŞİN YAPILMASI İÇİN, GEÇİCİ OLARAK KALDIRILMASI MECBURİYETİNDE KALINDIĞINDA, </a:t>
            </a:r>
            <a:r>
              <a:rPr lang="tr-TR" sz="2400" b="1" dirty="0" smtClean="0">
                <a:solidFill>
                  <a:srgbClr val="FF0000"/>
                </a:solidFill>
              </a:rPr>
              <a:t>AYNI </a:t>
            </a:r>
            <a:r>
              <a:rPr lang="tr-TR" sz="2400" b="1" dirty="0">
                <a:solidFill>
                  <a:srgbClr val="FF0000"/>
                </a:solidFill>
              </a:rPr>
              <a:t>KORUMAYI SAĞLAYACAK BAŞKA BİR GÜVENLİK ÖNLEMLERİ ALINMALIDIR. BU ÖNLEMLER ALINANA KADAR ÇALIŞMA YAPILMAMALIDIR. BU ÖZEL İŞ GEÇİCİ VEYA KESİN OLARAK BİTİRİLDİKTEN SONRA ESKİ KORUYUCULAR TEKRAR YERİNE KONMALIDIR.</a:t>
            </a:r>
            <a:endParaRPr lang="tr-TR" sz="2400" dirty="0">
              <a:solidFill>
                <a:srgbClr val="FF0000"/>
              </a:solidFill>
            </a:endParaRPr>
          </a:p>
          <a:p>
            <a:pPr lvl="0" algn="just">
              <a:buFont typeface="Wingdings" pitchFamily="2" charset="2"/>
              <a:buChar char="ü"/>
            </a:pPr>
            <a:r>
              <a:rPr lang="tr-TR" sz="2400" b="1" dirty="0"/>
              <a:t>YÜKSEKLERDE YAPILACAK BAKIM-ONARIM İŞLERİNDE, İŞÇİLERİN SAĞLIK VE GÜVENLİĞİNİ TEHLİKEYE ATMAYACAK NİTELİKTE UYGUN HAVA KOŞULLARINDA ÇALIŞMA YAPILMALIDIR.</a:t>
            </a:r>
            <a:endParaRPr lang="tr-TR" sz="2400" dirty="0"/>
          </a:p>
          <a:p>
            <a:endParaRPr lang="tr-TR" sz="2000" dirty="0"/>
          </a:p>
        </p:txBody>
      </p:sp>
      <p:sp>
        <p:nvSpPr>
          <p:cNvPr id="2" name="Slayt Numarası Yer Tutucusu 1"/>
          <p:cNvSpPr>
            <a:spLocks noGrp="1"/>
          </p:cNvSpPr>
          <p:nvPr>
            <p:ph type="sldNum" sz="quarter" idx="12"/>
          </p:nvPr>
        </p:nvSpPr>
        <p:spPr/>
        <p:txBody>
          <a:bodyPr/>
          <a:lstStyle/>
          <a:p>
            <a:pPr>
              <a:defRPr/>
            </a:pPr>
            <a:fld id="{7289ED51-3D18-45F8-86FC-FD8561268021}" type="slidenum">
              <a:rPr lang="es-ES" smtClean="0"/>
              <a:pPr>
                <a:defRPr/>
              </a:pPr>
              <a:t>29</a:t>
            </a:fld>
            <a:endParaRPr lang="es-ES"/>
          </a:p>
        </p:txBody>
      </p:sp>
    </p:spTree>
    <p:extLst>
      <p:ext uri="{BB962C8B-B14F-4D97-AF65-F5344CB8AC3E}">
        <p14:creationId xmlns:p14="http://schemas.microsoft.com/office/powerpoint/2010/main" xmlns="" val="3082173934"/>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1"/>
          </p:nvPr>
        </p:nvSpPr>
        <p:spPr>
          <a:xfrm>
            <a:off x="457200" y="548680"/>
            <a:ext cx="8003232" cy="6048672"/>
          </a:xfrm>
        </p:spPr>
        <p:txBody>
          <a:bodyPr>
            <a:normAutofit/>
          </a:bodyPr>
          <a:lstStyle/>
          <a:p>
            <a:pPr>
              <a:buNone/>
            </a:pPr>
            <a:r>
              <a:rPr lang="tr-TR" sz="2800" b="1" u="sng" dirty="0"/>
              <a:t>BAKIMDAN SONRA </a:t>
            </a:r>
            <a:r>
              <a:rPr lang="tr-TR" sz="2800" b="1" u="sng" dirty="0" smtClean="0"/>
              <a:t>İSG</a:t>
            </a:r>
          </a:p>
          <a:p>
            <a:pPr>
              <a:buNone/>
            </a:pPr>
            <a:endParaRPr lang="tr-TR" sz="2000" u="sng" dirty="0"/>
          </a:p>
          <a:p>
            <a:pPr lvl="0">
              <a:buFont typeface="Wingdings" pitchFamily="2" charset="2"/>
              <a:buChar char="ü"/>
            </a:pPr>
            <a:r>
              <a:rPr lang="tr-TR" sz="2400" b="1" dirty="0">
                <a:solidFill>
                  <a:srgbClr val="FF0000"/>
                </a:solidFill>
              </a:rPr>
              <a:t>BİNA DIŞ </a:t>
            </a:r>
            <a:r>
              <a:rPr lang="tr-TR" sz="2400" b="1" dirty="0" smtClean="0">
                <a:solidFill>
                  <a:srgbClr val="FF0000"/>
                </a:solidFill>
              </a:rPr>
              <a:t>BAKIMLARI </a:t>
            </a:r>
            <a:r>
              <a:rPr lang="tr-TR" sz="2400" b="1" dirty="0">
                <a:solidFill>
                  <a:srgbClr val="FF0000"/>
                </a:solidFill>
              </a:rPr>
              <a:t>BİTTİKTEN SONRA İSKELELER SÖKÜLÜRKEN ÇEVREYE ZARAR VERMEYECEK GÜVENLİK ÖNLEMLERİ ALINACAKTIR</a:t>
            </a:r>
            <a:endParaRPr lang="tr-TR" sz="2400" dirty="0">
              <a:solidFill>
                <a:srgbClr val="FF0000"/>
              </a:solidFill>
            </a:endParaRPr>
          </a:p>
          <a:p>
            <a:pPr lvl="0">
              <a:buFont typeface="Wingdings" pitchFamily="2" charset="2"/>
              <a:buChar char="ü"/>
            </a:pPr>
            <a:r>
              <a:rPr lang="tr-TR" sz="2400" b="1" dirty="0" smtClean="0"/>
              <a:t>AÇILAN ÇUKUR </a:t>
            </a:r>
            <a:r>
              <a:rPr lang="tr-TR" sz="2400" b="1" dirty="0"/>
              <a:t>VE KANAL ARTIKLARI TEMİZLENECEKTİR.</a:t>
            </a:r>
            <a:endParaRPr lang="tr-TR" sz="2400" dirty="0"/>
          </a:p>
          <a:p>
            <a:pPr lvl="0">
              <a:buFont typeface="Wingdings" pitchFamily="2" charset="2"/>
              <a:buChar char="ü"/>
            </a:pPr>
            <a:r>
              <a:rPr lang="tr-TR" sz="2400" b="1" dirty="0">
                <a:solidFill>
                  <a:srgbClr val="FF0000"/>
                </a:solidFill>
              </a:rPr>
              <a:t>BİNA ÇATILARINA KONAN KORUYUCULAR ÇATIYA ZARAR VERMEYECEK ŞEKİLDE SÖKÜLECEKTİR</a:t>
            </a:r>
            <a:r>
              <a:rPr lang="tr-TR" sz="2400" b="1" dirty="0"/>
              <a:t>.</a:t>
            </a:r>
            <a:endParaRPr lang="tr-TR" sz="2400" dirty="0"/>
          </a:p>
          <a:p>
            <a:pPr lvl="0">
              <a:buFont typeface="Wingdings" pitchFamily="2" charset="2"/>
              <a:buChar char="ü"/>
            </a:pPr>
            <a:r>
              <a:rPr lang="tr-TR" sz="2400" b="1" dirty="0"/>
              <a:t>BAKIMDA KULLANILAN TAKIMLAR TEMİZLENEREK YERLERİNE KONACAKTIR.</a:t>
            </a:r>
            <a:endParaRPr lang="tr-TR" sz="2400" dirty="0"/>
          </a:p>
          <a:p>
            <a:pPr lvl="0">
              <a:buFont typeface="Wingdings" pitchFamily="2" charset="2"/>
              <a:buChar char="ü"/>
            </a:pPr>
            <a:r>
              <a:rPr lang="tr-TR" sz="2400" b="1" dirty="0">
                <a:solidFill>
                  <a:srgbClr val="FF0000"/>
                </a:solidFill>
              </a:rPr>
              <a:t>BAKIM HAKKINDA İLGİLİLERE BİLGİ VERİLECEKTİR.</a:t>
            </a:r>
            <a:endParaRPr lang="tr-TR" sz="2400" dirty="0">
              <a:solidFill>
                <a:srgbClr val="FF0000"/>
              </a:solidFill>
            </a:endParaRPr>
          </a:p>
          <a:p>
            <a:endParaRPr lang="tr-TR" sz="2000" dirty="0"/>
          </a:p>
        </p:txBody>
      </p:sp>
      <p:sp>
        <p:nvSpPr>
          <p:cNvPr id="2" name="Slayt Numarası Yer Tutucusu 1"/>
          <p:cNvSpPr>
            <a:spLocks noGrp="1"/>
          </p:cNvSpPr>
          <p:nvPr>
            <p:ph type="sldNum" sz="quarter" idx="12"/>
          </p:nvPr>
        </p:nvSpPr>
        <p:spPr/>
        <p:txBody>
          <a:bodyPr/>
          <a:lstStyle/>
          <a:p>
            <a:pPr>
              <a:defRPr/>
            </a:pPr>
            <a:fld id="{7289ED51-3D18-45F8-86FC-FD8561268021}" type="slidenum">
              <a:rPr lang="es-ES" smtClean="0"/>
              <a:pPr>
                <a:defRPr/>
              </a:pPr>
              <a:t>30</a:t>
            </a:fld>
            <a:endParaRPr lang="es-ES"/>
          </a:p>
        </p:txBody>
      </p:sp>
    </p:spTree>
    <p:extLst>
      <p:ext uri="{BB962C8B-B14F-4D97-AF65-F5344CB8AC3E}">
        <p14:creationId xmlns:p14="http://schemas.microsoft.com/office/powerpoint/2010/main" xmlns="" val="103929700"/>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a:bodyPr>
          <a:lstStyle/>
          <a:p>
            <a:r>
              <a:rPr lang="tr-TR" sz="1600" b="1" dirty="0" smtClean="0"/>
              <a:t>İŞ SAĞLIĞI VE İŞ GÜVENLİĞİ TÜZÜĞÜNÜN BAKIM VE ONAMRIM İŞLERİNDE ALINACAK GÜVENLİK TEDBİRLERİNE İLİŞKİN MADDELERİ</a:t>
            </a:r>
            <a:endParaRPr lang="tr-TR" sz="1600" dirty="0"/>
          </a:p>
        </p:txBody>
      </p:sp>
      <p:sp>
        <p:nvSpPr>
          <p:cNvPr id="3" name="2 İçerik Yer Tutucusu"/>
          <p:cNvSpPr>
            <a:spLocks noGrp="1"/>
          </p:cNvSpPr>
          <p:nvPr>
            <p:ph idx="1"/>
          </p:nvPr>
        </p:nvSpPr>
        <p:spPr>
          <a:xfrm>
            <a:off x="107504" y="1196752"/>
            <a:ext cx="8352928" cy="5661248"/>
          </a:xfrm>
        </p:spPr>
        <p:txBody>
          <a:bodyPr>
            <a:normAutofit/>
          </a:bodyPr>
          <a:lstStyle/>
          <a:p>
            <a:pPr>
              <a:buNone/>
            </a:pPr>
            <a:r>
              <a:rPr lang="tr-TR" sz="2000" b="1" dirty="0" smtClean="0"/>
              <a:t>TEHLİKELİ DURUMU BİLDİRME: </a:t>
            </a:r>
            <a:endParaRPr lang="tr-TR" sz="2000" dirty="0" smtClean="0"/>
          </a:p>
          <a:p>
            <a:pPr algn="just">
              <a:buFont typeface="Wingdings" pitchFamily="2" charset="2"/>
              <a:buChar char="§"/>
            </a:pPr>
            <a:r>
              <a:rPr lang="tr-TR" sz="2000" dirty="0" smtClean="0"/>
              <a:t>İşyerinde çalışanlar; bina veya bina kısmında, inşaatta, makinede, tesisatta, alette ve edevatta göreceği noksan veya tehlikeli durumu, amirine veya bakım ve onarım işleriyle görevli olanlara hemen bildirecek ve işveren de bu kusurları en kısa zamanda ve uygun şekilde giderecektir.</a:t>
            </a:r>
            <a:br>
              <a:rPr lang="tr-TR" sz="2000" dirty="0" smtClean="0"/>
            </a:br>
            <a:r>
              <a:rPr lang="tr-TR" sz="2000" dirty="0" smtClean="0"/>
              <a:t>(İşçi Sağlığı ve İş Güvenliği Tüzüğü Madde:499)</a:t>
            </a:r>
          </a:p>
          <a:p>
            <a:pPr algn="just">
              <a:buFont typeface="Wingdings" pitchFamily="2" charset="2"/>
              <a:buChar char="§"/>
            </a:pPr>
            <a:endParaRPr lang="tr-TR" sz="2000" dirty="0" smtClean="0"/>
          </a:p>
          <a:p>
            <a:pPr algn="just">
              <a:buNone/>
            </a:pPr>
            <a:r>
              <a:rPr lang="tr-TR" sz="2000" b="1" dirty="0" smtClean="0"/>
              <a:t>KORUYUCUNUN SÖKÜMÜNDE İZİN: </a:t>
            </a:r>
            <a:endParaRPr lang="tr-TR" sz="2000" dirty="0" smtClean="0"/>
          </a:p>
          <a:p>
            <a:pPr algn="just">
              <a:buFont typeface="Wingdings" pitchFamily="2" charset="2"/>
              <a:buChar char="§"/>
            </a:pPr>
            <a:r>
              <a:rPr lang="tr-TR" sz="2000" dirty="0" smtClean="0"/>
              <a:t>Bakım ve onarım işlerinin yapılabilmesi için, koruyucu tertibatın kaldırılması gerektiği hallerde, bunlar makine durdurulduktan ve onarım işlerinden sorumlu olanlardan izin alındıktan sonra kaldırılacak ve onarım işlerinden sorumlu kişi, onarılan cihaz veya tesisatın çalışmasına izin vermeden önce, koruyucu tertibatın uygun şekilde tekrar yerlerine konulup konulmadığını kontrol edecektir.</a:t>
            </a:r>
          </a:p>
          <a:p>
            <a:pPr marL="114300" indent="0" algn="just">
              <a:buNone/>
            </a:pPr>
            <a:r>
              <a:rPr lang="tr-TR" sz="2000" dirty="0" smtClean="0"/>
              <a:t>   (İşçi Sağlığı ve İş Güvenliği Tüzüğü Madde:500)</a:t>
            </a:r>
          </a:p>
          <a:p>
            <a:endParaRPr lang="tr-TR" sz="2000" dirty="0"/>
          </a:p>
        </p:txBody>
      </p:sp>
      <p:sp>
        <p:nvSpPr>
          <p:cNvPr id="4" name="Slayt Numarası Yer Tutucusu 3"/>
          <p:cNvSpPr>
            <a:spLocks noGrp="1"/>
          </p:cNvSpPr>
          <p:nvPr>
            <p:ph type="sldNum" sz="quarter" idx="12"/>
          </p:nvPr>
        </p:nvSpPr>
        <p:spPr/>
        <p:txBody>
          <a:bodyPr/>
          <a:lstStyle/>
          <a:p>
            <a:pPr>
              <a:defRPr/>
            </a:pPr>
            <a:fld id="{7289ED51-3D18-45F8-86FC-FD8561268021}" type="slidenum">
              <a:rPr lang="es-ES" smtClean="0"/>
              <a:pPr>
                <a:defRPr/>
              </a:pPr>
              <a:t>31</a:t>
            </a:fld>
            <a:endParaRPr lang="es-ES"/>
          </a:p>
        </p:txBody>
      </p:sp>
    </p:spTree>
    <p:extLst>
      <p:ext uri="{BB962C8B-B14F-4D97-AF65-F5344CB8AC3E}">
        <p14:creationId xmlns:p14="http://schemas.microsoft.com/office/powerpoint/2010/main" xmlns="" val="3432103609"/>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1"/>
          </p:nvPr>
        </p:nvSpPr>
        <p:spPr>
          <a:xfrm>
            <a:off x="107504" y="357166"/>
            <a:ext cx="8352928" cy="6500834"/>
          </a:xfrm>
        </p:spPr>
        <p:txBody>
          <a:bodyPr>
            <a:normAutofit fontScale="92500" lnSpcReduction="10000"/>
          </a:bodyPr>
          <a:lstStyle/>
          <a:p>
            <a:pPr>
              <a:buNone/>
            </a:pPr>
            <a:endParaRPr lang="tr-TR" sz="2000" b="1" dirty="0" smtClean="0"/>
          </a:p>
          <a:p>
            <a:pPr>
              <a:buNone/>
            </a:pPr>
            <a:r>
              <a:rPr lang="tr-TR" sz="2000" b="1" dirty="0" smtClean="0"/>
              <a:t>AYDINLATMA: </a:t>
            </a:r>
            <a:endParaRPr lang="tr-TR" sz="2000" dirty="0" smtClean="0"/>
          </a:p>
          <a:p>
            <a:pPr algn="just">
              <a:buFont typeface="Wingdings" pitchFamily="2" charset="2"/>
              <a:buChar char="§"/>
            </a:pPr>
            <a:r>
              <a:rPr lang="tr-TR" sz="2000" dirty="0" smtClean="0"/>
              <a:t>Bakım ve onarım işlerinde, uygun ve yeterli bir aydınlatma sağlanacak ve gerektiğinde özel aydınlatma yapılacak,bakım ve onarım işleriyle görevli işçilere, alev geçirmez el lambaları verilecektir. </a:t>
            </a:r>
            <a:br>
              <a:rPr lang="tr-TR" sz="2000" dirty="0" smtClean="0"/>
            </a:br>
            <a:r>
              <a:rPr lang="tr-TR" sz="2000" dirty="0" smtClean="0"/>
              <a:t>(İşçi Sağlığı ve İş Güvenliği Tüzüğü Madde:501)</a:t>
            </a:r>
          </a:p>
          <a:p>
            <a:pPr algn="just">
              <a:buNone/>
            </a:pPr>
            <a:r>
              <a:rPr lang="tr-TR" sz="2000" b="1" dirty="0" smtClean="0"/>
              <a:t>TAKIM ÇANTALARI: </a:t>
            </a:r>
            <a:endParaRPr lang="tr-TR" sz="2000" dirty="0" smtClean="0"/>
          </a:p>
          <a:p>
            <a:pPr algn="just">
              <a:buFont typeface="Wingdings" pitchFamily="2" charset="2"/>
              <a:buChar char="§"/>
            </a:pPr>
            <a:r>
              <a:rPr lang="tr-TR" sz="2000" dirty="0" smtClean="0"/>
              <a:t>Bakım ve onarım işleri ile görevlendirilenlere, yapılacak işlerin gerektiği bütün aletleri alabilecek büyüklükte ve işyerindeki platform veya diğer yüksek yerlere tehlikesizce çekebilecek takım çantaları veya kutuları verilecek, bakım ve onarım işlerinde kullanılan büyük aletlerin taşınması için, özel el arabaları bulundurulacaktır.</a:t>
            </a:r>
          </a:p>
          <a:p>
            <a:pPr marL="114300" indent="0" algn="just">
              <a:buNone/>
            </a:pPr>
            <a:r>
              <a:rPr lang="tr-TR" sz="2000" dirty="0" smtClean="0"/>
              <a:t>(İşçi Sağlığı ve İş Güvenliği Tüzüğü Madde:502)</a:t>
            </a:r>
          </a:p>
          <a:p>
            <a:pPr algn="just">
              <a:buNone/>
            </a:pPr>
            <a:r>
              <a:rPr lang="tr-TR" sz="2000" b="1" dirty="0" smtClean="0"/>
              <a:t>İSKELE: </a:t>
            </a:r>
            <a:endParaRPr lang="tr-TR" sz="2000" dirty="0" smtClean="0"/>
          </a:p>
          <a:p>
            <a:pPr algn="just">
              <a:buFont typeface="Wingdings" pitchFamily="2" charset="2"/>
              <a:buChar char="§"/>
            </a:pPr>
            <a:r>
              <a:rPr lang="tr-TR" sz="2000" dirty="0" smtClean="0"/>
              <a:t>Bina ve tesisatta yapılacak bakım ve onarım işlerinde, geçici olarak uygun ve güvenli sabit merdivenle platformlar, geçit veya iskeleler yapılacaktır.</a:t>
            </a:r>
            <a:br>
              <a:rPr lang="tr-TR" sz="2000" dirty="0" smtClean="0"/>
            </a:br>
            <a:r>
              <a:rPr lang="tr-TR" sz="2000" dirty="0" smtClean="0"/>
              <a:t>(İşçi Sağlığı ve İş Güvenliği Tüzüğü Madde:503)</a:t>
            </a:r>
          </a:p>
          <a:p>
            <a:pPr algn="just">
              <a:buNone/>
            </a:pPr>
            <a:r>
              <a:rPr lang="tr-TR" sz="2000" b="1" dirty="0" smtClean="0"/>
              <a:t>ÇALIŞIRKEN BAKIM ONARIM: </a:t>
            </a:r>
            <a:endParaRPr lang="tr-TR" sz="2000" dirty="0" smtClean="0"/>
          </a:p>
          <a:p>
            <a:pPr algn="just">
              <a:buFont typeface="Wingdings" pitchFamily="2" charset="2"/>
              <a:buChar char="§"/>
            </a:pPr>
            <a:r>
              <a:rPr lang="tr-TR" sz="2000" dirty="0" smtClean="0"/>
              <a:t>İşyerlerinde bakım ve onarım işleri, bu yerlerdeki çalışmalar durdurulmadan yapıldığı hallerde, gerekli güvenlik tedbirleri alınacaktır.</a:t>
            </a:r>
            <a:br>
              <a:rPr lang="tr-TR" sz="2000" dirty="0" smtClean="0"/>
            </a:br>
            <a:r>
              <a:rPr lang="tr-TR" sz="2000" dirty="0" smtClean="0"/>
              <a:t>(İşçi Sağlığı ve İş Güvenliği Tüzüğü Madde:504)</a:t>
            </a:r>
          </a:p>
          <a:p>
            <a:pPr algn="just">
              <a:buNone/>
            </a:pPr>
            <a:r>
              <a:rPr lang="tr-TR" sz="2000" b="1" dirty="0" smtClean="0"/>
              <a:t> </a:t>
            </a:r>
            <a:endParaRPr lang="tr-TR" sz="2000" dirty="0" smtClean="0"/>
          </a:p>
          <a:p>
            <a:pPr>
              <a:buNone/>
            </a:pPr>
            <a:endParaRPr lang="tr-TR" sz="2000" dirty="0"/>
          </a:p>
        </p:txBody>
      </p:sp>
      <p:sp>
        <p:nvSpPr>
          <p:cNvPr id="2" name="Slayt Numarası Yer Tutucusu 1"/>
          <p:cNvSpPr>
            <a:spLocks noGrp="1"/>
          </p:cNvSpPr>
          <p:nvPr>
            <p:ph type="sldNum" sz="quarter" idx="12"/>
          </p:nvPr>
        </p:nvSpPr>
        <p:spPr/>
        <p:txBody>
          <a:bodyPr/>
          <a:lstStyle/>
          <a:p>
            <a:pPr>
              <a:defRPr/>
            </a:pPr>
            <a:fld id="{7289ED51-3D18-45F8-86FC-FD8561268021}" type="slidenum">
              <a:rPr lang="es-ES" smtClean="0"/>
              <a:pPr>
                <a:defRPr/>
              </a:pPr>
              <a:t>32</a:t>
            </a:fld>
            <a:endParaRPr lang="es-ES"/>
          </a:p>
        </p:txBody>
      </p:sp>
    </p:spTree>
    <p:extLst>
      <p:ext uri="{BB962C8B-B14F-4D97-AF65-F5344CB8AC3E}">
        <p14:creationId xmlns:p14="http://schemas.microsoft.com/office/powerpoint/2010/main" xmlns="" val="3186938205"/>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1"/>
          </p:nvPr>
        </p:nvSpPr>
        <p:spPr>
          <a:xfrm>
            <a:off x="0" y="0"/>
            <a:ext cx="8460432" cy="6858000"/>
          </a:xfrm>
        </p:spPr>
        <p:txBody>
          <a:bodyPr>
            <a:normAutofit/>
          </a:bodyPr>
          <a:lstStyle/>
          <a:p>
            <a:pPr>
              <a:buNone/>
            </a:pPr>
            <a:r>
              <a:rPr lang="tr-TR" sz="2000" b="1" dirty="0" smtClean="0"/>
              <a:t>YERALTI TESİSİNDE BAKIM ONARIM: </a:t>
            </a:r>
            <a:endParaRPr lang="tr-TR" sz="2000" dirty="0" smtClean="0"/>
          </a:p>
          <a:p>
            <a:pPr algn="just">
              <a:buFont typeface="Wingdings" pitchFamily="2" charset="2"/>
              <a:buChar char="§"/>
            </a:pPr>
            <a:r>
              <a:rPr lang="tr-TR" sz="2000" dirty="0" smtClean="0"/>
              <a:t>Kuyu veya diğer yeraltı tesislerinde yapılacak bakım ve onarım işlerinde; zararlı, zehirleyici, boğucu veya parlayıcı gaz veya sıvıların tehlikeli bir şekilde toplanacakları göz önünde bulundurularak gerekli ve yeterli güvenlik tedbirleri alınacaktır.</a:t>
            </a:r>
          </a:p>
          <a:p>
            <a:pPr algn="just">
              <a:buNone/>
            </a:pPr>
            <a:r>
              <a:rPr lang="tr-TR" sz="2000" dirty="0" smtClean="0"/>
              <a:t/>
            </a:r>
            <a:br>
              <a:rPr lang="tr-TR" sz="2000" dirty="0" smtClean="0"/>
            </a:br>
            <a:r>
              <a:rPr lang="tr-TR" sz="2000" dirty="0" smtClean="0"/>
              <a:t>Bu gibi yerlerde, tecrübeli ve usta işçiler çalıştırılacak, bunlara uygun kişisel koruma teçhizatı verilecek ve tecrübeli bir veya birden fazla gözlemci görevlendirilecektir.</a:t>
            </a:r>
          </a:p>
          <a:p>
            <a:pPr algn="just">
              <a:buNone/>
            </a:pPr>
            <a:r>
              <a:rPr lang="tr-TR" sz="2000" dirty="0" smtClean="0"/>
              <a:t> (İşçi Sağlığı ve İş Güvenliği Tüzüğü Madde:505)</a:t>
            </a:r>
          </a:p>
          <a:p>
            <a:pPr algn="just">
              <a:buNone/>
            </a:pPr>
            <a:r>
              <a:rPr lang="tr-TR" sz="2000" b="1" dirty="0" smtClean="0"/>
              <a:t>KAZI İŞLERİNDE GÜVENLİK: </a:t>
            </a:r>
            <a:endParaRPr lang="tr-TR" sz="2000" dirty="0" smtClean="0"/>
          </a:p>
          <a:p>
            <a:pPr algn="just">
              <a:buFont typeface="Wingdings" pitchFamily="2" charset="2"/>
              <a:buChar char="§"/>
            </a:pPr>
            <a:r>
              <a:rPr lang="tr-TR" sz="2000" dirty="0" smtClean="0"/>
              <a:t>Hendek, çukur ve diğer kazı işlerinin yapıldığı yerlere, uygun şekilde payandalar ve korkuluklar yapılacak ve buralara, geceleri ışıklı uyarma levhaları konulacaktır.</a:t>
            </a:r>
          </a:p>
          <a:p>
            <a:pPr algn="just">
              <a:buNone/>
            </a:pPr>
            <a:r>
              <a:rPr lang="tr-TR" sz="2000" dirty="0" smtClean="0"/>
              <a:t>	(İşçi Sağlığı ve İş Güvenliği Tüzüğü Madde:506)</a:t>
            </a:r>
          </a:p>
          <a:p>
            <a:pPr algn="just">
              <a:buNone/>
            </a:pPr>
            <a:r>
              <a:rPr lang="tr-TR" sz="2000" b="1" dirty="0" smtClean="0"/>
              <a:t>BOŞTAKİ KAYIŞLAR: </a:t>
            </a:r>
            <a:endParaRPr lang="tr-TR" sz="2000" dirty="0" smtClean="0"/>
          </a:p>
          <a:p>
            <a:pPr algn="just">
              <a:buFont typeface="Wingdings" pitchFamily="2" charset="2"/>
              <a:buChar char="§"/>
            </a:pPr>
            <a:r>
              <a:rPr lang="tr-TR" sz="2000" dirty="0" smtClean="0"/>
              <a:t>Sürekli olarak transmisyonla çalışılan işyerlerinde,bakım ve onarım sırasında boşa alınan kayışlar, sabit kancalara veya uygun diğer tertibata takılacaktır.</a:t>
            </a:r>
            <a:br>
              <a:rPr lang="tr-TR" sz="2000" dirty="0" smtClean="0"/>
            </a:br>
            <a:r>
              <a:rPr lang="tr-TR" sz="2000" dirty="0" smtClean="0"/>
              <a:t>(İşçi Sağlığı ve İş Güvenliği Tüzüğü Madde:507)</a:t>
            </a:r>
          </a:p>
          <a:p>
            <a:endParaRPr lang="tr-TR" sz="2000" dirty="0"/>
          </a:p>
        </p:txBody>
      </p:sp>
      <p:sp>
        <p:nvSpPr>
          <p:cNvPr id="2" name="Slayt Numarası Yer Tutucusu 1"/>
          <p:cNvSpPr>
            <a:spLocks noGrp="1"/>
          </p:cNvSpPr>
          <p:nvPr>
            <p:ph type="sldNum" sz="quarter" idx="12"/>
          </p:nvPr>
        </p:nvSpPr>
        <p:spPr/>
        <p:txBody>
          <a:bodyPr/>
          <a:lstStyle/>
          <a:p>
            <a:pPr>
              <a:defRPr/>
            </a:pPr>
            <a:fld id="{7289ED51-3D18-45F8-86FC-FD8561268021}" type="slidenum">
              <a:rPr lang="es-ES" smtClean="0"/>
              <a:pPr>
                <a:defRPr/>
              </a:pPr>
              <a:t>33</a:t>
            </a:fld>
            <a:endParaRPr lang="es-ES"/>
          </a:p>
        </p:txBody>
      </p:sp>
    </p:spTree>
    <p:extLst>
      <p:ext uri="{BB962C8B-B14F-4D97-AF65-F5344CB8AC3E}">
        <p14:creationId xmlns:p14="http://schemas.microsoft.com/office/powerpoint/2010/main" xmlns="" val="914638563"/>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1"/>
          </p:nvPr>
        </p:nvSpPr>
        <p:spPr>
          <a:xfrm>
            <a:off x="-15592" y="1184"/>
            <a:ext cx="8476024" cy="6856816"/>
          </a:xfrm>
        </p:spPr>
        <p:txBody>
          <a:bodyPr>
            <a:normAutofit/>
          </a:bodyPr>
          <a:lstStyle/>
          <a:p>
            <a:pPr>
              <a:buNone/>
            </a:pPr>
            <a:endParaRPr lang="tr-TR" sz="2000" b="1" dirty="0" smtClean="0"/>
          </a:p>
          <a:p>
            <a:pPr>
              <a:buNone/>
            </a:pPr>
            <a:r>
              <a:rPr lang="tr-TR" b="1" dirty="0" smtClean="0"/>
              <a:t>BASINÇLI KAPLARDA ONARIM: </a:t>
            </a:r>
            <a:endParaRPr lang="tr-TR" dirty="0" smtClean="0"/>
          </a:p>
          <a:p>
            <a:pPr algn="just">
              <a:buFont typeface="Wingdings" pitchFamily="2" charset="2"/>
              <a:buChar char="§"/>
            </a:pPr>
            <a:r>
              <a:rPr lang="tr-TR" dirty="0" smtClean="0"/>
              <a:t>Basınçlı kazanlar ve kaplar, basınç altında iken onarılmayacaktır.</a:t>
            </a:r>
            <a:br>
              <a:rPr lang="tr-TR" dirty="0" smtClean="0"/>
            </a:br>
            <a:r>
              <a:rPr lang="tr-TR" dirty="0" smtClean="0"/>
              <a:t>(İşçi Sağlığı ve İş Güvenliği Tüzüğü Madde:508)</a:t>
            </a:r>
          </a:p>
          <a:p>
            <a:pPr algn="just">
              <a:buNone/>
            </a:pPr>
            <a:r>
              <a:rPr lang="tr-TR" b="1" dirty="0" smtClean="0"/>
              <a:t>BETONUN </a:t>
            </a:r>
            <a:r>
              <a:rPr lang="tr-TR" b="1" dirty="0" smtClean="0"/>
              <a:t>EMDİĞİ MADDELERE KARŞI ÖNLEM: </a:t>
            </a:r>
            <a:endParaRPr lang="tr-TR" dirty="0" smtClean="0"/>
          </a:p>
          <a:p>
            <a:pPr algn="just">
              <a:buFont typeface="Wingdings" pitchFamily="2" charset="2"/>
              <a:buChar char="§"/>
            </a:pPr>
            <a:r>
              <a:rPr lang="tr-TR" dirty="0" smtClean="0"/>
              <a:t>Betondan yapılmış depolar içinde bakım ve onarım için çalışılması ve özellikle betonun kırılması gereken hallerde, beton tarafından emilmiş bulunan maddelerin meydana getirebilecekleri tehlikelere karşı, gerekli özel koruma tedbirleri alınacaktır. </a:t>
            </a:r>
            <a:br>
              <a:rPr lang="tr-TR" dirty="0" smtClean="0"/>
            </a:br>
            <a:r>
              <a:rPr lang="tr-TR" dirty="0" smtClean="0"/>
              <a:t>(İşçi Sağlığı ve İş Güvenliği Tüzüğü Madde:509)</a:t>
            </a:r>
          </a:p>
          <a:p>
            <a:pPr algn="just">
              <a:buNone/>
            </a:pPr>
            <a:r>
              <a:rPr lang="tr-TR" b="1" dirty="0" smtClean="0"/>
              <a:t>TANK AĞZINDA GÖZLEMCİ - KİŞİSEL KORUNMA ARAÇLARI: </a:t>
            </a:r>
            <a:endParaRPr lang="tr-TR" dirty="0" smtClean="0"/>
          </a:p>
          <a:p>
            <a:pPr algn="just">
              <a:buFont typeface="Wingdings" pitchFamily="2" charset="2"/>
              <a:buChar char="§"/>
            </a:pPr>
            <a:r>
              <a:rPr lang="tr-TR" dirty="0" smtClean="0"/>
              <a:t>Tehlikeli gaz, buhar veya sislerin meydana gelebileceği tank veya depolar içinde yapılacak bakım ve onarım işlerinde; işçilere maskeler,solunum cihazları ile emniyet kemerleri gibi uygun kişisel korunma araçları verilecek ve iş süresince tank veya depo ağızlarında bir gözlemci bulundurulacaktır.</a:t>
            </a:r>
            <a:br>
              <a:rPr lang="tr-TR" dirty="0" smtClean="0"/>
            </a:br>
            <a:r>
              <a:rPr lang="tr-TR" dirty="0" smtClean="0"/>
              <a:t>(İşçi Sağlığı ve İş Güvenliği Tüzüğü Madde:510)</a:t>
            </a:r>
          </a:p>
          <a:p>
            <a:endParaRPr lang="tr-TR" sz="2000" dirty="0"/>
          </a:p>
        </p:txBody>
      </p:sp>
      <p:sp>
        <p:nvSpPr>
          <p:cNvPr id="2" name="Slayt Numarası Yer Tutucusu 1"/>
          <p:cNvSpPr>
            <a:spLocks noGrp="1"/>
          </p:cNvSpPr>
          <p:nvPr>
            <p:ph type="sldNum" sz="quarter" idx="12"/>
          </p:nvPr>
        </p:nvSpPr>
        <p:spPr/>
        <p:txBody>
          <a:bodyPr/>
          <a:lstStyle/>
          <a:p>
            <a:pPr>
              <a:defRPr/>
            </a:pPr>
            <a:fld id="{7289ED51-3D18-45F8-86FC-FD8561268021}" type="slidenum">
              <a:rPr lang="es-ES" smtClean="0"/>
              <a:pPr>
                <a:defRPr/>
              </a:pPr>
              <a:t>34</a:t>
            </a:fld>
            <a:endParaRPr lang="es-ES"/>
          </a:p>
        </p:txBody>
      </p:sp>
    </p:spTree>
    <p:extLst>
      <p:ext uri="{BB962C8B-B14F-4D97-AF65-F5344CB8AC3E}">
        <p14:creationId xmlns:p14="http://schemas.microsoft.com/office/powerpoint/2010/main" xmlns="" val="2975785601"/>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1"/>
          </p:nvPr>
        </p:nvSpPr>
        <p:spPr>
          <a:xfrm>
            <a:off x="0" y="0"/>
            <a:ext cx="8460432" cy="6858000"/>
          </a:xfrm>
        </p:spPr>
        <p:txBody>
          <a:bodyPr>
            <a:normAutofit fontScale="85000" lnSpcReduction="10000"/>
          </a:bodyPr>
          <a:lstStyle/>
          <a:p>
            <a:pPr>
              <a:buNone/>
            </a:pPr>
            <a:endParaRPr lang="tr-TR" sz="2000" b="1" dirty="0" smtClean="0"/>
          </a:p>
          <a:p>
            <a:pPr>
              <a:buNone/>
            </a:pPr>
            <a:r>
              <a:rPr lang="tr-TR" sz="2400" b="1" dirty="0" smtClean="0"/>
              <a:t>BAĞLANTI AĞIZLARINA KÖR TAPA: </a:t>
            </a:r>
            <a:endParaRPr lang="tr-TR" sz="2400" dirty="0" smtClean="0"/>
          </a:p>
          <a:p>
            <a:pPr algn="just">
              <a:buFont typeface="Wingdings" pitchFamily="2" charset="2"/>
              <a:buChar char="§"/>
            </a:pPr>
            <a:r>
              <a:rPr lang="tr-TR" sz="2400" dirty="0" smtClean="0"/>
              <a:t>Onarılacak depo veya tanklar, başka depo veya tanklarla bağlantılı bulunduklarında, bağlantı borularının vanaları, güvenli bir şekilde kapatılacak veya bu borular sökülerek bağlantı ağızları, kör tapa veya kapaklarla kapanacaktır.</a:t>
            </a:r>
          </a:p>
          <a:p>
            <a:pPr marL="114300" indent="0" algn="just">
              <a:buNone/>
            </a:pPr>
            <a:r>
              <a:rPr lang="tr-TR" sz="2400" dirty="0" smtClean="0"/>
              <a:t>(İşçi Sağlığı ve İş Güvenliği Tüzüğü Madde:511)</a:t>
            </a:r>
          </a:p>
          <a:p>
            <a:pPr algn="just">
              <a:buNone/>
            </a:pPr>
            <a:r>
              <a:rPr lang="tr-TR" sz="2400" b="1" dirty="0" smtClean="0"/>
              <a:t>TANKTA KARIŞTIRMA TERTİBATINDA ÖNLEM: </a:t>
            </a:r>
            <a:endParaRPr lang="tr-TR" sz="2400" dirty="0" smtClean="0"/>
          </a:p>
          <a:p>
            <a:pPr algn="just">
              <a:buFont typeface="Wingdings" pitchFamily="2" charset="2"/>
              <a:buChar char="§"/>
            </a:pPr>
            <a:r>
              <a:rPr lang="tr-TR" sz="2400" dirty="0" smtClean="0"/>
              <a:t>Onarılacak tank veya depoların içinde mekanik karıştırma tertibatı bulunduğu hallerde, bakım ve onarıma başlanmadan önce, karıştırıcı tertibatın güç kaynağı ile bağlantısı kesilecek ve karıştırıcılar, uygun şekilde takozlanacak, desteklenecek veya bağlanacaktır.</a:t>
            </a:r>
          </a:p>
          <a:p>
            <a:pPr marL="114300" indent="0" algn="just">
              <a:buNone/>
            </a:pPr>
            <a:r>
              <a:rPr lang="tr-TR" sz="2400" dirty="0" smtClean="0"/>
              <a:t>(İşçi Sağlığı ve İş Güvenliği Tüzüğü Madde:512)</a:t>
            </a:r>
          </a:p>
          <a:p>
            <a:pPr algn="just">
              <a:buNone/>
            </a:pPr>
            <a:r>
              <a:rPr lang="tr-TR" sz="2400" b="1" dirty="0" smtClean="0"/>
              <a:t>TEHLİKELİ SIVI DEPOLARININ BAKIM ONARIMINDA GÜVENLİK: </a:t>
            </a:r>
            <a:endParaRPr lang="tr-TR" sz="2400" dirty="0" smtClean="0"/>
          </a:p>
          <a:p>
            <a:pPr algn="just">
              <a:buFont typeface="Wingdings" pitchFamily="2" charset="2"/>
              <a:buChar char="§"/>
            </a:pPr>
            <a:r>
              <a:rPr lang="tr-TR" sz="2400" dirty="0" smtClean="0"/>
              <a:t>Tehlikeli sıvıların bulunduğu tank ve depolar,en geç yılda bir defa kontrol edilecek ve onarımda bunlar tamamen boşaltılacak, bağlantı boruları sökülecek veya uygun kör tapalarla tıkanacak veya vanaları kapatılacaktır.</a:t>
            </a:r>
            <a:br>
              <a:rPr lang="tr-TR" sz="2400" dirty="0" smtClean="0"/>
            </a:br>
            <a:r>
              <a:rPr lang="tr-TR" sz="2400" dirty="0" smtClean="0"/>
              <a:t>Birikinti ve çamurlar, depo dışında duracak işçiler tarafından gelberi veya diğer uygun aletlerle dışarı çıkarılacak ve depo ağzından içeri uzatılacak spiralli borular veya hortumlarla ve basınçlı su ile yıkanacak ve gerektiğinde uzun saplı araçlarla kazınarak raspalanacak ve kıvılcım ve darbe etkisiyle patlama veya parlama tehlikelerine karşı, özel koruma tedbirleri alınacaktır</a:t>
            </a:r>
            <a:r>
              <a:rPr lang="tr-TR" sz="2000" dirty="0" smtClean="0"/>
              <a:t>.</a:t>
            </a:r>
            <a:br>
              <a:rPr lang="tr-TR" sz="2000" dirty="0" smtClean="0"/>
            </a:br>
            <a:endParaRPr lang="tr-TR" sz="2000" dirty="0"/>
          </a:p>
        </p:txBody>
      </p:sp>
      <p:sp>
        <p:nvSpPr>
          <p:cNvPr id="2" name="Slayt Numarası Yer Tutucusu 1"/>
          <p:cNvSpPr>
            <a:spLocks noGrp="1"/>
          </p:cNvSpPr>
          <p:nvPr>
            <p:ph type="sldNum" sz="quarter" idx="12"/>
          </p:nvPr>
        </p:nvSpPr>
        <p:spPr/>
        <p:txBody>
          <a:bodyPr/>
          <a:lstStyle/>
          <a:p>
            <a:pPr>
              <a:defRPr/>
            </a:pPr>
            <a:fld id="{7289ED51-3D18-45F8-86FC-FD8561268021}" type="slidenum">
              <a:rPr lang="es-ES" smtClean="0"/>
              <a:pPr>
                <a:defRPr/>
              </a:pPr>
              <a:t>35</a:t>
            </a:fld>
            <a:endParaRPr lang="es-ES"/>
          </a:p>
        </p:txBody>
      </p:sp>
    </p:spTree>
    <p:extLst>
      <p:ext uri="{BB962C8B-B14F-4D97-AF65-F5344CB8AC3E}">
        <p14:creationId xmlns:p14="http://schemas.microsoft.com/office/powerpoint/2010/main" xmlns="" val="490882976"/>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1"/>
          </p:nvPr>
        </p:nvSpPr>
        <p:spPr>
          <a:xfrm>
            <a:off x="0" y="26712"/>
            <a:ext cx="8460432" cy="6831288"/>
          </a:xfrm>
        </p:spPr>
        <p:txBody>
          <a:bodyPr>
            <a:normAutofit fontScale="92500"/>
          </a:bodyPr>
          <a:lstStyle/>
          <a:p>
            <a:pPr>
              <a:buNone/>
            </a:pPr>
            <a:r>
              <a:rPr lang="tr-TR" sz="2200" b="1" dirty="0" smtClean="0"/>
              <a:t>TEMİZ HAVA: </a:t>
            </a:r>
            <a:endParaRPr lang="tr-TR" sz="2200" dirty="0" smtClean="0"/>
          </a:p>
          <a:p>
            <a:pPr algn="just">
              <a:buFont typeface="Wingdings" pitchFamily="2" charset="2"/>
              <a:buChar char="§"/>
            </a:pPr>
            <a:r>
              <a:rPr lang="tr-TR" sz="2200" dirty="0" smtClean="0">
                <a:solidFill>
                  <a:srgbClr val="FF0000"/>
                </a:solidFill>
              </a:rPr>
              <a:t>İçinde işçilerin çalışmakta olduğu küçük depo veya kapalı yerlere, gerektiğinde sürekli olarak ve uygun şekilde temiz hava verilecektir</a:t>
            </a:r>
            <a:r>
              <a:rPr lang="tr-TR" sz="2200" dirty="0" smtClean="0"/>
              <a:t>.</a:t>
            </a:r>
            <a:br>
              <a:rPr lang="tr-TR" sz="2200" dirty="0" smtClean="0"/>
            </a:br>
            <a:r>
              <a:rPr lang="tr-TR" sz="2200" dirty="0" smtClean="0"/>
              <a:t>(İşçi Sağlığı ve İş Güvenliği Tüzüğü Madde:514)</a:t>
            </a:r>
          </a:p>
          <a:p>
            <a:pPr algn="just">
              <a:buNone/>
            </a:pPr>
            <a:r>
              <a:rPr lang="tr-TR" sz="2200" b="1" dirty="0" smtClean="0"/>
              <a:t>BORU VE KANALLARIN BOŞALTILMASI: </a:t>
            </a:r>
            <a:endParaRPr lang="tr-TR" sz="2200" dirty="0" smtClean="0"/>
          </a:p>
          <a:p>
            <a:pPr algn="just">
              <a:buFont typeface="Wingdings" pitchFamily="2" charset="2"/>
              <a:buChar char="§"/>
            </a:pPr>
            <a:r>
              <a:rPr lang="tr-TR" sz="2200" dirty="0" err="1" smtClean="0"/>
              <a:t>Korozif</a:t>
            </a:r>
            <a:r>
              <a:rPr lang="tr-TR" sz="2200" dirty="0" smtClean="0"/>
              <a:t>, parlayıcı, patlayıcı veya zehirli maddelerin taşındığı boru veya kanalların onarım işlerine başlanmadan önce, vanalar iyice kapatılıp kilitlenecek veya uygun sürgü tertibatı ile bağlanacak, boru ve kanallar tamamen boşaltılacak ve bu arada çıkacak gaz veya buhar, dağılıp kayboluncaya kadar beklenecektir.</a:t>
            </a:r>
            <a:br>
              <a:rPr lang="tr-TR" sz="2200" dirty="0" smtClean="0"/>
            </a:br>
            <a:r>
              <a:rPr lang="tr-TR" sz="2200" dirty="0" smtClean="0"/>
              <a:t>Oksijenle kaynak veya kesme işleri yapıldığı hallerde, borular yıkanacak ve gerektiğinde kaynar su veya buhar geçirilecektir. </a:t>
            </a:r>
            <a:br>
              <a:rPr lang="tr-TR" sz="2200" dirty="0" smtClean="0"/>
            </a:br>
            <a:r>
              <a:rPr lang="tr-TR" sz="2200" dirty="0" smtClean="0"/>
              <a:t>(İşçi Sağlığı ve İş Güvenliği Tüzüğü Madde:515)</a:t>
            </a:r>
          </a:p>
          <a:p>
            <a:pPr algn="just">
              <a:buNone/>
            </a:pPr>
            <a:r>
              <a:rPr lang="tr-TR" sz="2200" b="1" dirty="0" smtClean="0"/>
              <a:t>FLANJAR: </a:t>
            </a:r>
            <a:endParaRPr lang="tr-TR" sz="2200" dirty="0" smtClean="0"/>
          </a:p>
          <a:p>
            <a:pPr algn="just">
              <a:buFont typeface="Wingdings" pitchFamily="2" charset="2"/>
              <a:buChar char="§"/>
            </a:pPr>
            <a:r>
              <a:rPr lang="tr-TR" sz="2200" dirty="0" smtClean="0"/>
              <a:t>Tehlikeli maddelerin taşındığı boruların manşon ve </a:t>
            </a:r>
            <a:r>
              <a:rPr lang="tr-TR" sz="2200" dirty="0" err="1" smtClean="0"/>
              <a:t>flanşlarının</a:t>
            </a:r>
            <a:r>
              <a:rPr lang="tr-TR" sz="2200" dirty="0" smtClean="0"/>
              <a:t> sökülmesi gerektiğinde, manşon ve </a:t>
            </a:r>
            <a:r>
              <a:rPr lang="tr-TR" sz="2200" dirty="0" err="1" smtClean="0"/>
              <a:t>flanşların</a:t>
            </a:r>
            <a:r>
              <a:rPr lang="tr-TR" sz="2200" dirty="0" smtClean="0"/>
              <a:t> etrafı kurşun bir levha ile korunacak ve önce </a:t>
            </a:r>
            <a:r>
              <a:rPr lang="tr-TR" sz="2200" dirty="0" err="1" smtClean="0"/>
              <a:t>flanşların</a:t>
            </a:r>
            <a:r>
              <a:rPr lang="tr-TR" sz="2200" dirty="0" smtClean="0"/>
              <a:t> alt kısımlarındaki somunlar, sızıntı başlayıncaya kadar gevşetilecek, sızıntı kesildikten sonra </a:t>
            </a:r>
            <a:r>
              <a:rPr lang="tr-TR" sz="2200" dirty="0" err="1" smtClean="0"/>
              <a:t>flanşlar</a:t>
            </a:r>
            <a:r>
              <a:rPr lang="tr-TR" sz="2200" dirty="0" smtClean="0"/>
              <a:t> tamamen açılacaktır.</a:t>
            </a:r>
            <a:br>
              <a:rPr lang="tr-TR" sz="2200" dirty="0" smtClean="0"/>
            </a:br>
            <a:r>
              <a:rPr lang="tr-TR" sz="2200" dirty="0" smtClean="0"/>
              <a:t>Birbirine yapışmış veya kaynamış olduğu görülen </a:t>
            </a:r>
            <a:r>
              <a:rPr lang="tr-TR" sz="2200" dirty="0" err="1" smtClean="0"/>
              <a:t>flanşlar</a:t>
            </a:r>
            <a:r>
              <a:rPr lang="tr-TR" sz="2200" dirty="0" smtClean="0"/>
              <a:t>,uygun bir kalem veya başka uygun bir aletle açılacaktır. </a:t>
            </a:r>
            <a:br>
              <a:rPr lang="tr-TR" sz="2200" dirty="0" smtClean="0"/>
            </a:br>
            <a:r>
              <a:rPr lang="tr-TR" sz="2200" dirty="0" smtClean="0"/>
              <a:t>(İşçi Sağlığı ve İş Güvenliği Tüzüğü Madde:516)</a:t>
            </a:r>
          </a:p>
          <a:p>
            <a:pPr algn="just"/>
            <a:endParaRPr lang="tr-TR" sz="2000" dirty="0"/>
          </a:p>
        </p:txBody>
      </p:sp>
      <p:sp>
        <p:nvSpPr>
          <p:cNvPr id="2" name="Slayt Numarası Yer Tutucusu 1"/>
          <p:cNvSpPr>
            <a:spLocks noGrp="1"/>
          </p:cNvSpPr>
          <p:nvPr>
            <p:ph type="sldNum" sz="quarter" idx="12"/>
          </p:nvPr>
        </p:nvSpPr>
        <p:spPr/>
        <p:txBody>
          <a:bodyPr/>
          <a:lstStyle/>
          <a:p>
            <a:pPr>
              <a:defRPr/>
            </a:pPr>
            <a:fld id="{7289ED51-3D18-45F8-86FC-FD8561268021}" type="slidenum">
              <a:rPr lang="es-ES" smtClean="0"/>
              <a:pPr>
                <a:defRPr/>
              </a:pPr>
              <a:t>36</a:t>
            </a:fld>
            <a:endParaRPr lang="es-ES"/>
          </a:p>
        </p:txBody>
      </p:sp>
    </p:spTree>
    <p:extLst>
      <p:ext uri="{BB962C8B-B14F-4D97-AF65-F5344CB8AC3E}">
        <p14:creationId xmlns:p14="http://schemas.microsoft.com/office/powerpoint/2010/main" xmlns="" val="2274293171"/>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1"/>
          </p:nvPr>
        </p:nvSpPr>
        <p:spPr>
          <a:xfrm>
            <a:off x="0" y="0"/>
            <a:ext cx="8460432" cy="6858000"/>
          </a:xfrm>
        </p:spPr>
        <p:txBody>
          <a:bodyPr>
            <a:normAutofit/>
          </a:bodyPr>
          <a:lstStyle/>
          <a:p>
            <a:pPr>
              <a:buNone/>
            </a:pPr>
            <a:r>
              <a:rPr lang="tr-TR" sz="2000" b="1" dirty="0" smtClean="0"/>
              <a:t>ONARIMDA ÇALIŞANLARA KİŞİSEL KORUYUCU: </a:t>
            </a:r>
            <a:endParaRPr lang="tr-TR" sz="2000" dirty="0" smtClean="0"/>
          </a:p>
          <a:p>
            <a:pPr algn="just">
              <a:buFont typeface="Wingdings" pitchFamily="2" charset="2"/>
              <a:buChar char="§"/>
            </a:pPr>
            <a:r>
              <a:rPr lang="tr-TR" sz="2000" dirty="0" smtClean="0"/>
              <a:t>Tehlikeli maddelerin taşındığı boru ve kanalların onarım işleriyle görevlendirilen işçilere, taşınan maddelerin özelliklerine uygun kişisel korunma araçları verilecek ve işçiler bunları çalışırken kullanacaklardır.</a:t>
            </a:r>
            <a:br>
              <a:rPr lang="tr-TR" sz="2000" dirty="0" smtClean="0"/>
            </a:br>
            <a:r>
              <a:rPr lang="tr-TR" sz="2000" dirty="0" smtClean="0"/>
              <a:t>(İşçi Sağlığı ve İş Güvenliği Tüzüğü Madde:517)</a:t>
            </a:r>
          </a:p>
          <a:p>
            <a:pPr algn="just">
              <a:buNone/>
            </a:pPr>
            <a:r>
              <a:rPr lang="tr-TR" sz="2000" b="1" dirty="0" smtClean="0"/>
              <a:t>DAĞINIK KABLOLAR - KAYNAKTA PARAVANA: </a:t>
            </a:r>
            <a:endParaRPr lang="tr-TR" sz="2000" dirty="0" smtClean="0"/>
          </a:p>
          <a:p>
            <a:pPr algn="just">
              <a:buFont typeface="Wingdings" pitchFamily="2" charset="2"/>
              <a:buChar char="§"/>
            </a:pPr>
            <a:r>
              <a:rPr lang="tr-TR" sz="2000" dirty="0" smtClean="0"/>
              <a:t>Kaynak işleri yapılan işyerlerindeki gaz tüpleri, borular, elektrik kabloları ve benzeri malzeme;ezilmeyecek,devrilmeyecek veya düşmeleri veya çarpmaları önlenecek şekilde yerleştirilmiş olacak ve elektrik kaynağı yapılan yerlerde, uygun paravana veya bölmeler bulundurulacaktır.</a:t>
            </a:r>
          </a:p>
          <a:p>
            <a:pPr marL="114300" indent="0" algn="just">
              <a:buNone/>
            </a:pPr>
            <a:r>
              <a:rPr lang="tr-TR" sz="2000" dirty="0" smtClean="0"/>
              <a:t>(İşçi Sağlığı ve İş Güvenliği Tüzüğü Madde:518)</a:t>
            </a:r>
          </a:p>
          <a:p>
            <a:pPr algn="just">
              <a:buNone/>
            </a:pPr>
            <a:r>
              <a:rPr lang="tr-TR" sz="2000" b="1" dirty="0" smtClean="0"/>
              <a:t>OKSİJENLE KESME İŞİNDE GÜVENLİK: </a:t>
            </a:r>
            <a:endParaRPr lang="tr-TR" sz="2000" dirty="0" smtClean="0"/>
          </a:p>
          <a:p>
            <a:pPr algn="just">
              <a:buFont typeface="Wingdings" pitchFamily="2" charset="2"/>
              <a:buChar char="§"/>
            </a:pPr>
            <a:r>
              <a:rPr lang="tr-TR" sz="2000" dirty="0" smtClean="0"/>
              <a:t>Parlayıcı veya patlayıcı maddeler taşınmış olan kaplara, üzerinde kaynak veya oksijenle kesme işi yapılmadan önce, bunlar buharla veya diğer bir usul ile temizlenecek, zararlı veya tehlikeli gazların, kap içinde kalıp kalmadığı kontrol edilecek ve kaplar, karbondioksit veya azot veya asal gazlar veya benzerleri ile doldurulacak, oksijenle kesme işleri yapıldığı sürece bu gazlardan biri, yavaş yavaş verilecektir.</a:t>
            </a:r>
          </a:p>
          <a:p>
            <a:pPr marL="114300" indent="0" algn="just">
              <a:buNone/>
            </a:pPr>
            <a:r>
              <a:rPr lang="tr-TR" sz="2000" dirty="0" smtClean="0"/>
              <a:t>(İşçi Sağlığı ve İş Güvenliği Tüzüğü Madde:519)</a:t>
            </a:r>
          </a:p>
          <a:p>
            <a:endParaRPr lang="tr-TR" sz="2000" dirty="0"/>
          </a:p>
        </p:txBody>
      </p:sp>
      <p:sp>
        <p:nvSpPr>
          <p:cNvPr id="2" name="Slayt Numarası Yer Tutucusu 1"/>
          <p:cNvSpPr>
            <a:spLocks noGrp="1"/>
          </p:cNvSpPr>
          <p:nvPr>
            <p:ph type="sldNum" sz="quarter" idx="12"/>
          </p:nvPr>
        </p:nvSpPr>
        <p:spPr/>
        <p:txBody>
          <a:bodyPr/>
          <a:lstStyle/>
          <a:p>
            <a:pPr>
              <a:defRPr/>
            </a:pPr>
            <a:fld id="{7289ED51-3D18-45F8-86FC-FD8561268021}" type="slidenum">
              <a:rPr lang="es-ES" smtClean="0"/>
              <a:pPr>
                <a:defRPr/>
              </a:pPr>
              <a:t>37</a:t>
            </a:fld>
            <a:endParaRPr lang="es-ES"/>
          </a:p>
        </p:txBody>
      </p:sp>
    </p:spTree>
    <p:extLst>
      <p:ext uri="{BB962C8B-B14F-4D97-AF65-F5344CB8AC3E}">
        <p14:creationId xmlns:p14="http://schemas.microsoft.com/office/powerpoint/2010/main" xmlns="" val="3613431892"/>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1"/>
          </p:nvPr>
        </p:nvSpPr>
        <p:spPr>
          <a:xfrm>
            <a:off x="0" y="15664"/>
            <a:ext cx="8532440" cy="6842336"/>
          </a:xfrm>
        </p:spPr>
        <p:txBody>
          <a:bodyPr>
            <a:normAutofit/>
          </a:bodyPr>
          <a:lstStyle/>
          <a:p>
            <a:pPr>
              <a:buNone/>
            </a:pPr>
            <a:endParaRPr lang="tr-TR" sz="2000" b="1" dirty="0" smtClean="0"/>
          </a:p>
          <a:p>
            <a:pPr>
              <a:buNone/>
            </a:pPr>
            <a:r>
              <a:rPr lang="tr-TR" sz="2000" b="1" dirty="0" smtClean="0"/>
              <a:t>KAPALI KAPLARDA KAYNAK: </a:t>
            </a:r>
            <a:endParaRPr lang="tr-TR" sz="2000" dirty="0" smtClean="0"/>
          </a:p>
          <a:p>
            <a:pPr algn="just">
              <a:buFont typeface="Wingdings" pitchFamily="2" charset="2"/>
              <a:buChar char="§"/>
            </a:pPr>
            <a:r>
              <a:rPr lang="tr-TR" sz="2000" dirty="0" smtClean="0"/>
              <a:t>Gömlekli veya çift cidarlı veya kapalı kaplarda ısı veya kaynak işleri yapılmadan önce, bunlar iyice havalandırılacak ve kaynak işlerinin yapıldığı </a:t>
            </a:r>
            <a:r>
              <a:rPr lang="tr-TR" sz="2000" smtClean="0"/>
              <a:t>sürece hiçbir </a:t>
            </a:r>
            <a:r>
              <a:rPr lang="tr-TR" sz="2000" dirty="0" smtClean="0"/>
              <a:t>şekilde oksijen verilmeyecektir.</a:t>
            </a:r>
          </a:p>
          <a:p>
            <a:pPr marL="114300" indent="0" algn="just">
              <a:buNone/>
            </a:pPr>
            <a:r>
              <a:rPr lang="tr-TR" sz="2000" dirty="0" smtClean="0"/>
              <a:t>(İşçi Sağlığı ve İş Güvenliği Tüzüğü Madde:520)</a:t>
            </a:r>
          </a:p>
          <a:p>
            <a:pPr algn="just">
              <a:buNone/>
            </a:pPr>
            <a:r>
              <a:rPr lang="tr-TR" sz="2000" b="1" dirty="0" smtClean="0"/>
              <a:t>          - BARET: </a:t>
            </a:r>
            <a:endParaRPr lang="tr-TR" sz="2000" dirty="0" smtClean="0"/>
          </a:p>
          <a:p>
            <a:pPr algn="just">
              <a:buNone/>
            </a:pPr>
            <a:r>
              <a:rPr lang="tr-TR" sz="2000" b="1" dirty="0" smtClean="0"/>
              <a:t>          - EMNİYET KEMERİ: </a:t>
            </a:r>
            <a:endParaRPr lang="tr-TR" sz="2000" dirty="0" smtClean="0"/>
          </a:p>
          <a:p>
            <a:pPr algn="just">
              <a:buNone/>
            </a:pPr>
            <a:r>
              <a:rPr lang="tr-TR" sz="2000" b="1" dirty="0" smtClean="0"/>
              <a:t>          - BAĞLAMA İPİ: </a:t>
            </a:r>
            <a:endParaRPr lang="tr-TR" sz="2000" dirty="0" smtClean="0"/>
          </a:p>
          <a:p>
            <a:pPr algn="just">
              <a:buFont typeface="Wingdings" pitchFamily="2" charset="2"/>
              <a:buChar char="§"/>
            </a:pPr>
            <a:r>
              <a:rPr lang="tr-TR" sz="2000" dirty="0" smtClean="0"/>
              <a:t>Korkuluklu platformlarla çalışılması imkanı sağlanamayan ve 4 metreden fazla yüksekliği bulunan binaların dış kısımlarında, çatılarında ve benzeri yüksek yerlerde, bakım veya onarım işleriyle her türlü bina sökme ve yıkma işlerinde gerekli güvenlik tedbirleri alınacak ve çalışan işçilere, uygun baret, emniyet kemerleri ve bağlama ipleri gibi kişisel korunma araçları verilecek ve işçiler bunları kullanacaklardır.</a:t>
            </a:r>
          </a:p>
          <a:p>
            <a:pPr marL="114300" indent="0" algn="just">
              <a:buNone/>
            </a:pPr>
            <a:r>
              <a:rPr lang="tr-TR" sz="2000" dirty="0" smtClean="0"/>
              <a:t>(İşçi Sağlığı ve İş Güvenliği Tüzüğü Madde:521)</a:t>
            </a:r>
          </a:p>
          <a:p>
            <a:endParaRPr lang="tr-TR" sz="2000" dirty="0" smtClean="0"/>
          </a:p>
          <a:p>
            <a:endParaRPr lang="tr-TR" sz="2000" dirty="0"/>
          </a:p>
        </p:txBody>
      </p:sp>
      <p:sp>
        <p:nvSpPr>
          <p:cNvPr id="2" name="Slayt Numarası Yer Tutucusu 1"/>
          <p:cNvSpPr>
            <a:spLocks noGrp="1"/>
          </p:cNvSpPr>
          <p:nvPr>
            <p:ph type="sldNum" sz="quarter" idx="12"/>
          </p:nvPr>
        </p:nvSpPr>
        <p:spPr/>
        <p:txBody>
          <a:bodyPr/>
          <a:lstStyle/>
          <a:p>
            <a:pPr>
              <a:defRPr/>
            </a:pPr>
            <a:fld id="{7289ED51-3D18-45F8-86FC-FD8561268021}" type="slidenum">
              <a:rPr lang="es-ES" smtClean="0"/>
              <a:pPr>
                <a:defRPr/>
              </a:pPr>
              <a:t>38</a:t>
            </a:fld>
            <a:endParaRPr lang="es-ES"/>
          </a:p>
        </p:txBody>
      </p:sp>
    </p:spTree>
    <p:extLst>
      <p:ext uri="{BB962C8B-B14F-4D97-AF65-F5344CB8AC3E}">
        <p14:creationId xmlns:p14="http://schemas.microsoft.com/office/powerpoint/2010/main" xmlns="" val="1538599256"/>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Bitişiklik">
  <a:themeElements>
    <a:clrScheme name="Bitişiklik">
      <a:dk1>
        <a:srgbClr val="2F2B20"/>
      </a:dk1>
      <a:lt1>
        <a:srgbClr val="FFFFFF"/>
      </a:lt1>
      <a:dk2>
        <a:srgbClr val="675E47"/>
      </a:dk2>
      <a:lt2>
        <a:srgbClr val="DFDCB7"/>
      </a:lt2>
      <a:accent1>
        <a:srgbClr val="A9A57C"/>
      </a:accent1>
      <a:accent2>
        <a:srgbClr val="9CBEBD"/>
      </a:accent2>
      <a:accent3>
        <a:srgbClr val="D2CB6C"/>
      </a:accent3>
      <a:accent4>
        <a:srgbClr val="95A39D"/>
      </a:accent4>
      <a:accent5>
        <a:srgbClr val="C89F5D"/>
      </a:accent5>
      <a:accent6>
        <a:srgbClr val="B1A089"/>
      </a:accent6>
      <a:hlink>
        <a:srgbClr val="D25814"/>
      </a:hlink>
      <a:folHlink>
        <a:srgbClr val="849A0A"/>
      </a:folHlink>
    </a:clrScheme>
    <a:fontScheme name="Ofis">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itişiklik">
      <a:fillStyleLst>
        <a:solidFill>
          <a:schemeClr val="phClr"/>
        </a:solidFill>
        <a:solidFill>
          <a:schemeClr val="phClr">
            <a:tint val="55000"/>
          </a:schemeClr>
        </a:solidFill>
        <a:solidFill>
          <a:schemeClr val="phClr"/>
        </a:soli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outerShdw blurRad="50800" dist="25400" algn="bl" rotWithShape="0">
              <a:srgbClr val="000000">
                <a:alpha val="60000"/>
              </a:srgbClr>
            </a:outerShdw>
          </a:effectLst>
        </a:effectStyle>
        <a:effectStyle>
          <a:effectLst/>
          <a:scene3d>
            <a:camera prst="orthographicFront">
              <a:rot lat="0" lon="0" rev="0"/>
            </a:camera>
            <a:lightRig rig="brightRoom" dir="tl">
              <a:rot lat="0" lon="0" rev="1800000"/>
            </a:lightRig>
          </a:scene3d>
          <a:sp3d contourW="10160" prstMaterial="dkEdge">
            <a:bevelT w="38100" h="50800" prst="angle"/>
            <a:contourClr>
              <a:schemeClr val="phClr">
                <a:shade val="40000"/>
                <a:satMod val="150000"/>
              </a:schemeClr>
            </a:contourClr>
          </a:sp3d>
        </a:effectStyle>
      </a:effectStyleLst>
      <a:bgFillStyleLst>
        <a:solidFill>
          <a:schemeClr val="phClr"/>
        </a:solidFill>
        <a:gradFill rotWithShape="1">
          <a:gsLst>
            <a:gs pos="0">
              <a:schemeClr val="phClr">
                <a:tint val="90000"/>
              </a:schemeClr>
            </a:gs>
            <a:gs pos="75000">
              <a:schemeClr val="phClr">
                <a:shade val="100000"/>
                <a:satMod val="115000"/>
              </a:schemeClr>
            </a:gs>
            <a:gs pos="100000">
              <a:schemeClr val="phClr">
                <a:shade val="70000"/>
                <a:satMod val="130000"/>
              </a:schemeClr>
            </a:gs>
          </a:gsLst>
          <a:path path="circle">
            <a:fillToRect l="20000" t="50000" r="100000" b="50000"/>
          </a:path>
        </a:gradFill>
        <a:blipFill rotWithShape="1">
          <a:blip xmlns:r="http://schemas.openxmlformats.org/officeDocument/2006/relationships" r:embed="rId1">
            <a:duotone>
              <a:schemeClr val="phClr">
                <a:tint val="97000"/>
              </a:schemeClr>
              <a:schemeClr val="phClr">
                <a:shade val="96000"/>
              </a:schemeClr>
            </a:duotone>
          </a:blip>
          <a:tile tx="0" ty="0" sx="32000" sy="32000" flip="none" algn="tl"/>
        </a:blipFill>
      </a:bgFillStyleLst>
    </a:fmtScheme>
  </a:themeElements>
  <a:objectDefaults/>
  <a:extraClrSchemeLst/>
</a:theme>
</file>

<file path=ppt/theme/theme2.xml><?xml version="1.0" encoding="utf-8"?>
<a:theme xmlns:a="http://schemas.openxmlformats.org/drawingml/2006/main" name="Ofis Teması">
  <a:themeElements>
    <a:clrScheme name="Ofis">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is">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Adjacency</Template>
  <TotalTime>5922</TotalTime>
  <Words>2695</Words>
  <Application>Microsoft Office PowerPoint</Application>
  <PresentationFormat>Ekran Gösterisi (4:3)</PresentationFormat>
  <Paragraphs>378</Paragraphs>
  <Slides>38</Slides>
  <Notes>0</Notes>
  <HiddenSlides>0</HiddenSlides>
  <MMClips>0</MMClips>
  <ScaleCrop>false</ScaleCrop>
  <HeadingPairs>
    <vt:vector size="4" baseType="variant">
      <vt:variant>
        <vt:lpstr>Tema</vt:lpstr>
      </vt:variant>
      <vt:variant>
        <vt:i4>1</vt:i4>
      </vt:variant>
      <vt:variant>
        <vt:lpstr>Slayt Başlıkları</vt:lpstr>
      </vt:variant>
      <vt:variant>
        <vt:i4>38</vt:i4>
      </vt:variant>
    </vt:vector>
  </HeadingPairs>
  <TitlesOfParts>
    <vt:vector size="39" baseType="lpstr">
      <vt:lpstr>Bitişiklik</vt:lpstr>
      <vt:lpstr>BAKIM ONARIM İŞLERİ İŞ GÜVENLİĞİ VE SAĞLIĞI</vt:lpstr>
      <vt:lpstr>BAKIM ONARIM İŞLERİNDE İSG</vt:lpstr>
      <vt:lpstr>Slayt 3</vt:lpstr>
      <vt:lpstr>İŞ KAZALARININ MEYDANA GELMESİNDEKİ NEDENLER:</vt:lpstr>
      <vt:lpstr>İŞ SAĞLIĞI VE GÜVENLİĞİNİ SAĞLAMAK İÇİN          DİKKAT EDİLMESİ GEREKEN HUSUSLAR:</vt:lpstr>
      <vt:lpstr>BİR İŞ YERİNDE, İŞİ YAPTIRAN VE YAPAN KİŞİLERDE AŞAĞIDA ÇIKARILAN KAVRAMLARIN YERLEŞMESİ GEREKİR. BU KAVRAMLAR:</vt:lpstr>
      <vt:lpstr>Slayt 7</vt:lpstr>
      <vt:lpstr>Slayt 8</vt:lpstr>
      <vt:lpstr>MAKİNE BAKIM-ONARIM İŞLERİNDE İSG</vt:lpstr>
      <vt:lpstr>Slayt 10</vt:lpstr>
      <vt:lpstr>Slayt 11</vt:lpstr>
      <vt:lpstr>Slayt 12</vt:lpstr>
      <vt:lpstr>Slayt 13</vt:lpstr>
      <vt:lpstr>Slayt 14</vt:lpstr>
      <vt:lpstr>Slayt 15</vt:lpstr>
      <vt:lpstr>Slayt 16</vt:lpstr>
      <vt:lpstr>Slayt 17</vt:lpstr>
      <vt:lpstr>ELEKTRİK İŞLERİNDE İSG </vt:lpstr>
      <vt:lpstr>ELEKTRİK KAZALARININ OLUŞ NEDENLERİ:</vt:lpstr>
      <vt:lpstr>BASINÇLI KAPLARDA BAKIM-ONARIMA BAŞLAMADAN İSG</vt:lpstr>
      <vt:lpstr>Slayt 21</vt:lpstr>
      <vt:lpstr>Slayt 22</vt:lpstr>
      <vt:lpstr>BASINÇLI KAPLARIN BAKIM - ONARIM SIRASINDA İSG  </vt:lpstr>
      <vt:lpstr>YER ALTI TESİSLERİNDE BAKIM-ONARIMDAN ÖNCE  İSG</vt:lpstr>
      <vt:lpstr>Slayt 25</vt:lpstr>
      <vt:lpstr>YER ALTI TESİSLERİ BAKIM ONARIM SIRASINDA İSG</vt:lpstr>
      <vt:lpstr>İNŞAAT  İŞLERİNDE BİNALARDA YAPILAN BAKIM-ONARIMDA İSG</vt:lpstr>
      <vt:lpstr>Slayt 28</vt:lpstr>
      <vt:lpstr>Slayt 29</vt:lpstr>
      <vt:lpstr>Slayt 30</vt:lpstr>
      <vt:lpstr>İŞ SAĞLIĞI VE İŞ GÜVENLİĞİ TÜZÜĞÜNÜN BAKIM VE ONAMRIM İŞLERİNDE ALINACAK GÜVENLİK TEDBİRLERİNE İLİŞKİN MADDELERİ</vt:lpstr>
      <vt:lpstr>Slayt 32</vt:lpstr>
      <vt:lpstr>Slayt 33</vt:lpstr>
      <vt:lpstr>Slayt 34</vt:lpstr>
      <vt:lpstr>Slayt 35</vt:lpstr>
      <vt:lpstr>Slayt 36</vt:lpstr>
      <vt:lpstr>Slayt 37</vt:lpstr>
      <vt:lpstr>Slayt 38</vt:lpstr>
    </vt:vector>
  </TitlesOfParts>
  <Company>Toshiba</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Diapositiva 1</dc:title>
  <dc:creator>Mariajose</dc:creator>
  <cp:lastModifiedBy>Toshiba</cp:lastModifiedBy>
  <cp:revision>686</cp:revision>
  <dcterms:created xsi:type="dcterms:W3CDTF">2010-05-23T14:28:12Z</dcterms:created>
  <dcterms:modified xsi:type="dcterms:W3CDTF">2018-10-31T09:43:47Z</dcterms:modified>
</cp:coreProperties>
</file>