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tags/tag16.xml" ContentType="application/vnd.openxmlformats-officedocument.presentationml.tag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Default Extension="doc" ContentType="application/msword"/>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40.xml" ContentType="application/vnd.openxmlformats-officedocument.presentationml.notesSlide+xml"/>
  <Override PartName="/ppt/notesSlides/notesSlide6.xml" ContentType="application/vnd.openxmlformats-officedocument.presentationml.notesSlide+xml"/>
  <Override PartName="/ppt/tags/tag13.xml" ContentType="application/vnd.openxmlformats-officedocument.presentationml.tags+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tags/tag10.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Default Extension="jpeg" ContentType="image/jpeg"/>
  <Override PartName="/ppt/tags/tag3.xml" ContentType="application/vnd.openxmlformats-officedocument.presentationml.tags+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65"/>
  </p:notesMasterIdLst>
  <p:sldIdLst>
    <p:sldId id="256" r:id="rId2"/>
    <p:sldId id="327" r:id="rId3"/>
    <p:sldId id="328" r:id="rId4"/>
    <p:sldId id="329"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5" r:id="rId31"/>
    <p:sldId id="356"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3" r:id="rId55"/>
    <p:sldId id="384" r:id="rId56"/>
    <p:sldId id="385" r:id="rId57"/>
    <p:sldId id="386" r:id="rId58"/>
    <p:sldId id="387" r:id="rId59"/>
    <p:sldId id="388" r:id="rId60"/>
    <p:sldId id="389" r:id="rId61"/>
    <p:sldId id="390" r:id="rId62"/>
    <p:sldId id="391" r:id="rId63"/>
    <p:sldId id="392" r:id="rId64"/>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25198"/>
    <a:srgbClr val="422C16"/>
    <a:srgbClr val="0C788E"/>
    <a:srgbClr val="000099"/>
    <a:srgbClr val="1C1C1C"/>
    <a:srgbClr val="3366FF"/>
    <a:srgbClr val="990000"/>
    <a:srgbClr val="00339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3" autoAdjust="0"/>
    <p:restoredTop sz="94669" autoAdjust="0"/>
  </p:normalViewPr>
  <p:slideViewPr>
    <p:cSldViewPr>
      <p:cViewPr>
        <p:scale>
          <a:sx n="80" d="100"/>
          <a:sy n="80" d="100"/>
        </p:scale>
        <p:origin x="-894" y="216"/>
      </p:cViewPr>
      <p:guideLst>
        <p:guide orient="horz" pos="2160"/>
        <p:guide pos="2880"/>
      </p:guideLst>
    </p:cSldViewPr>
  </p:slideViewPr>
  <p:outlineViewPr>
    <p:cViewPr>
      <p:scale>
        <a:sx n="33" d="100"/>
        <a:sy n="33" d="100"/>
      </p:scale>
      <p:origin x="0" y="41316"/>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AD0935-25B5-4E1D-BB3F-213E10897BDF}" type="datetimeFigureOut">
              <a:rPr lang="tr-TR" smtClean="0"/>
              <a:pPr/>
              <a:t>17.10.2019</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11B0CC-053C-4EE5-9259-30C74642B01C}" type="slidenum">
              <a:rPr lang="tr-TR" smtClean="0"/>
              <a:pPr/>
              <a:t>‹#›</a:t>
            </a:fld>
            <a:endParaRPr lang="tr-TR"/>
          </a:p>
        </p:txBody>
      </p:sp>
    </p:spTree>
    <p:extLst>
      <p:ext uri="{BB962C8B-B14F-4D97-AF65-F5344CB8AC3E}">
        <p14:creationId xmlns="" xmlns:p14="http://schemas.microsoft.com/office/powerpoint/2010/main" val="263234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69DD924C-FC2B-4D6F-B75C-01F418698978}" type="slidenum">
              <a:rPr lang="tr-TR" altLang="tr-TR" sz="1200"/>
              <a:pPr algn="r" eaLnBrk="1" hangingPunct="1"/>
              <a:t>3</a:t>
            </a:fld>
            <a:endParaRPr lang="tr-TR" altLang="tr-TR"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1E458F59-C269-4BA9-BC4B-5FE83D254CE2}" type="slidenum">
              <a:rPr lang="tr-TR" altLang="tr-TR" sz="1200"/>
              <a:pPr algn="r" eaLnBrk="1" hangingPunct="1"/>
              <a:t>4</a:t>
            </a:fld>
            <a:endParaRPr lang="tr-TR" altLang="tr-TR"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D393A97E-053C-4E28-8652-6B4CB1A2B4B3}" type="slidenum">
              <a:rPr lang="tr-TR" altLang="tr-TR" sz="1200"/>
              <a:pPr algn="r" eaLnBrk="1" hangingPunct="1"/>
              <a:t>8</a:t>
            </a:fld>
            <a:endParaRPr lang="tr-TR" altLang="tr-TR"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0035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FA3FC112-8F54-4479-8B0E-D01BA2288663}" type="slidenum">
              <a:rPr lang="tr-TR" altLang="tr-TR" sz="1200" smtClean="0">
                <a:latin typeface="Times" pitchFamily="18" charset="0"/>
              </a:rPr>
              <a:pPr/>
              <a:t>9</a:t>
            </a:fld>
            <a:endParaRPr lang="tr-TR" altLang="tr-TR" sz="1200" smtClean="0">
              <a:latin typeface="Times" pitchFamily="18" charset="0"/>
            </a:endParaRPr>
          </a:p>
        </p:txBody>
      </p:sp>
      <p:sp>
        <p:nvSpPr>
          <p:cNvPr id="100356" name="Rectangle 2"/>
          <p:cNvSpPr>
            <a:spLocks noGrp="1" noRot="1" noChangeAspect="1" noChangeArrowheads="1" noTextEdit="1"/>
          </p:cNvSpPr>
          <p:nvPr>
            <p:ph type="sldImg"/>
          </p:nvPr>
        </p:nvSpPr>
        <p:spPr>
          <a:xfrm>
            <a:off x="1144588" y="687388"/>
            <a:ext cx="4568825" cy="3425825"/>
          </a:xfrm>
          <a:ln w="12700"/>
        </p:spPr>
      </p:sp>
      <p:sp>
        <p:nvSpPr>
          <p:cNvPr id="100357"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1EF4FE56-61AA-41AC-AEBF-092A384F3D7F}" type="slidenum">
              <a:rPr lang="tr-TR" altLang="tr-TR" sz="1200"/>
              <a:pPr algn="r" eaLnBrk="1" hangingPunct="1"/>
              <a:t>10</a:t>
            </a:fld>
            <a:endParaRPr lang="tr-TR" altLang="tr-TR"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DD3B82B3-3A3A-46ED-A80E-59AD16265006}" type="slidenum">
              <a:rPr lang="tr-TR" altLang="tr-TR" sz="1200"/>
              <a:pPr algn="r" eaLnBrk="1" hangingPunct="1"/>
              <a:t>11</a:t>
            </a:fld>
            <a:endParaRPr lang="tr-TR" altLang="tr-TR"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1DBF364-B08E-48B0-A8CE-9370E01DB0E3}" type="slidenum">
              <a:rPr lang="tr-TR" altLang="tr-TR" sz="1200"/>
              <a:pPr algn="r" eaLnBrk="1" hangingPunct="1"/>
              <a:t>12</a:t>
            </a:fld>
            <a:endParaRPr lang="tr-TR" altLang="tr-TR"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B80A37CA-D682-4D2F-8179-A36038BA381A}" type="slidenum">
              <a:rPr lang="tr-TR" altLang="tr-TR" sz="1200"/>
              <a:pPr algn="r" eaLnBrk="1" hangingPunct="1"/>
              <a:t>13</a:t>
            </a:fld>
            <a:endParaRPr lang="tr-TR" altLang="tr-TR"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74CB0446-55EA-4E6F-98F7-695C103D18AC}" type="slidenum">
              <a:rPr lang="tr-TR" altLang="tr-TR" sz="1200"/>
              <a:pPr algn="r" eaLnBrk="1" hangingPunct="1"/>
              <a:t>14</a:t>
            </a:fld>
            <a:endParaRPr lang="tr-TR" altLang="tr-TR"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ECEEB7AD-612D-4B90-82C2-0E393F220B4C}" type="slidenum">
              <a:rPr lang="tr-TR" altLang="tr-TR" sz="1200"/>
              <a:pPr algn="r" eaLnBrk="1" hangingPunct="1"/>
              <a:t>15</a:t>
            </a:fld>
            <a:endParaRPr lang="tr-TR" altLang="tr-TR"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966CEB62-056A-472D-A566-F4F1E33FD173}" type="slidenum">
              <a:rPr lang="tr-TR" altLang="tr-TR" sz="1200"/>
              <a:pPr algn="r" eaLnBrk="1" hangingPunct="1"/>
              <a:t>16</a:t>
            </a:fld>
            <a:endParaRPr lang="tr-TR" altLang="tr-TR"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5B6F6646-B3FD-4B73-9CA9-4A93FAF79031}" type="slidenum">
              <a:rPr lang="tr-TR" altLang="tr-TR" sz="1200"/>
              <a:pPr algn="r" eaLnBrk="1" hangingPunct="1"/>
              <a:t>17</a:t>
            </a:fld>
            <a:endParaRPr lang="tr-TR" altLang="tr-TR"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3D8DF98C-8441-4DDB-9C79-D8D3B096CA5D}" type="slidenum">
              <a:rPr lang="tr-TR" altLang="tr-TR" sz="1200"/>
              <a:pPr algn="r" eaLnBrk="1" hangingPunct="1"/>
              <a:t>18</a:t>
            </a:fld>
            <a:endParaRPr lang="tr-TR" altLang="tr-TR" sz="12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CB9DFA90-04F6-4E39-84ED-825C3DBC622A}" type="slidenum">
              <a:rPr lang="tr-TR" altLang="tr-TR" sz="1200"/>
              <a:pPr algn="r" eaLnBrk="1" hangingPunct="1"/>
              <a:t>19</a:t>
            </a:fld>
            <a:endParaRPr lang="tr-TR" altLang="tr-TR"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0CC4411-D6E7-4EDE-AB11-0E563BBD4A79}" type="slidenum">
              <a:rPr lang="tr-TR" altLang="tr-TR" sz="1200"/>
              <a:pPr algn="r" eaLnBrk="1" hangingPunct="1"/>
              <a:t>20</a:t>
            </a:fld>
            <a:endParaRPr lang="tr-TR" altLang="tr-TR" sz="120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1264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DA0C7704-C656-41B5-A940-2F3E5341B9B5}" type="slidenum">
              <a:rPr lang="tr-TR" altLang="tr-TR" sz="1200" smtClean="0">
                <a:latin typeface="Times" pitchFamily="18" charset="0"/>
              </a:rPr>
              <a:pPr/>
              <a:t>22</a:t>
            </a:fld>
            <a:endParaRPr lang="tr-TR" altLang="tr-TR" sz="1200" smtClean="0">
              <a:latin typeface="Times" pitchFamily="18" charset="0"/>
            </a:endParaRPr>
          </a:p>
        </p:txBody>
      </p:sp>
      <p:sp>
        <p:nvSpPr>
          <p:cNvPr id="112644" name="Rectangle 2"/>
          <p:cNvSpPr>
            <a:spLocks noGrp="1" noRot="1" noChangeAspect="1" noChangeArrowheads="1" noTextEdit="1"/>
          </p:cNvSpPr>
          <p:nvPr>
            <p:ph type="sldImg"/>
          </p:nvPr>
        </p:nvSpPr>
        <p:spPr>
          <a:xfrm>
            <a:off x="1144588" y="687388"/>
            <a:ext cx="4568825" cy="3425825"/>
          </a:xfrm>
          <a:ln w="12700"/>
        </p:spPr>
      </p:sp>
      <p:sp>
        <p:nvSpPr>
          <p:cNvPr id="11264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49FC13B-619A-48F1-BECD-B5CEAB73003B}" type="slidenum">
              <a:rPr lang="tr-TR" altLang="tr-TR" sz="1200"/>
              <a:pPr algn="r" eaLnBrk="1" hangingPunct="1"/>
              <a:t>23</a:t>
            </a:fld>
            <a:endParaRPr lang="tr-TR" altLang="tr-TR" sz="120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1469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F5603D92-D405-497A-9A01-04CB9D65F424}" type="slidenum">
              <a:rPr lang="tr-TR" altLang="tr-TR" sz="1200" smtClean="0">
                <a:latin typeface="Times" pitchFamily="18" charset="0"/>
              </a:rPr>
              <a:pPr/>
              <a:t>24</a:t>
            </a:fld>
            <a:endParaRPr lang="tr-TR" altLang="tr-TR" sz="1200" smtClean="0">
              <a:latin typeface="Times" pitchFamily="18" charset="0"/>
            </a:endParaRPr>
          </a:p>
        </p:txBody>
      </p:sp>
      <p:sp>
        <p:nvSpPr>
          <p:cNvPr id="114692" name="Rectangle 2"/>
          <p:cNvSpPr>
            <a:spLocks noGrp="1" noRot="1" noChangeAspect="1" noChangeArrowheads="1" noTextEdit="1"/>
          </p:cNvSpPr>
          <p:nvPr>
            <p:ph type="sldImg"/>
          </p:nvPr>
        </p:nvSpPr>
        <p:spPr>
          <a:xfrm>
            <a:off x="1144588" y="687388"/>
            <a:ext cx="4568825" cy="3425825"/>
          </a:xfrm>
          <a:ln w="12700"/>
        </p:spPr>
      </p:sp>
      <p:sp>
        <p:nvSpPr>
          <p:cNvPr id="11469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0B51E54C-C76E-4FE4-BBB3-8E3C272E6813}" type="slidenum">
              <a:rPr lang="tr-TR" altLang="tr-TR" sz="1200"/>
              <a:pPr algn="r" eaLnBrk="1" hangingPunct="1"/>
              <a:t>25</a:t>
            </a:fld>
            <a:endParaRPr lang="tr-TR" altLang="tr-TR"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04BFC5FF-2105-46A2-A296-909E803A3E4A}" type="slidenum">
              <a:rPr lang="tr-TR" altLang="tr-TR" sz="1200"/>
              <a:pPr algn="r" eaLnBrk="1" hangingPunct="1"/>
              <a:t>26</a:t>
            </a:fld>
            <a:endParaRPr lang="tr-TR" altLang="tr-TR"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11FC1AD3-E29A-43D4-864D-EEED010FDD39}" type="slidenum">
              <a:rPr lang="tr-TR" altLang="tr-TR" sz="1200"/>
              <a:pPr algn="r" eaLnBrk="1" hangingPunct="1"/>
              <a:t>27</a:t>
            </a:fld>
            <a:endParaRPr lang="tr-TR" altLang="tr-TR"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tr-TR" dirty="0" smtClean="0"/>
              <a:t>This photograph shows a tank on a site that has a couple of lines connected to it.  One or more of these lines could be a supply line and, if not properly locked and tagged out, could turn on while an entrant is in the tank blowing hot liquid onto the entrant or drown the entrant, for example.  Also, the tank may be fitted with a mixing or compacting mechanism inside that could turn on while the entrant is in the tank.</a:t>
            </a:r>
          </a:p>
          <a:p>
            <a:endParaRPr lang="en-US" altLang="tr-TR" dirty="0" smtClean="0"/>
          </a:p>
          <a:p>
            <a:r>
              <a:rPr lang="en-US" altLang="tr-TR" dirty="0" smtClean="0"/>
              <a:t>Always lock and tag out any item on or in the confined space that can cause harm to an entrant.</a:t>
            </a:r>
          </a:p>
        </p:txBody>
      </p:sp>
      <p:sp>
        <p:nvSpPr>
          <p:cNvPr id="11878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fld id="{E1CAAAA5-8863-41A4-B8FB-38BCF6CB657D}" type="slidenum">
              <a:rPr lang="en-US" altLang="tr-TR" sz="1200" smtClean="0">
                <a:latin typeface="Calibri" pitchFamily="34" charset="0"/>
              </a:rPr>
              <a:pPr eaLnBrk="1" hangingPunct="1"/>
              <a:t>28</a:t>
            </a:fld>
            <a:endParaRPr lang="en-US" altLang="tr-TR" sz="1200" smtClean="0">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9840B44A-A5F5-40E1-AED3-8EAD1827AE25}" type="slidenum">
              <a:rPr lang="tr-TR" altLang="tr-TR" sz="1200"/>
              <a:pPr algn="r" eaLnBrk="1" hangingPunct="1"/>
              <a:t>29</a:t>
            </a:fld>
            <a:endParaRPr lang="tr-TR" altLang="tr-TR"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81D608F9-1ED6-4090-A40D-E255A47CF02B}" type="slidenum">
              <a:rPr lang="tr-TR" altLang="tr-TR" sz="1200"/>
              <a:pPr algn="r" eaLnBrk="1" hangingPunct="1"/>
              <a:t>30</a:t>
            </a:fld>
            <a:endParaRPr lang="tr-TR" altLang="tr-TR"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37B23149-FCE9-41FB-AFD0-C5475B0229DE}" type="slidenum">
              <a:rPr lang="tr-TR" altLang="tr-TR" sz="1200"/>
              <a:pPr algn="r" eaLnBrk="1" hangingPunct="1"/>
              <a:t>31</a:t>
            </a:fld>
            <a:endParaRPr lang="tr-TR" altLang="tr-TR" sz="120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12813" eaLnBrk="0" hangingPunct="0">
              <a:defRPr sz="1600">
                <a:solidFill>
                  <a:schemeClr val="tx1"/>
                </a:solidFill>
                <a:latin typeface="Arial" pitchFamily="34" charset="0"/>
                <a:cs typeface="Arial" pitchFamily="34" charset="0"/>
              </a:defRPr>
            </a:lvl1pPr>
            <a:lvl2pPr marL="742950" indent="-285750" defTabSz="912813" eaLnBrk="0" hangingPunct="0">
              <a:defRPr sz="1600">
                <a:solidFill>
                  <a:schemeClr val="tx1"/>
                </a:solidFill>
                <a:latin typeface="Arial" pitchFamily="34" charset="0"/>
                <a:cs typeface="Arial" pitchFamily="34" charset="0"/>
              </a:defRPr>
            </a:lvl2pPr>
            <a:lvl3pPr marL="1143000" indent="-228600" defTabSz="912813" eaLnBrk="0" hangingPunct="0">
              <a:defRPr sz="1600">
                <a:solidFill>
                  <a:schemeClr val="tx1"/>
                </a:solidFill>
                <a:latin typeface="Arial" pitchFamily="34" charset="0"/>
                <a:cs typeface="Arial" pitchFamily="34" charset="0"/>
              </a:defRPr>
            </a:lvl3pPr>
            <a:lvl4pPr marL="1600200" indent="-228600" defTabSz="912813" eaLnBrk="0" hangingPunct="0">
              <a:defRPr sz="1600">
                <a:solidFill>
                  <a:schemeClr val="tx1"/>
                </a:solidFill>
                <a:latin typeface="Arial" pitchFamily="34" charset="0"/>
                <a:cs typeface="Arial" pitchFamily="34" charset="0"/>
              </a:defRPr>
            </a:lvl4pPr>
            <a:lvl5pPr marL="2057400" indent="-228600" defTabSz="912813" eaLnBrk="0" hangingPunct="0">
              <a:defRPr sz="1600">
                <a:solidFill>
                  <a:schemeClr val="tx1"/>
                </a:solidFill>
                <a:latin typeface="Arial" pitchFamily="34" charset="0"/>
                <a:cs typeface="Arial" pitchFamily="34" charset="0"/>
              </a:defRPr>
            </a:lvl5pPr>
            <a:lvl6pPr marL="2514600" indent="-228600" defTabSz="912813"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defTabSz="912813"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defTabSz="912813"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defTabSz="912813" eaLnBrk="0" fontAlgn="base" hangingPunct="0">
              <a:spcBef>
                <a:spcPct val="0"/>
              </a:spcBef>
              <a:spcAft>
                <a:spcPct val="0"/>
              </a:spcAft>
              <a:defRPr sz="1600">
                <a:solidFill>
                  <a:schemeClr val="tx1"/>
                </a:solidFill>
                <a:latin typeface="Arial" pitchFamily="34" charset="0"/>
                <a:cs typeface="Arial" pitchFamily="34" charset="0"/>
              </a:defRPr>
            </a:lvl9pPr>
          </a:lstStyle>
          <a:p>
            <a:fld id="{040226AE-6B77-4F1E-ADDD-F8362D857B6B}" type="slidenum">
              <a:rPr lang="en-US" altLang="tr-TR" sz="1200" smtClean="0">
                <a:latin typeface="Times New Roman" pitchFamily="18" charset="0"/>
              </a:rPr>
              <a:pPr/>
              <a:t>32</a:t>
            </a:fld>
            <a:endParaRPr lang="en-US" altLang="tr-TR" sz="1200" smtClean="0">
              <a:latin typeface="Times New Roman" pitchFamily="18"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tr-TR" altLang="tr-T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24E96B7-E2ED-47F4-8AF6-38316AC2ACA3}" type="slidenum">
              <a:rPr lang="tr-TR" altLang="tr-TR" sz="1200"/>
              <a:pPr algn="r" eaLnBrk="1" hangingPunct="1"/>
              <a:t>34</a:t>
            </a:fld>
            <a:endParaRPr lang="tr-TR" altLang="tr-TR"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7D90C643-276E-4A7B-9065-680794AED498}" type="slidenum">
              <a:rPr lang="tr-TR" altLang="tr-TR" sz="1200"/>
              <a:pPr algn="r" eaLnBrk="1" hangingPunct="1"/>
              <a:t>35</a:t>
            </a:fld>
            <a:endParaRPr lang="tr-TR" altLang="tr-TR"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2800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52D54C13-C5CD-474C-BF96-83A79482C3F6}" type="slidenum">
              <a:rPr lang="tr-TR" altLang="tr-TR" sz="1200" smtClean="0">
                <a:latin typeface="Times" pitchFamily="18" charset="0"/>
              </a:rPr>
              <a:pPr/>
              <a:t>36</a:t>
            </a:fld>
            <a:endParaRPr lang="tr-TR" altLang="tr-TR" sz="1200" smtClean="0">
              <a:latin typeface="Times" pitchFamily="18" charset="0"/>
            </a:endParaRPr>
          </a:p>
        </p:txBody>
      </p:sp>
      <p:sp>
        <p:nvSpPr>
          <p:cNvPr id="128004" name="Rectangle 2"/>
          <p:cNvSpPr>
            <a:spLocks noGrp="1" noRot="1" noChangeAspect="1" noChangeArrowheads="1" noTextEdit="1"/>
          </p:cNvSpPr>
          <p:nvPr>
            <p:ph type="sldImg"/>
          </p:nvPr>
        </p:nvSpPr>
        <p:spPr>
          <a:xfrm>
            <a:off x="1144588" y="687388"/>
            <a:ext cx="4568825" cy="3425825"/>
          </a:xfrm>
          <a:ln w="12700"/>
        </p:spPr>
      </p:sp>
      <p:sp>
        <p:nvSpPr>
          <p:cNvPr id="12800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2902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8EB87E0B-2AFB-4E15-826C-4E9D95029479}" type="slidenum">
              <a:rPr lang="tr-TR" altLang="tr-TR" sz="1200" smtClean="0">
                <a:latin typeface="Times" pitchFamily="18" charset="0"/>
              </a:rPr>
              <a:pPr/>
              <a:t>37</a:t>
            </a:fld>
            <a:endParaRPr lang="tr-TR" altLang="tr-TR" sz="1200" smtClean="0">
              <a:latin typeface="Times" pitchFamily="18" charset="0"/>
            </a:endParaRPr>
          </a:p>
        </p:txBody>
      </p:sp>
      <p:sp>
        <p:nvSpPr>
          <p:cNvPr id="129028" name="Rectangle 2"/>
          <p:cNvSpPr>
            <a:spLocks noGrp="1" noRot="1" noChangeAspect="1" noChangeArrowheads="1" noTextEdit="1"/>
          </p:cNvSpPr>
          <p:nvPr>
            <p:ph type="sldImg"/>
          </p:nvPr>
        </p:nvSpPr>
        <p:spPr>
          <a:xfrm>
            <a:off x="1144588" y="687388"/>
            <a:ext cx="4568825" cy="3425825"/>
          </a:xfrm>
          <a:ln w="12700"/>
        </p:spPr>
      </p:sp>
      <p:sp>
        <p:nvSpPr>
          <p:cNvPr id="12902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3005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451E8D49-4C82-408C-8D63-97B084DD2866}" type="slidenum">
              <a:rPr lang="tr-TR" altLang="tr-TR" sz="1200" smtClean="0">
                <a:latin typeface="Times" pitchFamily="18" charset="0"/>
              </a:rPr>
              <a:pPr/>
              <a:t>38</a:t>
            </a:fld>
            <a:endParaRPr lang="tr-TR" altLang="tr-TR" sz="1200" smtClean="0">
              <a:latin typeface="Times" pitchFamily="18" charset="0"/>
            </a:endParaRPr>
          </a:p>
        </p:txBody>
      </p:sp>
      <p:sp>
        <p:nvSpPr>
          <p:cNvPr id="130052" name="Rectangle 2"/>
          <p:cNvSpPr>
            <a:spLocks noGrp="1" noRot="1" noChangeAspect="1" noChangeArrowheads="1" noTextEdit="1"/>
          </p:cNvSpPr>
          <p:nvPr>
            <p:ph type="sldImg"/>
          </p:nvPr>
        </p:nvSpPr>
        <p:spPr>
          <a:xfrm>
            <a:off x="1144588" y="687388"/>
            <a:ext cx="4568825" cy="3425825"/>
          </a:xfrm>
          <a:ln w="12700"/>
        </p:spPr>
      </p:sp>
      <p:sp>
        <p:nvSpPr>
          <p:cNvPr id="13005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B313ABB6-34CD-4585-BF0E-2D8809A7B0FE}" type="slidenum">
              <a:rPr lang="tr-TR" altLang="tr-TR" sz="1200"/>
              <a:pPr algn="r" eaLnBrk="1" hangingPunct="1"/>
              <a:t>39</a:t>
            </a:fld>
            <a:endParaRPr lang="tr-TR" altLang="tr-TR"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83841E8B-6ED3-429A-B055-15AF46522B7F}" type="slidenum">
              <a:rPr lang="tr-TR" altLang="tr-TR" sz="1200"/>
              <a:pPr algn="r" eaLnBrk="1" hangingPunct="1"/>
              <a:t>40</a:t>
            </a:fld>
            <a:endParaRPr lang="tr-TR" altLang="tr-TR"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a:ln/>
        </p:spPr>
      </p:sp>
      <p:sp>
        <p:nvSpPr>
          <p:cNvPr id="13312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tr-TR" dirty="0" smtClean="0"/>
              <a:t>[1910.146(d)(5)(iii)]  In atmospheres that are oxygen-deficient, an air-supplying respirator must be used.  This type of respirator is a full-face respirator that supplies air from a cylinder you wear on your back or a line runs to your respirator from an fresh air source.  In atmospheres that have enough oxygen, but contain air contaminants.,</a:t>
            </a:r>
          </a:p>
          <a:p>
            <a:r>
              <a:rPr lang="en-US" altLang="tr-TR" dirty="0" smtClean="0"/>
              <a:t>an air-purifying respirator could be worn.  This is generally either a full- or half-face respirator that includes a filter cartridge to clean the air before you breath it in (such as the one pictured).</a:t>
            </a:r>
          </a:p>
        </p:txBody>
      </p:sp>
      <p:sp>
        <p:nvSpPr>
          <p:cNvPr id="13312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fld id="{09E9FB55-C1AF-4692-A1BA-1CD0B174C4C8}" type="slidenum">
              <a:rPr lang="en-US" altLang="tr-TR" sz="1200" smtClean="0">
                <a:latin typeface="Calibri" pitchFamily="34" charset="0"/>
              </a:rPr>
              <a:pPr eaLnBrk="1" hangingPunct="1"/>
              <a:t>41</a:t>
            </a:fld>
            <a:endParaRPr lang="en-US" altLang="tr-TR" sz="1200" smtClean="0">
              <a:latin typeface="Calibri"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0BF05E2F-DAA1-4064-BACB-C02643915282}" type="slidenum">
              <a:rPr lang="tr-TR" altLang="tr-TR" sz="1200"/>
              <a:pPr algn="r" eaLnBrk="1" hangingPunct="1"/>
              <a:t>42</a:t>
            </a:fld>
            <a:endParaRPr lang="tr-TR" altLang="tr-TR"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3517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21B23273-D1FF-4157-BB0A-E2835586964C}" type="slidenum">
              <a:rPr lang="tr-TR" altLang="tr-TR" sz="1200" smtClean="0">
                <a:latin typeface="Times" pitchFamily="18" charset="0"/>
              </a:rPr>
              <a:pPr/>
              <a:t>43</a:t>
            </a:fld>
            <a:endParaRPr lang="tr-TR" altLang="tr-TR" sz="1200" smtClean="0">
              <a:latin typeface="Times" pitchFamily="18" charset="0"/>
            </a:endParaRPr>
          </a:p>
        </p:txBody>
      </p:sp>
      <p:sp>
        <p:nvSpPr>
          <p:cNvPr id="135172" name="Rectangle 2"/>
          <p:cNvSpPr>
            <a:spLocks noGrp="1" noRot="1" noChangeAspect="1" noChangeArrowheads="1" noTextEdit="1"/>
          </p:cNvSpPr>
          <p:nvPr>
            <p:ph type="sldImg"/>
          </p:nvPr>
        </p:nvSpPr>
        <p:spPr>
          <a:xfrm>
            <a:off x="1144588" y="687388"/>
            <a:ext cx="4568825" cy="3425825"/>
          </a:xfrm>
          <a:ln w="12700"/>
        </p:spPr>
      </p:sp>
      <p:sp>
        <p:nvSpPr>
          <p:cNvPr id="13517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latin typeface="Times" pitchFamily="18" charset="0"/>
              </a:rPr>
              <a:t>İSİG Eğitim Paketi - 010 Kapalı Birimlerde Güvenli Çalışma</a:t>
            </a:r>
          </a:p>
        </p:txBody>
      </p:sp>
      <p:sp>
        <p:nvSpPr>
          <p:cNvPr id="13619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00DDEC9B-BC90-464D-AF0E-8634F858FDF4}" type="slidenum">
              <a:rPr lang="tr-TR" altLang="tr-TR" sz="1200" smtClean="0">
                <a:latin typeface="Times" pitchFamily="18" charset="0"/>
              </a:rPr>
              <a:pPr/>
              <a:t>44</a:t>
            </a:fld>
            <a:endParaRPr lang="tr-TR" altLang="tr-TR" sz="1200" smtClean="0">
              <a:latin typeface="Times" pitchFamily="18" charset="0"/>
            </a:endParaRPr>
          </a:p>
        </p:txBody>
      </p:sp>
      <p:sp>
        <p:nvSpPr>
          <p:cNvPr id="136196" name="Rectangle 2"/>
          <p:cNvSpPr>
            <a:spLocks noGrp="1" noRot="1" noChangeAspect="1" noChangeArrowheads="1" noTextEdit="1"/>
          </p:cNvSpPr>
          <p:nvPr>
            <p:ph type="sldImg"/>
          </p:nvPr>
        </p:nvSpPr>
        <p:spPr>
          <a:xfrm>
            <a:off x="1144588" y="687388"/>
            <a:ext cx="4568825" cy="3425825"/>
          </a:xfrm>
          <a:ln w="12700"/>
        </p:spPr>
      </p:sp>
      <p:sp>
        <p:nvSpPr>
          <p:cNvPr id="136197"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ChangeArrowheads="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r>
              <a:rPr lang="tr-TR" altLang="tr-TR" sz="1200" smtClean="0">
                <a:solidFill>
                  <a:srgbClr val="000000"/>
                </a:solidFill>
                <a:latin typeface="Times" pitchFamily="18" charset="0"/>
              </a:rPr>
              <a:t>İSİG Eğitim Paketi - 010 Kapalı Birimlerde Güvenli Çalışma</a:t>
            </a:r>
          </a:p>
        </p:txBody>
      </p:sp>
      <p:sp>
        <p:nvSpPr>
          <p:cNvPr id="13721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fld id="{E0E8F191-6C69-4C2A-AFA7-CFF46437FEA1}" type="slidenum">
              <a:rPr lang="tr-TR" altLang="tr-TR" sz="1200" smtClean="0">
                <a:solidFill>
                  <a:srgbClr val="000000"/>
                </a:solidFill>
                <a:latin typeface="Times" pitchFamily="18" charset="0"/>
              </a:rPr>
              <a:pPr/>
              <a:t>47</a:t>
            </a:fld>
            <a:endParaRPr lang="tr-TR" altLang="tr-TR" sz="1200" smtClean="0">
              <a:solidFill>
                <a:srgbClr val="000000"/>
              </a:solidFill>
              <a:latin typeface="Times" pitchFamily="18" charset="0"/>
            </a:endParaRPr>
          </a:p>
        </p:txBody>
      </p:sp>
      <p:sp>
        <p:nvSpPr>
          <p:cNvPr id="137220" name="Rectangle 2"/>
          <p:cNvSpPr>
            <a:spLocks noGrp="1" noRot="1" noChangeAspect="1" noChangeArrowheads="1" noTextEdit="1"/>
          </p:cNvSpPr>
          <p:nvPr>
            <p:ph type="sldImg"/>
          </p:nvPr>
        </p:nvSpPr>
        <p:spPr>
          <a:xfrm>
            <a:off x="1144588" y="687388"/>
            <a:ext cx="4568825" cy="3425825"/>
          </a:xfrm>
          <a:ln w="12700"/>
        </p:spPr>
      </p:sp>
      <p:sp>
        <p:nvSpPr>
          <p:cNvPr id="137221"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pPr eaLnBrk="1" hangingPunct="1"/>
            <a:endParaRPr lang="tr-TR" altLang="tr-TR" smtClean="0">
              <a:cs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615A5519-A3DB-48C2-9292-702EFD5857C2}" type="slidenum">
              <a:rPr lang="tr-TR" altLang="tr-TR" sz="1200"/>
              <a:pPr algn="r" eaLnBrk="1" hangingPunct="1"/>
              <a:t>48</a:t>
            </a:fld>
            <a:endParaRPr lang="tr-TR" altLang="tr-TR"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71F75D05-7195-4E49-8A95-49DE3A2D6E0D}" type="slidenum">
              <a:rPr lang="tr-TR" altLang="tr-TR" sz="1200"/>
              <a:pPr algn="r" eaLnBrk="1" hangingPunct="1"/>
              <a:t>49</a:t>
            </a:fld>
            <a:endParaRPr lang="tr-TR" altLang="tr-TR"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79EDDDA-4FF5-491A-80D5-3AAE21831B5B}" type="slidenum">
              <a:rPr lang="tr-TR" altLang="tr-TR" sz="1200"/>
              <a:pPr algn="r" eaLnBrk="1" hangingPunct="1"/>
              <a:t>50</a:t>
            </a:fld>
            <a:endParaRPr lang="tr-TR" altLang="tr-TR"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A25D425B-B30C-4E87-9499-528C40B6DF48}" type="slidenum">
              <a:rPr lang="tr-TR" altLang="tr-TR" sz="1200"/>
              <a:pPr algn="r" eaLnBrk="1" hangingPunct="1"/>
              <a:t>51</a:t>
            </a:fld>
            <a:endParaRPr lang="tr-TR" altLang="tr-TR"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4F69710B-1EEB-47FB-BAEE-EA67D048498E}" type="slidenum">
              <a:rPr lang="tr-TR" altLang="tr-TR" sz="1200"/>
              <a:pPr algn="r" eaLnBrk="1" hangingPunct="1"/>
              <a:t>53</a:t>
            </a:fld>
            <a:endParaRPr lang="tr-TR" altLang="tr-TR"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18165633-E50B-42BA-A754-DFFFCB47C5DD}" type="slidenum">
              <a:rPr lang="tr-TR" altLang="tr-TR" sz="1200"/>
              <a:pPr algn="r" eaLnBrk="1" hangingPunct="1"/>
              <a:t>54</a:t>
            </a:fld>
            <a:endParaRPr lang="tr-TR" altLang="tr-TR"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B12BAEC9-5793-48F3-87F3-8944E44A652C}" type="slidenum">
              <a:rPr lang="tr-TR" altLang="tr-TR" sz="1200"/>
              <a:pPr algn="r" eaLnBrk="1" hangingPunct="1"/>
              <a:t>55</a:t>
            </a:fld>
            <a:endParaRPr lang="tr-TR" altLang="tr-TR"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cs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cs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C5A06280-B1AE-4AD3-A9CF-B335819B9C59}" type="slidenum">
              <a:rPr lang="tr-TR" altLang="tr-TR" sz="1200"/>
              <a:pPr algn="r" eaLnBrk="1" hangingPunct="1"/>
              <a:t>58</a:t>
            </a:fld>
            <a:endParaRPr lang="tr-TR" altLang="tr-TR"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EBC7DF62-7991-4DD9-8F78-0E950D9925F1}" type="slidenum">
              <a:rPr lang="tr-TR" altLang="tr-TR" sz="1200"/>
              <a:pPr algn="r" eaLnBrk="1" hangingPunct="1"/>
              <a:t>59</a:t>
            </a:fld>
            <a:endParaRPr lang="tr-TR" altLang="tr-TR"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BC44B958-B9B9-4AB7-95A3-71EF7D72E7E0}" type="slidenum">
              <a:rPr lang="tr-TR" altLang="tr-TR" sz="1200"/>
              <a:pPr algn="r" eaLnBrk="1" hangingPunct="1"/>
              <a:t>60</a:t>
            </a:fld>
            <a:endParaRPr lang="tr-TR" altLang="tr-TR"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CBED09C0-F1F8-404E-96A4-4434CC1BC0B7}" type="slidenum">
              <a:rPr lang="tr-TR" altLang="tr-TR" sz="1200"/>
              <a:pPr algn="r" eaLnBrk="1" hangingPunct="1"/>
              <a:t>61</a:t>
            </a:fld>
            <a:endParaRPr lang="tr-TR" altLang="tr-TR"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r" eaLnBrk="1" hangingPunct="1"/>
            <a:fld id="{323E64E1-B152-4C44-BA89-CDDBFE4865B4}" type="slidenum">
              <a:rPr lang="tr-TR" altLang="tr-TR" sz="1200"/>
              <a:pPr algn="r" eaLnBrk="1" hangingPunct="1"/>
              <a:t>62</a:t>
            </a:fld>
            <a:endParaRPr lang="tr-TR" altLang="tr-TR"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tr-TR" altLang="tr-T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3404C349-0293-4C5B-BD61-8968F696ECA6}" type="slidenum">
              <a:rPr lang="es-ES" smtClean="0"/>
              <a:pPr>
                <a:defRPr/>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7289ED51-3D18-45F8-86FC-FD8561268021}" type="slidenum">
              <a:rPr lang="es-ES" smtClean="0"/>
              <a:pPr>
                <a:defRPr/>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tr-TR" smtClean="0"/>
              <a:t>Asıl başlık stili için tıklatın</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B1E30559-BAA3-4562-8020-B6DCEE6D0E3E}" type="slidenum">
              <a:rPr lang="es-ES" smtClean="0"/>
              <a:pPr>
                <a:defRPr/>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8D37490C-9C1B-4AC9-A719-5CB7A5E923CD}" type="slidenum">
              <a:rPr lang="es-ES" smtClean="0"/>
              <a:pPr>
                <a:defRPr/>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endParaRPr lang="es-ES"/>
          </a:p>
        </p:txBody>
      </p:sp>
      <p:sp>
        <p:nvSpPr>
          <p:cNvPr id="9" name="Slide Number Placeholder 8"/>
          <p:cNvSpPr>
            <a:spLocks noGrp="1"/>
          </p:cNvSpPr>
          <p:nvPr>
            <p:ph type="sldNum" sz="quarter" idx="12"/>
          </p:nvPr>
        </p:nvSpPr>
        <p:spPr/>
        <p:txBody>
          <a:bodyPr/>
          <a:lstStyle/>
          <a:p>
            <a:pPr>
              <a:defRPr/>
            </a:pPr>
            <a:fld id="{52C19F1E-C2C4-43B8-BE68-DBAC4ECF8BE2}" type="slidenum">
              <a:rPr lang="es-ES" smtClean="0"/>
              <a:pPr>
                <a:defRPr/>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endParaRPr lang="es-ES"/>
          </a:p>
        </p:txBody>
      </p:sp>
      <p:sp>
        <p:nvSpPr>
          <p:cNvPr id="5" name="Slide Number Placeholder 4"/>
          <p:cNvSpPr>
            <a:spLocks noGrp="1"/>
          </p:cNvSpPr>
          <p:nvPr>
            <p:ph type="sldNum" sz="quarter" idx="12"/>
          </p:nvPr>
        </p:nvSpPr>
        <p:spPr/>
        <p:txBody>
          <a:bodyPr/>
          <a:lstStyle/>
          <a:p>
            <a:pPr>
              <a:defRPr/>
            </a:pPr>
            <a:fld id="{E68FA1EF-296B-40C1-B636-00A926A74512}" type="slidenum">
              <a:rPr lang="es-ES" smtClean="0"/>
              <a:pPr>
                <a:defRPr/>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endParaRPr lang="es-ES"/>
          </a:p>
        </p:txBody>
      </p:sp>
      <p:sp>
        <p:nvSpPr>
          <p:cNvPr id="4" name="Slide Number Placeholder 3"/>
          <p:cNvSpPr>
            <a:spLocks noGrp="1"/>
          </p:cNvSpPr>
          <p:nvPr>
            <p:ph type="sldNum" sz="quarter" idx="12"/>
          </p:nvPr>
        </p:nvSpPr>
        <p:spPr/>
        <p:txBody>
          <a:bodyPr/>
          <a:lstStyle/>
          <a:p>
            <a:pPr>
              <a:defRPr/>
            </a:pPr>
            <a:fld id="{3C5D3AC1-5A64-441E-A1A8-9FAE71C6AF66}" type="slidenum">
              <a:rPr lang="es-ES" smtClean="0"/>
              <a:pPr>
                <a:defRPr/>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9D65BA48-3AB7-42AA-A309-B1E404C47DBD}" type="slidenum">
              <a:rPr lang="es-ES" smtClean="0"/>
              <a:pPr>
                <a:defRPr/>
              </a:pPr>
              <a:t>‹#›</a:t>
            </a:fld>
            <a:endParaRPr lang="es-ES"/>
          </a:p>
        </p:txBody>
      </p:sp>
      <p:sp>
        <p:nvSpPr>
          <p:cNvPr id="9" name="Content Placeholder 8"/>
          <p:cNvSpPr>
            <a:spLocks noGrp="1"/>
          </p:cNvSpPr>
          <p:nvPr>
            <p:ph sz="quarter" idx="13"/>
          </p:nvPr>
        </p:nvSpPr>
        <p:spPr>
          <a:xfrm>
            <a:off x="304800" y="381000"/>
            <a:ext cx="7772400" cy="494284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tr-TR" smtClean="0"/>
              <a:t>Asıl başlık stili için tıklatın</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8" name="Date Placeholder 7"/>
          <p:cNvSpPr>
            <a:spLocks noGrp="1"/>
          </p:cNvSpPr>
          <p:nvPr>
            <p:ph type="dt" sz="half" idx="10"/>
          </p:nvPr>
        </p:nvSpPr>
        <p:spPr/>
        <p:txBody>
          <a:bodyPr/>
          <a:lstStyle/>
          <a:p>
            <a:pPr>
              <a:defRPr/>
            </a:pPr>
            <a:endParaRPr lang="es-ES"/>
          </a:p>
        </p:txBody>
      </p:sp>
      <p:sp>
        <p:nvSpPr>
          <p:cNvPr id="9" name="Slide Number Placeholder 8"/>
          <p:cNvSpPr>
            <a:spLocks noGrp="1"/>
          </p:cNvSpPr>
          <p:nvPr>
            <p:ph type="sldNum" sz="quarter" idx="11"/>
          </p:nvPr>
        </p:nvSpPr>
        <p:spPr/>
        <p:txBody>
          <a:bodyPr/>
          <a:lstStyle/>
          <a:p>
            <a:pPr>
              <a:defRPr/>
            </a:pPr>
            <a:fld id="{D731D35F-B073-4216-8697-E08C0989EA53}" type="slidenum">
              <a:rPr lang="es-ES" smtClean="0"/>
              <a:pPr>
                <a:defRPr/>
              </a:pPr>
              <a:t>‹#›</a:t>
            </a:fld>
            <a:endParaRPr lang="es-ES"/>
          </a:p>
        </p:txBody>
      </p:sp>
      <p:sp>
        <p:nvSpPr>
          <p:cNvPr id="10" name="Footer Placeholder 9"/>
          <p:cNvSpPr>
            <a:spLocks noGrp="1"/>
          </p:cNvSpPr>
          <p:nvPr>
            <p:ph type="ftr" sz="quarter" idx="12"/>
          </p:nvPr>
        </p:nvSpPr>
        <p:spPr/>
        <p:txBody>
          <a:bodyPr/>
          <a:lstStyle/>
          <a:p>
            <a:pPr>
              <a:defRPr/>
            </a:pPr>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FB694EDE-81EF-4BAB-96DB-6066A9EED78C}" type="slidenum">
              <a:rPr lang="es-ES" smtClean="0"/>
              <a:pPr>
                <a:defRPr/>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D900CEFE-2B5D-4039-8D04-AC77E9226A17}" type="slidenum">
              <a:rPr lang="es-ES" smtClean="0"/>
              <a:pPr>
                <a:defRPr/>
              </a:pPr>
              <a:t>‹#›</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066800" y="304800"/>
            <a:ext cx="77724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066800" y="1676400"/>
            <a:ext cx="3810000" cy="4114800"/>
          </a:xfrm>
        </p:spPr>
        <p:txBody>
          <a:bodyPr/>
          <a:lstStyle/>
          <a:p>
            <a:pPr lvl="0"/>
            <a:endParaRPr lang="en-US" noProof="0" smtClean="0"/>
          </a:p>
        </p:txBody>
      </p:sp>
      <p:sp>
        <p:nvSpPr>
          <p:cNvPr id="4" name="Text Placeholder 3"/>
          <p:cNvSpPr>
            <a:spLocks noGrp="1"/>
          </p:cNvSpPr>
          <p:nvPr>
            <p:ph type="body" sz="half" idx="2"/>
          </p:nvPr>
        </p:nvSpPr>
        <p:spPr>
          <a:xfrm>
            <a:off x="5029200" y="16764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dt" sz="half" idx="10"/>
          </p:nvPr>
        </p:nvSpPr>
        <p:spPr/>
        <p:txBody>
          <a:bodyPr/>
          <a:lstStyle>
            <a:lvl1pPr>
              <a:defRPr/>
            </a:lvl1pPr>
          </a:lstStyle>
          <a:p>
            <a:pPr>
              <a:defRPr/>
            </a:pPr>
            <a:endParaRPr lang="en-US"/>
          </a:p>
        </p:txBody>
      </p:sp>
      <p:sp>
        <p:nvSpPr>
          <p:cNvPr id="6" name="Rectangle 14"/>
          <p:cNvSpPr>
            <a:spLocks noGrp="1" noChangeArrowheads="1"/>
          </p:cNvSpPr>
          <p:nvPr>
            <p:ph type="ftr" sz="quarter" idx="11"/>
          </p:nvPr>
        </p:nvSpPr>
        <p:spPr/>
        <p:txBody>
          <a:bodyPr/>
          <a:lstStyle>
            <a:lvl1pPr>
              <a:defRPr/>
            </a:lvl1pPr>
          </a:lstStyle>
          <a:p>
            <a:pPr>
              <a:defRPr/>
            </a:pPr>
            <a:endParaRPr lang="en-US"/>
          </a:p>
        </p:txBody>
      </p:sp>
      <p:sp>
        <p:nvSpPr>
          <p:cNvPr id="7" name="Rectangle 15"/>
          <p:cNvSpPr>
            <a:spLocks noGrp="1" noChangeArrowheads="1"/>
          </p:cNvSpPr>
          <p:nvPr>
            <p:ph type="sldNum" sz="quarter" idx="12"/>
          </p:nvPr>
        </p:nvSpPr>
        <p:spPr/>
        <p:txBody>
          <a:bodyPr/>
          <a:lstStyle>
            <a:lvl1pPr>
              <a:defRPr/>
            </a:lvl1pPr>
          </a:lstStyle>
          <a:p>
            <a:pPr>
              <a:defRPr/>
            </a:pPr>
            <a:fld id="{2A22A49C-0B95-478E-BC6A-289DAD1BB0AD}" type="slidenum">
              <a:rPr lang="en-US"/>
              <a:pPr>
                <a:defRPr/>
              </a:pPr>
              <a:t>‹#›</a:t>
            </a:fld>
            <a:endParaRPr lang="en-US"/>
          </a:p>
        </p:txBody>
      </p:sp>
    </p:spTree>
    <p:extLst>
      <p:ext uri="{BB962C8B-B14F-4D97-AF65-F5344CB8AC3E}">
        <p14:creationId xmlns="" xmlns:p14="http://schemas.microsoft.com/office/powerpoint/2010/main" val="3292965686"/>
      </p:ext>
    </p:extLst>
  </p:cSld>
  <p:clrMapOvr>
    <a:masterClrMapping/>
  </p:clrMapOvr>
  <p:transition spd="slow">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Başlık, Metin ve 2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a:prstGeom prst="rect">
            <a:avLst/>
          </a:prstGeom>
        </p:spPr>
        <p:txBody>
          <a:bodyPr/>
          <a:lstStyle/>
          <a:p>
            <a:r>
              <a:rPr lang="tr-TR" smtClean="0"/>
              <a:t>Asıl başlık stili için tıklatın</a:t>
            </a:r>
            <a:endParaRPr lang="tr-TR"/>
          </a:p>
        </p:txBody>
      </p:sp>
      <p:sp>
        <p:nvSpPr>
          <p:cNvPr id="3" name="Metin Yer Tutucusu 2"/>
          <p:cNvSpPr>
            <a:spLocks noGrp="1"/>
          </p:cNvSpPr>
          <p:nvPr>
            <p:ph type="body" sz="half" idx="1"/>
          </p:nvPr>
        </p:nvSpPr>
        <p:spPr>
          <a:xfrm>
            <a:off x="457200" y="1600200"/>
            <a:ext cx="4038600" cy="4525963"/>
          </a:xfrm>
          <a:prstGeom prst="rect">
            <a:avLst/>
          </a:prstGeo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quarter" idx="2"/>
          </p:nvPr>
        </p:nvSpPr>
        <p:spPr>
          <a:xfrm>
            <a:off x="4648200" y="1600200"/>
            <a:ext cx="4038600" cy="2185988"/>
          </a:xfrm>
          <a:prstGeom prst="rect">
            <a:avLst/>
          </a:prstGeo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İçerik Yer Tutucusu 4"/>
          <p:cNvSpPr>
            <a:spLocks noGrp="1"/>
          </p:cNvSpPr>
          <p:nvPr>
            <p:ph sz="quarter" idx="3"/>
          </p:nvPr>
        </p:nvSpPr>
        <p:spPr>
          <a:xfrm>
            <a:off x="4648200" y="3938588"/>
            <a:ext cx="4038600" cy="2187575"/>
          </a:xfrm>
          <a:prstGeom prst="rect">
            <a:avLst/>
          </a:prstGeo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Tree>
    <p:extLst>
      <p:ext uri="{BB962C8B-B14F-4D97-AF65-F5344CB8AC3E}">
        <p14:creationId xmlns="" xmlns:p14="http://schemas.microsoft.com/office/powerpoint/2010/main" val="299808295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a:defRPr/>
            </a:pPr>
            <a:fld id="{8752DBB7-8610-4E58-9205-33D206425DAC}" type="slidenum">
              <a:rPr lang="es-ES" smtClean="0"/>
              <a:pPr>
                <a:defRPr/>
              </a:pPr>
              <a:t>‹#›</a:t>
            </a:fld>
            <a:endParaRPr lang="es-E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pPr>
              <a:defRPr/>
            </a:pPr>
            <a:endParaRPr lang="es-E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pPr>
              <a:defRPr/>
            </a:pPr>
            <a:endParaRPr lang="es-E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notesSlide" Target="../notesSlides/notesSlide26.xml"/><Relationship Id="rId7" Type="http://schemas.openxmlformats.org/officeDocument/2006/relationships/hyperlink" Target="http://www.raesystems.com/products/entryrae" TargetMode="External"/><Relationship Id="rId2" Type="http://schemas.openxmlformats.org/officeDocument/2006/relationships/slideLayout" Target="../slideLayouts/slideLayout12.xml"/><Relationship Id="rId1" Type="http://schemas.openxmlformats.org/officeDocument/2006/relationships/tags" Target="../tags/tag6.xml"/><Relationship Id="rId6" Type="http://schemas.openxmlformats.org/officeDocument/2006/relationships/image" Target="../media/image28.jpeg"/><Relationship Id="rId11" Type="http://schemas.openxmlformats.org/officeDocument/2006/relationships/image" Target="../media/image32.png"/><Relationship Id="rId5" Type="http://schemas.openxmlformats.org/officeDocument/2006/relationships/image" Target="../media/image27.jpeg"/><Relationship Id="rId10" Type="http://schemas.openxmlformats.org/officeDocument/2006/relationships/image" Target="../media/image31.jpeg"/><Relationship Id="rId4" Type="http://schemas.openxmlformats.org/officeDocument/2006/relationships/image" Target="../media/image26.jpeg"/><Relationship Id="rId9" Type="http://schemas.openxmlformats.org/officeDocument/2006/relationships/image" Target="../media/image30.emf"/></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45.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4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7.xml"/><Relationship Id="rId1" Type="http://schemas.openxmlformats.org/officeDocument/2006/relationships/tags" Target="../tags/tag15.xml"/><Relationship Id="rId5" Type="http://schemas.openxmlformats.org/officeDocument/2006/relationships/image" Target="../media/image46.jpeg"/><Relationship Id="rId4" Type="http://schemas.openxmlformats.org/officeDocument/2006/relationships/hyperlink" Target="http://www.google.com.tr/url?sa=i&amp;rct=j&amp;q=kapal%C4%B1+alanlarda+%C3%A7al%C4%B1%C5%9Fma&amp;source=images&amp;cd=&amp;cad=rja&amp;docid=FE-NBX4tVEqyLM&amp;tbnid=RJRBSP3wUN-p8M:&amp;ved=0CAUQjRw&amp;url=http://www.artidanismanlik.com.tr/eg10.php&amp;ei=1aLMUYXzAYnhtQa17IDoDA&amp;bvm=bv.48572450,d.Yms&amp;psig=AFQjCNGGLdFjan4nDxdMMi2bz67GoGg6lg&amp;ust=1372451550065433" TargetMode="Externa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vmlDrawing" Target="../drawings/vmlDrawing2.vml"/><Relationship Id="rId5" Type="http://schemas.openxmlformats.org/officeDocument/2006/relationships/oleObject" Target="../embeddings/Microsoft_Office_Word_97_-_2003_Belgesi1.doc"/><Relationship Id="rId4"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49.jpeg"/><Relationship Id="rId4"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4283969" y="2564904"/>
            <a:ext cx="4320282" cy="2056309"/>
          </a:xfrm>
          <a:noFill/>
        </p:spPr>
        <p:txBody>
          <a:bodyPr/>
          <a:lstStyle/>
          <a:p>
            <a:pPr eaLnBrk="1" hangingPunct="1"/>
            <a:r>
              <a:rPr lang="tr-TR" sz="2800" b="1" dirty="0">
                <a:solidFill>
                  <a:schemeClr val="tx1"/>
                </a:solidFill>
                <a:ea typeface="Batang" panose="02030600000101010101" pitchFamily="18" charset="-127"/>
              </a:rPr>
              <a:t>Kapalı Alanlarda Çalışmalarda </a:t>
            </a:r>
            <a:br>
              <a:rPr lang="tr-TR" sz="2800" b="1" dirty="0">
                <a:solidFill>
                  <a:schemeClr val="tx1"/>
                </a:solidFill>
                <a:ea typeface="Batang" panose="02030600000101010101" pitchFamily="18" charset="-127"/>
              </a:rPr>
            </a:br>
            <a:r>
              <a:rPr lang="tr-TR" sz="2800" b="1" dirty="0">
                <a:solidFill>
                  <a:schemeClr val="tx1"/>
                </a:solidFill>
                <a:ea typeface="Batang" panose="02030600000101010101" pitchFamily="18" charset="-127"/>
              </a:rPr>
              <a:t>İş Sağlığı ve </a:t>
            </a:r>
            <a:r>
              <a:rPr lang="tr-TR" sz="2800" b="1" dirty="0" smtClean="0">
                <a:solidFill>
                  <a:schemeClr val="tx1"/>
                </a:solidFill>
                <a:ea typeface="Batang" panose="02030600000101010101" pitchFamily="18" charset="-127"/>
              </a:rPr>
              <a:t>Güvenliği</a:t>
            </a:r>
            <a:endParaRPr lang="es-ES" sz="1600" b="1" dirty="0" smtClean="0">
              <a:solidFill>
                <a:schemeClr val="tx1"/>
              </a:solidFill>
            </a:endParaRPr>
          </a:p>
        </p:txBody>
      </p:sp>
      <p:sp>
        <p:nvSpPr>
          <p:cNvPr id="2053" name="Rectangle 115"/>
          <p:cNvSpPr txBox="1">
            <a:spLocks noChangeArrowheads="1"/>
          </p:cNvSpPr>
          <p:nvPr/>
        </p:nvSpPr>
        <p:spPr bwMode="auto">
          <a:xfrm>
            <a:off x="5156200" y="5021263"/>
            <a:ext cx="3527425" cy="479425"/>
          </a:xfrm>
          <a:prstGeom prst="rect">
            <a:avLst/>
          </a:prstGeom>
          <a:noFill/>
          <a:ln w="9525">
            <a:noFill/>
            <a:miter lim="800000"/>
            <a:headEnd/>
            <a:tailEnd/>
          </a:ln>
          <a:effectLst/>
        </p:spPr>
        <p:txBody>
          <a:bodyPr/>
          <a:lstStyle/>
          <a:p>
            <a:pPr algn="r">
              <a:spcBef>
                <a:spcPct val="20000"/>
              </a:spcBef>
            </a:pPr>
            <a:endParaRPr lang="es-ES" dirty="0"/>
          </a:p>
        </p:txBody>
      </p:sp>
      <p:sp>
        <p:nvSpPr>
          <p:cNvPr id="6" name="Metin kutusu 5"/>
          <p:cNvSpPr txBox="1"/>
          <p:nvPr/>
        </p:nvSpPr>
        <p:spPr>
          <a:xfrm>
            <a:off x="539552" y="476672"/>
            <a:ext cx="3168352" cy="720080"/>
          </a:xfrm>
          <a:prstGeom prst="rect">
            <a:avLst/>
          </a:prstGeom>
          <a:solidFill>
            <a:schemeClr val="bg1">
              <a:lumMod val="95000"/>
            </a:schemeClr>
          </a:solidFill>
        </p:spPr>
        <p:txBody>
          <a:bodyPr wrap="square" rtlCol="0">
            <a:spAutoFit/>
          </a:bodyPr>
          <a:lstStyle/>
          <a:p>
            <a:endParaRPr lang="tr-T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Başlık 4"/>
          <p:cNvSpPr>
            <a:spLocks noGrp="1"/>
          </p:cNvSpPr>
          <p:nvPr>
            <p:ph type="ctrTitle"/>
          </p:nvPr>
        </p:nvSpPr>
        <p:spPr>
          <a:xfrm>
            <a:off x="0" y="-675456"/>
            <a:ext cx="8352927" cy="6858000"/>
          </a:xfrm>
        </p:spPr>
        <p:txBody>
          <a:bodyPr/>
          <a:lstStyle/>
          <a:p>
            <a:pPr algn="l"/>
            <a:r>
              <a:rPr lang="tr-TR" altLang="tr-TR" sz="2400" b="1" dirty="0" smtClean="0">
                <a:solidFill>
                  <a:schemeClr val="tx1"/>
                </a:solidFill>
                <a:latin typeface="+mj-lt"/>
              </a:rPr>
              <a:t>KİMYASAL MADDELERLE ÇALIŞMALARDA SAĞLIK  ve GÜV. ÖNLEMLERİ  HK. YÖNETMELİK</a:t>
            </a:r>
            <a:br>
              <a:rPr lang="tr-TR" altLang="tr-TR" sz="2400" b="1" dirty="0" smtClean="0">
                <a:solidFill>
                  <a:schemeClr val="tx1"/>
                </a:solidFill>
                <a:latin typeface="+mj-lt"/>
              </a:rPr>
            </a:br>
            <a:r>
              <a:rPr lang="tr-TR" altLang="tr-TR" sz="2400" b="1" dirty="0" smtClean="0">
                <a:solidFill>
                  <a:schemeClr val="tx1"/>
                </a:solidFill>
                <a:latin typeface="+mj-lt"/>
              </a:rPr>
              <a:t>Resmi </a:t>
            </a:r>
            <a:r>
              <a:rPr lang="tr-TR" altLang="tr-TR" sz="2400" b="1" dirty="0" err="1" smtClean="0">
                <a:solidFill>
                  <a:schemeClr val="tx1"/>
                </a:solidFill>
                <a:latin typeface="+mj-lt"/>
              </a:rPr>
              <a:t>Gzt</a:t>
            </a:r>
            <a:r>
              <a:rPr lang="tr-TR" altLang="tr-TR" sz="2400" b="1" dirty="0" smtClean="0">
                <a:solidFill>
                  <a:schemeClr val="tx1"/>
                </a:solidFill>
                <a:latin typeface="+mj-lt"/>
              </a:rPr>
              <a:t>.: 12.08.2013 /28733</a:t>
            </a:r>
            <a:br>
              <a:rPr lang="tr-TR" altLang="tr-TR" sz="2400" b="1" dirty="0" smtClean="0">
                <a:solidFill>
                  <a:schemeClr val="tx1"/>
                </a:solidFill>
                <a:latin typeface="+mj-lt"/>
              </a:rPr>
            </a:br>
            <a:r>
              <a:rPr lang="tr-TR" altLang="tr-TR" sz="2400" b="1" dirty="0" smtClean="0">
                <a:solidFill>
                  <a:schemeClr val="tx1"/>
                </a:solidFill>
                <a:latin typeface="+mj-lt"/>
              </a:rPr>
              <a:t/>
            </a:r>
            <a:br>
              <a:rPr lang="tr-TR" altLang="tr-TR" sz="2400" b="1" dirty="0" smtClean="0">
                <a:solidFill>
                  <a:schemeClr val="tx1"/>
                </a:solidFill>
                <a:latin typeface="+mj-lt"/>
              </a:rPr>
            </a:br>
            <a:r>
              <a:rPr lang="tr-TR" altLang="tr-TR" sz="2400" b="1" dirty="0" smtClean="0">
                <a:solidFill>
                  <a:schemeClr val="tx1"/>
                </a:solidFill>
                <a:latin typeface="+mj-lt"/>
              </a:rPr>
              <a:t>MADEN İŞYERLERİNDE İŞ SAĞLIĞI VE GÜVENLİĞİ YÖNETMELİĞİ</a:t>
            </a:r>
            <a:br>
              <a:rPr lang="tr-TR" altLang="tr-TR" sz="2400" b="1" dirty="0" smtClean="0">
                <a:solidFill>
                  <a:schemeClr val="tx1"/>
                </a:solidFill>
                <a:latin typeface="+mj-lt"/>
              </a:rPr>
            </a:br>
            <a:r>
              <a:rPr lang="tr-TR" altLang="tr-TR" sz="2400" b="1" dirty="0" smtClean="0">
                <a:solidFill>
                  <a:schemeClr val="tx1"/>
                </a:solidFill>
                <a:latin typeface="+mj-lt"/>
              </a:rPr>
              <a:t> Resmi </a:t>
            </a:r>
            <a:r>
              <a:rPr lang="tr-TR" altLang="tr-TR" sz="2400" b="1" dirty="0" err="1" smtClean="0">
                <a:solidFill>
                  <a:schemeClr val="tx1"/>
                </a:solidFill>
                <a:latin typeface="+mj-lt"/>
              </a:rPr>
              <a:t>Gzt</a:t>
            </a:r>
            <a:r>
              <a:rPr lang="tr-TR" altLang="tr-TR" sz="2400" b="1" dirty="0" smtClean="0">
                <a:solidFill>
                  <a:schemeClr val="tx1"/>
                </a:solidFill>
                <a:latin typeface="+mj-lt"/>
              </a:rPr>
              <a:t>.: 19.09.2013/28770</a:t>
            </a:r>
            <a:br>
              <a:rPr lang="tr-TR" altLang="tr-TR" sz="2400" b="1" dirty="0" smtClean="0">
                <a:solidFill>
                  <a:schemeClr val="tx1"/>
                </a:solidFill>
                <a:latin typeface="+mj-lt"/>
              </a:rPr>
            </a:br>
            <a:r>
              <a:rPr lang="tr-TR" altLang="tr-TR" sz="2400" b="1" dirty="0" smtClean="0">
                <a:solidFill>
                  <a:schemeClr val="tx1"/>
                </a:solidFill>
                <a:latin typeface="+mj-lt"/>
              </a:rPr>
              <a:t/>
            </a:r>
            <a:br>
              <a:rPr lang="tr-TR" altLang="tr-TR" sz="2400" b="1" dirty="0" smtClean="0">
                <a:solidFill>
                  <a:schemeClr val="tx1"/>
                </a:solidFill>
                <a:latin typeface="+mj-lt"/>
              </a:rPr>
            </a:br>
            <a:r>
              <a:rPr lang="tr-TR" altLang="tr-TR" sz="2400" b="1" dirty="0" smtClean="0">
                <a:solidFill>
                  <a:schemeClr val="tx1"/>
                </a:solidFill>
                <a:latin typeface="+mj-lt"/>
              </a:rPr>
              <a:t>YAPI İŞLERİNDE İŞ SAĞLIĞI VE GÜVENLİĞİ YÖNETMELİĞİ</a:t>
            </a:r>
            <a:br>
              <a:rPr lang="tr-TR" altLang="tr-TR" sz="2400" b="1" dirty="0" smtClean="0">
                <a:solidFill>
                  <a:schemeClr val="tx1"/>
                </a:solidFill>
                <a:latin typeface="+mj-lt"/>
              </a:rPr>
            </a:br>
            <a:r>
              <a:rPr lang="tr-TR" altLang="tr-TR" sz="2400" b="1" dirty="0" smtClean="0">
                <a:solidFill>
                  <a:schemeClr val="tx1"/>
                </a:solidFill>
                <a:latin typeface="+mj-lt"/>
              </a:rPr>
              <a:t> Resmi Gzt.:05.10.2013/28786</a:t>
            </a:r>
            <a:br>
              <a:rPr lang="tr-TR" altLang="tr-TR" sz="2400" b="1" dirty="0" smtClean="0">
                <a:solidFill>
                  <a:schemeClr val="tx1"/>
                </a:solidFill>
                <a:latin typeface="+mj-lt"/>
              </a:rPr>
            </a:br>
            <a:r>
              <a:rPr lang="tr-TR" altLang="tr-TR" sz="2400" b="1" dirty="0" smtClean="0">
                <a:solidFill>
                  <a:schemeClr val="tx1"/>
                </a:solidFill>
                <a:latin typeface="+mj-lt"/>
              </a:rPr>
              <a:t/>
            </a:r>
            <a:br>
              <a:rPr lang="tr-TR" altLang="tr-TR" sz="2400" b="1" dirty="0" smtClean="0">
                <a:solidFill>
                  <a:schemeClr val="tx1"/>
                </a:solidFill>
                <a:latin typeface="+mj-lt"/>
              </a:rPr>
            </a:br>
            <a:r>
              <a:rPr lang="tr-TR" altLang="tr-TR" sz="2400" b="1" dirty="0" smtClean="0">
                <a:solidFill>
                  <a:schemeClr val="tx1"/>
                </a:solidFill>
                <a:latin typeface="+mj-lt"/>
              </a:rPr>
              <a:t>TOZLA MÜCADELE YÖNETMELİĞİ</a:t>
            </a:r>
            <a:br>
              <a:rPr lang="tr-TR" altLang="tr-TR" sz="2400" b="1" dirty="0" smtClean="0">
                <a:solidFill>
                  <a:schemeClr val="tx1"/>
                </a:solidFill>
                <a:latin typeface="+mj-lt"/>
              </a:rPr>
            </a:br>
            <a:r>
              <a:rPr lang="tr-TR" altLang="tr-TR" sz="2400" b="1" dirty="0" smtClean="0">
                <a:solidFill>
                  <a:schemeClr val="tx1"/>
                </a:solidFill>
                <a:latin typeface="+mj-lt"/>
              </a:rPr>
              <a:t>Resmi </a:t>
            </a:r>
            <a:r>
              <a:rPr lang="tr-TR" altLang="tr-TR" sz="2400" b="1" dirty="0" err="1" smtClean="0">
                <a:solidFill>
                  <a:schemeClr val="tx1"/>
                </a:solidFill>
                <a:latin typeface="+mj-lt"/>
              </a:rPr>
              <a:t>Gzt</a:t>
            </a:r>
            <a:r>
              <a:rPr lang="tr-TR" altLang="tr-TR" sz="2400" b="1" dirty="0" smtClean="0">
                <a:solidFill>
                  <a:schemeClr val="tx1"/>
                </a:solidFill>
                <a:latin typeface="+mj-lt"/>
              </a:rPr>
              <a:t>.: 05.11.2013 /28812</a:t>
            </a:r>
            <a:br>
              <a:rPr lang="tr-TR" altLang="tr-TR" sz="2400" b="1" dirty="0" smtClean="0">
                <a:solidFill>
                  <a:schemeClr val="tx1"/>
                </a:solidFill>
                <a:latin typeface="+mj-lt"/>
              </a:rPr>
            </a:br>
            <a:r>
              <a:rPr lang="tr-TR" altLang="tr-TR" sz="2400" b="1" dirty="0" smtClean="0">
                <a:solidFill>
                  <a:schemeClr val="tx1"/>
                </a:solidFill>
                <a:latin typeface="+mj-lt"/>
              </a:rPr>
              <a:t/>
            </a:r>
            <a:br>
              <a:rPr lang="tr-TR" altLang="tr-TR" sz="2400" b="1" dirty="0" smtClean="0">
                <a:solidFill>
                  <a:schemeClr val="tx1"/>
                </a:solidFill>
                <a:latin typeface="+mj-lt"/>
              </a:rPr>
            </a:br>
            <a:endParaRPr lang="tr-TR" altLang="tr-TR" sz="2400" b="1" dirty="0" smtClean="0">
              <a:solidFill>
                <a:schemeClr val="tx1"/>
              </a:solidFill>
              <a:latin typeface="+mj-lt"/>
            </a:endParaRPr>
          </a:p>
        </p:txBody>
      </p:sp>
      <p:sp>
        <p:nvSpPr>
          <p:cNvPr id="4" name="Slayt Numarası Yer Tutucusu 3"/>
          <p:cNvSpPr>
            <a:spLocks noGrp="1"/>
          </p:cNvSpPr>
          <p:nvPr>
            <p:ph type="sldNum" sz="quarter" idx="12"/>
          </p:nvPr>
        </p:nvSpPr>
        <p:spPr/>
        <p:txBody>
          <a:bodyPr/>
          <a:lstStyle/>
          <a:p>
            <a:pPr>
              <a:defRPr/>
            </a:pPr>
            <a:fld id="{FF505F9B-AEFF-4933-BF16-CEA69F35040F}" type="slidenum">
              <a:rPr lang="tr-TR" smtClean="0"/>
              <a:pPr>
                <a:defRPr/>
              </a:pPr>
              <a:t>2</a:t>
            </a:fld>
            <a:endParaRPr lang="tr-TR"/>
          </a:p>
        </p:txBody>
      </p:sp>
    </p:spTree>
    <p:extLst>
      <p:ext uri="{BB962C8B-B14F-4D97-AF65-F5344CB8AC3E}">
        <p14:creationId xmlns="" xmlns:p14="http://schemas.microsoft.com/office/powerpoint/2010/main" val="33564708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251520" y="908720"/>
            <a:ext cx="8137599" cy="4363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2400" b="1" dirty="0">
                <a:latin typeface="Verdana" pitchFamily="34" charset="0"/>
              </a:rPr>
              <a:t>Sürekli çalışma yeri olarak tasarlanmamış;</a:t>
            </a:r>
            <a:r>
              <a:rPr lang="tr-TR" altLang="tr-TR" sz="2400" dirty="0">
                <a:latin typeface="Verdana" pitchFamily="34" charset="0"/>
              </a:rPr>
              <a:t> </a:t>
            </a:r>
          </a:p>
          <a:p>
            <a:pPr eaLnBrk="1" hangingPunct="1">
              <a:lnSpc>
                <a:spcPct val="170000"/>
              </a:lnSpc>
              <a:buClr>
                <a:srgbClr val="CC0000"/>
              </a:buClr>
              <a:buFont typeface="Wingdings 2" pitchFamily="18" charset="2"/>
              <a:buChar char="E"/>
            </a:pPr>
            <a:r>
              <a:rPr lang="tr-TR" altLang="tr-TR" sz="2400" dirty="0">
                <a:latin typeface="Verdana" pitchFamily="34" charset="0"/>
              </a:rPr>
              <a:t>  Giriş – Çıkış yolları </a:t>
            </a:r>
            <a:r>
              <a:rPr lang="tr-TR" altLang="tr-TR" sz="2400" dirty="0">
                <a:solidFill>
                  <a:srgbClr val="FF0000"/>
                </a:solidFill>
                <a:latin typeface="Verdana" pitchFamily="34" charset="0"/>
              </a:rPr>
              <a:t>sınırlı </a:t>
            </a:r>
          </a:p>
          <a:p>
            <a:pPr eaLnBrk="1" hangingPunct="1">
              <a:lnSpc>
                <a:spcPct val="170000"/>
              </a:lnSpc>
              <a:buClr>
                <a:srgbClr val="CC0000"/>
              </a:buClr>
              <a:buFont typeface="Wingdings 2" pitchFamily="18" charset="2"/>
              <a:buChar char="E"/>
            </a:pPr>
            <a:r>
              <a:rPr lang="tr-TR" altLang="tr-TR" sz="2400" dirty="0">
                <a:latin typeface="Verdana" pitchFamily="34" charset="0"/>
              </a:rPr>
              <a:t>  Tamamen veya kısmen </a:t>
            </a:r>
            <a:r>
              <a:rPr lang="tr-TR" altLang="tr-TR" sz="2400" dirty="0">
                <a:solidFill>
                  <a:srgbClr val="FF0000"/>
                </a:solidFill>
                <a:latin typeface="Verdana" pitchFamily="34" charset="0"/>
              </a:rPr>
              <a:t>kapalı</a:t>
            </a:r>
          </a:p>
          <a:p>
            <a:pPr eaLnBrk="1" hangingPunct="1">
              <a:lnSpc>
                <a:spcPct val="170000"/>
              </a:lnSpc>
              <a:buClr>
                <a:srgbClr val="CC0000"/>
              </a:buClr>
              <a:buFont typeface="Wingdings 2" pitchFamily="18" charset="2"/>
              <a:buChar char="E"/>
            </a:pPr>
            <a:r>
              <a:rPr lang="tr-TR" altLang="tr-TR" sz="2400" dirty="0">
                <a:latin typeface="Verdana" pitchFamily="34" charset="0"/>
              </a:rPr>
              <a:t>  </a:t>
            </a:r>
            <a:r>
              <a:rPr lang="tr-TR" altLang="tr-TR" sz="2400" dirty="0">
                <a:solidFill>
                  <a:srgbClr val="FF0000"/>
                </a:solidFill>
                <a:latin typeface="Verdana" pitchFamily="34" charset="0"/>
              </a:rPr>
              <a:t>Sınırlı bir </a:t>
            </a:r>
            <a:r>
              <a:rPr lang="tr-TR" altLang="tr-TR" sz="2400" dirty="0" err="1" smtClean="0">
                <a:solidFill>
                  <a:srgbClr val="FF0000"/>
                </a:solidFill>
                <a:latin typeface="Verdana" pitchFamily="34" charset="0"/>
              </a:rPr>
              <a:t>hacime</a:t>
            </a:r>
            <a:r>
              <a:rPr lang="tr-TR" altLang="tr-TR" sz="2400" dirty="0" smtClean="0">
                <a:solidFill>
                  <a:srgbClr val="FF0000"/>
                </a:solidFill>
                <a:latin typeface="Verdana" pitchFamily="34" charset="0"/>
              </a:rPr>
              <a:t> </a:t>
            </a:r>
            <a:r>
              <a:rPr lang="tr-TR" altLang="tr-TR" sz="2400" dirty="0">
                <a:latin typeface="Verdana" pitchFamily="34" charset="0"/>
              </a:rPr>
              <a:t>sahip</a:t>
            </a:r>
          </a:p>
          <a:p>
            <a:pPr eaLnBrk="1" hangingPunct="1">
              <a:lnSpc>
                <a:spcPct val="170000"/>
              </a:lnSpc>
              <a:buClr>
                <a:srgbClr val="CC0000"/>
              </a:buClr>
              <a:buFont typeface="Wingdings 2" pitchFamily="18" charset="2"/>
              <a:buChar char="E"/>
            </a:pPr>
            <a:r>
              <a:rPr lang="tr-TR" altLang="tr-TR" sz="2400" dirty="0">
                <a:latin typeface="Verdana" pitchFamily="34" charset="0"/>
              </a:rPr>
              <a:t>  İçinde </a:t>
            </a:r>
            <a:r>
              <a:rPr lang="tr-TR" altLang="tr-TR" sz="2400" dirty="0">
                <a:solidFill>
                  <a:srgbClr val="FF0000"/>
                </a:solidFill>
                <a:latin typeface="Verdana" pitchFamily="34" charset="0"/>
              </a:rPr>
              <a:t>rahat hareket edilemeyen</a:t>
            </a:r>
          </a:p>
          <a:p>
            <a:pPr eaLnBrk="1" hangingPunct="1">
              <a:lnSpc>
                <a:spcPct val="170000"/>
              </a:lnSpc>
              <a:buClr>
                <a:srgbClr val="CC0000"/>
              </a:buClr>
              <a:buFont typeface="Wingdings 2" pitchFamily="18" charset="2"/>
              <a:buChar char="E"/>
            </a:pPr>
            <a:r>
              <a:rPr lang="tr-TR" altLang="tr-TR" sz="2400" dirty="0">
                <a:latin typeface="Verdana" pitchFamily="34" charset="0"/>
              </a:rPr>
              <a:t>  </a:t>
            </a:r>
            <a:r>
              <a:rPr lang="tr-TR" altLang="tr-TR" sz="2400" dirty="0">
                <a:solidFill>
                  <a:srgbClr val="FF0000"/>
                </a:solidFill>
                <a:latin typeface="Verdana" pitchFamily="34" charset="0"/>
              </a:rPr>
              <a:t>Doğal bir hava akımı olmayan</a:t>
            </a:r>
          </a:p>
          <a:p>
            <a:pPr eaLnBrk="1" hangingPunct="1">
              <a:lnSpc>
                <a:spcPct val="170000"/>
              </a:lnSpc>
              <a:buClr>
                <a:srgbClr val="CC0000"/>
              </a:buClr>
              <a:buFont typeface="Wingdings 2" pitchFamily="18" charset="2"/>
              <a:buChar char="E"/>
            </a:pPr>
            <a:r>
              <a:rPr lang="tr-TR" altLang="tr-TR" sz="2400" dirty="0">
                <a:latin typeface="Verdana" pitchFamily="34" charset="0"/>
              </a:rPr>
              <a:t>  İçerisinde </a:t>
            </a:r>
            <a:r>
              <a:rPr lang="tr-TR" altLang="tr-TR" sz="2400" dirty="0">
                <a:solidFill>
                  <a:srgbClr val="FF0000"/>
                </a:solidFill>
                <a:latin typeface="Verdana" pitchFamily="34" charset="0"/>
              </a:rPr>
              <a:t>sınırlı miktarda hava </a:t>
            </a:r>
            <a:r>
              <a:rPr lang="tr-TR" altLang="tr-TR" sz="2400" dirty="0">
                <a:latin typeface="Verdana" pitchFamily="34" charset="0"/>
              </a:rPr>
              <a:t>olan</a:t>
            </a:r>
            <a:r>
              <a:rPr lang="tr-TR" altLang="tr-TR" sz="2400" dirty="0"/>
              <a:t> </a:t>
            </a:r>
            <a:r>
              <a:rPr lang="tr-TR" altLang="tr-TR" sz="2400" dirty="0">
                <a:latin typeface="Verdana" pitchFamily="34" charset="0"/>
              </a:rPr>
              <a:t>mahallerdir.</a:t>
            </a:r>
          </a:p>
        </p:txBody>
      </p:sp>
      <p:sp>
        <p:nvSpPr>
          <p:cNvPr id="27651" name="2 Dikdörtgen"/>
          <p:cNvSpPr>
            <a:spLocks noChangeArrowheads="1"/>
          </p:cNvSpPr>
          <p:nvPr/>
        </p:nvSpPr>
        <p:spPr bwMode="auto">
          <a:xfrm>
            <a:off x="684213" y="428625"/>
            <a:ext cx="7173912"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r>
              <a:rPr lang="tr-TR" altLang="tr-TR" sz="4000" b="1" dirty="0">
                <a:solidFill>
                  <a:schemeClr val="bg1"/>
                </a:solidFill>
                <a:latin typeface="Verdana" pitchFamily="34" charset="0"/>
              </a:rPr>
              <a:t>Kapalı ortamlar</a:t>
            </a:r>
            <a:endParaRPr lang="tr-TR" altLang="tr-TR" sz="4000" dirty="0">
              <a:solidFill>
                <a:schemeClr val="bg1"/>
              </a:solidFill>
              <a:latin typeface="Verdana" pitchFamily="34" charset="0"/>
            </a:endParaRPr>
          </a:p>
        </p:txBody>
      </p:sp>
      <p:sp>
        <p:nvSpPr>
          <p:cNvPr id="2" name="Slayt Numarası Yer Tutucusu 1"/>
          <p:cNvSpPr>
            <a:spLocks noGrp="1"/>
          </p:cNvSpPr>
          <p:nvPr>
            <p:ph type="sldNum" sz="quarter" idx="12"/>
          </p:nvPr>
        </p:nvSpPr>
        <p:spPr/>
        <p:txBody>
          <a:bodyPr/>
          <a:lstStyle/>
          <a:p>
            <a:pPr>
              <a:defRPr/>
            </a:pPr>
            <a:fld id="{1A5938A7-29C6-426D-8965-B86354654C25}" type="slidenum">
              <a:rPr lang="tr-TR" smtClean="0"/>
              <a:pPr>
                <a:defRPr/>
              </a:pPr>
              <a:t>3</a:t>
            </a:fld>
            <a:endParaRPr lang="tr-TR"/>
          </a:p>
        </p:txBody>
      </p:sp>
    </p:spTree>
    <p:extLst>
      <p:ext uri="{BB962C8B-B14F-4D97-AF65-F5344CB8AC3E}">
        <p14:creationId xmlns="" xmlns:p14="http://schemas.microsoft.com/office/powerpoint/2010/main" val="3069377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65100" y="404813"/>
            <a:ext cx="8655050" cy="56626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buClr>
                <a:srgbClr val="CC0000"/>
              </a:buClr>
              <a:buFont typeface="Wingdings 2" pitchFamily="18" charset="2"/>
              <a:buNone/>
            </a:pPr>
            <a:r>
              <a:rPr lang="tr-TR" altLang="tr-TR" sz="3200" b="1" dirty="0">
                <a:solidFill>
                  <a:srgbClr val="FF0000"/>
                </a:solidFill>
                <a:latin typeface="Verdana" pitchFamily="34" charset="0"/>
              </a:rPr>
              <a:t>Kapalı alanlar ; </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Penceresiz bodrum katları</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Dehlizler – Tüneller </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Boru hatları</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Kuyular – Çukurlar </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Depolama tankları</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Silolar </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Kanalizasyon hatları</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Bacalar </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Kazanlar</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Konteynerler</a:t>
            </a:r>
          </a:p>
          <a:p>
            <a:pPr eaLnBrk="1" hangingPunct="1">
              <a:spcBef>
                <a:spcPct val="50000"/>
              </a:spcBef>
              <a:buClr>
                <a:srgbClr val="CC0000"/>
              </a:buClr>
              <a:buFont typeface="Wingdings 2" pitchFamily="18" charset="2"/>
              <a:buChar char="E"/>
            </a:pPr>
            <a:r>
              <a:rPr lang="tr-TR" altLang="tr-TR" sz="2000" b="1" dirty="0">
                <a:solidFill>
                  <a:srgbClr val="0070C0"/>
                </a:solidFill>
                <a:latin typeface="Verdana" pitchFamily="34" charset="0"/>
              </a:rPr>
              <a:t>Gemi inşasındaki hücre ve tank bölümleri</a:t>
            </a:r>
          </a:p>
        </p:txBody>
      </p:sp>
      <p:sp>
        <p:nvSpPr>
          <p:cNvPr id="2" name="Slayt Numarası Yer Tutucusu 1"/>
          <p:cNvSpPr>
            <a:spLocks noGrp="1"/>
          </p:cNvSpPr>
          <p:nvPr>
            <p:ph type="sldNum" sz="quarter" idx="12"/>
          </p:nvPr>
        </p:nvSpPr>
        <p:spPr/>
        <p:txBody>
          <a:bodyPr/>
          <a:lstStyle/>
          <a:p>
            <a:pPr>
              <a:defRPr/>
            </a:pPr>
            <a:fld id="{3F9F97A9-D2B4-4824-AAD9-FDC818C4DAD1}" type="slidenum">
              <a:rPr lang="tr-TR" smtClean="0"/>
              <a:pPr>
                <a:defRPr/>
              </a:pPr>
              <a:t>4</a:t>
            </a:fld>
            <a:endParaRPr lang="tr-TR"/>
          </a:p>
        </p:txBody>
      </p:sp>
    </p:spTree>
    <p:extLst>
      <p:ext uri="{BB962C8B-B14F-4D97-AF65-F5344CB8AC3E}">
        <p14:creationId xmlns="" xmlns:p14="http://schemas.microsoft.com/office/powerpoint/2010/main" val="25736784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custDataLst>
              <p:tags r:id="rId1"/>
            </p:custDataLst>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200" y="26988"/>
            <a:ext cx="91694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699" name="3 Dikdörtgen"/>
          <p:cNvSpPr>
            <a:spLocks noChangeArrowheads="1"/>
          </p:cNvSpPr>
          <p:nvPr/>
        </p:nvSpPr>
        <p:spPr bwMode="auto">
          <a:xfrm>
            <a:off x="6215063" y="5214938"/>
            <a:ext cx="2928937" cy="1077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200" b="1"/>
              <a:t>KAPALI </a:t>
            </a:r>
          </a:p>
          <a:p>
            <a:pPr eaLnBrk="1" hangingPunct="1"/>
            <a:r>
              <a:rPr lang="tr-TR" altLang="tr-TR" sz="3200" b="1"/>
              <a:t>     ALANLAR</a:t>
            </a:r>
          </a:p>
        </p:txBody>
      </p:sp>
    </p:spTree>
    <p:extLst>
      <p:ext uri="{BB962C8B-B14F-4D97-AF65-F5344CB8AC3E}">
        <p14:creationId xmlns="" xmlns:p14="http://schemas.microsoft.com/office/powerpoint/2010/main" val="1137787746"/>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F10168B7-5B6A-4D04-B0FE-ED9947179A4D}" type="slidenum">
              <a:rPr lang="tr-TR" smtClean="0"/>
              <a:pPr>
                <a:defRPr/>
              </a:pPr>
              <a:t>6</a:t>
            </a:fld>
            <a:endParaRPr lang="tr-TR"/>
          </a:p>
        </p:txBody>
      </p:sp>
      <p:pic>
        <p:nvPicPr>
          <p:cNvPr id="30723" name="Picture 4" descr="confined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93688" y="373063"/>
            <a:ext cx="8280400" cy="23606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724" name="Picture 7" descr="silokin"/>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7350" y="2997200"/>
            <a:ext cx="2455863" cy="3219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725" name="Picture 6" descr="Hopper (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203575" y="3184525"/>
            <a:ext cx="2430463" cy="2919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726" name="Picture 5" descr="026_26"/>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019800" y="2997200"/>
            <a:ext cx="2806700" cy="3219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2276608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sz="half" idx="4294967295"/>
          </p:nvPr>
        </p:nvSpPr>
        <p:spPr>
          <a:xfrm>
            <a:off x="0" y="1809750"/>
            <a:ext cx="3386138" cy="4114800"/>
          </a:xfrm>
          <a:noFill/>
        </p:spPr>
        <p:txBody>
          <a:bodyPr/>
          <a:lstStyle/>
          <a:p>
            <a:endParaRPr lang="en-US" altLang="en-US" sz="2800" smtClean="0">
              <a:latin typeface="+mj-lt"/>
            </a:endParaRPr>
          </a:p>
          <a:p>
            <a:endParaRPr lang="en-US" altLang="en-US" sz="2800" smtClean="0">
              <a:latin typeface="+mj-lt"/>
            </a:endParaRPr>
          </a:p>
        </p:txBody>
      </p:sp>
      <p:pic>
        <p:nvPicPr>
          <p:cNvPr id="31747" name="Picture 5" descr="D:\CS-1\CS16.PCX"/>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000625" y="692150"/>
            <a:ext cx="3116263" cy="2430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1748" name="Picture 6" descr="D:\CS-1\CS17.PCX"/>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20725" y="692150"/>
            <a:ext cx="3116263" cy="228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1749" name="Picture 7" descr="D:\CS-1\CS19.PCX"/>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96913" y="4022725"/>
            <a:ext cx="3298825" cy="2501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1750" name="Picture 8" descr="D:\CS-1\CS18.PCX"/>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5003800" y="4076700"/>
            <a:ext cx="3530600" cy="228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13792575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79388" y="-304800"/>
            <a:ext cx="6264275" cy="6062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buClr>
                <a:srgbClr val="CC0000"/>
              </a:buClr>
              <a:buFont typeface="Wingdings 2" pitchFamily="18" charset="2"/>
              <a:buChar char="E"/>
            </a:pPr>
            <a:endParaRPr lang="tr-TR" altLang="tr-TR" sz="2000" dirty="0">
              <a:latin typeface="Verdana" pitchFamily="34" charset="0"/>
            </a:endParaRPr>
          </a:p>
          <a:p>
            <a:pPr eaLnBrk="1" hangingPunct="1">
              <a:buClr>
                <a:srgbClr val="CC0000"/>
              </a:buClr>
              <a:buFont typeface="Wingdings 2" pitchFamily="18" charset="2"/>
              <a:buChar char="E"/>
            </a:pPr>
            <a:endParaRPr lang="tr-TR" altLang="tr-TR" sz="2000" dirty="0">
              <a:latin typeface="Verdana" pitchFamily="34" charset="0"/>
            </a:endParaRPr>
          </a:p>
          <a:p>
            <a:pPr eaLnBrk="1" hangingPunct="1">
              <a:buClr>
                <a:srgbClr val="CC0000"/>
              </a:buClr>
              <a:buFont typeface="Wingdings 2" pitchFamily="18" charset="2"/>
              <a:buChar char="E"/>
            </a:pPr>
            <a:endParaRPr lang="tr-TR" altLang="tr-TR" sz="2000" dirty="0">
              <a:latin typeface="Verdana" pitchFamily="34" charset="0"/>
            </a:endParaRPr>
          </a:p>
          <a:p>
            <a:pPr eaLnBrk="1" hangingPunct="1">
              <a:buClr>
                <a:srgbClr val="CC0000"/>
              </a:buClr>
              <a:buFont typeface="Wingdings 2" pitchFamily="18" charset="2"/>
              <a:buChar char="E"/>
            </a:pPr>
            <a:endParaRPr lang="tr-TR" altLang="tr-TR" sz="2000" dirty="0">
              <a:latin typeface="Verdana" pitchFamily="34" charset="0"/>
            </a:endParaRPr>
          </a:p>
          <a:p>
            <a:pPr eaLnBrk="1" hangingPunct="1">
              <a:buClr>
                <a:srgbClr val="CC0000"/>
              </a:buClr>
              <a:buFont typeface="Wingdings 2" pitchFamily="18" charset="2"/>
              <a:buChar char="E"/>
            </a:pPr>
            <a:r>
              <a:rPr lang="tr-TR" altLang="tr-TR" sz="2400" dirty="0">
                <a:latin typeface="Verdana" pitchFamily="34" charset="0"/>
              </a:rPr>
              <a:t>Oksijen yetersizliği</a:t>
            </a:r>
          </a:p>
          <a:p>
            <a:pPr eaLnBrk="1" hangingPunct="1">
              <a:buClr>
                <a:srgbClr val="CC0000"/>
              </a:buClr>
              <a:buFont typeface="Wingdings 2" pitchFamily="18" charset="2"/>
              <a:buChar char="E"/>
            </a:pPr>
            <a:endParaRPr lang="tr-TR" altLang="tr-TR" sz="2400" dirty="0">
              <a:latin typeface="Verdana" pitchFamily="34" charset="0"/>
            </a:endParaRPr>
          </a:p>
          <a:p>
            <a:pPr eaLnBrk="1" hangingPunct="1">
              <a:buClr>
                <a:srgbClr val="CC0000"/>
              </a:buClr>
              <a:buFont typeface="Wingdings 2" pitchFamily="18" charset="2"/>
              <a:buChar char="E"/>
            </a:pPr>
            <a:r>
              <a:rPr lang="tr-TR" altLang="tr-TR" sz="2400" dirty="0">
                <a:latin typeface="Verdana" pitchFamily="34" charset="0"/>
              </a:rPr>
              <a:t>Elektriksel ve</a:t>
            </a:r>
          </a:p>
          <a:p>
            <a:pPr eaLnBrk="1" hangingPunct="1">
              <a:buClr>
                <a:srgbClr val="CC0000"/>
              </a:buClr>
              <a:buFont typeface="Arial" pitchFamily="34" charset="0"/>
              <a:buNone/>
            </a:pPr>
            <a:r>
              <a:rPr lang="tr-TR" altLang="tr-TR" sz="2400" dirty="0">
                <a:latin typeface="Verdana" pitchFamily="34" charset="0"/>
              </a:rPr>
              <a:t>   Mekanik tehlikeler</a:t>
            </a:r>
          </a:p>
          <a:p>
            <a:pPr eaLnBrk="1" hangingPunct="1">
              <a:buClr>
                <a:srgbClr val="CC0000"/>
              </a:buClr>
              <a:buFont typeface="Wingdings 2" pitchFamily="18" charset="2"/>
              <a:buChar char="E"/>
            </a:pPr>
            <a:endParaRPr lang="tr-TR" altLang="tr-TR" sz="2400" dirty="0">
              <a:latin typeface="Verdana" pitchFamily="34" charset="0"/>
            </a:endParaRPr>
          </a:p>
          <a:p>
            <a:pPr eaLnBrk="1" hangingPunct="1">
              <a:buClr>
                <a:srgbClr val="CC0000"/>
              </a:buClr>
              <a:buFont typeface="Wingdings 2" pitchFamily="18" charset="2"/>
              <a:buChar char="E"/>
            </a:pPr>
            <a:r>
              <a:rPr lang="tr-TR" altLang="tr-TR" sz="2400" dirty="0">
                <a:latin typeface="Verdana" pitchFamily="34" charset="0"/>
              </a:rPr>
              <a:t>Tehlikeli - Zararlı seviyede </a:t>
            </a:r>
          </a:p>
          <a:p>
            <a:pPr lvl="1" eaLnBrk="1" hangingPunct="1">
              <a:buClr>
                <a:srgbClr val="000066"/>
              </a:buClr>
              <a:buFont typeface="Wingdings 2" pitchFamily="18" charset="2"/>
              <a:buChar char="E"/>
            </a:pPr>
            <a:r>
              <a:rPr lang="tr-TR" altLang="tr-TR" sz="2400" dirty="0">
                <a:latin typeface="Verdana" pitchFamily="34" charset="0"/>
              </a:rPr>
              <a:t>Gaz</a:t>
            </a:r>
          </a:p>
          <a:p>
            <a:pPr lvl="1" eaLnBrk="1" hangingPunct="1">
              <a:buClr>
                <a:srgbClr val="000066"/>
              </a:buClr>
              <a:buFont typeface="Wingdings 2" pitchFamily="18" charset="2"/>
              <a:buChar char="E"/>
            </a:pPr>
            <a:r>
              <a:rPr lang="tr-TR" altLang="tr-TR" sz="2400" dirty="0">
                <a:latin typeface="Verdana" pitchFamily="34" charset="0"/>
              </a:rPr>
              <a:t>Toz</a:t>
            </a:r>
          </a:p>
          <a:p>
            <a:pPr lvl="1" eaLnBrk="1" hangingPunct="1">
              <a:buClr>
                <a:srgbClr val="000066"/>
              </a:buClr>
              <a:buFont typeface="Wingdings 2" pitchFamily="18" charset="2"/>
              <a:buChar char="E"/>
            </a:pPr>
            <a:r>
              <a:rPr lang="tr-TR" altLang="tr-TR" sz="2400" dirty="0">
                <a:latin typeface="Verdana" pitchFamily="34" charset="0"/>
              </a:rPr>
              <a:t>Buhar</a:t>
            </a:r>
          </a:p>
          <a:p>
            <a:pPr lvl="1" eaLnBrk="1" hangingPunct="1">
              <a:buClr>
                <a:srgbClr val="000066"/>
              </a:buClr>
              <a:buFont typeface="Wingdings 2" pitchFamily="18" charset="2"/>
              <a:buChar char="E"/>
            </a:pPr>
            <a:r>
              <a:rPr lang="tr-TR" altLang="tr-TR" sz="2400" dirty="0">
                <a:latin typeface="Verdana" pitchFamily="34" charset="0"/>
              </a:rPr>
              <a:t>Duman</a:t>
            </a:r>
          </a:p>
          <a:p>
            <a:pPr lvl="1" eaLnBrk="1" hangingPunct="1">
              <a:buClr>
                <a:srgbClr val="000066"/>
              </a:buClr>
              <a:buFont typeface="Arial" pitchFamily="34" charset="0"/>
              <a:buNone/>
            </a:pPr>
            <a:r>
              <a:rPr lang="tr-TR" altLang="tr-TR" sz="2400" dirty="0">
                <a:latin typeface="Verdana" pitchFamily="34" charset="0"/>
              </a:rPr>
              <a:t> </a:t>
            </a:r>
          </a:p>
          <a:p>
            <a:pPr eaLnBrk="1" hangingPunct="1">
              <a:buClr>
                <a:srgbClr val="CC0000"/>
              </a:buClr>
              <a:buFont typeface="Wingdings 2" pitchFamily="18" charset="2"/>
              <a:buChar char="E"/>
            </a:pPr>
            <a:r>
              <a:rPr lang="tr-TR" altLang="tr-TR" sz="2400" dirty="0">
                <a:solidFill>
                  <a:srgbClr val="FF0000"/>
                </a:solidFill>
                <a:latin typeface="Verdana" pitchFamily="34" charset="0"/>
              </a:rPr>
              <a:t>Patlama</a:t>
            </a:r>
            <a:r>
              <a:rPr lang="tr-TR" altLang="tr-TR" sz="2400" dirty="0">
                <a:latin typeface="Verdana" pitchFamily="34" charset="0"/>
              </a:rPr>
              <a:t> yaratacak oranlarda oksijen</a:t>
            </a:r>
          </a:p>
          <a:p>
            <a:pPr eaLnBrk="1" hangingPunct="1">
              <a:buClr>
                <a:srgbClr val="CC0000"/>
              </a:buClr>
              <a:buFont typeface="Wingdings 2" pitchFamily="18" charset="2"/>
              <a:buNone/>
            </a:pPr>
            <a:endParaRPr lang="tr-TR" altLang="tr-TR" sz="2000" dirty="0">
              <a:latin typeface="Verdana" pitchFamily="34" charset="0"/>
            </a:endParaRPr>
          </a:p>
        </p:txBody>
      </p:sp>
      <p:pic>
        <p:nvPicPr>
          <p:cNvPr id="32771" name="Picture 3" descr="hotwork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435600" y="1181100"/>
            <a:ext cx="3457575" cy="3433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2772" name="3 Dikdörtgen"/>
          <p:cNvSpPr>
            <a:spLocks noChangeArrowheads="1"/>
          </p:cNvSpPr>
          <p:nvPr/>
        </p:nvSpPr>
        <p:spPr bwMode="auto">
          <a:xfrm>
            <a:off x="857250" y="214313"/>
            <a:ext cx="7077075"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200" b="1" dirty="0">
                <a:solidFill>
                  <a:srgbClr val="FF0000"/>
                </a:solidFill>
                <a:latin typeface="Verdana" pitchFamily="34" charset="0"/>
              </a:rPr>
              <a:t>Kapalı ortamlardaki tehlikeler</a:t>
            </a:r>
            <a:endParaRPr lang="tr-TR" altLang="tr-TR" sz="3200" dirty="0">
              <a:solidFill>
                <a:srgbClr val="FF0000"/>
              </a:solidFill>
              <a:latin typeface="Verdana" pitchFamily="34" charset="0"/>
            </a:endParaRPr>
          </a:p>
        </p:txBody>
      </p:sp>
      <p:sp>
        <p:nvSpPr>
          <p:cNvPr id="2" name="Slayt Numarası Yer Tutucusu 1"/>
          <p:cNvSpPr>
            <a:spLocks noGrp="1"/>
          </p:cNvSpPr>
          <p:nvPr>
            <p:ph type="sldNum" sz="quarter" idx="12"/>
          </p:nvPr>
        </p:nvSpPr>
        <p:spPr/>
        <p:txBody>
          <a:bodyPr/>
          <a:lstStyle/>
          <a:p>
            <a:pPr>
              <a:defRPr/>
            </a:pPr>
            <a:fld id="{A9151646-89BB-4754-973C-2FE995F50FCE}" type="slidenum">
              <a:rPr lang="tr-TR" smtClean="0"/>
              <a:pPr>
                <a:defRPr/>
              </a:pPr>
              <a:t>8</a:t>
            </a:fld>
            <a:endParaRPr lang="tr-TR"/>
          </a:p>
        </p:txBody>
      </p:sp>
    </p:spTree>
    <p:extLst>
      <p:ext uri="{BB962C8B-B14F-4D97-AF65-F5344CB8AC3E}">
        <p14:creationId xmlns="" xmlns:p14="http://schemas.microsoft.com/office/powerpoint/2010/main" val="31316461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subTitle" idx="4294967295"/>
          </p:nvPr>
        </p:nvSpPr>
        <p:spPr>
          <a:xfrm>
            <a:off x="0" y="0"/>
            <a:ext cx="8674100" cy="4708525"/>
          </a:xfrm>
          <a:noFill/>
        </p:spPr>
        <p:txBody>
          <a:bodyPr lIns="92075" tIns="46038" rIns="92075" bIns="46038" anchor="ctr"/>
          <a:lstStyle/>
          <a:p>
            <a:pPr marL="0" indent="0" algn="ctr" eaLnBrk="1" hangingPunct="1">
              <a:buFont typeface="Wingdings" pitchFamily="2" charset="2"/>
              <a:buNone/>
            </a:pPr>
            <a:r>
              <a:rPr lang="en-US" altLang="tr-TR" sz="3200" b="1" dirty="0" smtClean="0">
                <a:solidFill>
                  <a:srgbClr val="FF0000"/>
                </a:solidFill>
                <a:latin typeface="+mj-lt"/>
              </a:rPr>
              <a:t>KAPALI </a:t>
            </a:r>
            <a:r>
              <a:rPr lang="tr-TR" altLang="tr-TR" sz="3200" b="1" dirty="0" smtClean="0">
                <a:solidFill>
                  <a:srgbClr val="FF0000"/>
                </a:solidFill>
                <a:latin typeface="+mj-lt"/>
              </a:rPr>
              <a:t>ALAN</a:t>
            </a:r>
            <a:r>
              <a:rPr lang="en-US" altLang="tr-TR" sz="3200" b="1" dirty="0" smtClean="0">
                <a:solidFill>
                  <a:srgbClr val="FF0000"/>
                </a:solidFill>
                <a:latin typeface="+mj-lt"/>
              </a:rPr>
              <a:t> KAZALARININ BAŞLICA SEBEPLERİ</a:t>
            </a:r>
            <a:endParaRPr lang="en-US" altLang="tr-TR" sz="3200" dirty="0" smtClean="0">
              <a:solidFill>
                <a:srgbClr val="FF0000"/>
              </a:solidFill>
              <a:latin typeface="+mj-lt"/>
            </a:endParaRPr>
          </a:p>
          <a:p>
            <a:pPr marL="0" indent="0" eaLnBrk="1" hangingPunct="1">
              <a:buFont typeface="Symbol" pitchFamily="18" charset="2"/>
              <a:buChar char="·"/>
            </a:pPr>
            <a:r>
              <a:rPr lang="en-US" altLang="tr-TR" sz="2800" b="1" dirty="0" err="1" smtClean="0">
                <a:latin typeface="+mj-lt"/>
              </a:rPr>
              <a:t>Doğru</a:t>
            </a:r>
            <a:r>
              <a:rPr lang="en-US" altLang="tr-TR" sz="2800" b="1" dirty="0" smtClean="0">
                <a:latin typeface="+mj-lt"/>
              </a:rPr>
              <a:t> </a:t>
            </a:r>
            <a:r>
              <a:rPr lang="en-US" altLang="tr-TR" sz="2800" b="1" dirty="0" err="1" smtClean="0">
                <a:latin typeface="+mj-lt"/>
              </a:rPr>
              <a:t>olmayan</a:t>
            </a:r>
            <a:r>
              <a:rPr lang="en-US" altLang="tr-TR" sz="2800" b="1" dirty="0" smtClean="0">
                <a:latin typeface="+mj-lt"/>
              </a:rPr>
              <a:t> / </a:t>
            </a:r>
            <a:r>
              <a:rPr lang="en-US" altLang="tr-TR" sz="2800" b="1" dirty="0" err="1" smtClean="0">
                <a:latin typeface="+mj-lt"/>
              </a:rPr>
              <a:t>Yetersiz</a:t>
            </a:r>
            <a:r>
              <a:rPr lang="en-US" altLang="tr-TR" sz="2800" b="1" dirty="0" smtClean="0">
                <a:latin typeface="+mj-lt"/>
              </a:rPr>
              <a:t> </a:t>
            </a:r>
            <a:r>
              <a:rPr lang="en-US" altLang="tr-TR" sz="2800" b="1" dirty="0" err="1" smtClean="0">
                <a:latin typeface="+mj-lt"/>
              </a:rPr>
              <a:t>teknik</a:t>
            </a:r>
            <a:r>
              <a:rPr lang="en-US" altLang="tr-TR" sz="2800" b="1" dirty="0" smtClean="0">
                <a:latin typeface="+mj-lt"/>
              </a:rPr>
              <a:t> </a:t>
            </a:r>
            <a:r>
              <a:rPr lang="en-US" altLang="tr-TR" sz="2800" b="1" dirty="0" err="1" smtClean="0">
                <a:latin typeface="+mj-lt"/>
              </a:rPr>
              <a:t>ekipman</a:t>
            </a:r>
            <a:r>
              <a:rPr lang="en-US" altLang="tr-TR" sz="2800" b="1" dirty="0" smtClean="0">
                <a:latin typeface="+mj-lt"/>
              </a:rPr>
              <a:t> </a:t>
            </a:r>
            <a:r>
              <a:rPr lang="en-US" altLang="tr-TR" sz="2800" b="1" dirty="0" err="1" smtClean="0">
                <a:latin typeface="+mj-lt"/>
              </a:rPr>
              <a:t>kullanımı</a:t>
            </a:r>
            <a:endParaRPr lang="en-US" altLang="tr-TR" sz="2800" b="1" dirty="0" smtClean="0">
              <a:latin typeface="+mj-lt"/>
            </a:endParaRPr>
          </a:p>
          <a:p>
            <a:pPr marL="0" indent="0" eaLnBrk="1" hangingPunct="1">
              <a:buFont typeface="Symbol" pitchFamily="18" charset="2"/>
              <a:buChar char="·"/>
            </a:pPr>
            <a:r>
              <a:rPr lang="en-US" altLang="tr-TR" sz="2800" b="1" dirty="0" err="1" smtClean="0">
                <a:latin typeface="+mj-lt"/>
              </a:rPr>
              <a:t>Çok</a:t>
            </a:r>
            <a:r>
              <a:rPr lang="en-US" altLang="tr-TR" sz="2800" b="1" dirty="0" smtClean="0">
                <a:latin typeface="+mj-lt"/>
              </a:rPr>
              <a:t> </a:t>
            </a:r>
            <a:r>
              <a:rPr lang="en-US" altLang="tr-TR" sz="2800" b="1" dirty="0" err="1" smtClean="0">
                <a:latin typeface="+mj-lt"/>
              </a:rPr>
              <a:t>az</a:t>
            </a:r>
            <a:r>
              <a:rPr lang="en-US" altLang="tr-TR" sz="2800" b="1" dirty="0" smtClean="0">
                <a:latin typeface="+mj-lt"/>
              </a:rPr>
              <a:t> </a:t>
            </a:r>
            <a:r>
              <a:rPr lang="en-US" altLang="tr-TR" sz="2800" b="1" dirty="0" err="1" smtClean="0">
                <a:latin typeface="+mj-lt"/>
              </a:rPr>
              <a:t>ya</a:t>
            </a:r>
            <a:r>
              <a:rPr lang="en-US" altLang="tr-TR" sz="2800" b="1" dirty="0" smtClean="0">
                <a:latin typeface="+mj-lt"/>
              </a:rPr>
              <a:t> da </a:t>
            </a:r>
            <a:r>
              <a:rPr lang="en-US" altLang="tr-TR" sz="2800" b="1" dirty="0" err="1" smtClean="0">
                <a:latin typeface="+mj-lt"/>
              </a:rPr>
              <a:t>hiç</a:t>
            </a:r>
            <a:r>
              <a:rPr lang="en-US" altLang="tr-TR" sz="2800" b="1" dirty="0" smtClean="0">
                <a:latin typeface="+mj-lt"/>
              </a:rPr>
              <a:t> </a:t>
            </a:r>
            <a:r>
              <a:rPr lang="en-US" altLang="tr-TR" sz="2800" b="1" dirty="0" err="1" smtClean="0">
                <a:latin typeface="+mj-lt"/>
              </a:rPr>
              <a:t>eğitim</a:t>
            </a:r>
            <a:r>
              <a:rPr lang="en-US" altLang="tr-TR" sz="2800" b="1" dirty="0" smtClean="0">
                <a:latin typeface="+mj-lt"/>
              </a:rPr>
              <a:t> </a:t>
            </a:r>
            <a:r>
              <a:rPr lang="en-US" altLang="tr-TR" sz="2800" b="1" dirty="0" err="1" smtClean="0">
                <a:latin typeface="+mj-lt"/>
              </a:rPr>
              <a:t>alınmamış</a:t>
            </a:r>
            <a:r>
              <a:rPr lang="en-US" altLang="tr-TR" sz="2800" b="1" dirty="0" smtClean="0">
                <a:latin typeface="+mj-lt"/>
              </a:rPr>
              <a:t> </a:t>
            </a:r>
            <a:r>
              <a:rPr lang="en-US" altLang="tr-TR" sz="2800" b="1" dirty="0" err="1" smtClean="0">
                <a:latin typeface="+mj-lt"/>
              </a:rPr>
              <a:t>olması</a:t>
            </a:r>
            <a:endParaRPr lang="en-US" altLang="tr-TR" sz="2800" b="1" dirty="0" smtClean="0">
              <a:latin typeface="+mj-lt"/>
            </a:endParaRPr>
          </a:p>
          <a:p>
            <a:pPr marL="0" indent="0" eaLnBrk="1" hangingPunct="1">
              <a:buFont typeface="Symbol" pitchFamily="18" charset="2"/>
              <a:buChar char="·"/>
            </a:pPr>
            <a:r>
              <a:rPr lang="tr-TR" altLang="tr-TR" sz="2800" b="1" dirty="0" smtClean="0">
                <a:latin typeface="+mj-lt"/>
              </a:rPr>
              <a:t>İ</a:t>
            </a:r>
            <a:r>
              <a:rPr lang="en-US" altLang="tr-TR" sz="2800" b="1" dirty="0" smtClean="0">
                <a:latin typeface="+mj-lt"/>
              </a:rPr>
              <a:t>ş </a:t>
            </a:r>
            <a:r>
              <a:rPr lang="en-US" altLang="tr-TR" sz="2800" b="1" dirty="0" err="1" smtClean="0">
                <a:latin typeface="+mj-lt"/>
              </a:rPr>
              <a:t>güvenliği</a:t>
            </a:r>
            <a:r>
              <a:rPr lang="en-US" altLang="tr-TR" sz="2800" b="1" dirty="0" smtClean="0">
                <a:latin typeface="+mj-lt"/>
              </a:rPr>
              <a:t> </a:t>
            </a:r>
            <a:r>
              <a:rPr lang="en-US" altLang="tr-TR" sz="2800" b="1" dirty="0" err="1" smtClean="0">
                <a:latin typeface="+mj-lt"/>
              </a:rPr>
              <a:t>kural</a:t>
            </a:r>
            <a:r>
              <a:rPr lang="en-US" altLang="tr-TR" sz="2800" b="1" dirty="0" smtClean="0">
                <a:latin typeface="+mj-lt"/>
              </a:rPr>
              <a:t> </a:t>
            </a:r>
            <a:r>
              <a:rPr lang="en-US" altLang="tr-TR" sz="2800" b="1" dirty="0" err="1" smtClean="0">
                <a:latin typeface="+mj-lt"/>
              </a:rPr>
              <a:t>ve</a:t>
            </a:r>
            <a:r>
              <a:rPr lang="en-US" altLang="tr-TR" sz="2800" b="1" dirty="0" smtClean="0">
                <a:latin typeface="+mj-lt"/>
              </a:rPr>
              <a:t> </a:t>
            </a:r>
            <a:r>
              <a:rPr lang="en-US" altLang="tr-TR" sz="2800" b="1" dirty="0" err="1" smtClean="0">
                <a:latin typeface="+mj-lt"/>
              </a:rPr>
              <a:t>prosedürlerine</a:t>
            </a:r>
            <a:r>
              <a:rPr lang="en-US" altLang="tr-TR" sz="2800" b="1" dirty="0" smtClean="0">
                <a:latin typeface="+mj-lt"/>
              </a:rPr>
              <a:t> </a:t>
            </a:r>
            <a:r>
              <a:rPr lang="en-US" altLang="tr-TR" sz="2800" b="1" dirty="0" err="1" smtClean="0">
                <a:latin typeface="+mj-lt"/>
              </a:rPr>
              <a:t>riayet</a:t>
            </a:r>
            <a:r>
              <a:rPr lang="en-US" altLang="tr-TR" sz="2800" b="1" dirty="0" smtClean="0">
                <a:latin typeface="+mj-lt"/>
              </a:rPr>
              <a:t> </a:t>
            </a:r>
            <a:r>
              <a:rPr lang="en-US" altLang="tr-TR" sz="2800" b="1" dirty="0" err="1" smtClean="0">
                <a:latin typeface="+mj-lt"/>
              </a:rPr>
              <a:t>edilmemesi</a:t>
            </a:r>
            <a:endParaRPr lang="en-US" altLang="tr-TR" sz="2800" b="1" dirty="0" smtClean="0">
              <a:latin typeface="+mj-lt"/>
            </a:endParaRPr>
          </a:p>
          <a:p>
            <a:pPr marL="0" indent="0" eaLnBrk="1" hangingPunct="1">
              <a:buFont typeface="Symbol" pitchFamily="18" charset="2"/>
              <a:buNone/>
            </a:pPr>
            <a:endParaRPr lang="en-US" altLang="tr-TR" sz="2800" dirty="0" smtClean="0">
              <a:latin typeface="+mj-lt"/>
            </a:endParaRPr>
          </a:p>
        </p:txBody>
      </p:sp>
      <p:pic>
        <p:nvPicPr>
          <p:cNvPr id="33795" name="Picture 3" descr="CS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419475" y="3984625"/>
            <a:ext cx="1974850" cy="2613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796" name="Picture 4" descr="CS12"/>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6011863" y="3995738"/>
            <a:ext cx="2520950" cy="2601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797" name="Picture 1033"/>
          <p:cNvPicPr>
            <a:picLocks noChangeAspect="1" noChangeArrowheads="1"/>
          </p:cNvPicPr>
          <p:nvPr/>
        </p:nvPicPr>
        <p:blipFill>
          <a:blip r:embed="rId6" cstate="print">
            <a:extLst>
              <a:ext uri="{28A0092B-C50C-407E-A947-70E740481C1C}">
                <a14:useLocalDpi xmlns="" xmlns:a14="http://schemas.microsoft.com/office/drawing/2010/main" val="0"/>
              </a:ext>
            </a:extLst>
          </a:blip>
          <a:srcRect l="26007" t="6169" r="29105" b="16653"/>
          <a:stretch>
            <a:fillRect/>
          </a:stretch>
        </p:blipFill>
        <p:spPr bwMode="auto">
          <a:xfrm>
            <a:off x="234950" y="3995738"/>
            <a:ext cx="2419350" cy="2808287"/>
          </a:xfrm>
          <a:prstGeom prst="rect">
            <a:avLst/>
          </a:prstGeom>
          <a:noFill/>
          <a:ln w="9525">
            <a:solidFill>
              <a:srgbClr val="FF9900"/>
            </a:solidFill>
            <a:miter lim="800000"/>
            <a:headEnd/>
            <a:tailEnd/>
          </a:ln>
          <a:extLst>
            <a:ext uri="{909E8E84-426E-40DD-AFC4-6F175D3DCCD1}">
              <a14:hiddenFill xmlns="" xmlns:a14="http://schemas.microsoft.com/office/drawing/2010/main">
                <a:solidFill>
                  <a:srgbClr val="FFFFFF"/>
                </a:solidFill>
              </a14:hiddenFill>
            </a:ext>
          </a:extLst>
        </p:spPr>
      </p:pic>
    </p:spTree>
    <p:custDataLst>
      <p:tags r:id="rId1"/>
    </p:custDataLst>
    <p:extLst>
      <p:ext uri="{BB962C8B-B14F-4D97-AF65-F5344CB8AC3E}">
        <p14:creationId xmlns="" xmlns:p14="http://schemas.microsoft.com/office/powerpoint/2010/main" val="2219105068"/>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250825" y="476672"/>
            <a:ext cx="8281988" cy="50167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60000"/>
              </a:lnSpc>
            </a:pPr>
            <a:r>
              <a:rPr lang="tr-TR" altLang="tr-TR" sz="4000" b="1" dirty="0" smtClean="0">
                <a:solidFill>
                  <a:srgbClr val="FF0000"/>
                </a:solidFill>
                <a:latin typeface="Verdana" pitchFamily="34" charset="0"/>
              </a:rPr>
              <a:t>Kirli hava</a:t>
            </a:r>
            <a:endParaRPr lang="tr-TR" altLang="tr-TR" sz="4000" b="1" dirty="0">
              <a:solidFill>
                <a:srgbClr val="FF0000"/>
              </a:solidFill>
              <a:latin typeface="Verdana" pitchFamily="34" charset="0"/>
            </a:endParaRPr>
          </a:p>
          <a:p>
            <a:pPr eaLnBrk="1" hangingPunct="1">
              <a:lnSpc>
                <a:spcPct val="160000"/>
              </a:lnSpc>
              <a:buClr>
                <a:srgbClr val="CC0000"/>
              </a:buClr>
              <a:buFont typeface="Wingdings 2" pitchFamily="18" charset="2"/>
              <a:buChar char="E"/>
            </a:pPr>
            <a:r>
              <a:rPr lang="tr-TR" altLang="tr-TR" sz="4000" dirty="0">
                <a:latin typeface="Verdana" pitchFamily="34" charset="0"/>
              </a:rPr>
              <a:t>Pis hava</a:t>
            </a:r>
            <a:r>
              <a:rPr lang="tr-TR" altLang="tr-TR" sz="4000" dirty="0">
                <a:latin typeface="Verdana" pitchFamily="34" charset="0"/>
                <a:sym typeface="Wingdings" pitchFamily="2" charset="2"/>
              </a:rPr>
              <a:t> </a:t>
            </a:r>
            <a:endParaRPr lang="tr-TR" altLang="tr-TR" sz="4000" dirty="0">
              <a:latin typeface="Verdana" pitchFamily="34" charset="0"/>
            </a:endParaRPr>
          </a:p>
          <a:p>
            <a:pPr eaLnBrk="1" hangingPunct="1">
              <a:lnSpc>
                <a:spcPct val="160000"/>
              </a:lnSpc>
              <a:buClr>
                <a:srgbClr val="CC0000"/>
              </a:buClr>
              <a:buFont typeface="Wingdings 2" pitchFamily="18" charset="2"/>
              <a:buChar char="E"/>
            </a:pPr>
            <a:r>
              <a:rPr lang="tr-TR" altLang="tr-TR" sz="4000" dirty="0">
                <a:latin typeface="Verdana" pitchFamily="34" charset="0"/>
              </a:rPr>
              <a:t>Zehirli hava</a:t>
            </a:r>
          </a:p>
          <a:p>
            <a:pPr eaLnBrk="1" hangingPunct="1">
              <a:lnSpc>
                <a:spcPct val="160000"/>
              </a:lnSpc>
              <a:buClr>
                <a:srgbClr val="CC0000"/>
              </a:buClr>
              <a:buFont typeface="Wingdings 2" pitchFamily="18" charset="2"/>
              <a:buChar char="E"/>
            </a:pPr>
            <a:r>
              <a:rPr lang="tr-TR" altLang="tr-TR" sz="4000" dirty="0">
                <a:latin typeface="Verdana" pitchFamily="34" charset="0"/>
              </a:rPr>
              <a:t>Patlayıcı hava</a:t>
            </a:r>
          </a:p>
          <a:p>
            <a:pPr eaLnBrk="1" hangingPunct="1">
              <a:lnSpc>
                <a:spcPct val="160000"/>
              </a:lnSpc>
              <a:buClr>
                <a:srgbClr val="CC0000"/>
              </a:buClr>
              <a:buFont typeface="Wingdings 2" pitchFamily="18" charset="2"/>
              <a:buChar char="E"/>
            </a:pPr>
            <a:r>
              <a:rPr lang="tr-TR" altLang="tr-TR" sz="4000" dirty="0">
                <a:latin typeface="Verdana" pitchFamily="34" charset="0"/>
              </a:rPr>
              <a:t>Tozlu hava  </a:t>
            </a:r>
            <a:endParaRPr lang="tr-TR" altLang="tr-TR" sz="4000" b="1" dirty="0">
              <a:latin typeface="Verdana" pitchFamily="34" charset="0"/>
            </a:endParaRPr>
          </a:p>
        </p:txBody>
      </p:sp>
      <p:sp>
        <p:nvSpPr>
          <p:cNvPr id="2" name="Slayt Numarası Yer Tutucusu 1"/>
          <p:cNvSpPr>
            <a:spLocks noGrp="1"/>
          </p:cNvSpPr>
          <p:nvPr>
            <p:ph type="sldNum" sz="quarter" idx="12"/>
          </p:nvPr>
        </p:nvSpPr>
        <p:spPr/>
        <p:txBody>
          <a:bodyPr/>
          <a:lstStyle/>
          <a:p>
            <a:pPr>
              <a:defRPr/>
            </a:pPr>
            <a:fld id="{51EB2EB9-2BA0-46CD-A31F-CDE97DA2F4DE}" type="slidenum">
              <a:rPr lang="tr-TR" smtClean="0"/>
              <a:pPr>
                <a:defRPr/>
              </a:pPr>
              <a:t>10</a:t>
            </a:fld>
            <a:endParaRPr lang="tr-TR"/>
          </a:p>
        </p:txBody>
      </p:sp>
    </p:spTree>
    <p:extLst>
      <p:ext uri="{BB962C8B-B14F-4D97-AF65-F5344CB8AC3E}">
        <p14:creationId xmlns="" xmlns:p14="http://schemas.microsoft.com/office/powerpoint/2010/main" val="19881695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01792" y="-27384"/>
            <a:ext cx="7993062" cy="4984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40000"/>
              </a:lnSpc>
            </a:pPr>
            <a:endParaRPr lang="tr-TR" altLang="tr-TR" sz="2400" dirty="0">
              <a:solidFill>
                <a:srgbClr val="000066"/>
              </a:solidFill>
              <a:latin typeface="Verdana" pitchFamily="34" charset="0"/>
            </a:endParaRPr>
          </a:p>
          <a:p>
            <a:pPr eaLnBrk="1" hangingPunct="1">
              <a:lnSpc>
                <a:spcPct val="140000"/>
              </a:lnSpc>
            </a:pPr>
            <a:endParaRPr lang="tr-TR" altLang="tr-TR" sz="2400" dirty="0"/>
          </a:p>
          <a:p>
            <a:pPr eaLnBrk="1" hangingPunct="1">
              <a:lnSpc>
                <a:spcPct val="190000"/>
              </a:lnSpc>
              <a:buClr>
                <a:srgbClr val="CC0000"/>
              </a:buClr>
              <a:buFont typeface="Arial" pitchFamily="34" charset="0"/>
              <a:buNone/>
            </a:pPr>
            <a:r>
              <a:rPr lang="tr-TR" altLang="tr-TR" sz="3600" b="1" dirty="0">
                <a:solidFill>
                  <a:srgbClr val="0070C0"/>
                </a:solidFill>
                <a:latin typeface="Verdana" pitchFamily="34" charset="0"/>
              </a:rPr>
              <a:t>1- Pis hava</a:t>
            </a:r>
          </a:p>
          <a:p>
            <a:pPr eaLnBrk="1" hangingPunct="1">
              <a:lnSpc>
                <a:spcPct val="190000"/>
              </a:lnSpc>
              <a:buClr>
                <a:srgbClr val="CC0000"/>
              </a:buClr>
              <a:buFont typeface="Wingdings 2" pitchFamily="18" charset="2"/>
              <a:buNone/>
            </a:pPr>
            <a:r>
              <a:rPr lang="tr-TR" altLang="tr-TR" sz="3200" dirty="0">
                <a:latin typeface="Verdana" pitchFamily="34" charset="0"/>
                <a:sym typeface="Wingdings" pitchFamily="2" charset="2"/>
              </a:rPr>
              <a:t>Ortamdaki oksijen (O</a:t>
            </a:r>
            <a:r>
              <a:rPr lang="tr-TR" altLang="tr-TR" sz="3200" baseline="-25000" dirty="0">
                <a:latin typeface="Verdana" pitchFamily="34" charset="0"/>
                <a:sym typeface="Wingdings" pitchFamily="2" charset="2"/>
              </a:rPr>
              <a:t>2</a:t>
            </a:r>
            <a:r>
              <a:rPr lang="tr-TR" altLang="tr-TR" sz="3200" dirty="0">
                <a:latin typeface="Verdana" pitchFamily="34" charset="0"/>
                <a:sym typeface="Wingdings" pitchFamily="2" charset="2"/>
              </a:rPr>
              <a:t>) oranı </a:t>
            </a:r>
            <a:r>
              <a:rPr lang="tr-TR" altLang="tr-TR" sz="3200" dirty="0">
                <a:solidFill>
                  <a:srgbClr val="FF0000"/>
                </a:solidFill>
                <a:latin typeface="Verdana" pitchFamily="34" charset="0"/>
                <a:sym typeface="Wingdings" pitchFamily="2" charset="2"/>
              </a:rPr>
              <a:t>%20 den aşağıdadır.</a:t>
            </a:r>
          </a:p>
          <a:p>
            <a:pPr eaLnBrk="1" hangingPunct="1">
              <a:lnSpc>
                <a:spcPct val="190000"/>
              </a:lnSpc>
              <a:buClr>
                <a:srgbClr val="CC0000"/>
              </a:buClr>
              <a:buFont typeface="Wingdings 2" pitchFamily="18" charset="2"/>
              <a:buNone/>
            </a:pPr>
            <a:r>
              <a:rPr lang="tr-TR" altLang="tr-TR" sz="3200" dirty="0">
                <a:latin typeface="Verdana" pitchFamily="34" charset="0"/>
                <a:sym typeface="Wingdings" pitchFamily="2" charset="2"/>
              </a:rPr>
              <a:t>Kısa sürede yorgunluk ortaya çıkar.</a:t>
            </a:r>
          </a:p>
        </p:txBody>
      </p:sp>
      <p:sp>
        <p:nvSpPr>
          <p:cNvPr id="2" name="Slayt Numarası Yer Tutucusu 1"/>
          <p:cNvSpPr>
            <a:spLocks noGrp="1"/>
          </p:cNvSpPr>
          <p:nvPr>
            <p:ph type="sldNum" sz="quarter" idx="12"/>
          </p:nvPr>
        </p:nvSpPr>
        <p:spPr/>
        <p:txBody>
          <a:bodyPr/>
          <a:lstStyle/>
          <a:p>
            <a:pPr>
              <a:defRPr/>
            </a:pPr>
            <a:fld id="{F4461506-BB42-430F-AEFF-0A82CF2CCC18}" type="slidenum">
              <a:rPr lang="tr-TR" smtClean="0"/>
              <a:pPr>
                <a:defRPr/>
              </a:pPr>
              <a:t>11</a:t>
            </a:fld>
            <a:endParaRPr lang="tr-TR"/>
          </a:p>
        </p:txBody>
      </p:sp>
    </p:spTree>
    <p:extLst>
      <p:ext uri="{BB962C8B-B14F-4D97-AF65-F5344CB8AC3E}">
        <p14:creationId xmlns="" xmlns:p14="http://schemas.microsoft.com/office/powerpoint/2010/main" val="420037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107950" y="-101600"/>
            <a:ext cx="8567738" cy="5754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2400" b="1">
              <a:solidFill>
                <a:srgbClr val="000066"/>
              </a:solidFill>
            </a:endParaRPr>
          </a:p>
          <a:p>
            <a:pPr eaLnBrk="1" hangingPunct="1"/>
            <a:endParaRPr lang="tr-TR" altLang="tr-TR" sz="2400">
              <a:solidFill>
                <a:srgbClr val="000066"/>
              </a:solidFill>
            </a:endParaRPr>
          </a:p>
          <a:p>
            <a:pPr eaLnBrk="1" hangingPunct="1">
              <a:buClr>
                <a:srgbClr val="CC0000"/>
              </a:buClr>
              <a:buFont typeface="Arial" pitchFamily="34" charset="0"/>
              <a:buNone/>
            </a:pPr>
            <a:r>
              <a:rPr lang="tr-TR" altLang="tr-TR" sz="3200" b="1">
                <a:solidFill>
                  <a:srgbClr val="0070C0"/>
                </a:solidFill>
                <a:latin typeface="Verdana" pitchFamily="34" charset="0"/>
              </a:rPr>
              <a:t> 2- Zehirli hava</a:t>
            </a:r>
          </a:p>
          <a:p>
            <a:pPr eaLnBrk="1" hangingPunct="1">
              <a:lnSpc>
                <a:spcPct val="160000"/>
              </a:lnSpc>
              <a:buClr>
                <a:srgbClr val="CC0000"/>
              </a:buClr>
              <a:buFont typeface="Wingdings 2" pitchFamily="18" charset="2"/>
              <a:buNone/>
            </a:pPr>
            <a:r>
              <a:rPr lang="tr-TR" altLang="tr-TR" sz="2000">
                <a:latin typeface="Verdana" pitchFamily="34" charset="0"/>
              </a:rPr>
              <a:t>İnsan hayatını tehlikeye düşüren zararlı gazlar içerir.</a:t>
            </a:r>
          </a:p>
          <a:p>
            <a:pPr eaLnBrk="1" hangingPunct="1">
              <a:lnSpc>
                <a:spcPct val="160000"/>
              </a:lnSpc>
              <a:buClr>
                <a:srgbClr val="CC0000"/>
              </a:buClr>
              <a:buFont typeface="Wingdings 2" pitchFamily="18" charset="2"/>
              <a:buNone/>
            </a:pPr>
            <a:r>
              <a:rPr lang="tr-TR" altLang="tr-TR" sz="2000">
                <a:latin typeface="Verdana" pitchFamily="34" charset="0"/>
              </a:rPr>
              <a:t>Bu gazlar  insan sağlığını olumsuz etkiler.</a:t>
            </a:r>
          </a:p>
          <a:p>
            <a:pPr lvl="2" eaLnBrk="1" hangingPunct="1">
              <a:lnSpc>
                <a:spcPct val="160000"/>
              </a:lnSpc>
              <a:buClr>
                <a:srgbClr val="000066"/>
              </a:buClr>
              <a:buFont typeface="Wingdings 2" pitchFamily="18" charset="2"/>
              <a:buChar char="E"/>
            </a:pPr>
            <a:r>
              <a:rPr lang="tr-TR" altLang="tr-TR" sz="2800">
                <a:latin typeface="Verdana" pitchFamily="34" charset="0"/>
              </a:rPr>
              <a:t>Karbonmonoksit</a:t>
            </a:r>
          </a:p>
          <a:p>
            <a:pPr lvl="2" eaLnBrk="1" hangingPunct="1">
              <a:lnSpc>
                <a:spcPct val="160000"/>
              </a:lnSpc>
              <a:buClr>
                <a:srgbClr val="000066"/>
              </a:buClr>
              <a:buFont typeface="Wingdings 2" pitchFamily="18" charset="2"/>
              <a:buChar char="E"/>
            </a:pPr>
            <a:r>
              <a:rPr lang="tr-TR" altLang="tr-TR" sz="2800">
                <a:latin typeface="Verdana" pitchFamily="34" charset="0"/>
              </a:rPr>
              <a:t>Azot oksitleri</a:t>
            </a:r>
          </a:p>
          <a:p>
            <a:pPr lvl="2" eaLnBrk="1" hangingPunct="1">
              <a:lnSpc>
                <a:spcPct val="160000"/>
              </a:lnSpc>
              <a:buClr>
                <a:srgbClr val="000066"/>
              </a:buClr>
              <a:buFont typeface="Wingdings 2" pitchFamily="18" charset="2"/>
              <a:buChar char="E"/>
            </a:pPr>
            <a:r>
              <a:rPr lang="tr-TR" altLang="tr-TR" sz="2800">
                <a:latin typeface="Verdana" pitchFamily="34" charset="0"/>
              </a:rPr>
              <a:t>Hidrojensülfür</a:t>
            </a:r>
          </a:p>
          <a:p>
            <a:pPr lvl="2" eaLnBrk="1" hangingPunct="1">
              <a:lnSpc>
                <a:spcPct val="160000"/>
              </a:lnSpc>
              <a:buClr>
                <a:srgbClr val="000066"/>
              </a:buClr>
              <a:buFont typeface="Wingdings 2" pitchFamily="18" charset="2"/>
              <a:buChar char="E"/>
            </a:pPr>
            <a:r>
              <a:rPr lang="tr-TR" altLang="tr-TR" sz="2800">
                <a:latin typeface="Verdana" pitchFamily="34" charset="0"/>
              </a:rPr>
              <a:t>Kükürtdioksit</a:t>
            </a:r>
          </a:p>
          <a:p>
            <a:pPr lvl="2" eaLnBrk="1" hangingPunct="1">
              <a:lnSpc>
                <a:spcPct val="160000"/>
              </a:lnSpc>
              <a:buClr>
                <a:srgbClr val="000066"/>
              </a:buClr>
              <a:buFont typeface="Wingdings 2" pitchFamily="18" charset="2"/>
              <a:buChar char="E"/>
            </a:pPr>
            <a:r>
              <a:rPr lang="tr-TR" altLang="tr-TR" sz="2800">
                <a:latin typeface="Verdana" pitchFamily="34" charset="0"/>
              </a:rPr>
              <a:t>Radon gazı vd. </a:t>
            </a:r>
            <a:endParaRPr lang="tr-TR" altLang="tr-TR" sz="2800" b="1">
              <a:latin typeface="Verdana" pitchFamily="34" charset="0"/>
            </a:endParaRPr>
          </a:p>
        </p:txBody>
      </p:sp>
      <p:sp>
        <p:nvSpPr>
          <p:cNvPr id="2" name="Slayt Numarası Yer Tutucusu 1"/>
          <p:cNvSpPr>
            <a:spLocks noGrp="1"/>
          </p:cNvSpPr>
          <p:nvPr>
            <p:ph type="sldNum" sz="quarter" idx="12"/>
          </p:nvPr>
        </p:nvSpPr>
        <p:spPr/>
        <p:txBody>
          <a:bodyPr/>
          <a:lstStyle/>
          <a:p>
            <a:pPr>
              <a:defRPr/>
            </a:pPr>
            <a:fld id="{437F14E7-E72B-4E06-AFB2-C555DFAB7F70}" type="slidenum">
              <a:rPr lang="tr-TR" smtClean="0"/>
              <a:pPr>
                <a:defRPr/>
              </a:pPr>
              <a:t>12</a:t>
            </a:fld>
            <a:endParaRPr lang="tr-TR"/>
          </a:p>
        </p:txBody>
      </p:sp>
    </p:spTree>
    <p:extLst>
      <p:ext uri="{BB962C8B-B14F-4D97-AF65-F5344CB8AC3E}">
        <p14:creationId xmlns="" xmlns:p14="http://schemas.microsoft.com/office/powerpoint/2010/main" val="2951844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23850" y="-627063"/>
            <a:ext cx="8208963" cy="6907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20000"/>
              </a:lnSpc>
            </a:pPr>
            <a:endParaRPr lang="tr-TR" altLang="tr-TR" sz="2400">
              <a:solidFill>
                <a:srgbClr val="000066"/>
              </a:solidFill>
              <a:latin typeface="Verdana" pitchFamily="34" charset="0"/>
            </a:endParaRPr>
          </a:p>
          <a:p>
            <a:pPr eaLnBrk="1" hangingPunct="1">
              <a:lnSpc>
                <a:spcPct val="120000"/>
              </a:lnSpc>
            </a:pPr>
            <a:endParaRPr lang="tr-TR" altLang="tr-TR" sz="2400">
              <a:latin typeface="Verdana" pitchFamily="34" charset="0"/>
            </a:endParaRPr>
          </a:p>
          <a:p>
            <a:pPr eaLnBrk="1" hangingPunct="1">
              <a:lnSpc>
                <a:spcPct val="120000"/>
              </a:lnSpc>
              <a:buClr>
                <a:srgbClr val="CC0000"/>
              </a:buClr>
              <a:buFont typeface="Arial" pitchFamily="34" charset="0"/>
              <a:buNone/>
            </a:pPr>
            <a:r>
              <a:rPr lang="tr-TR" altLang="tr-TR" sz="3600" b="1">
                <a:solidFill>
                  <a:srgbClr val="0070C0"/>
                </a:solidFill>
                <a:latin typeface="Verdana" pitchFamily="34" charset="0"/>
              </a:rPr>
              <a:t>3- Patlayıcı hava</a:t>
            </a:r>
          </a:p>
          <a:p>
            <a:pPr eaLnBrk="1" hangingPunct="1">
              <a:lnSpc>
                <a:spcPct val="120000"/>
              </a:lnSpc>
              <a:buClr>
                <a:srgbClr val="CC0000"/>
              </a:buClr>
              <a:buFont typeface="Wingdings 2" pitchFamily="18" charset="2"/>
              <a:buNone/>
            </a:pPr>
            <a:endParaRPr lang="tr-TR" altLang="tr-TR">
              <a:latin typeface="Verdana" pitchFamily="34" charset="0"/>
            </a:endParaRPr>
          </a:p>
          <a:p>
            <a:pPr eaLnBrk="1" hangingPunct="1">
              <a:lnSpc>
                <a:spcPct val="120000"/>
              </a:lnSpc>
              <a:buClr>
                <a:srgbClr val="CC0000"/>
              </a:buClr>
              <a:buFont typeface="Wingdings 2" pitchFamily="18" charset="2"/>
              <a:buNone/>
            </a:pPr>
            <a:r>
              <a:rPr lang="tr-TR" altLang="tr-TR" sz="2400">
                <a:solidFill>
                  <a:srgbClr val="FF0000"/>
                </a:solidFill>
                <a:latin typeface="Verdana" pitchFamily="34" charset="0"/>
              </a:rPr>
              <a:t>Yanıcı gazların </a:t>
            </a:r>
            <a:r>
              <a:rPr lang="tr-TR" altLang="tr-TR" sz="2400">
                <a:latin typeface="Verdana" pitchFamily="34" charset="0"/>
              </a:rPr>
              <a:t>tümünü veya bir kısmını bileşiminde bulundurur.</a:t>
            </a:r>
          </a:p>
          <a:p>
            <a:pPr eaLnBrk="1" hangingPunct="1">
              <a:lnSpc>
                <a:spcPct val="120000"/>
              </a:lnSpc>
              <a:buClr>
                <a:srgbClr val="000066"/>
              </a:buClr>
              <a:buFont typeface="Wingdings 2" pitchFamily="18" charset="2"/>
              <a:buChar char="E"/>
            </a:pPr>
            <a:r>
              <a:rPr lang="tr-TR" altLang="tr-TR" sz="2800" b="1">
                <a:latin typeface="Verdana" pitchFamily="34" charset="0"/>
              </a:rPr>
              <a:t>Hidrokarbonlar;</a:t>
            </a:r>
          </a:p>
          <a:p>
            <a:pPr lvl="1" eaLnBrk="1" hangingPunct="1">
              <a:lnSpc>
                <a:spcPct val="120000"/>
              </a:lnSpc>
              <a:buClr>
                <a:srgbClr val="CC0000"/>
              </a:buClr>
              <a:buFont typeface="Wingdings 2" pitchFamily="18" charset="2"/>
              <a:buChar char="E"/>
            </a:pPr>
            <a:r>
              <a:rPr lang="tr-TR" altLang="tr-TR" sz="2800">
                <a:latin typeface="Verdana" pitchFamily="34" charset="0"/>
              </a:rPr>
              <a:t>Metan</a:t>
            </a:r>
          </a:p>
          <a:p>
            <a:pPr lvl="1" eaLnBrk="1" hangingPunct="1">
              <a:lnSpc>
                <a:spcPct val="120000"/>
              </a:lnSpc>
              <a:buClr>
                <a:srgbClr val="CC0000"/>
              </a:buClr>
              <a:buFont typeface="Wingdings 2" pitchFamily="18" charset="2"/>
              <a:buChar char="E"/>
            </a:pPr>
            <a:r>
              <a:rPr lang="tr-TR" altLang="tr-TR" sz="2800">
                <a:latin typeface="Verdana" pitchFamily="34" charset="0"/>
              </a:rPr>
              <a:t>Etan</a:t>
            </a:r>
          </a:p>
          <a:p>
            <a:pPr lvl="1" eaLnBrk="1" hangingPunct="1">
              <a:lnSpc>
                <a:spcPct val="120000"/>
              </a:lnSpc>
              <a:buClr>
                <a:srgbClr val="CC0000"/>
              </a:buClr>
              <a:buFont typeface="Wingdings 2" pitchFamily="18" charset="2"/>
              <a:buChar char="E"/>
            </a:pPr>
            <a:r>
              <a:rPr lang="tr-TR" altLang="tr-TR" sz="2800">
                <a:latin typeface="Verdana" pitchFamily="34" charset="0"/>
              </a:rPr>
              <a:t>Propan</a:t>
            </a:r>
          </a:p>
          <a:p>
            <a:pPr lvl="1" eaLnBrk="1" hangingPunct="1">
              <a:lnSpc>
                <a:spcPct val="120000"/>
              </a:lnSpc>
              <a:buClr>
                <a:srgbClr val="CC0000"/>
              </a:buClr>
              <a:buFont typeface="Wingdings 2" pitchFamily="18" charset="2"/>
              <a:buChar char="E"/>
            </a:pPr>
            <a:r>
              <a:rPr lang="tr-TR" altLang="tr-TR" sz="2800">
                <a:latin typeface="Verdana" pitchFamily="34" charset="0"/>
              </a:rPr>
              <a:t>Bütan</a:t>
            </a:r>
          </a:p>
          <a:p>
            <a:pPr eaLnBrk="1" hangingPunct="1">
              <a:lnSpc>
                <a:spcPct val="120000"/>
              </a:lnSpc>
              <a:buClr>
                <a:srgbClr val="000066"/>
              </a:buClr>
              <a:buFont typeface="Wingdings 2" pitchFamily="18" charset="2"/>
              <a:buChar char="E"/>
            </a:pPr>
            <a:r>
              <a:rPr lang="tr-TR" altLang="tr-TR" sz="2800" b="1">
                <a:latin typeface="Verdana" pitchFamily="34" charset="0"/>
              </a:rPr>
              <a:t>Hidrojen</a:t>
            </a:r>
          </a:p>
          <a:p>
            <a:pPr eaLnBrk="1" hangingPunct="1">
              <a:lnSpc>
                <a:spcPct val="120000"/>
              </a:lnSpc>
              <a:buClr>
                <a:srgbClr val="000066"/>
              </a:buClr>
              <a:buFont typeface="Wingdings 2" pitchFamily="18" charset="2"/>
              <a:buChar char="E"/>
            </a:pPr>
            <a:r>
              <a:rPr lang="tr-TR" altLang="tr-TR" sz="2800" b="1">
                <a:latin typeface="Verdana" pitchFamily="34" charset="0"/>
              </a:rPr>
              <a:t>Karbonmonoksit</a:t>
            </a:r>
          </a:p>
          <a:p>
            <a:pPr eaLnBrk="1" hangingPunct="1">
              <a:lnSpc>
                <a:spcPct val="120000"/>
              </a:lnSpc>
              <a:buClr>
                <a:srgbClr val="000066"/>
              </a:buClr>
              <a:buFont typeface="Wingdings 2" pitchFamily="18" charset="2"/>
              <a:buChar char="E"/>
            </a:pPr>
            <a:r>
              <a:rPr lang="tr-TR" altLang="tr-TR" sz="2800" b="1">
                <a:latin typeface="Verdana" pitchFamily="34" charset="0"/>
              </a:rPr>
              <a:t>Hidrojensülfür</a:t>
            </a:r>
          </a:p>
        </p:txBody>
      </p:sp>
      <p:sp>
        <p:nvSpPr>
          <p:cNvPr id="2" name="Slayt Numarası Yer Tutucusu 1"/>
          <p:cNvSpPr>
            <a:spLocks noGrp="1"/>
          </p:cNvSpPr>
          <p:nvPr>
            <p:ph type="sldNum" sz="quarter" idx="12"/>
          </p:nvPr>
        </p:nvSpPr>
        <p:spPr/>
        <p:txBody>
          <a:bodyPr/>
          <a:lstStyle/>
          <a:p>
            <a:pPr>
              <a:defRPr/>
            </a:pPr>
            <a:fld id="{4059707B-24E4-488D-8E3A-13C70DD040D4}" type="slidenum">
              <a:rPr lang="tr-TR" smtClean="0"/>
              <a:pPr>
                <a:defRPr/>
              </a:pPr>
              <a:t>13</a:t>
            </a:fld>
            <a:endParaRPr lang="tr-TR"/>
          </a:p>
        </p:txBody>
      </p:sp>
    </p:spTree>
    <p:extLst>
      <p:ext uri="{BB962C8B-B14F-4D97-AF65-F5344CB8AC3E}">
        <p14:creationId xmlns="" xmlns:p14="http://schemas.microsoft.com/office/powerpoint/2010/main" val="6694654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23850" y="436563"/>
            <a:ext cx="8424863" cy="3540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2400" dirty="0">
              <a:solidFill>
                <a:srgbClr val="000066"/>
              </a:solidFill>
              <a:latin typeface="Verdana" pitchFamily="34" charset="0"/>
            </a:endParaRPr>
          </a:p>
          <a:p>
            <a:pPr eaLnBrk="1" hangingPunct="1">
              <a:buClr>
                <a:srgbClr val="CC0000"/>
              </a:buClr>
            </a:pPr>
            <a:r>
              <a:rPr lang="tr-TR" altLang="tr-TR" sz="3200" b="1" dirty="0">
                <a:solidFill>
                  <a:srgbClr val="0070C0"/>
                </a:solidFill>
                <a:latin typeface="Verdana" pitchFamily="34" charset="0"/>
              </a:rPr>
              <a:t>4</a:t>
            </a:r>
            <a:r>
              <a:rPr lang="tr-TR" altLang="tr-TR" sz="3200" b="1" dirty="0" smtClean="0">
                <a:solidFill>
                  <a:srgbClr val="0070C0"/>
                </a:solidFill>
                <a:latin typeface="Verdana" pitchFamily="34" charset="0"/>
              </a:rPr>
              <a:t>- </a:t>
            </a:r>
            <a:r>
              <a:rPr lang="tr-TR" altLang="tr-TR" sz="3200" b="1" dirty="0">
                <a:solidFill>
                  <a:srgbClr val="0070C0"/>
                </a:solidFill>
                <a:latin typeface="Verdana" pitchFamily="34" charset="0"/>
              </a:rPr>
              <a:t>Tozlu hava</a:t>
            </a:r>
          </a:p>
          <a:p>
            <a:pPr eaLnBrk="1" hangingPunct="1">
              <a:buClr>
                <a:srgbClr val="CC0000"/>
              </a:buClr>
              <a:buFont typeface="Wingdings 2" pitchFamily="18" charset="2"/>
              <a:buNone/>
            </a:pPr>
            <a:endParaRPr lang="tr-TR" altLang="tr-TR" dirty="0">
              <a:latin typeface="Verdana" pitchFamily="34" charset="0"/>
            </a:endParaRPr>
          </a:p>
          <a:p>
            <a:pPr eaLnBrk="1" hangingPunct="1">
              <a:buClr>
                <a:srgbClr val="CC0000"/>
              </a:buClr>
              <a:buFont typeface="Wingdings 2" pitchFamily="18" charset="2"/>
              <a:buNone/>
            </a:pPr>
            <a:r>
              <a:rPr lang="tr-TR" altLang="tr-TR" sz="2400" dirty="0">
                <a:latin typeface="Verdana" pitchFamily="34" charset="0"/>
              </a:rPr>
              <a:t>İçerisinde değişik oranlarda toz vardır.</a:t>
            </a:r>
          </a:p>
          <a:p>
            <a:pPr eaLnBrk="1" hangingPunct="1">
              <a:buClr>
                <a:srgbClr val="CC0000"/>
              </a:buClr>
              <a:buFont typeface="Wingdings 2" pitchFamily="18" charset="2"/>
              <a:buNone/>
            </a:pPr>
            <a:r>
              <a:rPr lang="tr-TR" altLang="tr-TR" sz="2000" dirty="0">
                <a:latin typeface="Verdana" pitchFamily="34" charset="0"/>
              </a:rPr>
              <a:t> </a:t>
            </a:r>
          </a:p>
          <a:p>
            <a:pPr eaLnBrk="1" hangingPunct="1">
              <a:buClr>
                <a:srgbClr val="CC0000"/>
              </a:buClr>
              <a:buFont typeface="Wingdings 2" pitchFamily="18" charset="2"/>
              <a:buNone/>
            </a:pPr>
            <a:r>
              <a:rPr lang="tr-TR" altLang="tr-TR" sz="2800" dirty="0">
                <a:latin typeface="Verdana" pitchFamily="34" charset="0"/>
              </a:rPr>
              <a:t>(Kömür tozu,  odun tozu,  mermer tozu,</a:t>
            </a:r>
          </a:p>
          <a:p>
            <a:pPr eaLnBrk="1" hangingPunct="1">
              <a:buClr>
                <a:srgbClr val="CC0000"/>
              </a:buClr>
              <a:buFont typeface="Wingdings 2" pitchFamily="18" charset="2"/>
              <a:buNone/>
            </a:pPr>
            <a:r>
              <a:rPr lang="tr-TR" altLang="tr-TR" sz="2800" dirty="0">
                <a:latin typeface="Verdana" pitchFamily="34" charset="0"/>
              </a:rPr>
              <a:t> un tozu, kuvars-silis tozu, kumaş tozu) </a:t>
            </a:r>
            <a:endParaRPr lang="tr-TR" altLang="tr-TR" sz="2800" dirty="0">
              <a:solidFill>
                <a:schemeClr val="bg1"/>
              </a:solidFill>
              <a:latin typeface="Verdana" pitchFamily="34" charset="0"/>
            </a:endParaRPr>
          </a:p>
          <a:p>
            <a:pPr eaLnBrk="1" hangingPunct="1">
              <a:buClr>
                <a:srgbClr val="CC0000"/>
              </a:buClr>
              <a:buFont typeface="Wingdings 2" pitchFamily="18" charset="2"/>
              <a:buChar char="E"/>
            </a:pPr>
            <a:endParaRPr lang="tr-TR" altLang="tr-TR" sz="2800" dirty="0">
              <a:latin typeface="Verdana" pitchFamily="34" charset="0"/>
            </a:endParaRPr>
          </a:p>
          <a:p>
            <a:pPr eaLnBrk="1" hangingPunct="1">
              <a:buClr>
                <a:srgbClr val="CC0000"/>
              </a:buClr>
              <a:buFont typeface="Wingdings 2" pitchFamily="18" charset="2"/>
              <a:buChar char="E"/>
            </a:pPr>
            <a:endParaRPr lang="tr-TR" altLang="tr-TR" sz="2400" b="1" dirty="0">
              <a:latin typeface="Verdana" pitchFamily="34" charset="0"/>
            </a:endParaRPr>
          </a:p>
        </p:txBody>
      </p:sp>
      <p:sp>
        <p:nvSpPr>
          <p:cNvPr id="2" name="Slayt Numarası Yer Tutucusu 1"/>
          <p:cNvSpPr>
            <a:spLocks noGrp="1"/>
          </p:cNvSpPr>
          <p:nvPr>
            <p:ph type="sldNum" sz="quarter" idx="12"/>
          </p:nvPr>
        </p:nvSpPr>
        <p:spPr/>
        <p:txBody>
          <a:bodyPr/>
          <a:lstStyle/>
          <a:p>
            <a:pPr>
              <a:defRPr/>
            </a:pPr>
            <a:fld id="{509DE98C-DF22-4F21-87C6-03A75052005E}" type="slidenum">
              <a:rPr lang="tr-TR" smtClean="0"/>
              <a:pPr>
                <a:defRPr/>
              </a:pPr>
              <a:t>14</a:t>
            </a:fld>
            <a:endParaRPr lang="tr-TR"/>
          </a:p>
        </p:txBody>
      </p:sp>
    </p:spTree>
    <p:extLst>
      <p:ext uri="{BB962C8B-B14F-4D97-AF65-F5344CB8AC3E}">
        <p14:creationId xmlns="" xmlns:p14="http://schemas.microsoft.com/office/powerpoint/2010/main" val="8456962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179388" y="-33338"/>
            <a:ext cx="8640762" cy="60388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40000"/>
              </a:lnSpc>
              <a:buClr>
                <a:srgbClr val="CC0000"/>
              </a:buClr>
              <a:buFont typeface="Wingdings 2" pitchFamily="18" charset="2"/>
              <a:buNone/>
            </a:pPr>
            <a:r>
              <a:rPr lang="tr-TR" altLang="tr-TR" sz="3600" b="1" dirty="0">
                <a:solidFill>
                  <a:srgbClr val="FF0000"/>
                </a:solidFill>
                <a:latin typeface="Verdana" pitchFamily="34" charset="0"/>
              </a:rPr>
              <a:t>En sık görülen</a:t>
            </a:r>
            <a:r>
              <a:rPr lang="tr-TR" altLang="tr-TR" sz="3600" b="1" dirty="0">
                <a:solidFill>
                  <a:srgbClr val="FF0000"/>
                </a:solidFill>
              </a:rPr>
              <a:t> </a:t>
            </a:r>
            <a:r>
              <a:rPr lang="tr-TR" altLang="tr-TR" sz="3600" b="1" dirty="0">
                <a:solidFill>
                  <a:srgbClr val="FF0000"/>
                </a:solidFill>
                <a:latin typeface="Verdana" pitchFamily="34" charset="0"/>
              </a:rPr>
              <a:t>Zararlı gazlar</a:t>
            </a:r>
            <a:endParaRPr lang="tr-TR" altLang="tr-TR" sz="3600" b="1" dirty="0">
              <a:solidFill>
                <a:srgbClr val="FF0000"/>
              </a:solidFill>
            </a:endParaRPr>
          </a:p>
          <a:p>
            <a:pPr eaLnBrk="1" hangingPunct="1">
              <a:lnSpc>
                <a:spcPct val="140000"/>
              </a:lnSpc>
              <a:buClr>
                <a:srgbClr val="CC0000"/>
              </a:buClr>
              <a:buFont typeface="Wingdings 2" pitchFamily="18" charset="2"/>
              <a:buChar char="E"/>
            </a:pPr>
            <a:r>
              <a:rPr lang="tr-TR" altLang="tr-TR" sz="2400" b="1" dirty="0">
                <a:latin typeface="Verdana" pitchFamily="34" charset="0"/>
              </a:rPr>
              <a:t>Karbondioksit (CO</a:t>
            </a:r>
            <a:r>
              <a:rPr lang="tr-TR" altLang="tr-TR" sz="2400" b="1" baseline="-25000" dirty="0">
                <a:latin typeface="Verdana" pitchFamily="34" charset="0"/>
              </a:rPr>
              <a:t>2</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a:latin typeface="Verdana" pitchFamily="34" charset="0"/>
              </a:rPr>
              <a:t>Metan (CH</a:t>
            </a:r>
            <a:r>
              <a:rPr lang="tr-TR" altLang="tr-TR" sz="2400" b="1" baseline="-25000" dirty="0">
                <a:latin typeface="Verdana" pitchFamily="34" charset="0"/>
              </a:rPr>
              <a:t>4</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err="1">
                <a:latin typeface="Verdana" pitchFamily="34" charset="0"/>
              </a:rPr>
              <a:t>Etan</a:t>
            </a:r>
            <a:r>
              <a:rPr lang="tr-TR" altLang="tr-TR" sz="2400" b="1" dirty="0">
                <a:latin typeface="Verdana" pitchFamily="34" charset="0"/>
              </a:rPr>
              <a:t> (C</a:t>
            </a:r>
            <a:r>
              <a:rPr lang="tr-TR" altLang="tr-TR" sz="2400" b="1" baseline="-25000" dirty="0">
                <a:latin typeface="Verdana" pitchFamily="34" charset="0"/>
              </a:rPr>
              <a:t>2</a:t>
            </a:r>
            <a:r>
              <a:rPr lang="tr-TR" altLang="tr-TR" sz="2400" b="1" dirty="0">
                <a:latin typeface="Verdana" pitchFamily="34" charset="0"/>
              </a:rPr>
              <a:t>H</a:t>
            </a:r>
            <a:r>
              <a:rPr lang="tr-TR" altLang="tr-TR" sz="2400" b="1" baseline="-25000" dirty="0">
                <a:latin typeface="Verdana" pitchFamily="34" charset="0"/>
              </a:rPr>
              <a:t>6</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err="1">
                <a:latin typeface="Verdana" pitchFamily="34" charset="0"/>
              </a:rPr>
              <a:t>Propan</a:t>
            </a:r>
            <a:r>
              <a:rPr lang="tr-TR" altLang="tr-TR" sz="2400" b="1" dirty="0">
                <a:latin typeface="Verdana" pitchFamily="34" charset="0"/>
              </a:rPr>
              <a:t> (C</a:t>
            </a:r>
            <a:r>
              <a:rPr lang="tr-TR" altLang="tr-TR" sz="2400" b="1" baseline="-25000" dirty="0">
                <a:latin typeface="Verdana" pitchFamily="34" charset="0"/>
              </a:rPr>
              <a:t>3</a:t>
            </a:r>
            <a:r>
              <a:rPr lang="tr-TR" altLang="tr-TR" sz="2400" b="1" dirty="0">
                <a:latin typeface="Verdana" pitchFamily="34" charset="0"/>
              </a:rPr>
              <a:t>H</a:t>
            </a:r>
            <a:r>
              <a:rPr lang="tr-TR" altLang="tr-TR" sz="2400" b="1" baseline="-25000" dirty="0">
                <a:latin typeface="Verdana" pitchFamily="34" charset="0"/>
              </a:rPr>
              <a:t>8</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a:latin typeface="Verdana" pitchFamily="34" charset="0"/>
              </a:rPr>
              <a:t>Bütan (C</a:t>
            </a:r>
            <a:r>
              <a:rPr lang="tr-TR" altLang="tr-TR" sz="2400" b="1" baseline="-25000" dirty="0">
                <a:latin typeface="Verdana" pitchFamily="34" charset="0"/>
              </a:rPr>
              <a:t>4</a:t>
            </a:r>
            <a:r>
              <a:rPr lang="tr-TR" altLang="tr-TR" sz="2400" b="1" dirty="0">
                <a:latin typeface="Verdana" pitchFamily="34" charset="0"/>
              </a:rPr>
              <a:t>H</a:t>
            </a:r>
            <a:r>
              <a:rPr lang="tr-TR" altLang="tr-TR" sz="2400" b="1" baseline="-25000" dirty="0">
                <a:latin typeface="Verdana" pitchFamily="34" charset="0"/>
              </a:rPr>
              <a:t>10</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a:latin typeface="Verdana" pitchFamily="34" charset="0"/>
              </a:rPr>
              <a:t>Hidrojen (H</a:t>
            </a:r>
            <a:r>
              <a:rPr lang="tr-TR" altLang="tr-TR" sz="2400" b="1" baseline="-25000" dirty="0">
                <a:latin typeface="Verdana" pitchFamily="34" charset="0"/>
              </a:rPr>
              <a:t>2</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a:latin typeface="Verdana" pitchFamily="34" charset="0"/>
              </a:rPr>
              <a:t>Azot (N</a:t>
            </a:r>
            <a:r>
              <a:rPr lang="tr-TR" altLang="tr-TR" sz="2400" b="1" baseline="-25000" dirty="0">
                <a:latin typeface="Verdana" pitchFamily="34" charset="0"/>
              </a:rPr>
              <a:t>2</a:t>
            </a:r>
            <a:r>
              <a:rPr lang="tr-TR" altLang="tr-TR" sz="2400" b="1" dirty="0">
                <a:latin typeface="Verdana" pitchFamily="34" charset="0"/>
              </a:rPr>
              <a:t>)</a:t>
            </a:r>
          </a:p>
          <a:p>
            <a:pPr eaLnBrk="1" hangingPunct="1">
              <a:lnSpc>
                <a:spcPct val="140000"/>
              </a:lnSpc>
              <a:buClr>
                <a:srgbClr val="CC0000"/>
              </a:buClr>
              <a:buFont typeface="Wingdings 2" pitchFamily="18" charset="2"/>
              <a:buChar char="E"/>
            </a:pPr>
            <a:r>
              <a:rPr lang="tr-TR" altLang="tr-TR" sz="2400" b="1" dirty="0" err="1">
                <a:latin typeface="Verdana" pitchFamily="34" charset="0"/>
              </a:rPr>
              <a:t>Karbonmonoksit</a:t>
            </a:r>
            <a:r>
              <a:rPr lang="tr-TR" altLang="tr-TR" sz="2400" b="1" dirty="0">
                <a:latin typeface="Verdana" pitchFamily="34" charset="0"/>
              </a:rPr>
              <a:t> (CO)</a:t>
            </a:r>
          </a:p>
          <a:p>
            <a:pPr eaLnBrk="1" hangingPunct="1">
              <a:lnSpc>
                <a:spcPct val="140000"/>
              </a:lnSpc>
              <a:buClr>
                <a:srgbClr val="CC0000"/>
              </a:buClr>
              <a:buFont typeface="Wingdings 2" pitchFamily="18" charset="2"/>
              <a:buChar char="E"/>
            </a:pPr>
            <a:r>
              <a:rPr lang="tr-TR" altLang="tr-TR" sz="2400" b="1" dirty="0">
                <a:latin typeface="Verdana" pitchFamily="34" charset="0"/>
              </a:rPr>
              <a:t>Hidrojen sülfür (H</a:t>
            </a:r>
            <a:r>
              <a:rPr lang="tr-TR" altLang="tr-TR" sz="2400" b="1" baseline="-25000" dirty="0">
                <a:latin typeface="Verdana" pitchFamily="34" charset="0"/>
              </a:rPr>
              <a:t>2</a:t>
            </a:r>
            <a:r>
              <a:rPr lang="tr-TR" altLang="tr-TR" sz="2400" b="1" dirty="0">
                <a:latin typeface="Verdana" pitchFamily="34" charset="0"/>
              </a:rPr>
              <a:t>S)</a:t>
            </a:r>
          </a:p>
          <a:p>
            <a:pPr eaLnBrk="1" hangingPunct="1">
              <a:lnSpc>
                <a:spcPct val="140000"/>
              </a:lnSpc>
              <a:buClr>
                <a:srgbClr val="CC0000"/>
              </a:buClr>
              <a:buFont typeface="Wingdings 2" pitchFamily="18" charset="2"/>
              <a:buChar char="E"/>
            </a:pPr>
            <a:r>
              <a:rPr lang="tr-TR" altLang="tr-TR" sz="2400" b="1" dirty="0">
                <a:latin typeface="Verdana" pitchFamily="34" charset="0"/>
              </a:rPr>
              <a:t>Hidrojen siyanür (HCN)</a:t>
            </a:r>
          </a:p>
        </p:txBody>
      </p:sp>
      <p:sp>
        <p:nvSpPr>
          <p:cNvPr id="2" name="Slayt Numarası Yer Tutucusu 1"/>
          <p:cNvSpPr>
            <a:spLocks noGrp="1"/>
          </p:cNvSpPr>
          <p:nvPr>
            <p:ph type="sldNum" sz="quarter" idx="12"/>
          </p:nvPr>
        </p:nvSpPr>
        <p:spPr/>
        <p:txBody>
          <a:bodyPr/>
          <a:lstStyle/>
          <a:p>
            <a:pPr>
              <a:defRPr/>
            </a:pPr>
            <a:fld id="{4B695610-B574-457B-94F7-5EAC632EDB36}" type="slidenum">
              <a:rPr lang="tr-TR" smtClean="0"/>
              <a:pPr>
                <a:defRPr/>
              </a:pPr>
              <a:t>15</a:t>
            </a:fld>
            <a:endParaRPr lang="tr-TR"/>
          </a:p>
        </p:txBody>
      </p:sp>
    </p:spTree>
    <p:extLst>
      <p:ext uri="{BB962C8B-B14F-4D97-AF65-F5344CB8AC3E}">
        <p14:creationId xmlns="" xmlns:p14="http://schemas.microsoft.com/office/powerpoint/2010/main" val="2789949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79388" y="154626"/>
            <a:ext cx="8353052" cy="67033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20000"/>
              </a:lnSpc>
              <a:spcBef>
                <a:spcPct val="50000"/>
              </a:spcBef>
            </a:pPr>
            <a:r>
              <a:rPr lang="tr-TR" altLang="tr-TR" sz="2800" b="1" dirty="0">
                <a:solidFill>
                  <a:srgbClr val="FF0000"/>
                </a:solidFill>
                <a:latin typeface="Verdana" pitchFamily="34" charset="0"/>
              </a:rPr>
              <a:t>Zararlı gazların özellikleri</a:t>
            </a:r>
            <a:endParaRPr lang="tr-TR" altLang="tr-TR" sz="2800" b="1" dirty="0">
              <a:solidFill>
                <a:srgbClr val="FF0000"/>
              </a:solidFill>
            </a:endParaRP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Renkli </a:t>
            </a:r>
            <a:r>
              <a:rPr lang="tr-TR" altLang="tr-TR" sz="2400" dirty="0">
                <a:solidFill>
                  <a:srgbClr val="FF0000"/>
                </a:solidFill>
                <a:latin typeface="Verdana" pitchFamily="34" charset="0"/>
              </a:rPr>
              <a:t>veya renksiz </a:t>
            </a:r>
            <a:r>
              <a:rPr lang="tr-TR" altLang="tr-TR" sz="2400" dirty="0">
                <a:latin typeface="Verdana" pitchFamily="34" charset="0"/>
              </a:rPr>
              <a:t>olabilir</a:t>
            </a:r>
          </a:p>
          <a:p>
            <a:pPr eaLnBrk="1" hangingPunct="1">
              <a:lnSpc>
                <a:spcPct val="120000"/>
              </a:lnSpc>
              <a:spcBef>
                <a:spcPct val="50000"/>
              </a:spcBef>
              <a:buClr>
                <a:srgbClr val="0000FF"/>
              </a:buClr>
              <a:buSzPct val="130000"/>
              <a:buFont typeface="Wingdings 2" pitchFamily="18" charset="2"/>
              <a:buChar char="E"/>
            </a:pPr>
            <a:r>
              <a:rPr lang="tr-TR" altLang="tr-TR" sz="2400" dirty="0">
                <a:solidFill>
                  <a:srgbClr val="FF0000"/>
                </a:solidFill>
                <a:latin typeface="Verdana" pitchFamily="34" charset="0"/>
              </a:rPr>
              <a:t>Kokulu veya </a:t>
            </a:r>
            <a:r>
              <a:rPr lang="tr-TR" altLang="tr-TR" sz="2400" dirty="0">
                <a:latin typeface="Verdana" pitchFamily="34" charset="0"/>
              </a:rPr>
              <a:t>kokusuz olabilir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Hepsinin </a:t>
            </a:r>
            <a:r>
              <a:rPr lang="tr-TR" altLang="tr-TR" sz="2400" dirty="0">
                <a:solidFill>
                  <a:srgbClr val="FF0000"/>
                </a:solidFill>
                <a:latin typeface="Verdana" pitchFamily="34" charset="0"/>
              </a:rPr>
              <a:t>tehlike ve zararları farklıdır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a:t>
            </a:r>
            <a:r>
              <a:rPr lang="tr-TR" altLang="tr-TR" sz="2400" dirty="0">
                <a:solidFill>
                  <a:srgbClr val="FF0000"/>
                </a:solidFill>
                <a:latin typeface="Verdana" pitchFamily="34" charset="0"/>
              </a:rPr>
              <a:t>temiz havayı (O</a:t>
            </a:r>
            <a:r>
              <a:rPr lang="tr-TR" altLang="tr-TR" sz="2400" b="1" baseline="-25000" dirty="0">
                <a:solidFill>
                  <a:srgbClr val="FF0000"/>
                </a:solidFill>
                <a:latin typeface="Verdana" pitchFamily="34" charset="0"/>
              </a:rPr>
              <a:t>2</a:t>
            </a:r>
            <a:r>
              <a:rPr lang="tr-TR" altLang="tr-TR" sz="2400" dirty="0">
                <a:solidFill>
                  <a:srgbClr val="FF0000"/>
                </a:solidFill>
                <a:latin typeface="Verdana" pitchFamily="34" charset="0"/>
              </a:rPr>
              <a:t>) azaltır</a:t>
            </a:r>
            <a:r>
              <a:rPr lang="tr-TR" altLang="tr-TR" sz="2400" dirty="0">
                <a:latin typeface="Verdana" pitchFamily="34" charset="0"/>
              </a:rPr>
              <a:t>, boğucu </a:t>
            </a:r>
            <a:r>
              <a:rPr lang="tr-TR" altLang="tr-TR" sz="2400" dirty="0" err="1">
                <a:latin typeface="Verdana" pitchFamily="34" charset="0"/>
              </a:rPr>
              <a:t>etk</a:t>
            </a:r>
            <a:r>
              <a:rPr lang="tr-TR" altLang="tr-TR" sz="2400" dirty="0">
                <a:latin typeface="Verdana" pitchFamily="34" charset="0"/>
              </a:rPr>
              <a:t>. yapar.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kana karışarak </a:t>
            </a:r>
            <a:r>
              <a:rPr lang="tr-TR" altLang="tr-TR" sz="2400" dirty="0">
                <a:solidFill>
                  <a:srgbClr val="FF0000"/>
                </a:solidFill>
                <a:latin typeface="Verdana" pitchFamily="34" charset="0"/>
              </a:rPr>
              <a:t>zehirler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a:t>
            </a:r>
            <a:r>
              <a:rPr lang="tr-TR" altLang="tr-TR" sz="2400" dirty="0">
                <a:solidFill>
                  <a:srgbClr val="FF0000"/>
                </a:solidFill>
                <a:latin typeface="Verdana" pitchFamily="34" charset="0"/>
              </a:rPr>
              <a:t>tavanda</a:t>
            </a:r>
            <a:r>
              <a:rPr lang="tr-TR" altLang="tr-TR" sz="2400" dirty="0">
                <a:latin typeface="Verdana" pitchFamily="34" charset="0"/>
              </a:rPr>
              <a:t> birikir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a:t>
            </a:r>
            <a:r>
              <a:rPr lang="tr-TR" altLang="tr-TR" sz="2400" dirty="0">
                <a:solidFill>
                  <a:srgbClr val="FF0000"/>
                </a:solidFill>
                <a:latin typeface="Verdana" pitchFamily="34" charset="0"/>
              </a:rPr>
              <a:t>tabanda</a:t>
            </a:r>
            <a:r>
              <a:rPr lang="tr-TR" altLang="tr-TR" sz="2400" dirty="0">
                <a:latin typeface="Verdana" pitchFamily="34" charset="0"/>
              </a:rPr>
              <a:t> birikir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havayla karışarak </a:t>
            </a:r>
            <a:r>
              <a:rPr lang="tr-TR" altLang="tr-TR" sz="2400" dirty="0">
                <a:solidFill>
                  <a:srgbClr val="FF0000"/>
                </a:solidFill>
                <a:latin typeface="Verdana" pitchFamily="34" charset="0"/>
              </a:rPr>
              <a:t>patlamaya</a:t>
            </a:r>
            <a:r>
              <a:rPr lang="tr-TR" altLang="tr-TR" sz="2400" dirty="0">
                <a:latin typeface="Verdana" pitchFamily="34" charset="0"/>
              </a:rPr>
              <a:t> yol açar</a:t>
            </a:r>
          </a:p>
          <a:p>
            <a:pPr eaLnBrk="1" hangingPunct="1">
              <a:lnSpc>
                <a:spcPct val="120000"/>
              </a:lnSpc>
              <a:spcBef>
                <a:spcPct val="50000"/>
              </a:spcBef>
              <a:buClr>
                <a:srgbClr val="0000FF"/>
              </a:buClr>
              <a:buSzPct val="130000"/>
              <a:buFont typeface="Wingdings 2" pitchFamily="18" charset="2"/>
              <a:buChar char="E"/>
            </a:pPr>
            <a:r>
              <a:rPr lang="tr-TR" altLang="tr-TR" sz="2400" dirty="0">
                <a:latin typeface="Verdana" pitchFamily="34" charset="0"/>
              </a:rPr>
              <a:t>Bazıları </a:t>
            </a:r>
            <a:r>
              <a:rPr lang="tr-TR" altLang="tr-TR" sz="2400" dirty="0">
                <a:solidFill>
                  <a:srgbClr val="FF0000"/>
                </a:solidFill>
                <a:latin typeface="Verdana" pitchFamily="34" charset="0"/>
              </a:rPr>
              <a:t>birkaç etkiyi birden </a:t>
            </a:r>
            <a:r>
              <a:rPr lang="tr-TR" altLang="tr-TR" sz="2400" dirty="0">
                <a:latin typeface="Verdana" pitchFamily="34" charset="0"/>
              </a:rPr>
              <a:t>yapar</a:t>
            </a:r>
          </a:p>
        </p:txBody>
      </p:sp>
      <p:sp>
        <p:nvSpPr>
          <p:cNvPr id="2" name="Slayt Numarası Yer Tutucusu 1"/>
          <p:cNvSpPr>
            <a:spLocks noGrp="1"/>
          </p:cNvSpPr>
          <p:nvPr>
            <p:ph type="sldNum" sz="quarter" idx="12"/>
          </p:nvPr>
        </p:nvSpPr>
        <p:spPr/>
        <p:txBody>
          <a:bodyPr/>
          <a:lstStyle/>
          <a:p>
            <a:pPr>
              <a:defRPr/>
            </a:pPr>
            <a:fld id="{D229FD5F-8A3F-4E12-939A-8D0A85492C3F}" type="slidenum">
              <a:rPr lang="tr-TR" smtClean="0"/>
              <a:pPr>
                <a:defRPr/>
              </a:pPr>
              <a:t>16</a:t>
            </a:fld>
            <a:endParaRPr lang="tr-TR"/>
          </a:p>
        </p:txBody>
      </p:sp>
    </p:spTree>
    <p:extLst>
      <p:ext uri="{BB962C8B-B14F-4D97-AF65-F5344CB8AC3E}">
        <p14:creationId xmlns="" xmlns:p14="http://schemas.microsoft.com/office/powerpoint/2010/main" val="2607236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79512" y="1020763"/>
            <a:ext cx="4751388" cy="560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kumimoji="1" lang="tr-TR" altLang="tr-TR" sz="2400" b="1" dirty="0">
                <a:solidFill>
                  <a:srgbClr val="FF0000"/>
                </a:solidFill>
                <a:latin typeface="Verdana" pitchFamily="34" charset="0"/>
              </a:rPr>
              <a:t>A Acil Tehlike</a:t>
            </a:r>
          </a:p>
          <a:p>
            <a:pPr eaLnBrk="1" hangingPunct="1">
              <a:buClr>
                <a:srgbClr val="CC0000"/>
              </a:buClr>
              <a:buFont typeface="Wingdings 2" pitchFamily="18" charset="2"/>
              <a:buChar char="E"/>
            </a:pPr>
            <a:r>
              <a:rPr kumimoji="1" lang="tr-TR" altLang="tr-TR" sz="1800" b="1" dirty="0">
                <a:latin typeface="Verdana" pitchFamily="34" charset="0"/>
              </a:rPr>
              <a:t>Zehirli gaz</a:t>
            </a:r>
          </a:p>
          <a:p>
            <a:pPr eaLnBrk="1" hangingPunct="1">
              <a:buClr>
                <a:srgbClr val="CC0000"/>
              </a:buClr>
              <a:buFont typeface="Wingdings 2" pitchFamily="18" charset="2"/>
              <a:buChar char="E"/>
            </a:pPr>
            <a:r>
              <a:rPr kumimoji="1" lang="tr-TR" altLang="tr-TR" sz="1800" b="1" dirty="0">
                <a:latin typeface="Verdana" pitchFamily="34" charset="0"/>
              </a:rPr>
              <a:t>Boğucu gaz</a:t>
            </a:r>
          </a:p>
          <a:p>
            <a:pPr eaLnBrk="1" hangingPunct="1">
              <a:buClr>
                <a:srgbClr val="CC0000"/>
              </a:buClr>
              <a:buFont typeface="Wingdings 2" pitchFamily="18" charset="2"/>
              <a:buChar char="E"/>
            </a:pPr>
            <a:r>
              <a:rPr kumimoji="1" lang="tr-TR" altLang="tr-TR" sz="1800" b="1" dirty="0">
                <a:latin typeface="Verdana" pitchFamily="34" charset="0"/>
              </a:rPr>
              <a:t>Patlayıcı gaz</a:t>
            </a:r>
          </a:p>
          <a:p>
            <a:pPr eaLnBrk="1" hangingPunct="1">
              <a:buClr>
                <a:srgbClr val="CC0000"/>
              </a:buClr>
              <a:buFont typeface="Wingdings 2" pitchFamily="18" charset="2"/>
              <a:buChar char="E"/>
            </a:pPr>
            <a:r>
              <a:rPr kumimoji="1" lang="tr-TR" altLang="tr-TR" sz="2000" b="1" dirty="0">
                <a:solidFill>
                  <a:srgbClr val="0070C0"/>
                </a:solidFill>
                <a:latin typeface="Verdana" pitchFamily="34" charset="0"/>
              </a:rPr>
              <a:t>Oksijen %16dan az,  </a:t>
            </a:r>
          </a:p>
          <a:p>
            <a:pPr eaLnBrk="1" hangingPunct="1"/>
            <a:endParaRPr kumimoji="1" lang="tr-TR" altLang="tr-TR" sz="2000" dirty="0">
              <a:latin typeface="Verdana" pitchFamily="34" charset="0"/>
            </a:endParaRPr>
          </a:p>
          <a:p>
            <a:pPr eaLnBrk="1" hangingPunct="1"/>
            <a:r>
              <a:rPr kumimoji="1" lang="tr-TR" altLang="tr-TR" sz="2400" b="1" dirty="0">
                <a:solidFill>
                  <a:srgbClr val="FF6600"/>
                </a:solidFill>
                <a:latin typeface="Verdana" pitchFamily="34" charset="0"/>
              </a:rPr>
              <a:t>B Kısa Süre İçinde Tehlike</a:t>
            </a:r>
          </a:p>
          <a:p>
            <a:pPr eaLnBrk="1" hangingPunct="1">
              <a:buClr>
                <a:srgbClr val="FF6600"/>
              </a:buClr>
              <a:buFont typeface="Wingdings 2" pitchFamily="18" charset="2"/>
              <a:buChar char="E"/>
            </a:pPr>
            <a:r>
              <a:rPr kumimoji="1" lang="tr-TR" altLang="tr-TR" sz="1800" b="1" dirty="0">
                <a:latin typeface="Verdana" pitchFamily="34" charset="0"/>
              </a:rPr>
              <a:t>Zehirli gaz</a:t>
            </a:r>
          </a:p>
          <a:p>
            <a:pPr eaLnBrk="1" hangingPunct="1">
              <a:buClr>
                <a:srgbClr val="FF6600"/>
              </a:buClr>
              <a:buFont typeface="Wingdings 2" pitchFamily="18" charset="2"/>
              <a:buChar char="E"/>
            </a:pPr>
            <a:r>
              <a:rPr kumimoji="1" lang="tr-TR" altLang="tr-TR" sz="1800" b="1" dirty="0">
                <a:latin typeface="Verdana" pitchFamily="34" charset="0"/>
              </a:rPr>
              <a:t>Boğucu gaz</a:t>
            </a:r>
          </a:p>
          <a:p>
            <a:pPr eaLnBrk="1" hangingPunct="1">
              <a:buClr>
                <a:srgbClr val="FF6600"/>
              </a:buClr>
              <a:buFont typeface="Wingdings 2" pitchFamily="18" charset="2"/>
              <a:buChar char="E"/>
            </a:pPr>
            <a:r>
              <a:rPr kumimoji="1" lang="tr-TR" altLang="tr-TR" sz="1800" b="1" dirty="0">
                <a:latin typeface="Verdana" pitchFamily="34" charset="0"/>
              </a:rPr>
              <a:t>Patlayıcı gaz</a:t>
            </a:r>
          </a:p>
          <a:p>
            <a:pPr eaLnBrk="1" hangingPunct="1">
              <a:buClr>
                <a:srgbClr val="FF6600"/>
              </a:buClr>
              <a:buFont typeface="Wingdings 2" pitchFamily="18" charset="2"/>
              <a:buChar char="E"/>
            </a:pPr>
            <a:r>
              <a:rPr kumimoji="1" lang="tr-TR" altLang="tr-TR" sz="2000" b="1" dirty="0">
                <a:solidFill>
                  <a:srgbClr val="0070C0"/>
                </a:solidFill>
                <a:latin typeface="Verdana" pitchFamily="34" charset="0"/>
              </a:rPr>
              <a:t>Oksijen %16-19,3 arasında</a:t>
            </a:r>
          </a:p>
          <a:p>
            <a:pPr eaLnBrk="1" hangingPunct="1"/>
            <a:endParaRPr kumimoji="1" lang="tr-TR" altLang="tr-TR" sz="2000" b="1" dirty="0">
              <a:latin typeface="Verdana" pitchFamily="34" charset="0"/>
            </a:endParaRPr>
          </a:p>
          <a:p>
            <a:pPr eaLnBrk="1" hangingPunct="1"/>
            <a:r>
              <a:rPr kumimoji="1" lang="tr-TR" altLang="tr-TR" sz="2400" b="1" dirty="0">
                <a:solidFill>
                  <a:srgbClr val="009900"/>
                </a:solidFill>
                <a:latin typeface="Verdana" pitchFamily="34" charset="0"/>
              </a:rPr>
              <a:t>C Uzun sürede Olası Tehlike</a:t>
            </a:r>
          </a:p>
          <a:p>
            <a:pPr eaLnBrk="1" hangingPunct="1">
              <a:buClr>
                <a:srgbClr val="009900"/>
              </a:buClr>
              <a:buFont typeface="Wingdings 2" pitchFamily="18" charset="2"/>
              <a:buChar char="E"/>
            </a:pPr>
            <a:r>
              <a:rPr kumimoji="1" lang="tr-TR" altLang="tr-TR" sz="1800" b="1" dirty="0">
                <a:latin typeface="Verdana" pitchFamily="34" charset="0"/>
              </a:rPr>
              <a:t>Zehirli gaz</a:t>
            </a:r>
          </a:p>
          <a:p>
            <a:pPr eaLnBrk="1" hangingPunct="1">
              <a:buClr>
                <a:srgbClr val="009900"/>
              </a:buClr>
              <a:buFont typeface="Wingdings 2" pitchFamily="18" charset="2"/>
              <a:buChar char="E"/>
            </a:pPr>
            <a:r>
              <a:rPr kumimoji="1" lang="tr-TR" altLang="tr-TR" sz="1800" b="1" dirty="0">
                <a:latin typeface="Verdana" pitchFamily="34" charset="0"/>
              </a:rPr>
              <a:t>Boğucu gaz</a:t>
            </a:r>
          </a:p>
          <a:p>
            <a:pPr eaLnBrk="1" hangingPunct="1">
              <a:buClr>
                <a:srgbClr val="009900"/>
              </a:buClr>
              <a:buFont typeface="Wingdings 2" pitchFamily="18" charset="2"/>
              <a:buChar char="E"/>
            </a:pPr>
            <a:r>
              <a:rPr kumimoji="1" lang="tr-TR" altLang="tr-TR" sz="1800" b="1" dirty="0">
                <a:latin typeface="Verdana" pitchFamily="34" charset="0"/>
              </a:rPr>
              <a:t>Patlayıcı gaz</a:t>
            </a:r>
          </a:p>
          <a:p>
            <a:pPr eaLnBrk="1" hangingPunct="1">
              <a:buClr>
                <a:srgbClr val="009900"/>
              </a:buClr>
              <a:buFont typeface="Wingdings 2" pitchFamily="18" charset="2"/>
              <a:buChar char="E"/>
            </a:pPr>
            <a:r>
              <a:rPr kumimoji="1" lang="tr-TR" altLang="tr-TR" sz="2000" b="1" dirty="0">
                <a:solidFill>
                  <a:srgbClr val="0070C0"/>
                </a:solidFill>
                <a:latin typeface="Verdana" pitchFamily="34" charset="0"/>
              </a:rPr>
              <a:t>Oksijen%19,5-21,4 arasında</a:t>
            </a:r>
          </a:p>
        </p:txBody>
      </p:sp>
      <p:sp>
        <p:nvSpPr>
          <p:cNvPr id="41987" name="Rectangle 3"/>
          <p:cNvSpPr>
            <a:spLocks noChangeArrowheads="1"/>
          </p:cNvSpPr>
          <p:nvPr/>
        </p:nvSpPr>
        <p:spPr bwMode="auto">
          <a:xfrm>
            <a:off x="25400" y="65088"/>
            <a:ext cx="8867775" cy="58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kumimoji="1" lang="tr-TR" altLang="tr-TR" sz="3200" b="1" dirty="0">
                <a:solidFill>
                  <a:srgbClr val="FF0000"/>
                </a:solidFill>
                <a:latin typeface="Verdana" pitchFamily="34" charset="0"/>
              </a:rPr>
              <a:t>Kapalı Ortamlarda Tehlike Dereceleri</a:t>
            </a:r>
            <a:endParaRPr kumimoji="1" lang="tr-TR" altLang="tr-TR" sz="3200" dirty="0">
              <a:solidFill>
                <a:srgbClr val="FF0000"/>
              </a:solidFill>
              <a:latin typeface="Verdana" pitchFamily="34" charset="0"/>
            </a:endParaRPr>
          </a:p>
        </p:txBody>
      </p:sp>
      <p:sp>
        <p:nvSpPr>
          <p:cNvPr id="41988" name="AutoShape 4"/>
          <p:cNvSpPr>
            <a:spLocks/>
          </p:cNvSpPr>
          <p:nvPr/>
        </p:nvSpPr>
        <p:spPr bwMode="auto">
          <a:xfrm>
            <a:off x="4400528" y="1000904"/>
            <a:ext cx="863600" cy="1689100"/>
          </a:xfrm>
          <a:prstGeom prst="rightBrace">
            <a:avLst>
              <a:gd name="adj1" fmla="val 15285"/>
              <a:gd name="adj2" fmla="val 50000"/>
            </a:avLst>
          </a:prstGeom>
          <a:noFill/>
          <a:ln w="28575">
            <a:solidFill>
              <a:srgbClr val="CC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41989" name="AutoShape 5"/>
          <p:cNvSpPr>
            <a:spLocks/>
          </p:cNvSpPr>
          <p:nvPr/>
        </p:nvSpPr>
        <p:spPr bwMode="auto">
          <a:xfrm>
            <a:off x="4459287" y="2694180"/>
            <a:ext cx="863600" cy="1584325"/>
          </a:xfrm>
          <a:prstGeom prst="rightBrace">
            <a:avLst>
              <a:gd name="adj1" fmla="val 15288"/>
              <a:gd name="adj2" fmla="val 50000"/>
            </a:avLst>
          </a:prstGeom>
          <a:noFill/>
          <a:ln w="28575">
            <a:solidFill>
              <a:srgbClr val="FF66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41990" name="AutoShape 6"/>
          <p:cNvSpPr>
            <a:spLocks/>
          </p:cNvSpPr>
          <p:nvPr/>
        </p:nvSpPr>
        <p:spPr bwMode="auto">
          <a:xfrm>
            <a:off x="4459287" y="4797424"/>
            <a:ext cx="863600" cy="1584325"/>
          </a:xfrm>
          <a:prstGeom prst="rightBrace">
            <a:avLst>
              <a:gd name="adj1" fmla="val 15288"/>
              <a:gd name="adj2" fmla="val 50000"/>
            </a:avLst>
          </a:prstGeom>
          <a:noFill/>
          <a:ln w="28575">
            <a:solidFill>
              <a:srgbClr val="0099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41991" name="Text Box 7"/>
          <p:cNvSpPr txBox="1">
            <a:spLocks noChangeArrowheads="1"/>
          </p:cNvSpPr>
          <p:nvPr/>
        </p:nvSpPr>
        <p:spPr bwMode="auto">
          <a:xfrm>
            <a:off x="5330471" y="1636713"/>
            <a:ext cx="287972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2400" b="1" dirty="0">
                <a:latin typeface="Verdana" pitchFamily="34" charset="0"/>
              </a:rPr>
              <a:t>A2 alarm- </a:t>
            </a:r>
            <a:r>
              <a:rPr lang="tr-TR" altLang="tr-TR" sz="2400" b="1" dirty="0">
                <a:solidFill>
                  <a:srgbClr val="CC0000"/>
                </a:solidFill>
                <a:latin typeface="Verdana" pitchFamily="34" charset="0"/>
              </a:rPr>
              <a:t>Kaç!</a:t>
            </a:r>
          </a:p>
        </p:txBody>
      </p:sp>
      <p:sp>
        <p:nvSpPr>
          <p:cNvPr id="41992" name="Text Box 8"/>
          <p:cNvSpPr txBox="1">
            <a:spLocks noChangeArrowheads="1"/>
          </p:cNvSpPr>
          <p:nvPr/>
        </p:nvSpPr>
        <p:spPr bwMode="auto">
          <a:xfrm>
            <a:off x="5436096" y="3146298"/>
            <a:ext cx="2879725"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2400" b="1" dirty="0">
                <a:latin typeface="Verdana" pitchFamily="34" charset="0"/>
              </a:rPr>
              <a:t>A1 alarm- </a:t>
            </a:r>
            <a:r>
              <a:rPr lang="tr-TR" altLang="tr-TR" sz="2400" b="1" dirty="0">
                <a:solidFill>
                  <a:srgbClr val="FF6600"/>
                </a:solidFill>
                <a:latin typeface="Verdana" pitchFamily="34" charset="0"/>
              </a:rPr>
              <a:t>Önlem al- Çık</a:t>
            </a:r>
          </a:p>
        </p:txBody>
      </p:sp>
      <p:sp>
        <p:nvSpPr>
          <p:cNvPr id="41993" name="Text Box 9"/>
          <p:cNvSpPr txBox="1">
            <a:spLocks noChangeArrowheads="1"/>
          </p:cNvSpPr>
          <p:nvPr/>
        </p:nvSpPr>
        <p:spPr bwMode="auto">
          <a:xfrm>
            <a:off x="5543252" y="5085184"/>
            <a:ext cx="2665412"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2400" b="1" dirty="0">
                <a:latin typeface="Verdana" pitchFamily="34" charset="0"/>
              </a:rPr>
              <a:t>Normal      </a:t>
            </a:r>
            <a:r>
              <a:rPr lang="tr-TR" altLang="tr-TR" sz="2400" b="1" dirty="0">
                <a:solidFill>
                  <a:srgbClr val="009900"/>
                </a:solidFill>
                <a:latin typeface="Verdana" pitchFamily="34" charset="0"/>
              </a:rPr>
              <a:t>Önlem al-Çalış</a:t>
            </a:r>
          </a:p>
        </p:txBody>
      </p:sp>
      <p:sp>
        <p:nvSpPr>
          <p:cNvPr id="2" name="Slayt Numarası Yer Tutucusu 1"/>
          <p:cNvSpPr>
            <a:spLocks noGrp="1"/>
          </p:cNvSpPr>
          <p:nvPr>
            <p:ph type="sldNum" sz="quarter" idx="12"/>
          </p:nvPr>
        </p:nvSpPr>
        <p:spPr/>
        <p:txBody>
          <a:bodyPr/>
          <a:lstStyle/>
          <a:p>
            <a:pPr>
              <a:defRPr/>
            </a:pPr>
            <a:fld id="{816D2017-421F-474B-98E3-CE510B0EA434}" type="slidenum">
              <a:rPr lang="tr-TR" smtClean="0"/>
              <a:pPr>
                <a:defRPr/>
              </a:pPr>
              <a:t>17</a:t>
            </a:fld>
            <a:endParaRPr lang="tr-TR"/>
          </a:p>
        </p:txBody>
      </p:sp>
    </p:spTree>
    <p:extLst>
      <p:ext uri="{BB962C8B-B14F-4D97-AF65-F5344CB8AC3E}">
        <p14:creationId xmlns="" xmlns:p14="http://schemas.microsoft.com/office/powerpoint/2010/main" val="23512173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54AE96EC-0556-4809-9DB4-84D6C86BC174}" type="slidenum">
              <a:rPr lang="tr-TR" smtClean="0"/>
              <a:pPr>
                <a:defRPr/>
              </a:pPr>
              <a:t>18</a:t>
            </a:fld>
            <a:endParaRPr lang="tr-TR"/>
          </a:p>
        </p:txBody>
      </p:sp>
      <p:sp>
        <p:nvSpPr>
          <p:cNvPr id="36866" name="Rectangle 2"/>
          <p:cNvSpPr>
            <a:spLocks noGrp="1" noChangeArrowheads="1"/>
          </p:cNvSpPr>
          <p:nvPr>
            <p:ph type="body" idx="4294967295"/>
          </p:nvPr>
        </p:nvSpPr>
        <p:spPr>
          <a:xfrm>
            <a:off x="0" y="1412875"/>
            <a:ext cx="8460432" cy="4824413"/>
          </a:xfrm>
        </p:spPr>
        <p:txBody>
          <a:bodyPr rtlCol="0">
            <a:normAutofit fontScale="70000" lnSpcReduction="20000"/>
          </a:bodyPr>
          <a:lstStyle/>
          <a:p>
            <a:pPr eaLnBrk="1" fontAlgn="auto" hangingPunct="1">
              <a:lnSpc>
                <a:spcPct val="80000"/>
              </a:lnSpc>
              <a:spcAft>
                <a:spcPts val="0"/>
              </a:spcAft>
              <a:buFont typeface="Arial" pitchFamily="34" charset="0"/>
              <a:buNone/>
              <a:defRPr/>
            </a:pPr>
            <a:endParaRPr lang="tr-TR" sz="2400" dirty="0" smtClean="0">
              <a:solidFill>
                <a:srgbClr val="000066"/>
              </a:solidFill>
              <a:effectLst>
                <a:outerShdw blurRad="38100" dist="38100" dir="2700000" algn="tl">
                  <a:srgbClr val="C0C0C0"/>
                </a:outerShdw>
              </a:effectLst>
              <a:latin typeface="+mj-lt"/>
            </a:endParaRPr>
          </a:p>
          <a:p>
            <a:pPr eaLnBrk="1" fontAlgn="auto" hangingPunct="1">
              <a:lnSpc>
                <a:spcPct val="120000"/>
              </a:lnSpc>
              <a:spcAft>
                <a:spcPts val="0"/>
              </a:spcAft>
              <a:buClr>
                <a:srgbClr val="CC0000"/>
              </a:buClr>
              <a:buFont typeface="Wingdings 2" pitchFamily="18" charset="2"/>
              <a:buChar char="E"/>
              <a:defRPr/>
            </a:pPr>
            <a:r>
              <a:rPr lang="tr-TR" sz="4000" b="1" dirty="0" smtClean="0">
                <a:solidFill>
                  <a:srgbClr val="000066"/>
                </a:solidFill>
                <a:latin typeface="+mj-lt"/>
              </a:rPr>
              <a:t>GİRİŞ YAPAN</a:t>
            </a:r>
            <a:r>
              <a:rPr lang="tr-TR" sz="4000" dirty="0" smtClean="0">
                <a:solidFill>
                  <a:srgbClr val="000066"/>
                </a:solidFill>
                <a:latin typeface="+mj-lt"/>
              </a:rPr>
              <a:t>; </a:t>
            </a:r>
            <a:r>
              <a:rPr lang="tr-TR" sz="4000" dirty="0" smtClean="0">
                <a:latin typeface="+mj-lt"/>
              </a:rPr>
              <a:t>Kapalı birimlere </a:t>
            </a:r>
            <a:r>
              <a:rPr lang="tr-TR" sz="4000" dirty="0" smtClean="0">
                <a:solidFill>
                  <a:srgbClr val="FF0000"/>
                </a:solidFill>
                <a:latin typeface="+mj-lt"/>
              </a:rPr>
              <a:t>girmek için </a:t>
            </a:r>
            <a:r>
              <a:rPr lang="tr-TR" sz="4000" dirty="0" smtClean="0">
                <a:latin typeface="+mj-lt"/>
              </a:rPr>
              <a:t>eğitilmiş ve kalifiye olmuş kişi.</a:t>
            </a:r>
          </a:p>
          <a:p>
            <a:pPr eaLnBrk="1" fontAlgn="auto" hangingPunct="1">
              <a:lnSpc>
                <a:spcPct val="80000"/>
              </a:lnSpc>
              <a:spcAft>
                <a:spcPts val="0"/>
              </a:spcAft>
              <a:buClr>
                <a:srgbClr val="CC0000"/>
              </a:buClr>
              <a:buFont typeface="Wingdings 2" pitchFamily="18" charset="2"/>
              <a:buChar char="E"/>
              <a:defRPr/>
            </a:pPr>
            <a:endParaRPr lang="tr-TR" sz="4000" dirty="0" smtClean="0">
              <a:latin typeface="+mj-lt"/>
            </a:endParaRPr>
          </a:p>
          <a:p>
            <a:pPr eaLnBrk="1" fontAlgn="auto" hangingPunct="1">
              <a:lnSpc>
                <a:spcPct val="80000"/>
              </a:lnSpc>
              <a:spcAft>
                <a:spcPts val="0"/>
              </a:spcAft>
              <a:buClr>
                <a:srgbClr val="CC0000"/>
              </a:buClr>
              <a:buFont typeface="Wingdings 2" pitchFamily="18" charset="2"/>
              <a:buChar char="E"/>
              <a:defRPr/>
            </a:pPr>
            <a:endParaRPr lang="tr-TR" sz="4000" dirty="0" smtClean="0">
              <a:latin typeface="+mj-lt"/>
            </a:endParaRPr>
          </a:p>
          <a:p>
            <a:pPr eaLnBrk="1" fontAlgn="auto" hangingPunct="1">
              <a:lnSpc>
                <a:spcPct val="120000"/>
              </a:lnSpc>
              <a:spcAft>
                <a:spcPts val="0"/>
              </a:spcAft>
              <a:buClr>
                <a:srgbClr val="CC0000"/>
              </a:buClr>
              <a:buFont typeface="Wingdings 2" pitchFamily="18" charset="2"/>
              <a:buChar char="E"/>
              <a:defRPr/>
            </a:pPr>
            <a:r>
              <a:rPr lang="tr-TR" sz="4000" b="1" dirty="0" smtClean="0">
                <a:solidFill>
                  <a:srgbClr val="000066"/>
                </a:solidFill>
                <a:latin typeface="+mj-lt"/>
              </a:rPr>
              <a:t>GÖZLEMCİ; </a:t>
            </a:r>
            <a:r>
              <a:rPr lang="tr-TR" sz="4000" dirty="0" smtClean="0">
                <a:latin typeface="+mj-lt"/>
              </a:rPr>
              <a:t>kapalı birimlerde çalışan kişileri </a:t>
            </a:r>
            <a:r>
              <a:rPr lang="tr-TR" sz="4000" dirty="0" smtClean="0">
                <a:solidFill>
                  <a:srgbClr val="FF0000"/>
                </a:solidFill>
                <a:latin typeface="+mj-lt"/>
              </a:rPr>
              <a:t>gözleyen</a:t>
            </a:r>
            <a:r>
              <a:rPr lang="tr-TR" sz="4000" dirty="0" smtClean="0">
                <a:latin typeface="+mj-lt"/>
              </a:rPr>
              <a:t> eğitilmiş ve kalifiye olmuş kişi.</a:t>
            </a:r>
          </a:p>
          <a:p>
            <a:pPr marL="0" indent="0" eaLnBrk="1" fontAlgn="auto" hangingPunct="1">
              <a:lnSpc>
                <a:spcPct val="80000"/>
              </a:lnSpc>
              <a:spcAft>
                <a:spcPts val="0"/>
              </a:spcAft>
              <a:buClr>
                <a:srgbClr val="CC0000"/>
              </a:buClr>
              <a:buFont typeface="Arial" pitchFamily="34" charset="0"/>
              <a:buNone/>
              <a:defRPr/>
            </a:pPr>
            <a:endParaRPr lang="tr-TR" sz="4000" dirty="0" smtClean="0">
              <a:latin typeface="+mj-lt"/>
            </a:endParaRPr>
          </a:p>
          <a:p>
            <a:pPr eaLnBrk="1" fontAlgn="auto" hangingPunct="1">
              <a:lnSpc>
                <a:spcPct val="80000"/>
              </a:lnSpc>
              <a:spcAft>
                <a:spcPts val="0"/>
              </a:spcAft>
              <a:buClr>
                <a:srgbClr val="CC0000"/>
              </a:buClr>
              <a:buFont typeface="Wingdings 2" pitchFamily="18" charset="2"/>
              <a:buChar char="E"/>
              <a:defRPr/>
            </a:pPr>
            <a:endParaRPr lang="tr-TR" sz="4000" dirty="0" smtClean="0">
              <a:latin typeface="+mj-lt"/>
            </a:endParaRPr>
          </a:p>
          <a:p>
            <a:pPr eaLnBrk="1" fontAlgn="auto" hangingPunct="1">
              <a:lnSpc>
                <a:spcPct val="120000"/>
              </a:lnSpc>
              <a:spcAft>
                <a:spcPts val="0"/>
              </a:spcAft>
              <a:buClr>
                <a:srgbClr val="CC0000"/>
              </a:buClr>
              <a:buFont typeface="Wingdings 2" pitchFamily="18" charset="2"/>
              <a:buChar char="E"/>
              <a:defRPr/>
            </a:pPr>
            <a:r>
              <a:rPr lang="tr-TR" sz="4000" b="1" dirty="0" smtClean="0">
                <a:solidFill>
                  <a:srgbClr val="000066"/>
                </a:solidFill>
                <a:latin typeface="+mj-lt"/>
              </a:rPr>
              <a:t>YETKİ VEREN; </a:t>
            </a:r>
            <a:r>
              <a:rPr lang="tr-TR" sz="4000" dirty="0" smtClean="0">
                <a:latin typeface="+mj-lt"/>
              </a:rPr>
              <a:t>kapalı birimlere </a:t>
            </a:r>
            <a:r>
              <a:rPr lang="tr-TR" sz="4000" dirty="0" smtClean="0">
                <a:solidFill>
                  <a:srgbClr val="FF0000"/>
                </a:solidFill>
                <a:latin typeface="+mj-lt"/>
              </a:rPr>
              <a:t>giriş izni veren</a:t>
            </a:r>
            <a:r>
              <a:rPr lang="tr-TR" sz="4000" dirty="0" smtClean="0">
                <a:latin typeface="+mj-lt"/>
              </a:rPr>
              <a:t> eğitilmiş ve kalifiye olmuş kişi.</a:t>
            </a:r>
          </a:p>
        </p:txBody>
      </p:sp>
      <p:sp>
        <p:nvSpPr>
          <p:cNvPr id="43011" name="2 Dikdörtgen"/>
          <p:cNvSpPr>
            <a:spLocks noChangeArrowheads="1"/>
          </p:cNvSpPr>
          <p:nvPr/>
        </p:nvSpPr>
        <p:spPr bwMode="auto">
          <a:xfrm>
            <a:off x="250825" y="285750"/>
            <a:ext cx="6607175"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4000" b="1" dirty="0">
                <a:solidFill>
                  <a:srgbClr val="FF0000"/>
                </a:solidFill>
                <a:latin typeface="Verdana" pitchFamily="34" charset="0"/>
              </a:rPr>
              <a:t>Sorumlular</a:t>
            </a:r>
            <a:endParaRPr lang="tr-TR" altLang="tr-TR" sz="4000" dirty="0">
              <a:solidFill>
                <a:srgbClr val="FF0000"/>
              </a:solidFill>
            </a:endParaRPr>
          </a:p>
        </p:txBody>
      </p:sp>
    </p:spTree>
    <p:extLst>
      <p:ext uri="{BB962C8B-B14F-4D97-AF65-F5344CB8AC3E}">
        <p14:creationId xmlns="" xmlns:p14="http://schemas.microsoft.com/office/powerpoint/2010/main" val="982666984"/>
      </p:ext>
    </p:extLst>
  </p:cSld>
  <p:clrMapOvr>
    <a:masterClrMapping/>
  </p:clrMapOvr>
  <p:transition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543A59F4-A7B1-4016-81F0-C31186431C17}" type="slidenum">
              <a:rPr lang="tr-TR" smtClean="0"/>
              <a:pPr>
                <a:defRPr/>
              </a:pPr>
              <a:t>19</a:t>
            </a:fld>
            <a:endParaRPr lang="tr-TR"/>
          </a:p>
        </p:txBody>
      </p:sp>
      <p:sp>
        <p:nvSpPr>
          <p:cNvPr id="38914" name="Rectangle 2"/>
          <p:cNvSpPr>
            <a:spLocks noGrp="1" noChangeArrowheads="1"/>
          </p:cNvSpPr>
          <p:nvPr>
            <p:ph type="body" idx="4294967295"/>
          </p:nvPr>
        </p:nvSpPr>
        <p:spPr>
          <a:xfrm>
            <a:off x="0" y="333375"/>
            <a:ext cx="9036050" cy="6119813"/>
          </a:xfrm>
        </p:spPr>
        <p:txBody>
          <a:bodyPr rtlCol="0">
            <a:normAutofit lnSpcReduction="10000"/>
          </a:bodyPr>
          <a:lstStyle/>
          <a:p>
            <a:pPr eaLnBrk="1" fontAlgn="auto" hangingPunct="1">
              <a:spcAft>
                <a:spcPts val="0"/>
              </a:spcAft>
              <a:buFont typeface="Arial" pitchFamily="34" charset="0"/>
              <a:buNone/>
              <a:defRPr/>
            </a:pPr>
            <a:r>
              <a:rPr lang="tr-TR" sz="2800" b="1" dirty="0" smtClean="0">
                <a:solidFill>
                  <a:srgbClr val="FF0000"/>
                </a:solidFill>
                <a:latin typeface="+mj-lt"/>
              </a:rPr>
              <a:t>GİRİŞ </a:t>
            </a:r>
            <a:r>
              <a:rPr lang="tr-TR" sz="2800" b="1" dirty="0" err="1" smtClean="0">
                <a:solidFill>
                  <a:srgbClr val="FF0000"/>
                </a:solidFill>
                <a:latin typeface="+mj-lt"/>
              </a:rPr>
              <a:t>YAPAN’ın</a:t>
            </a:r>
            <a:r>
              <a:rPr lang="tr-TR" sz="2800" b="1" dirty="0" smtClean="0">
                <a:solidFill>
                  <a:srgbClr val="FF0000"/>
                </a:solidFill>
                <a:latin typeface="+mj-lt"/>
              </a:rPr>
              <a:t> Sorumlulukları</a:t>
            </a:r>
          </a:p>
          <a:p>
            <a:pPr eaLnBrk="1" fontAlgn="auto" hangingPunct="1">
              <a:spcAft>
                <a:spcPts val="0"/>
              </a:spcAft>
              <a:buFont typeface="Arial" pitchFamily="34" charset="0"/>
              <a:buNone/>
              <a:defRPr/>
            </a:pPr>
            <a:endParaRPr lang="tr-TR" sz="2000" dirty="0" smtClean="0">
              <a:solidFill>
                <a:srgbClr val="000066"/>
              </a:solidFill>
              <a:effectLst>
                <a:outerShdw blurRad="38100" dist="38100" dir="2700000" algn="tl">
                  <a:srgbClr val="C0C0C0"/>
                </a:outerShdw>
              </a:effectLst>
              <a:latin typeface="+mj-lt"/>
            </a:endParaRPr>
          </a:p>
          <a:p>
            <a:pPr eaLnBrk="1" fontAlgn="auto" hangingPunct="1">
              <a:spcAft>
                <a:spcPts val="0"/>
              </a:spcAft>
              <a:buClr>
                <a:srgbClr val="CC0000"/>
              </a:buClr>
              <a:buFont typeface="Wingdings 2" pitchFamily="18" charset="2"/>
              <a:buChar char="E"/>
              <a:defRPr/>
            </a:pPr>
            <a:r>
              <a:rPr lang="tr-TR" sz="2400" b="1" dirty="0" smtClean="0">
                <a:solidFill>
                  <a:srgbClr val="0070C0"/>
                </a:solidFill>
                <a:latin typeface="+mj-lt"/>
              </a:rPr>
              <a:t>Eğitim</a:t>
            </a:r>
            <a:r>
              <a:rPr lang="tr-TR" sz="2400" dirty="0" smtClean="0">
                <a:latin typeface="+mj-lt"/>
              </a:rPr>
              <a:t> almış olmak.</a:t>
            </a:r>
          </a:p>
          <a:p>
            <a:pPr eaLnBrk="1" fontAlgn="auto" hangingPunct="1">
              <a:spcAft>
                <a:spcPts val="0"/>
              </a:spcAft>
              <a:buClr>
                <a:srgbClr val="CC0000"/>
              </a:buClr>
              <a:buFont typeface="Wingdings 2" pitchFamily="18" charset="2"/>
              <a:buChar char="E"/>
              <a:defRPr/>
            </a:pPr>
            <a:endParaRPr lang="tr-TR" sz="2400" dirty="0" smtClean="0">
              <a:latin typeface="+mj-lt"/>
            </a:endParaRPr>
          </a:p>
          <a:p>
            <a:pPr eaLnBrk="1" fontAlgn="auto" hangingPunct="1">
              <a:spcAft>
                <a:spcPts val="0"/>
              </a:spcAft>
              <a:buClr>
                <a:srgbClr val="CC0000"/>
              </a:buClr>
              <a:buFont typeface="Wingdings 2" pitchFamily="18" charset="2"/>
              <a:buChar char="E"/>
              <a:defRPr/>
            </a:pPr>
            <a:r>
              <a:rPr lang="tr-TR" sz="2400" dirty="0" smtClean="0">
                <a:latin typeface="+mj-lt"/>
              </a:rPr>
              <a:t>Kapalı alanın güvenli giriş için uygun şekilde; </a:t>
            </a:r>
          </a:p>
          <a:p>
            <a:pPr lvl="1" eaLnBrk="1" fontAlgn="auto" hangingPunct="1">
              <a:spcAft>
                <a:spcPts val="0"/>
              </a:spcAft>
              <a:buClr>
                <a:srgbClr val="000066"/>
              </a:buClr>
              <a:buFont typeface="Wingdings 2" pitchFamily="18" charset="2"/>
              <a:buChar char="E"/>
              <a:defRPr/>
            </a:pPr>
            <a:r>
              <a:rPr lang="tr-TR" sz="2400" b="1" dirty="0" smtClean="0">
                <a:solidFill>
                  <a:srgbClr val="0070C0"/>
                </a:solidFill>
                <a:latin typeface="+mj-lt"/>
              </a:rPr>
              <a:t>İzole edildiğinden </a:t>
            </a:r>
          </a:p>
          <a:p>
            <a:pPr lvl="1" eaLnBrk="1" fontAlgn="auto" hangingPunct="1">
              <a:spcAft>
                <a:spcPts val="0"/>
              </a:spcAft>
              <a:buClr>
                <a:srgbClr val="000066"/>
              </a:buClr>
              <a:buFont typeface="Wingdings 2" pitchFamily="18" charset="2"/>
              <a:buChar char="E"/>
              <a:defRPr/>
            </a:pPr>
            <a:r>
              <a:rPr lang="tr-TR" sz="2400" b="1" dirty="0" smtClean="0">
                <a:solidFill>
                  <a:srgbClr val="0070C0"/>
                </a:solidFill>
                <a:latin typeface="+mj-lt"/>
              </a:rPr>
              <a:t>Havalandırıldığından</a:t>
            </a:r>
          </a:p>
          <a:p>
            <a:pPr lvl="1" eaLnBrk="1" fontAlgn="auto" hangingPunct="1">
              <a:spcAft>
                <a:spcPts val="0"/>
              </a:spcAft>
              <a:buClr>
                <a:srgbClr val="000066"/>
              </a:buClr>
              <a:buFont typeface="Wingdings 2" pitchFamily="18" charset="2"/>
              <a:buChar char="E"/>
              <a:defRPr/>
            </a:pPr>
            <a:r>
              <a:rPr lang="tr-TR" sz="2400" b="1" dirty="0" smtClean="0">
                <a:solidFill>
                  <a:srgbClr val="0070C0"/>
                </a:solidFill>
                <a:latin typeface="+mj-lt"/>
              </a:rPr>
              <a:t>Boşaltıldığından </a:t>
            </a:r>
            <a:r>
              <a:rPr lang="tr-TR" sz="2400" dirty="0" smtClean="0">
                <a:latin typeface="+mj-lt"/>
              </a:rPr>
              <a:t>emin olmak. </a:t>
            </a:r>
          </a:p>
          <a:p>
            <a:pPr eaLnBrk="1" fontAlgn="auto" hangingPunct="1">
              <a:spcAft>
                <a:spcPts val="0"/>
              </a:spcAft>
              <a:buClr>
                <a:srgbClr val="CC0000"/>
              </a:buClr>
              <a:buFont typeface="Wingdings 2" pitchFamily="18" charset="2"/>
              <a:buChar char="E"/>
              <a:defRPr/>
            </a:pPr>
            <a:endParaRPr lang="tr-TR" sz="2400" dirty="0" smtClean="0">
              <a:latin typeface="+mj-lt"/>
            </a:endParaRPr>
          </a:p>
          <a:p>
            <a:pPr eaLnBrk="1" fontAlgn="auto" hangingPunct="1">
              <a:spcAft>
                <a:spcPts val="0"/>
              </a:spcAft>
              <a:buClr>
                <a:srgbClr val="CC0000"/>
              </a:buClr>
              <a:buFont typeface="Wingdings 2" pitchFamily="18" charset="2"/>
              <a:buChar char="E"/>
              <a:defRPr/>
            </a:pPr>
            <a:r>
              <a:rPr lang="tr-TR" sz="2400" dirty="0" smtClean="0">
                <a:latin typeface="+mj-lt"/>
              </a:rPr>
              <a:t>Gözlemcinin isteği halinde </a:t>
            </a:r>
            <a:r>
              <a:rPr lang="tr-TR" sz="2400" b="1" dirty="0" smtClean="0">
                <a:solidFill>
                  <a:srgbClr val="0070C0"/>
                </a:solidFill>
                <a:latin typeface="+mj-lt"/>
              </a:rPr>
              <a:t>kapalı alanı hemen terk </a:t>
            </a:r>
            <a:r>
              <a:rPr lang="tr-TR" sz="2400" dirty="0" smtClean="0">
                <a:latin typeface="+mj-lt"/>
              </a:rPr>
              <a:t>etmek. </a:t>
            </a:r>
          </a:p>
          <a:p>
            <a:pPr eaLnBrk="1" fontAlgn="auto" hangingPunct="1">
              <a:spcAft>
                <a:spcPts val="0"/>
              </a:spcAft>
              <a:buClr>
                <a:srgbClr val="CC0000"/>
              </a:buClr>
              <a:buFont typeface="Wingdings 2" pitchFamily="18" charset="2"/>
              <a:buChar char="E"/>
              <a:defRPr/>
            </a:pPr>
            <a:endParaRPr lang="tr-TR" sz="2400" dirty="0" smtClean="0">
              <a:latin typeface="+mj-lt"/>
            </a:endParaRPr>
          </a:p>
          <a:p>
            <a:pPr eaLnBrk="1" fontAlgn="auto" hangingPunct="1">
              <a:spcAft>
                <a:spcPts val="0"/>
              </a:spcAft>
              <a:buClr>
                <a:srgbClr val="CC0000"/>
              </a:buClr>
              <a:buFont typeface="Wingdings 2" pitchFamily="18" charset="2"/>
              <a:buChar char="E"/>
              <a:defRPr/>
            </a:pPr>
            <a:r>
              <a:rPr lang="tr-TR" sz="2400" dirty="0" smtClean="0">
                <a:latin typeface="+mj-lt"/>
              </a:rPr>
              <a:t>İlgili </a:t>
            </a:r>
            <a:r>
              <a:rPr lang="tr-TR" sz="2400" b="1" dirty="0" smtClean="0">
                <a:solidFill>
                  <a:srgbClr val="0070C0"/>
                </a:solidFill>
                <a:latin typeface="+mj-lt"/>
              </a:rPr>
              <a:t>prosedürlere ve kurallara tamamen uymak.</a:t>
            </a:r>
          </a:p>
          <a:p>
            <a:pPr eaLnBrk="1" fontAlgn="auto" hangingPunct="1">
              <a:spcAft>
                <a:spcPts val="0"/>
              </a:spcAft>
              <a:buClr>
                <a:srgbClr val="CC0000"/>
              </a:buClr>
              <a:buFont typeface="Wingdings 2" pitchFamily="18" charset="2"/>
              <a:buChar char="E"/>
              <a:defRPr/>
            </a:pPr>
            <a:endParaRPr lang="tr-TR" sz="2400" dirty="0" smtClean="0">
              <a:latin typeface="+mj-lt"/>
            </a:endParaRPr>
          </a:p>
          <a:p>
            <a:pPr eaLnBrk="1" fontAlgn="auto" hangingPunct="1">
              <a:spcAft>
                <a:spcPts val="0"/>
              </a:spcAft>
              <a:buClr>
                <a:srgbClr val="CC0000"/>
              </a:buClr>
              <a:buFont typeface="Wingdings 2" pitchFamily="18" charset="2"/>
              <a:buChar char="E"/>
              <a:defRPr/>
            </a:pPr>
            <a:r>
              <a:rPr lang="tr-TR" sz="2400" dirty="0" smtClean="0">
                <a:latin typeface="+mj-lt"/>
              </a:rPr>
              <a:t>Uygun </a:t>
            </a:r>
            <a:r>
              <a:rPr lang="tr-TR" sz="2400" b="1" dirty="0" smtClean="0">
                <a:solidFill>
                  <a:srgbClr val="0070C0"/>
                </a:solidFill>
                <a:latin typeface="+mj-lt"/>
              </a:rPr>
              <a:t>kişisel koruyucu </a:t>
            </a:r>
            <a:r>
              <a:rPr lang="tr-TR" sz="2400" dirty="0" smtClean="0">
                <a:latin typeface="+mj-lt"/>
              </a:rPr>
              <a:t>ekipmanları kullanmak.</a:t>
            </a:r>
          </a:p>
        </p:txBody>
      </p:sp>
      <p:pic>
        <p:nvPicPr>
          <p:cNvPr id="44035" name="Picture 3" descr="6344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451725" y="1125538"/>
            <a:ext cx="1584325" cy="2232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40755394"/>
      </p:ext>
    </p:extLst>
  </p:cSld>
  <p:clrMapOvr>
    <a:masterClrMapping/>
  </p:clrMapOvr>
  <p:transition advClick="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88C5FF17-F269-47B8-AA6E-10B00186FBF3}" type="slidenum">
              <a:rPr lang="tr-TR" smtClean="0"/>
              <a:pPr>
                <a:defRPr/>
              </a:pPr>
              <a:t>20</a:t>
            </a:fld>
            <a:endParaRPr lang="tr-TR"/>
          </a:p>
        </p:txBody>
      </p:sp>
      <p:sp>
        <p:nvSpPr>
          <p:cNvPr id="40962" name="Rectangle 2"/>
          <p:cNvSpPr>
            <a:spLocks noGrp="1" noChangeArrowheads="1"/>
          </p:cNvSpPr>
          <p:nvPr>
            <p:ph type="body" idx="4294967295"/>
          </p:nvPr>
        </p:nvSpPr>
        <p:spPr>
          <a:xfrm>
            <a:off x="0" y="260350"/>
            <a:ext cx="6708775" cy="6337300"/>
          </a:xfrm>
        </p:spPr>
        <p:txBody>
          <a:bodyPr rtlCol="0">
            <a:normAutofit fontScale="77500" lnSpcReduction="20000"/>
          </a:bodyPr>
          <a:lstStyle/>
          <a:p>
            <a:pPr eaLnBrk="1" fontAlgn="auto" hangingPunct="1">
              <a:lnSpc>
                <a:spcPct val="90000"/>
              </a:lnSpc>
              <a:spcAft>
                <a:spcPts val="0"/>
              </a:spcAft>
              <a:buFont typeface="Arial" pitchFamily="34" charset="0"/>
              <a:buNone/>
              <a:defRPr/>
            </a:pPr>
            <a:r>
              <a:rPr lang="tr-TR" sz="3100" b="1" dirty="0" err="1" smtClean="0">
                <a:solidFill>
                  <a:srgbClr val="FF0000"/>
                </a:solidFill>
                <a:latin typeface="+mj-lt"/>
              </a:rPr>
              <a:t>GÖZLEMCİ’nin</a:t>
            </a:r>
            <a:r>
              <a:rPr lang="tr-TR" sz="3100" b="1" dirty="0" smtClean="0">
                <a:solidFill>
                  <a:srgbClr val="FF0000"/>
                </a:solidFill>
                <a:latin typeface="+mj-lt"/>
              </a:rPr>
              <a:t> Sorumlulukları</a:t>
            </a:r>
          </a:p>
          <a:p>
            <a:pPr marL="0" indent="0" eaLnBrk="1" fontAlgn="auto" hangingPunct="1">
              <a:lnSpc>
                <a:spcPct val="90000"/>
              </a:lnSpc>
              <a:spcAft>
                <a:spcPts val="0"/>
              </a:spcAft>
              <a:buClr>
                <a:srgbClr val="CC0000"/>
              </a:buClr>
              <a:buFont typeface="Arial" pitchFamily="34" charset="0"/>
              <a:buNone/>
              <a:defRPr/>
            </a:pPr>
            <a:r>
              <a:rPr lang="tr-TR" sz="2200" dirty="0" smtClean="0">
                <a:effectLst>
                  <a:outerShdw blurRad="38100" dist="38100" dir="2700000" algn="tl">
                    <a:srgbClr val="C0C0C0"/>
                  </a:outerShdw>
                </a:effectLst>
                <a:latin typeface="+mj-lt"/>
              </a:rPr>
              <a:t>- </a:t>
            </a:r>
            <a:r>
              <a:rPr lang="tr-TR" sz="2600" dirty="0" smtClean="0">
                <a:solidFill>
                  <a:srgbClr val="0070C0"/>
                </a:solidFill>
                <a:latin typeface="+mj-lt"/>
              </a:rPr>
              <a:t>Giriş yapan personeli; </a:t>
            </a:r>
          </a:p>
          <a:p>
            <a:pPr lvl="1" eaLnBrk="1" fontAlgn="auto" hangingPunct="1">
              <a:lnSpc>
                <a:spcPct val="90000"/>
              </a:lnSpc>
              <a:spcAft>
                <a:spcPts val="0"/>
              </a:spcAft>
              <a:buClr>
                <a:srgbClr val="000066"/>
              </a:buClr>
              <a:buFont typeface="Wingdings 2" pitchFamily="18" charset="2"/>
              <a:buChar char="E"/>
              <a:defRPr/>
            </a:pPr>
            <a:r>
              <a:rPr lang="tr-TR" sz="2600" b="1" dirty="0" smtClean="0">
                <a:solidFill>
                  <a:srgbClr val="0070C0"/>
                </a:solidFill>
                <a:latin typeface="+mj-lt"/>
              </a:rPr>
              <a:t>Giriş, </a:t>
            </a:r>
          </a:p>
          <a:p>
            <a:pPr lvl="1" eaLnBrk="1" fontAlgn="auto" hangingPunct="1">
              <a:lnSpc>
                <a:spcPct val="90000"/>
              </a:lnSpc>
              <a:spcAft>
                <a:spcPts val="0"/>
              </a:spcAft>
              <a:buClr>
                <a:srgbClr val="000066"/>
              </a:buClr>
              <a:buFont typeface="Wingdings 2" pitchFamily="18" charset="2"/>
              <a:buChar char="E"/>
              <a:defRPr/>
            </a:pPr>
            <a:r>
              <a:rPr lang="tr-TR" sz="2600" b="1" dirty="0" smtClean="0">
                <a:solidFill>
                  <a:srgbClr val="0070C0"/>
                </a:solidFill>
                <a:latin typeface="+mj-lt"/>
              </a:rPr>
              <a:t>Kapalı alanda </a:t>
            </a:r>
            <a:r>
              <a:rPr lang="tr-TR" sz="2600" b="1" dirty="0">
                <a:solidFill>
                  <a:srgbClr val="0070C0"/>
                </a:solidFill>
                <a:latin typeface="+mj-lt"/>
              </a:rPr>
              <a:t>Ç</a:t>
            </a:r>
            <a:r>
              <a:rPr lang="tr-TR" sz="2600" b="1" dirty="0" smtClean="0">
                <a:solidFill>
                  <a:srgbClr val="0070C0"/>
                </a:solidFill>
                <a:latin typeface="+mj-lt"/>
              </a:rPr>
              <a:t>alışma</a:t>
            </a:r>
          </a:p>
          <a:p>
            <a:pPr lvl="1" eaLnBrk="1" fontAlgn="auto" hangingPunct="1">
              <a:lnSpc>
                <a:spcPct val="90000"/>
              </a:lnSpc>
              <a:spcAft>
                <a:spcPts val="0"/>
              </a:spcAft>
              <a:buClr>
                <a:srgbClr val="000066"/>
              </a:buClr>
              <a:buFont typeface="Wingdings 2" pitchFamily="18" charset="2"/>
              <a:buChar char="E"/>
              <a:defRPr/>
            </a:pPr>
            <a:r>
              <a:rPr lang="tr-TR" sz="2600" b="1" dirty="0" smtClean="0">
                <a:solidFill>
                  <a:srgbClr val="0070C0"/>
                </a:solidFill>
                <a:latin typeface="+mj-lt"/>
              </a:rPr>
              <a:t>Çıkış</a:t>
            </a:r>
            <a:r>
              <a:rPr lang="tr-TR" sz="2600" dirty="0" smtClean="0">
                <a:solidFill>
                  <a:srgbClr val="0070C0"/>
                </a:solidFill>
                <a:latin typeface="+mj-lt"/>
              </a:rPr>
              <a:t> </a:t>
            </a:r>
            <a:r>
              <a:rPr lang="tr-TR" sz="2600" b="1" dirty="0" smtClean="0">
                <a:solidFill>
                  <a:srgbClr val="0070C0"/>
                </a:solidFill>
                <a:latin typeface="+mj-lt"/>
              </a:rPr>
              <a:t>süresince </a:t>
            </a:r>
            <a:r>
              <a:rPr lang="tr-TR" sz="2600" dirty="0" smtClean="0">
                <a:solidFill>
                  <a:srgbClr val="0070C0"/>
                </a:solidFill>
                <a:latin typeface="+mj-lt"/>
              </a:rPr>
              <a:t>sürekli</a:t>
            </a:r>
            <a:r>
              <a:rPr lang="tr-TR" sz="2600" b="1" dirty="0" smtClean="0">
                <a:solidFill>
                  <a:srgbClr val="0070C0"/>
                </a:solidFill>
                <a:latin typeface="+mj-lt"/>
              </a:rPr>
              <a:t> </a:t>
            </a:r>
            <a:r>
              <a:rPr lang="tr-TR" sz="2600" dirty="0" smtClean="0">
                <a:solidFill>
                  <a:schemeClr val="bg1"/>
                </a:solidFill>
                <a:latin typeface="+mj-lt"/>
              </a:rPr>
              <a:t>izlemek</a:t>
            </a:r>
          </a:p>
          <a:p>
            <a:pPr marL="88900" indent="-88900" eaLnBrk="1" fontAlgn="auto" hangingPunct="1">
              <a:lnSpc>
                <a:spcPct val="90000"/>
              </a:lnSpc>
              <a:spcAft>
                <a:spcPts val="0"/>
              </a:spcAft>
              <a:buClr>
                <a:srgbClr val="CC0000"/>
              </a:buClr>
              <a:buFont typeface="Wingdings 2" pitchFamily="18" charset="2"/>
              <a:buNone/>
              <a:defRPr/>
            </a:pPr>
            <a:r>
              <a:rPr lang="tr-TR" sz="2600" dirty="0" smtClean="0">
                <a:solidFill>
                  <a:srgbClr val="0070C0"/>
                </a:solidFill>
                <a:latin typeface="+mj-lt"/>
              </a:rPr>
              <a:t>yerine yetkin bir gözlemciyi bırakmadan hiçbir nedenle  </a:t>
            </a:r>
            <a:r>
              <a:rPr lang="tr-TR" sz="2600" b="1" dirty="0" smtClean="0">
                <a:solidFill>
                  <a:srgbClr val="0070C0"/>
                </a:solidFill>
                <a:latin typeface="+mj-lt"/>
              </a:rPr>
              <a:t>görev yerini </a:t>
            </a:r>
            <a:r>
              <a:rPr lang="tr-TR" sz="2600" b="1" dirty="0" smtClean="0">
                <a:solidFill>
                  <a:srgbClr val="FF0000"/>
                </a:solidFill>
                <a:latin typeface="+mj-lt"/>
              </a:rPr>
              <a:t>terk etmemek</a:t>
            </a:r>
            <a:r>
              <a:rPr lang="tr-TR" sz="2600" dirty="0" smtClean="0">
                <a:solidFill>
                  <a:srgbClr val="FF0000"/>
                </a:solidFill>
                <a:latin typeface="+mj-lt"/>
              </a:rPr>
              <a:t>.</a:t>
            </a:r>
          </a:p>
          <a:p>
            <a:pPr marL="88900" indent="-88900" eaLnBrk="1" fontAlgn="auto" hangingPunct="1">
              <a:lnSpc>
                <a:spcPct val="90000"/>
              </a:lnSpc>
              <a:spcAft>
                <a:spcPts val="0"/>
              </a:spcAft>
              <a:buClr>
                <a:srgbClr val="CC0000"/>
              </a:buClr>
              <a:buFont typeface="Wingdings 2" pitchFamily="18" charset="2"/>
              <a:buChar char="E"/>
              <a:defRPr/>
            </a:pPr>
            <a:endParaRPr lang="tr-TR" sz="2600" dirty="0" smtClean="0">
              <a:latin typeface="+mj-lt"/>
            </a:endParaRPr>
          </a:p>
          <a:p>
            <a:pPr lvl="1" eaLnBrk="1" fontAlgn="auto" hangingPunct="1">
              <a:lnSpc>
                <a:spcPct val="90000"/>
              </a:lnSpc>
              <a:spcAft>
                <a:spcPts val="0"/>
              </a:spcAft>
              <a:buClr>
                <a:srgbClr val="000066"/>
              </a:buClr>
              <a:buFont typeface="Wingdings 2" pitchFamily="18" charset="2"/>
              <a:buChar char="E"/>
              <a:defRPr/>
            </a:pPr>
            <a:r>
              <a:rPr lang="tr-TR" sz="2600" b="1" dirty="0">
                <a:solidFill>
                  <a:srgbClr val="FF0000"/>
                </a:solidFill>
                <a:latin typeface="+mj-lt"/>
              </a:rPr>
              <a:t>Giriş yapılmadan Önce</a:t>
            </a:r>
          </a:p>
          <a:p>
            <a:pPr lvl="1" eaLnBrk="1" fontAlgn="auto" hangingPunct="1">
              <a:lnSpc>
                <a:spcPct val="90000"/>
              </a:lnSpc>
              <a:spcAft>
                <a:spcPts val="0"/>
              </a:spcAft>
              <a:buClr>
                <a:srgbClr val="000066"/>
              </a:buClr>
              <a:buFont typeface="Wingdings 2" pitchFamily="18" charset="2"/>
              <a:buChar char="E"/>
              <a:defRPr/>
            </a:pPr>
            <a:r>
              <a:rPr lang="tr-TR" sz="2600" b="1" dirty="0">
                <a:solidFill>
                  <a:srgbClr val="FF0000"/>
                </a:solidFill>
                <a:latin typeface="+mj-lt"/>
              </a:rPr>
              <a:t>Çalışma süresince  </a:t>
            </a:r>
          </a:p>
          <a:p>
            <a:pPr marL="0" indent="0" eaLnBrk="1" fontAlgn="auto" hangingPunct="1">
              <a:lnSpc>
                <a:spcPct val="90000"/>
              </a:lnSpc>
              <a:spcAft>
                <a:spcPts val="0"/>
              </a:spcAft>
              <a:buClr>
                <a:srgbClr val="CC0000"/>
              </a:buClr>
              <a:buFont typeface="Arial" pitchFamily="34" charset="0"/>
              <a:buNone/>
              <a:defRPr/>
            </a:pPr>
            <a:r>
              <a:rPr lang="tr-TR" sz="2600" dirty="0" smtClean="0">
                <a:solidFill>
                  <a:srgbClr val="FF0000"/>
                </a:solidFill>
                <a:latin typeface="+mj-lt"/>
              </a:rPr>
              <a:t>    İçerideki atmosferik havadaki değişiklikleri takip </a:t>
            </a:r>
            <a:r>
              <a:rPr lang="tr-TR" sz="2600" dirty="0" err="1" smtClean="0">
                <a:solidFill>
                  <a:srgbClr val="FF0000"/>
                </a:solidFill>
                <a:latin typeface="+mj-lt"/>
              </a:rPr>
              <a:t>etm</a:t>
            </a:r>
            <a:r>
              <a:rPr lang="tr-TR" sz="2600" dirty="0" smtClean="0">
                <a:solidFill>
                  <a:srgbClr val="FF0000"/>
                </a:solidFill>
                <a:latin typeface="+mj-lt"/>
              </a:rPr>
              <a:t>.</a:t>
            </a:r>
          </a:p>
          <a:p>
            <a:pPr marL="0" indent="0" eaLnBrk="1" fontAlgn="auto" hangingPunct="1">
              <a:lnSpc>
                <a:spcPct val="90000"/>
              </a:lnSpc>
              <a:spcAft>
                <a:spcPts val="0"/>
              </a:spcAft>
              <a:buClr>
                <a:srgbClr val="CC0000"/>
              </a:buClr>
              <a:buFont typeface="Arial" pitchFamily="34" charset="0"/>
              <a:buNone/>
              <a:defRPr/>
            </a:pPr>
            <a:endParaRPr lang="tr-TR" sz="2600" dirty="0" smtClean="0">
              <a:latin typeface="+mj-lt"/>
            </a:endParaRPr>
          </a:p>
          <a:p>
            <a:pPr marL="0" indent="0" eaLnBrk="1" fontAlgn="auto" hangingPunct="1">
              <a:lnSpc>
                <a:spcPct val="90000"/>
              </a:lnSpc>
              <a:spcAft>
                <a:spcPts val="0"/>
              </a:spcAft>
              <a:buClr>
                <a:srgbClr val="CC0000"/>
              </a:buClr>
              <a:buFont typeface="Arial" pitchFamily="34" charset="0"/>
              <a:buNone/>
              <a:defRPr/>
            </a:pPr>
            <a:r>
              <a:rPr lang="tr-TR" sz="2600" dirty="0" smtClean="0">
                <a:latin typeface="+mj-lt"/>
              </a:rPr>
              <a:t>-</a:t>
            </a:r>
            <a:r>
              <a:rPr lang="tr-TR" sz="2600" b="1" dirty="0" smtClean="0">
                <a:solidFill>
                  <a:srgbClr val="0070C0"/>
                </a:solidFill>
                <a:latin typeface="+mj-lt"/>
              </a:rPr>
              <a:t>Kapalı alana </a:t>
            </a:r>
            <a:r>
              <a:rPr lang="tr-TR" sz="2600" b="1" dirty="0" smtClean="0">
                <a:solidFill>
                  <a:srgbClr val="FF0000"/>
                </a:solidFill>
                <a:latin typeface="+mj-lt"/>
              </a:rPr>
              <a:t>girişi kontrol </a:t>
            </a:r>
            <a:r>
              <a:rPr lang="tr-TR" sz="2600" b="1" dirty="0" smtClean="0">
                <a:solidFill>
                  <a:srgbClr val="0070C0"/>
                </a:solidFill>
                <a:latin typeface="+mj-lt"/>
              </a:rPr>
              <a:t>etmek.</a:t>
            </a:r>
          </a:p>
          <a:p>
            <a:pPr marL="0" indent="0" eaLnBrk="1" fontAlgn="auto" hangingPunct="1">
              <a:lnSpc>
                <a:spcPct val="90000"/>
              </a:lnSpc>
              <a:spcAft>
                <a:spcPts val="0"/>
              </a:spcAft>
              <a:buClr>
                <a:srgbClr val="CC0000"/>
              </a:buClr>
              <a:buFont typeface="Arial" pitchFamily="34" charset="0"/>
              <a:buNone/>
              <a:defRPr/>
            </a:pPr>
            <a:endParaRPr lang="tr-TR" sz="2600" b="1" dirty="0" smtClean="0">
              <a:solidFill>
                <a:srgbClr val="0070C0"/>
              </a:solidFill>
              <a:latin typeface="+mj-lt"/>
            </a:endParaRPr>
          </a:p>
          <a:p>
            <a:pPr marL="0" indent="0" eaLnBrk="1" fontAlgn="auto" hangingPunct="1">
              <a:lnSpc>
                <a:spcPct val="90000"/>
              </a:lnSpc>
              <a:spcAft>
                <a:spcPts val="0"/>
              </a:spcAft>
              <a:buClr>
                <a:srgbClr val="CC0000"/>
              </a:buClr>
              <a:buFont typeface="Arial" pitchFamily="34" charset="0"/>
              <a:buNone/>
              <a:defRPr/>
            </a:pPr>
            <a:r>
              <a:rPr lang="tr-TR" sz="2600" b="1" dirty="0" smtClean="0">
                <a:solidFill>
                  <a:srgbClr val="0070C0"/>
                </a:solidFill>
                <a:latin typeface="+mj-lt"/>
              </a:rPr>
              <a:t>-</a:t>
            </a:r>
            <a:r>
              <a:rPr lang="tr-TR" sz="2600" b="1" dirty="0" smtClean="0">
                <a:solidFill>
                  <a:srgbClr val="FF0000"/>
                </a:solidFill>
                <a:latin typeface="+mj-lt"/>
              </a:rPr>
              <a:t>Acil durumlarda </a:t>
            </a:r>
            <a:r>
              <a:rPr lang="tr-TR" sz="2600" b="1" dirty="0" smtClean="0">
                <a:solidFill>
                  <a:srgbClr val="0070C0"/>
                </a:solidFill>
                <a:latin typeface="+mj-lt"/>
              </a:rPr>
              <a:t>destek çağırmak.</a:t>
            </a:r>
          </a:p>
          <a:p>
            <a:pPr eaLnBrk="1" fontAlgn="auto" hangingPunct="1">
              <a:lnSpc>
                <a:spcPct val="90000"/>
              </a:lnSpc>
              <a:spcAft>
                <a:spcPts val="0"/>
              </a:spcAft>
              <a:buClr>
                <a:srgbClr val="CC0000"/>
              </a:buClr>
              <a:buFont typeface="Wingdings 2" pitchFamily="18" charset="2"/>
              <a:buChar char="E"/>
              <a:defRPr/>
            </a:pPr>
            <a:endParaRPr lang="tr-TR" sz="2600" dirty="0" smtClean="0">
              <a:latin typeface="+mj-lt"/>
            </a:endParaRPr>
          </a:p>
          <a:p>
            <a:pPr lvl="1" eaLnBrk="1" fontAlgn="auto" hangingPunct="1">
              <a:lnSpc>
                <a:spcPct val="90000"/>
              </a:lnSpc>
              <a:spcAft>
                <a:spcPts val="0"/>
              </a:spcAft>
              <a:buClr>
                <a:srgbClr val="000066"/>
              </a:buClr>
              <a:buFont typeface="Wingdings 2" pitchFamily="18" charset="2"/>
              <a:buChar char="E"/>
              <a:defRPr/>
            </a:pPr>
            <a:r>
              <a:rPr lang="tr-TR" sz="2600" b="1" dirty="0" smtClean="0">
                <a:solidFill>
                  <a:srgbClr val="FF0000"/>
                </a:solidFill>
                <a:latin typeface="+mj-lt"/>
              </a:rPr>
              <a:t>İçerideki </a:t>
            </a:r>
            <a:r>
              <a:rPr lang="tr-TR" sz="2600" dirty="0" smtClean="0">
                <a:solidFill>
                  <a:srgbClr val="FF0000"/>
                </a:solidFill>
                <a:latin typeface="+mj-lt"/>
              </a:rPr>
              <a:t>ve </a:t>
            </a:r>
            <a:endParaRPr lang="tr-TR" sz="2600" dirty="0">
              <a:solidFill>
                <a:srgbClr val="FF0000"/>
              </a:solidFill>
              <a:latin typeface="+mj-lt"/>
            </a:endParaRPr>
          </a:p>
          <a:p>
            <a:pPr lvl="1" eaLnBrk="1" fontAlgn="auto" hangingPunct="1">
              <a:lnSpc>
                <a:spcPct val="90000"/>
              </a:lnSpc>
              <a:spcAft>
                <a:spcPts val="0"/>
              </a:spcAft>
              <a:buClr>
                <a:srgbClr val="000066"/>
              </a:buClr>
              <a:buFont typeface="Wingdings 2" pitchFamily="18" charset="2"/>
              <a:buChar char="E"/>
              <a:defRPr/>
            </a:pPr>
            <a:r>
              <a:rPr lang="tr-TR" sz="2600" b="1" dirty="0" smtClean="0">
                <a:solidFill>
                  <a:srgbClr val="FF0000"/>
                </a:solidFill>
                <a:latin typeface="+mj-lt"/>
              </a:rPr>
              <a:t>Dışarıdaki </a:t>
            </a:r>
            <a:r>
              <a:rPr lang="tr-TR" sz="2600" dirty="0">
                <a:solidFill>
                  <a:srgbClr val="FF0000"/>
                </a:solidFill>
                <a:latin typeface="+mj-lt"/>
              </a:rPr>
              <a:t>t</a:t>
            </a:r>
            <a:r>
              <a:rPr lang="tr-TR" sz="2600" dirty="0" smtClean="0">
                <a:solidFill>
                  <a:srgbClr val="FF0000"/>
                </a:solidFill>
                <a:latin typeface="+mj-lt"/>
              </a:rPr>
              <a:t>ehlikeleri değerlendirmek ve gereğini yapmak</a:t>
            </a:r>
          </a:p>
          <a:p>
            <a:pPr marL="457200" lvl="1" indent="0" eaLnBrk="1" fontAlgn="auto" hangingPunct="1">
              <a:lnSpc>
                <a:spcPct val="90000"/>
              </a:lnSpc>
              <a:spcAft>
                <a:spcPts val="0"/>
              </a:spcAft>
              <a:buClr>
                <a:srgbClr val="000066"/>
              </a:buClr>
              <a:buFont typeface="Arial" pitchFamily="34" charset="0"/>
              <a:buNone/>
              <a:defRPr/>
            </a:pPr>
            <a:endParaRPr lang="tr-TR" sz="2600" dirty="0" smtClean="0">
              <a:latin typeface="+mj-lt"/>
            </a:endParaRPr>
          </a:p>
          <a:p>
            <a:pPr marL="0" indent="0" eaLnBrk="1" fontAlgn="auto" hangingPunct="1">
              <a:lnSpc>
                <a:spcPct val="90000"/>
              </a:lnSpc>
              <a:spcAft>
                <a:spcPts val="0"/>
              </a:spcAft>
              <a:buClr>
                <a:srgbClr val="CC0000"/>
              </a:buClr>
              <a:buFont typeface="Arial" pitchFamily="34" charset="0"/>
              <a:buNone/>
              <a:defRPr/>
            </a:pPr>
            <a:r>
              <a:rPr lang="tr-TR" sz="2600" dirty="0" smtClean="0">
                <a:latin typeface="+mj-lt"/>
              </a:rPr>
              <a:t>- </a:t>
            </a:r>
            <a:r>
              <a:rPr lang="tr-TR" sz="2600" dirty="0" smtClean="0">
                <a:solidFill>
                  <a:srgbClr val="0070C0"/>
                </a:solidFill>
                <a:latin typeface="+mj-lt"/>
              </a:rPr>
              <a:t>Kapalı alanda çalışma ile ilgili kayıtları saklamak (</a:t>
            </a:r>
            <a:r>
              <a:rPr lang="tr-TR" sz="2600" b="1" dirty="0" smtClean="0">
                <a:solidFill>
                  <a:srgbClr val="0070C0"/>
                </a:solidFill>
                <a:latin typeface="+mj-lt"/>
              </a:rPr>
              <a:t>hava kalitesi testleri, izin </a:t>
            </a:r>
            <a:r>
              <a:rPr lang="tr-TR" sz="2600" b="1" dirty="0" err="1" smtClean="0">
                <a:solidFill>
                  <a:srgbClr val="0070C0"/>
                </a:solidFill>
                <a:latin typeface="+mj-lt"/>
              </a:rPr>
              <a:t>fomları</a:t>
            </a:r>
            <a:r>
              <a:rPr lang="tr-TR" sz="2600" b="1" dirty="0" smtClean="0">
                <a:solidFill>
                  <a:srgbClr val="0070C0"/>
                </a:solidFill>
                <a:latin typeface="+mj-lt"/>
              </a:rPr>
              <a:t>…)</a:t>
            </a:r>
            <a:endParaRPr lang="en-US" sz="2600" b="1" dirty="0" smtClean="0">
              <a:solidFill>
                <a:srgbClr val="0070C0"/>
              </a:solidFill>
              <a:latin typeface="+mj-lt"/>
            </a:endParaRPr>
          </a:p>
        </p:txBody>
      </p:sp>
      <p:graphicFrame>
        <p:nvGraphicFramePr>
          <p:cNvPr id="1026" name="Object 3"/>
          <p:cNvGraphicFramePr>
            <a:graphicFrameLocks noChangeAspect="1"/>
          </p:cNvGraphicFramePr>
          <p:nvPr>
            <p:extLst>
              <p:ext uri="{D42A27DB-BD31-4B8C-83A1-F6EECF244321}">
                <p14:modId xmlns="" xmlns:p14="http://schemas.microsoft.com/office/powerpoint/2010/main" val="2596287026"/>
              </p:ext>
            </p:extLst>
          </p:nvPr>
        </p:nvGraphicFramePr>
        <p:xfrm>
          <a:off x="6300192" y="1196974"/>
          <a:ext cx="2862858" cy="3718517"/>
        </p:xfrm>
        <a:graphic>
          <a:graphicData uri="http://schemas.openxmlformats.org/presentationml/2006/ole">
            <p:oleObj spid="_x0000_s1031" name="Bitmap Image" r:id="rId4" imgW="2800741" imgH="3657143" progId="PBrush">
              <p:embed/>
            </p:oleObj>
          </a:graphicData>
        </a:graphic>
      </p:graphicFrame>
    </p:spTree>
    <p:extLst>
      <p:ext uri="{BB962C8B-B14F-4D97-AF65-F5344CB8AC3E}">
        <p14:creationId xmlns="" xmlns:p14="http://schemas.microsoft.com/office/powerpoint/2010/main" val="2080686535"/>
      </p:ext>
    </p:extLst>
  </p:cSld>
  <p:clrMapOvr>
    <a:masterClrMapping/>
  </p:clrMapOvr>
  <p:transition advClick="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Başlık 2"/>
          <p:cNvSpPr>
            <a:spLocks noGrp="1"/>
          </p:cNvSpPr>
          <p:nvPr>
            <p:ph type="title"/>
          </p:nvPr>
        </p:nvSpPr>
        <p:spPr>
          <a:xfrm>
            <a:off x="23813" y="-100013"/>
            <a:ext cx="8686800" cy="1143001"/>
          </a:xfrm>
        </p:spPr>
        <p:txBody>
          <a:bodyPr/>
          <a:lstStyle/>
          <a:p>
            <a:r>
              <a:rPr lang="tr-TR" altLang="tr-TR" sz="4000" b="1" smtClean="0">
                <a:solidFill>
                  <a:srgbClr val="0070C0"/>
                </a:solidFill>
                <a:latin typeface="+mj-lt"/>
              </a:rPr>
              <a:t>Gözlemci ve kapalı alanda çalışan işçi</a:t>
            </a:r>
          </a:p>
        </p:txBody>
      </p:sp>
      <p:sp>
        <p:nvSpPr>
          <p:cNvPr id="2" name="Slayt Numarası Yer Tutucusu 1"/>
          <p:cNvSpPr>
            <a:spLocks noGrp="1"/>
          </p:cNvSpPr>
          <p:nvPr>
            <p:ph type="sldNum" sz="quarter" idx="12"/>
          </p:nvPr>
        </p:nvSpPr>
        <p:spPr/>
        <p:txBody>
          <a:bodyPr/>
          <a:lstStyle/>
          <a:p>
            <a:pPr>
              <a:defRPr/>
            </a:pPr>
            <a:fld id="{E55FCEC2-CA4E-4C87-BCF6-170CCC35A0FE}" type="slidenum">
              <a:rPr lang="tr-TR" smtClean="0"/>
              <a:pPr>
                <a:defRPr/>
              </a:pPr>
              <a:t>21</a:t>
            </a:fld>
            <a:endParaRPr lang="tr-TR"/>
          </a:p>
        </p:txBody>
      </p:sp>
      <p:pic>
        <p:nvPicPr>
          <p:cNvPr id="45060" name="Picture 5" descr="Confined Space"/>
          <p:cNvPicPr>
            <a:picLocks noChangeAspect="1" noChangeArrowheads="1"/>
          </p:cNvPicPr>
          <p:nvPr>
            <p:custDataLst>
              <p:tags r:id="rId1"/>
            </p:custDataLst>
          </p:nvPr>
        </p:nvPicPr>
        <p:blipFill>
          <a:blip r:embed="rId3" cstate="print">
            <a:extLst>
              <a:ext uri="{28A0092B-C50C-407E-A947-70E740481C1C}">
                <a14:useLocalDpi xmlns="" xmlns:a14="http://schemas.microsoft.com/office/drawing/2010/main" val="0"/>
              </a:ext>
            </a:extLst>
          </a:blip>
          <a:srcRect/>
          <a:stretch>
            <a:fillRect/>
          </a:stretch>
        </p:blipFill>
        <p:spPr bwMode="auto">
          <a:xfrm>
            <a:off x="304800" y="908050"/>
            <a:ext cx="8964613" cy="5949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927799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subTitle" idx="4294967295"/>
          </p:nvPr>
        </p:nvSpPr>
        <p:spPr>
          <a:xfrm>
            <a:off x="0" y="10336"/>
            <a:ext cx="8460432" cy="6248400"/>
          </a:xfrm>
          <a:noFill/>
        </p:spPr>
        <p:txBody>
          <a:bodyPr lIns="92075" tIns="46038" rIns="92075" bIns="46038" anchor="ctr">
            <a:normAutofit lnSpcReduction="10000"/>
          </a:bodyPr>
          <a:lstStyle/>
          <a:p>
            <a:pPr indent="-342900" eaLnBrk="1" hangingPunct="1">
              <a:lnSpc>
                <a:spcPct val="110000"/>
              </a:lnSpc>
              <a:buFont typeface="Arial" charset="0"/>
              <a:buChar char="•"/>
            </a:pPr>
            <a:r>
              <a:rPr lang="en-US" altLang="tr-TR" sz="2400" dirty="0" err="1" smtClean="0">
                <a:latin typeface="+mj-lt"/>
              </a:rPr>
              <a:t>Herhangi</a:t>
            </a:r>
            <a:r>
              <a:rPr lang="en-US" altLang="tr-TR" sz="2400" dirty="0" smtClean="0">
                <a:latin typeface="+mj-lt"/>
              </a:rPr>
              <a:t> </a:t>
            </a:r>
            <a:r>
              <a:rPr lang="en-US" altLang="tr-TR" sz="2400" dirty="0" err="1" smtClean="0">
                <a:latin typeface="+mj-lt"/>
              </a:rPr>
              <a:t>bir</a:t>
            </a:r>
            <a:r>
              <a:rPr lang="en-US" altLang="tr-TR" sz="2400" dirty="0" smtClean="0">
                <a:latin typeface="+mj-lt"/>
              </a:rPr>
              <a:t> </a:t>
            </a:r>
            <a:r>
              <a:rPr lang="en-US" altLang="tr-TR" sz="2400" dirty="0" err="1" smtClean="0">
                <a:latin typeface="+mj-lt"/>
              </a:rPr>
              <a:t>tehlike</a:t>
            </a:r>
            <a:r>
              <a:rPr lang="en-US" altLang="tr-TR" sz="2400" dirty="0" smtClean="0">
                <a:latin typeface="+mj-lt"/>
              </a:rPr>
              <a:t> </a:t>
            </a:r>
            <a:r>
              <a:rPr lang="en-US" altLang="tr-TR" sz="2400" dirty="0" err="1" smtClean="0">
                <a:latin typeface="+mj-lt"/>
              </a:rPr>
              <a:t>anında</a:t>
            </a:r>
            <a:r>
              <a:rPr lang="en-US" altLang="tr-TR" sz="2400" dirty="0" smtClean="0">
                <a:latin typeface="+mj-lt"/>
              </a:rPr>
              <a:t> </a:t>
            </a:r>
            <a:r>
              <a:rPr lang="en-US" altLang="tr-TR" sz="2400" dirty="0" err="1" smtClean="0">
                <a:solidFill>
                  <a:srgbClr val="025198"/>
                </a:solidFill>
                <a:latin typeface="+mj-lt"/>
              </a:rPr>
              <a:t>içer</a:t>
            </a:r>
            <a:r>
              <a:rPr lang="tr-TR" altLang="tr-TR" sz="2400" dirty="0" smtClean="0">
                <a:solidFill>
                  <a:srgbClr val="025198"/>
                </a:solidFill>
                <a:latin typeface="+mj-lt"/>
              </a:rPr>
              <a:t>i</a:t>
            </a:r>
            <a:r>
              <a:rPr lang="en-US" altLang="tr-TR" sz="2400" dirty="0" err="1" smtClean="0">
                <a:solidFill>
                  <a:srgbClr val="025198"/>
                </a:solidFill>
                <a:latin typeface="+mj-lt"/>
              </a:rPr>
              <a:t>deki</a:t>
            </a:r>
            <a:r>
              <a:rPr lang="en-US" altLang="tr-TR" sz="2400" dirty="0" smtClean="0">
                <a:solidFill>
                  <a:srgbClr val="025198"/>
                </a:solidFill>
                <a:latin typeface="+mj-lt"/>
              </a:rPr>
              <a:t> </a:t>
            </a:r>
            <a:r>
              <a:rPr lang="en-US" altLang="tr-TR" sz="2400" dirty="0" err="1" smtClean="0">
                <a:solidFill>
                  <a:srgbClr val="025198"/>
                </a:solidFill>
                <a:latin typeface="+mj-lt"/>
              </a:rPr>
              <a:t>elemanları</a:t>
            </a:r>
            <a:r>
              <a:rPr lang="en-US" altLang="tr-TR" sz="2400" dirty="0" smtClean="0">
                <a:solidFill>
                  <a:srgbClr val="025198"/>
                </a:solidFill>
                <a:latin typeface="+mj-lt"/>
              </a:rPr>
              <a:t> </a:t>
            </a:r>
            <a:r>
              <a:rPr lang="en-US" altLang="tr-TR" sz="2400" dirty="0" err="1" smtClean="0">
                <a:solidFill>
                  <a:srgbClr val="025198"/>
                </a:solidFill>
                <a:latin typeface="+mj-lt"/>
              </a:rPr>
              <a:t>uyararak</a:t>
            </a:r>
            <a:r>
              <a:rPr lang="en-US" altLang="tr-TR" sz="2400" dirty="0" smtClean="0">
                <a:solidFill>
                  <a:srgbClr val="025198"/>
                </a:solidFill>
                <a:latin typeface="+mj-lt"/>
              </a:rPr>
              <a:t> </a:t>
            </a:r>
            <a:r>
              <a:rPr lang="en-US" altLang="tr-TR" sz="2400" dirty="0" err="1" smtClean="0">
                <a:solidFill>
                  <a:srgbClr val="025198"/>
                </a:solidFill>
                <a:latin typeface="+mj-lt"/>
              </a:rPr>
              <a:t>dışarı</a:t>
            </a:r>
            <a:r>
              <a:rPr lang="en-US" altLang="tr-TR" sz="2400" dirty="0" smtClean="0">
                <a:solidFill>
                  <a:srgbClr val="025198"/>
                </a:solidFill>
                <a:latin typeface="+mj-lt"/>
              </a:rPr>
              <a:t> </a:t>
            </a:r>
            <a:r>
              <a:rPr lang="en-US" altLang="tr-TR" sz="2400" dirty="0" err="1" smtClean="0">
                <a:solidFill>
                  <a:srgbClr val="025198"/>
                </a:solidFill>
                <a:latin typeface="+mj-lt"/>
              </a:rPr>
              <a:t>çıkmalarını</a:t>
            </a:r>
            <a:r>
              <a:rPr lang="en-US" altLang="tr-TR" sz="2400" dirty="0" smtClean="0">
                <a:solidFill>
                  <a:srgbClr val="025198"/>
                </a:solidFill>
                <a:latin typeface="+mj-lt"/>
              </a:rPr>
              <a:t> </a:t>
            </a:r>
            <a:r>
              <a:rPr lang="en-US" altLang="tr-TR" sz="2400" dirty="0" err="1" smtClean="0">
                <a:solidFill>
                  <a:srgbClr val="025198"/>
                </a:solidFill>
                <a:latin typeface="+mj-lt"/>
              </a:rPr>
              <a:t>sağlamak</a:t>
            </a:r>
            <a:endParaRPr lang="tr-TR" altLang="tr-TR" sz="2400" dirty="0" smtClean="0">
              <a:solidFill>
                <a:srgbClr val="025198"/>
              </a:solidFill>
              <a:latin typeface="+mj-lt"/>
            </a:endParaRPr>
          </a:p>
          <a:p>
            <a:pPr marL="0" indent="0" eaLnBrk="1" hangingPunct="1">
              <a:lnSpc>
                <a:spcPct val="110000"/>
              </a:lnSpc>
              <a:buFont typeface="Symbol" pitchFamily="18" charset="2"/>
              <a:buChar char="·"/>
            </a:pPr>
            <a:r>
              <a:rPr lang="tr-TR" altLang="tr-TR" sz="2400" dirty="0" smtClean="0">
                <a:solidFill>
                  <a:srgbClr val="FF0000"/>
                </a:solidFill>
                <a:latin typeface="+mj-lt"/>
              </a:rPr>
              <a:t> </a:t>
            </a:r>
            <a:r>
              <a:rPr lang="en-US" altLang="tr-TR" sz="2400" dirty="0" err="1" smtClean="0">
                <a:solidFill>
                  <a:srgbClr val="FF0000"/>
                </a:solidFill>
                <a:latin typeface="+mj-lt"/>
              </a:rPr>
              <a:t>Acil</a:t>
            </a:r>
            <a:r>
              <a:rPr lang="en-US" altLang="tr-TR" sz="2400" dirty="0" smtClean="0">
                <a:solidFill>
                  <a:srgbClr val="FF0000"/>
                </a:solidFill>
                <a:latin typeface="+mj-lt"/>
              </a:rPr>
              <a:t> durum </a:t>
            </a:r>
            <a:r>
              <a:rPr lang="en-US" altLang="tr-TR" sz="2400" dirty="0" err="1" smtClean="0">
                <a:latin typeface="+mj-lt"/>
              </a:rPr>
              <a:t>anında</a:t>
            </a:r>
            <a:r>
              <a:rPr lang="tr-TR" altLang="tr-TR" sz="2400" dirty="0" smtClean="0">
                <a:latin typeface="+mj-lt"/>
              </a:rPr>
              <a:t>,</a:t>
            </a:r>
            <a:r>
              <a:rPr lang="en-US" altLang="tr-TR" sz="2400" dirty="0" smtClean="0">
                <a:latin typeface="+mj-lt"/>
              </a:rPr>
              <a:t> </a:t>
            </a:r>
            <a:r>
              <a:rPr lang="en-US" altLang="tr-TR" sz="2400" dirty="0" err="1" smtClean="0">
                <a:latin typeface="+mj-lt"/>
              </a:rPr>
              <a:t>yardımın</a:t>
            </a:r>
            <a:r>
              <a:rPr lang="en-US" altLang="tr-TR" sz="2400" dirty="0" smtClean="0">
                <a:latin typeface="+mj-lt"/>
              </a:rPr>
              <a:t> </a:t>
            </a:r>
            <a:r>
              <a:rPr lang="en-US" altLang="tr-TR" sz="2400" dirty="0" smtClean="0">
                <a:solidFill>
                  <a:srgbClr val="FF0000"/>
                </a:solidFill>
                <a:latin typeface="+mj-lt"/>
              </a:rPr>
              <a:t>3 </a:t>
            </a:r>
            <a:r>
              <a:rPr lang="en-US" altLang="tr-TR" sz="2400" dirty="0" err="1" smtClean="0">
                <a:solidFill>
                  <a:srgbClr val="FF0000"/>
                </a:solidFill>
                <a:latin typeface="+mj-lt"/>
              </a:rPr>
              <a:t>dakika</a:t>
            </a:r>
            <a:r>
              <a:rPr lang="en-US" altLang="tr-TR" sz="2400" dirty="0" smtClean="0">
                <a:solidFill>
                  <a:srgbClr val="FF0000"/>
                </a:solidFill>
                <a:latin typeface="+mj-lt"/>
              </a:rPr>
              <a:t> </a:t>
            </a:r>
            <a:r>
              <a:rPr lang="en-US" altLang="tr-TR" sz="2400" dirty="0" err="1" smtClean="0">
                <a:solidFill>
                  <a:srgbClr val="FF0000"/>
                </a:solidFill>
                <a:latin typeface="+mj-lt"/>
              </a:rPr>
              <a:t>içinde</a:t>
            </a:r>
            <a:r>
              <a:rPr lang="en-US" altLang="tr-TR" sz="2400" dirty="0" smtClean="0">
                <a:solidFill>
                  <a:srgbClr val="FF0000"/>
                </a:solidFill>
                <a:latin typeface="+mj-lt"/>
              </a:rPr>
              <a:t> </a:t>
            </a:r>
            <a:r>
              <a:rPr lang="en-US" altLang="tr-TR" sz="2400" dirty="0" err="1" smtClean="0">
                <a:latin typeface="+mj-lt"/>
              </a:rPr>
              <a:t>geleceğinden</a:t>
            </a:r>
            <a:r>
              <a:rPr lang="en-US" altLang="tr-TR" sz="2400" dirty="0" smtClean="0">
                <a:latin typeface="+mj-lt"/>
              </a:rPr>
              <a:t> </a:t>
            </a:r>
            <a:r>
              <a:rPr lang="en-US" altLang="tr-TR" sz="2400" dirty="0" err="1" smtClean="0">
                <a:latin typeface="+mj-lt"/>
              </a:rPr>
              <a:t>emin</a:t>
            </a:r>
            <a:r>
              <a:rPr lang="en-US" altLang="tr-TR" sz="2400" dirty="0" smtClean="0">
                <a:latin typeface="+mj-lt"/>
              </a:rPr>
              <a:t> </a:t>
            </a:r>
            <a:r>
              <a:rPr lang="en-US" altLang="tr-TR" sz="2400" dirty="0" err="1" smtClean="0">
                <a:latin typeface="+mj-lt"/>
              </a:rPr>
              <a:t>olduktan</a:t>
            </a:r>
            <a:r>
              <a:rPr lang="en-US" altLang="tr-TR" sz="2400" dirty="0" smtClean="0">
                <a:latin typeface="+mj-lt"/>
              </a:rPr>
              <a:t> </a:t>
            </a:r>
            <a:r>
              <a:rPr lang="en-US" altLang="tr-TR" sz="2400" dirty="0" err="1" smtClean="0">
                <a:latin typeface="+mj-lt"/>
              </a:rPr>
              <a:t>sonra</a:t>
            </a:r>
            <a:r>
              <a:rPr lang="en-US" altLang="tr-TR" sz="2400" dirty="0" smtClean="0">
                <a:latin typeface="+mj-lt"/>
              </a:rPr>
              <a:t> </a:t>
            </a:r>
            <a:r>
              <a:rPr lang="en-US" altLang="tr-TR" sz="2400" dirty="0" err="1" smtClean="0">
                <a:latin typeface="+mj-lt"/>
              </a:rPr>
              <a:t>gerekli</a:t>
            </a:r>
            <a:r>
              <a:rPr lang="en-US" altLang="tr-TR" sz="2400" dirty="0" smtClean="0">
                <a:latin typeface="+mj-lt"/>
              </a:rPr>
              <a:t> </a:t>
            </a:r>
            <a:r>
              <a:rPr lang="en-US" altLang="tr-TR" sz="2400" dirty="0" err="1" smtClean="0">
                <a:latin typeface="+mj-lt"/>
              </a:rPr>
              <a:t>önlemleri</a:t>
            </a:r>
            <a:r>
              <a:rPr lang="en-US" altLang="tr-TR" sz="2400" dirty="0" smtClean="0">
                <a:latin typeface="+mj-lt"/>
              </a:rPr>
              <a:t> </a:t>
            </a:r>
            <a:r>
              <a:rPr lang="en-US" altLang="tr-TR" sz="2400" dirty="0" err="1" smtClean="0">
                <a:latin typeface="+mj-lt"/>
              </a:rPr>
              <a:t>alarak</a:t>
            </a:r>
            <a:r>
              <a:rPr lang="en-US" altLang="tr-TR" sz="2400" dirty="0" smtClean="0">
                <a:latin typeface="+mj-lt"/>
              </a:rPr>
              <a:t> </a:t>
            </a:r>
            <a:r>
              <a:rPr lang="en-US" altLang="tr-TR" sz="2400" dirty="0" err="1" smtClean="0">
                <a:solidFill>
                  <a:srgbClr val="FF0000"/>
                </a:solidFill>
                <a:latin typeface="+mj-lt"/>
              </a:rPr>
              <a:t>acil</a:t>
            </a:r>
            <a:r>
              <a:rPr lang="en-US" altLang="tr-TR" sz="2400" dirty="0" smtClean="0">
                <a:solidFill>
                  <a:srgbClr val="FF0000"/>
                </a:solidFill>
                <a:latin typeface="+mj-lt"/>
              </a:rPr>
              <a:t> </a:t>
            </a:r>
            <a:r>
              <a:rPr lang="en-US" altLang="tr-TR" sz="2400" dirty="0" err="1" smtClean="0">
                <a:solidFill>
                  <a:srgbClr val="FF0000"/>
                </a:solidFill>
                <a:latin typeface="+mj-lt"/>
              </a:rPr>
              <a:t>duruma</a:t>
            </a:r>
            <a:r>
              <a:rPr lang="en-US" altLang="tr-TR" sz="2400" dirty="0" smtClean="0">
                <a:solidFill>
                  <a:srgbClr val="FF0000"/>
                </a:solidFill>
                <a:latin typeface="+mj-lt"/>
              </a:rPr>
              <a:t> </a:t>
            </a:r>
            <a:r>
              <a:rPr lang="en-US" altLang="tr-TR" sz="2400" dirty="0" err="1" smtClean="0">
                <a:solidFill>
                  <a:srgbClr val="FF0000"/>
                </a:solidFill>
                <a:latin typeface="+mj-lt"/>
              </a:rPr>
              <a:t>müdahale</a:t>
            </a:r>
            <a:r>
              <a:rPr lang="en-US" altLang="tr-TR" sz="2400" dirty="0" smtClean="0">
                <a:solidFill>
                  <a:srgbClr val="FF0000"/>
                </a:solidFill>
                <a:latin typeface="+mj-lt"/>
              </a:rPr>
              <a:t> </a:t>
            </a:r>
            <a:r>
              <a:rPr lang="en-US" altLang="tr-TR" sz="2400" dirty="0" err="1" smtClean="0">
                <a:solidFill>
                  <a:srgbClr val="FF0000"/>
                </a:solidFill>
                <a:latin typeface="+mj-lt"/>
              </a:rPr>
              <a:t>etmek</a:t>
            </a:r>
            <a:r>
              <a:rPr lang="en-US" altLang="tr-TR" sz="2400" dirty="0" smtClean="0">
                <a:solidFill>
                  <a:srgbClr val="FF0000"/>
                </a:solidFill>
                <a:latin typeface="+mj-lt"/>
              </a:rPr>
              <a:t>, </a:t>
            </a:r>
            <a:endParaRPr lang="tr-TR" altLang="tr-TR" sz="2400" dirty="0" smtClean="0">
              <a:solidFill>
                <a:srgbClr val="FF0000"/>
              </a:solidFill>
              <a:latin typeface="+mj-lt"/>
            </a:endParaRPr>
          </a:p>
          <a:p>
            <a:pPr marL="0" indent="0" eaLnBrk="1" hangingPunct="1">
              <a:lnSpc>
                <a:spcPct val="110000"/>
              </a:lnSpc>
              <a:buFont typeface="Symbol" pitchFamily="18" charset="2"/>
              <a:buChar char="·"/>
            </a:pPr>
            <a:endParaRPr lang="tr-TR" altLang="tr-TR" sz="2400" dirty="0" smtClean="0">
              <a:latin typeface="+mj-lt"/>
            </a:endParaRPr>
          </a:p>
          <a:p>
            <a:pPr marL="0" indent="0" eaLnBrk="1" hangingPunct="1">
              <a:lnSpc>
                <a:spcPct val="110000"/>
              </a:lnSpc>
              <a:buFont typeface="Symbol" pitchFamily="18" charset="2"/>
              <a:buChar char="·"/>
            </a:pPr>
            <a:r>
              <a:rPr lang="tr-TR" altLang="tr-TR" sz="2400" dirty="0" smtClean="0">
                <a:latin typeface="+mj-lt"/>
              </a:rPr>
              <a:t> </a:t>
            </a:r>
            <a:r>
              <a:rPr lang="en-US" altLang="tr-TR" sz="2400" dirty="0" err="1" smtClean="0">
                <a:latin typeface="+mj-lt"/>
              </a:rPr>
              <a:t>kazazedenin</a:t>
            </a:r>
            <a:r>
              <a:rPr lang="en-US" altLang="tr-TR" sz="2400" dirty="0" smtClean="0">
                <a:latin typeface="+mj-lt"/>
              </a:rPr>
              <a:t> </a:t>
            </a:r>
            <a:r>
              <a:rPr lang="en-US" altLang="tr-TR" sz="2400" dirty="0" err="1" smtClean="0">
                <a:solidFill>
                  <a:srgbClr val="FF0000"/>
                </a:solidFill>
                <a:latin typeface="+mj-lt"/>
              </a:rPr>
              <a:t>dışarı</a:t>
            </a:r>
            <a:r>
              <a:rPr lang="en-US" altLang="tr-TR" sz="2400" dirty="0" smtClean="0">
                <a:solidFill>
                  <a:srgbClr val="FF0000"/>
                </a:solidFill>
                <a:latin typeface="+mj-lt"/>
              </a:rPr>
              <a:t> </a:t>
            </a:r>
            <a:r>
              <a:rPr lang="en-US" altLang="tr-TR" sz="2400" dirty="0" err="1" smtClean="0">
                <a:solidFill>
                  <a:srgbClr val="FF0000"/>
                </a:solidFill>
                <a:latin typeface="+mj-lt"/>
              </a:rPr>
              <a:t>çıkarılmasına</a:t>
            </a:r>
            <a:r>
              <a:rPr lang="en-US" altLang="tr-TR" sz="2400" dirty="0" smtClean="0">
                <a:solidFill>
                  <a:srgbClr val="FF0000"/>
                </a:solidFill>
                <a:latin typeface="+mj-lt"/>
              </a:rPr>
              <a:t> </a:t>
            </a:r>
            <a:r>
              <a:rPr lang="en-US" altLang="tr-TR" sz="2400" dirty="0" err="1" smtClean="0">
                <a:solidFill>
                  <a:srgbClr val="FF0000"/>
                </a:solidFill>
                <a:latin typeface="+mj-lt"/>
              </a:rPr>
              <a:t>ve</a:t>
            </a:r>
            <a:r>
              <a:rPr lang="en-US" altLang="tr-TR" sz="2400" dirty="0" smtClean="0">
                <a:solidFill>
                  <a:srgbClr val="FF0000"/>
                </a:solidFill>
                <a:latin typeface="+mj-lt"/>
              </a:rPr>
              <a:t> ilk </a:t>
            </a:r>
            <a:r>
              <a:rPr lang="en-US" altLang="tr-TR" sz="2400" dirty="0" err="1" smtClean="0">
                <a:solidFill>
                  <a:srgbClr val="FF0000"/>
                </a:solidFill>
                <a:latin typeface="+mj-lt"/>
              </a:rPr>
              <a:t>yardım</a:t>
            </a:r>
            <a:r>
              <a:rPr lang="en-US" altLang="tr-TR" sz="2400" dirty="0" smtClean="0">
                <a:solidFill>
                  <a:srgbClr val="FF0000"/>
                </a:solidFill>
                <a:latin typeface="+mj-lt"/>
              </a:rPr>
              <a:t> </a:t>
            </a:r>
            <a:r>
              <a:rPr lang="en-US" altLang="tr-TR" sz="2400" dirty="0" err="1" smtClean="0">
                <a:solidFill>
                  <a:srgbClr val="FF0000"/>
                </a:solidFill>
                <a:latin typeface="+mj-lt"/>
              </a:rPr>
              <a:t>yapılmasına</a:t>
            </a:r>
            <a:r>
              <a:rPr lang="en-US" altLang="tr-TR" sz="2400" dirty="0" smtClean="0">
                <a:solidFill>
                  <a:srgbClr val="FF0000"/>
                </a:solidFill>
                <a:latin typeface="+mj-lt"/>
              </a:rPr>
              <a:t> </a:t>
            </a:r>
            <a:r>
              <a:rPr lang="en-US" altLang="tr-TR" sz="2400" dirty="0" err="1" smtClean="0">
                <a:solidFill>
                  <a:srgbClr val="FF0000"/>
                </a:solidFill>
                <a:latin typeface="+mj-lt"/>
              </a:rPr>
              <a:t>eşlik</a:t>
            </a:r>
            <a:r>
              <a:rPr lang="en-US" altLang="tr-TR" sz="2400" dirty="0" smtClean="0">
                <a:solidFill>
                  <a:srgbClr val="FF0000"/>
                </a:solidFill>
                <a:latin typeface="+mj-lt"/>
              </a:rPr>
              <a:t> </a:t>
            </a:r>
            <a:r>
              <a:rPr lang="en-US" altLang="tr-TR" sz="2400" dirty="0" err="1" smtClean="0">
                <a:solidFill>
                  <a:srgbClr val="FF0000"/>
                </a:solidFill>
                <a:latin typeface="+mj-lt"/>
              </a:rPr>
              <a:t>emek</a:t>
            </a:r>
            <a:r>
              <a:rPr lang="en-US" altLang="tr-TR" sz="2400" dirty="0" smtClean="0">
                <a:latin typeface="+mj-lt"/>
              </a:rPr>
              <a:t>.</a:t>
            </a:r>
            <a:endParaRPr lang="tr-TR" altLang="tr-TR" sz="2400" dirty="0" smtClean="0">
              <a:latin typeface="+mj-lt"/>
            </a:endParaRPr>
          </a:p>
          <a:p>
            <a:pPr marL="0" indent="0" eaLnBrk="1" hangingPunct="1">
              <a:lnSpc>
                <a:spcPct val="110000"/>
              </a:lnSpc>
              <a:buFont typeface="Symbol" pitchFamily="18" charset="2"/>
              <a:buChar char="·"/>
            </a:pPr>
            <a:endParaRPr lang="en-US" altLang="tr-TR" sz="2400" dirty="0" smtClean="0">
              <a:latin typeface="+mj-lt"/>
            </a:endParaRPr>
          </a:p>
          <a:p>
            <a:pPr marL="0" indent="0" eaLnBrk="1" hangingPunct="1">
              <a:lnSpc>
                <a:spcPct val="110000"/>
              </a:lnSpc>
              <a:buFont typeface="Symbol" pitchFamily="18" charset="2"/>
              <a:buChar char="·"/>
            </a:pPr>
            <a:r>
              <a:rPr lang="tr-TR" altLang="tr-TR" sz="2400" dirty="0" smtClean="0">
                <a:latin typeface="+mj-lt"/>
              </a:rPr>
              <a:t> </a:t>
            </a:r>
            <a:r>
              <a:rPr lang="en-US" altLang="tr-TR" sz="2400" dirty="0" err="1" smtClean="0">
                <a:latin typeface="+mj-lt"/>
              </a:rPr>
              <a:t>Gözlem</a:t>
            </a:r>
            <a:r>
              <a:rPr lang="en-US" altLang="tr-TR" sz="2400" dirty="0" smtClean="0">
                <a:latin typeface="+mj-lt"/>
              </a:rPr>
              <a:t> </a:t>
            </a:r>
            <a:r>
              <a:rPr lang="en-US" altLang="tr-TR" sz="2400" dirty="0" err="1" smtClean="0">
                <a:latin typeface="+mj-lt"/>
              </a:rPr>
              <a:t>boyunca</a:t>
            </a:r>
            <a:r>
              <a:rPr lang="en-US" altLang="tr-TR" sz="2400" dirty="0" smtClean="0">
                <a:latin typeface="+mj-lt"/>
              </a:rPr>
              <a:t> </a:t>
            </a:r>
            <a:r>
              <a:rPr lang="en-US" altLang="tr-TR" sz="2400" dirty="0" err="1" smtClean="0">
                <a:solidFill>
                  <a:srgbClr val="FF0000"/>
                </a:solidFill>
                <a:latin typeface="+mj-lt"/>
              </a:rPr>
              <a:t>paraşütçü</a:t>
            </a:r>
            <a:r>
              <a:rPr lang="en-US" altLang="tr-TR" sz="2400" dirty="0" smtClean="0">
                <a:solidFill>
                  <a:srgbClr val="FF0000"/>
                </a:solidFill>
                <a:latin typeface="+mj-lt"/>
              </a:rPr>
              <a:t> tipi </a:t>
            </a:r>
            <a:r>
              <a:rPr lang="en-US" altLang="tr-TR" sz="2400" dirty="0" err="1" smtClean="0">
                <a:solidFill>
                  <a:srgbClr val="FF0000"/>
                </a:solidFill>
                <a:latin typeface="+mj-lt"/>
              </a:rPr>
              <a:t>emniyet</a:t>
            </a:r>
            <a:r>
              <a:rPr lang="en-US" altLang="tr-TR" sz="2400" dirty="0" smtClean="0">
                <a:solidFill>
                  <a:srgbClr val="FF0000"/>
                </a:solidFill>
                <a:latin typeface="+mj-lt"/>
              </a:rPr>
              <a:t> </a:t>
            </a:r>
            <a:r>
              <a:rPr lang="en-US" altLang="tr-TR" sz="2400" dirty="0" err="1" smtClean="0">
                <a:solidFill>
                  <a:srgbClr val="FF0000"/>
                </a:solidFill>
                <a:latin typeface="+mj-lt"/>
              </a:rPr>
              <a:t>kemer</a:t>
            </a:r>
            <a:r>
              <a:rPr lang="en-US" altLang="tr-TR" sz="2400" dirty="0" err="1" smtClean="0">
                <a:latin typeface="+mj-lt"/>
              </a:rPr>
              <a:t>i</a:t>
            </a:r>
            <a:r>
              <a:rPr lang="en-US" altLang="tr-TR" sz="2400" dirty="0" smtClean="0">
                <a:latin typeface="+mj-lt"/>
              </a:rPr>
              <a:t> </a:t>
            </a:r>
            <a:r>
              <a:rPr lang="en-US" altLang="tr-TR" sz="2400" dirty="0" err="1" smtClean="0">
                <a:latin typeface="+mj-lt"/>
              </a:rPr>
              <a:t>takmak</a:t>
            </a:r>
            <a:r>
              <a:rPr lang="en-US" altLang="tr-TR" sz="2400" dirty="0" smtClean="0">
                <a:latin typeface="+mj-lt"/>
              </a:rPr>
              <a:t> (</a:t>
            </a:r>
            <a:r>
              <a:rPr lang="en-US" altLang="tr-TR" sz="2400" dirty="0" err="1" smtClean="0">
                <a:latin typeface="+mj-lt"/>
              </a:rPr>
              <a:t>üstten</a:t>
            </a:r>
            <a:r>
              <a:rPr lang="en-US" altLang="tr-TR" sz="2400" dirty="0" smtClean="0">
                <a:latin typeface="+mj-lt"/>
              </a:rPr>
              <a:t> </a:t>
            </a:r>
            <a:r>
              <a:rPr lang="en-US" altLang="tr-TR" sz="2400" dirty="0" err="1" smtClean="0">
                <a:latin typeface="+mj-lt"/>
              </a:rPr>
              <a:t>girişler</a:t>
            </a:r>
            <a:r>
              <a:rPr lang="en-US" altLang="tr-TR" sz="2400" dirty="0" smtClean="0">
                <a:latin typeface="+mj-lt"/>
              </a:rPr>
              <a:t> </a:t>
            </a:r>
            <a:r>
              <a:rPr lang="en-US" altLang="tr-TR" sz="2400" dirty="0" err="1" smtClean="0">
                <a:latin typeface="+mj-lt"/>
              </a:rPr>
              <a:t>için</a:t>
            </a:r>
            <a:r>
              <a:rPr lang="en-US" altLang="tr-TR" sz="2400" dirty="0" smtClean="0">
                <a:latin typeface="+mj-lt"/>
              </a:rPr>
              <a:t>)</a:t>
            </a:r>
            <a:endParaRPr lang="tr-TR" altLang="tr-TR" sz="2400" dirty="0" smtClean="0">
              <a:latin typeface="+mj-lt"/>
            </a:endParaRPr>
          </a:p>
          <a:p>
            <a:pPr marL="0" indent="0" eaLnBrk="1" hangingPunct="1">
              <a:lnSpc>
                <a:spcPct val="110000"/>
              </a:lnSpc>
              <a:buFont typeface="Symbol" pitchFamily="18" charset="2"/>
              <a:buChar char="·"/>
            </a:pPr>
            <a:endParaRPr lang="tr-TR" altLang="tr-TR" sz="2400" dirty="0" smtClean="0">
              <a:latin typeface="+mj-lt"/>
            </a:endParaRPr>
          </a:p>
          <a:p>
            <a:pPr marL="0" indent="0" eaLnBrk="1" hangingPunct="1">
              <a:lnSpc>
                <a:spcPct val="110000"/>
              </a:lnSpc>
              <a:buFont typeface="Symbol" pitchFamily="18" charset="2"/>
              <a:buChar char="·"/>
            </a:pPr>
            <a:r>
              <a:rPr lang="tr-TR" altLang="tr-TR" sz="2400" dirty="0" smtClean="0">
                <a:latin typeface="+mj-lt"/>
              </a:rPr>
              <a:t> </a:t>
            </a:r>
            <a:r>
              <a:rPr lang="en-US" altLang="tr-TR" sz="2400" dirty="0" err="1" smtClean="0">
                <a:latin typeface="+mj-lt"/>
              </a:rPr>
              <a:t>Suni</a:t>
            </a:r>
            <a:r>
              <a:rPr lang="en-US" altLang="tr-TR" sz="2400" dirty="0" smtClean="0">
                <a:latin typeface="+mj-lt"/>
              </a:rPr>
              <a:t> </a:t>
            </a:r>
            <a:r>
              <a:rPr lang="en-US" altLang="tr-TR" sz="2400" dirty="0" err="1" smtClean="0">
                <a:latin typeface="+mj-lt"/>
              </a:rPr>
              <a:t>solunum</a:t>
            </a:r>
            <a:r>
              <a:rPr lang="en-US" altLang="tr-TR" sz="2400" dirty="0" smtClean="0">
                <a:latin typeface="+mj-lt"/>
              </a:rPr>
              <a:t> </a:t>
            </a:r>
            <a:r>
              <a:rPr lang="en-US" altLang="tr-TR" sz="2400" dirty="0" err="1" smtClean="0">
                <a:latin typeface="+mj-lt"/>
              </a:rPr>
              <a:t>cihazlarını</a:t>
            </a:r>
            <a:r>
              <a:rPr lang="en-US" altLang="tr-TR" sz="2400" dirty="0" smtClean="0">
                <a:latin typeface="+mj-lt"/>
              </a:rPr>
              <a:t> </a:t>
            </a:r>
            <a:r>
              <a:rPr lang="en-US" altLang="tr-TR" sz="2400" dirty="0" err="1" smtClean="0">
                <a:latin typeface="+mj-lt"/>
              </a:rPr>
              <a:t>kullanıma</a:t>
            </a:r>
            <a:r>
              <a:rPr lang="en-US" altLang="tr-TR" sz="2400" dirty="0" smtClean="0">
                <a:latin typeface="+mj-lt"/>
              </a:rPr>
              <a:t> </a:t>
            </a:r>
            <a:r>
              <a:rPr lang="en-US" altLang="tr-TR" sz="2400" dirty="0" err="1" smtClean="0">
                <a:latin typeface="+mj-lt"/>
              </a:rPr>
              <a:t>hazır</a:t>
            </a:r>
            <a:r>
              <a:rPr lang="en-US" altLang="tr-TR" sz="2400" dirty="0" smtClean="0">
                <a:latin typeface="+mj-lt"/>
              </a:rPr>
              <a:t> </a:t>
            </a:r>
            <a:r>
              <a:rPr lang="en-US" altLang="tr-TR" sz="2400" dirty="0" err="1" smtClean="0">
                <a:latin typeface="+mj-lt"/>
              </a:rPr>
              <a:t>tutmak</a:t>
            </a:r>
            <a:r>
              <a:rPr lang="en-US" altLang="tr-TR" sz="2400" dirty="0" smtClean="0">
                <a:latin typeface="+mj-lt"/>
              </a:rPr>
              <a:t>, </a:t>
            </a:r>
            <a:r>
              <a:rPr lang="en-US" altLang="tr-TR" sz="2400" dirty="0" err="1" smtClean="0">
                <a:latin typeface="+mj-lt"/>
              </a:rPr>
              <a:t>diğer</a:t>
            </a:r>
            <a:r>
              <a:rPr lang="en-US" altLang="tr-TR" sz="2400" dirty="0" smtClean="0">
                <a:latin typeface="+mj-lt"/>
              </a:rPr>
              <a:t> </a:t>
            </a:r>
            <a:r>
              <a:rPr lang="en-US" altLang="tr-TR" sz="2400" dirty="0" err="1" smtClean="0">
                <a:latin typeface="+mj-lt"/>
              </a:rPr>
              <a:t>kurtarma</a:t>
            </a:r>
            <a:r>
              <a:rPr lang="en-US" altLang="tr-TR" sz="2400" dirty="0" smtClean="0">
                <a:latin typeface="+mj-lt"/>
              </a:rPr>
              <a:t> </a:t>
            </a:r>
            <a:r>
              <a:rPr lang="en-US" altLang="tr-TR" sz="2400" dirty="0" err="1" smtClean="0">
                <a:latin typeface="+mj-lt"/>
              </a:rPr>
              <a:t>ekipmanlarını</a:t>
            </a:r>
            <a:r>
              <a:rPr lang="en-US" altLang="tr-TR" sz="2400" dirty="0" smtClean="0">
                <a:latin typeface="+mj-lt"/>
              </a:rPr>
              <a:t> </a:t>
            </a:r>
            <a:r>
              <a:rPr lang="en-US" altLang="tr-TR" sz="2400" dirty="0" err="1" smtClean="0">
                <a:solidFill>
                  <a:srgbClr val="FF0000"/>
                </a:solidFill>
                <a:latin typeface="+mj-lt"/>
              </a:rPr>
              <a:t>kolayca</a:t>
            </a:r>
            <a:r>
              <a:rPr lang="en-US" altLang="tr-TR" sz="2400" dirty="0" smtClean="0">
                <a:solidFill>
                  <a:srgbClr val="FF0000"/>
                </a:solidFill>
                <a:latin typeface="+mj-lt"/>
              </a:rPr>
              <a:t> </a:t>
            </a:r>
            <a:r>
              <a:rPr lang="en-US" altLang="tr-TR" sz="2400" dirty="0" err="1" smtClean="0">
                <a:solidFill>
                  <a:srgbClr val="FF0000"/>
                </a:solidFill>
                <a:latin typeface="+mj-lt"/>
              </a:rPr>
              <a:t>ulaşılabilecek</a:t>
            </a:r>
            <a:r>
              <a:rPr lang="en-US" altLang="tr-TR" sz="2400" dirty="0" smtClean="0">
                <a:solidFill>
                  <a:srgbClr val="FF0000"/>
                </a:solidFill>
                <a:latin typeface="+mj-lt"/>
              </a:rPr>
              <a:t> </a:t>
            </a:r>
            <a:r>
              <a:rPr lang="en-US" altLang="tr-TR" sz="2400" dirty="0" err="1" smtClean="0">
                <a:solidFill>
                  <a:srgbClr val="FF0000"/>
                </a:solidFill>
                <a:latin typeface="+mj-lt"/>
              </a:rPr>
              <a:t>noktada</a:t>
            </a:r>
            <a:r>
              <a:rPr lang="en-US" altLang="tr-TR" sz="2400" dirty="0" smtClean="0">
                <a:solidFill>
                  <a:srgbClr val="FF0000"/>
                </a:solidFill>
                <a:latin typeface="+mj-lt"/>
              </a:rPr>
              <a:t> </a:t>
            </a:r>
            <a:r>
              <a:rPr lang="en-US" altLang="tr-TR" sz="2400" dirty="0" err="1" smtClean="0">
                <a:solidFill>
                  <a:srgbClr val="FF0000"/>
                </a:solidFill>
                <a:latin typeface="+mj-lt"/>
              </a:rPr>
              <a:t>hazır</a:t>
            </a:r>
            <a:r>
              <a:rPr lang="en-US" altLang="tr-TR" sz="2400" dirty="0" smtClean="0">
                <a:solidFill>
                  <a:srgbClr val="FF0000"/>
                </a:solidFill>
                <a:latin typeface="+mj-lt"/>
              </a:rPr>
              <a:t> </a:t>
            </a:r>
            <a:r>
              <a:rPr lang="en-US" altLang="tr-TR" sz="2400" dirty="0" err="1" smtClean="0">
                <a:solidFill>
                  <a:srgbClr val="FF0000"/>
                </a:solidFill>
                <a:latin typeface="+mj-lt"/>
              </a:rPr>
              <a:t>bulundurmak</a:t>
            </a:r>
            <a:r>
              <a:rPr lang="en-US" altLang="tr-TR" sz="2400" dirty="0" smtClean="0">
                <a:latin typeface="+mj-lt"/>
              </a:rPr>
              <a:t>.</a:t>
            </a:r>
            <a:endParaRPr lang="tr-TR" altLang="tr-TR" sz="2400" dirty="0" smtClean="0">
              <a:latin typeface="+mj-lt"/>
            </a:endParaRPr>
          </a:p>
        </p:txBody>
      </p:sp>
    </p:spTree>
    <p:custDataLst>
      <p:tags r:id="rId1"/>
    </p:custDataLst>
    <p:extLst>
      <p:ext uri="{BB962C8B-B14F-4D97-AF65-F5344CB8AC3E}">
        <p14:creationId xmlns="" xmlns:p14="http://schemas.microsoft.com/office/powerpoint/2010/main" val="3722590519"/>
      </p:ext>
    </p:extLst>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9182CA14-25BF-49FA-9E5F-E2C0AF2AE3E2}" type="slidenum">
              <a:rPr lang="tr-TR" smtClean="0"/>
              <a:pPr>
                <a:defRPr/>
              </a:pPr>
              <a:t>23</a:t>
            </a:fld>
            <a:endParaRPr lang="tr-TR"/>
          </a:p>
        </p:txBody>
      </p:sp>
      <p:sp>
        <p:nvSpPr>
          <p:cNvPr id="43010" name="Rectangle 2"/>
          <p:cNvSpPr>
            <a:spLocks noGrp="1" noChangeArrowheads="1"/>
          </p:cNvSpPr>
          <p:nvPr>
            <p:ph type="body" idx="4294967295"/>
          </p:nvPr>
        </p:nvSpPr>
        <p:spPr>
          <a:xfrm>
            <a:off x="0" y="790575"/>
            <a:ext cx="8460432" cy="6048375"/>
          </a:xfrm>
        </p:spPr>
        <p:txBody>
          <a:bodyPr rtlCol="0">
            <a:normAutofit/>
          </a:bodyPr>
          <a:lstStyle/>
          <a:p>
            <a:pPr eaLnBrk="1" fontAlgn="auto" hangingPunct="1">
              <a:lnSpc>
                <a:spcPct val="80000"/>
              </a:lnSpc>
              <a:spcAft>
                <a:spcPts val="0"/>
              </a:spcAft>
              <a:buFont typeface="Arial" pitchFamily="34" charset="0"/>
              <a:buNone/>
              <a:defRPr/>
            </a:pPr>
            <a:r>
              <a:rPr lang="tr-TR" sz="3600" b="1" dirty="0" smtClean="0">
                <a:solidFill>
                  <a:srgbClr val="FF0000"/>
                </a:solidFill>
                <a:latin typeface="+mj-lt"/>
              </a:rPr>
              <a:t>YETKİ </a:t>
            </a:r>
            <a:r>
              <a:rPr lang="tr-TR" sz="3600" b="1" dirty="0" err="1" smtClean="0">
                <a:solidFill>
                  <a:srgbClr val="FF0000"/>
                </a:solidFill>
                <a:latin typeface="+mj-lt"/>
              </a:rPr>
              <a:t>VEREN’in</a:t>
            </a:r>
            <a:r>
              <a:rPr lang="tr-TR" sz="3600" b="1" dirty="0" smtClean="0">
                <a:solidFill>
                  <a:srgbClr val="FF0000"/>
                </a:solidFill>
                <a:latin typeface="+mj-lt"/>
              </a:rPr>
              <a:t> Sorumlulukları</a:t>
            </a:r>
          </a:p>
          <a:p>
            <a:pPr eaLnBrk="1" fontAlgn="auto" hangingPunct="1">
              <a:lnSpc>
                <a:spcPct val="80000"/>
              </a:lnSpc>
              <a:spcAft>
                <a:spcPts val="0"/>
              </a:spcAft>
              <a:buFont typeface="Arial" pitchFamily="34" charset="0"/>
              <a:buNone/>
              <a:defRPr/>
            </a:pPr>
            <a:endParaRPr lang="tr-TR" sz="2400" dirty="0" smtClean="0">
              <a:solidFill>
                <a:srgbClr val="000066"/>
              </a:solidFill>
              <a:effectLst>
                <a:outerShdw blurRad="38100" dist="38100" dir="2700000" algn="tl">
                  <a:srgbClr val="C0C0C0"/>
                </a:outerShdw>
              </a:effectLst>
              <a:latin typeface="+mj-lt"/>
            </a:endParaRPr>
          </a:p>
          <a:p>
            <a:pPr eaLnBrk="1" fontAlgn="auto" hangingPunct="1">
              <a:lnSpc>
                <a:spcPct val="80000"/>
              </a:lnSpc>
              <a:spcAft>
                <a:spcPts val="0"/>
              </a:spcAft>
              <a:buClr>
                <a:srgbClr val="CC0000"/>
              </a:buClr>
              <a:buFont typeface="Wingdings 2" pitchFamily="18" charset="2"/>
              <a:buChar char="E"/>
              <a:defRPr/>
            </a:pPr>
            <a:r>
              <a:rPr lang="tr-TR" sz="2400" b="1" dirty="0" smtClean="0">
                <a:solidFill>
                  <a:srgbClr val="0070C0"/>
                </a:solidFill>
                <a:latin typeface="+mj-lt"/>
              </a:rPr>
              <a:t>Güvenliğin</a:t>
            </a:r>
            <a:r>
              <a:rPr lang="tr-TR" sz="2400" dirty="0" smtClean="0">
                <a:latin typeface="+mj-lt"/>
              </a:rPr>
              <a:t> tam olarak sağlandığından emin olmak</a:t>
            </a:r>
          </a:p>
          <a:p>
            <a:pPr lvl="1" eaLnBrk="1" fontAlgn="auto" hangingPunct="1">
              <a:lnSpc>
                <a:spcPct val="80000"/>
              </a:lnSpc>
              <a:spcAft>
                <a:spcPts val="0"/>
              </a:spcAft>
              <a:buClr>
                <a:srgbClr val="000066"/>
              </a:buClr>
              <a:buFont typeface="Wingdings 2" pitchFamily="18" charset="2"/>
              <a:buChar char="E"/>
              <a:defRPr/>
            </a:pPr>
            <a:r>
              <a:rPr lang="tr-TR" sz="2400" dirty="0" smtClean="0">
                <a:latin typeface="+mj-lt"/>
              </a:rPr>
              <a:t>Tehlikelerin </a:t>
            </a:r>
            <a:r>
              <a:rPr lang="tr-TR" sz="2400" dirty="0" smtClean="0">
                <a:solidFill>
                  <a:srgbClr val="FF0000"/>
                </a:solidFill>
                <a:latin typeface="+mj-lt"/>
              </a:rPr>
              <a:t>izole </a:t>
            </a:r>
            <a:r>
              <a:rPr lang="tr-TR" sz="2400" dirty="0" smtClean="0">
                <a:latin typeface="+mj-lt"/>
              </a:rPr>
              <a:t>edildiğinden</a:t>
            </a:r>
          </a:p>
          <a:p>
            <a:pPr lvl="1" eaLnBrk="1" fontAlgn="auto" hangingPunct="1">
              <a:lnSpc>
                <a:spcPct val="80000"/>
              </a:lnSpc>
              <a:spcAft>
                <a:spcPts val="0"/>
              </a:spcAft>
              <a:buClr>
                <a:srgbClr val="000066"/>
              </a:buClr>
              <a:buFont typeface="Wingdings 2" pitchFamily="18" charset="2"/>
              <a:buChar char="E"/>
              <a:defRPr/>
            </a:pPr>
            <a:r>
              <a:rPr lang="tr-TR" sz="2400" dirty="0" smtClean="0">
                <a:latin typeface="+mj-lt"/>
              </a:rPr>
              <a:t>Uygun </a:t>
            </a:r>
            <a:r>
              <a:rPr lang="tr-TR" sz="2400" dirty="0" smtClean="0">
                <a:solidFill>
                  <a:srgbClr val="FF0000"/>
                </a:solidFill>
                <a:latin typeface="+mj-lt"/>
              </a:rPr>
              <a:t>kilitleme/etiketleme  </a:t>
            </a:r>
          </a:p>
          <a:p>
            <a:pPr eaLnBrk="1" fontAlgn="auto" hangingPunct="1">
              <a:lnSpc>
                <a:spcPct val="80000"/>
              </a:lnSpc>
              <a:spcAft>
                <a:spcPts val="0"/>
              </a:spcAft>
              <a:buClr>
                <a:srgbClr val="CC0000"/>
              </a:buClr>
              <a:buFont typeface="Wingdings 2" pitchFamily="18" charset="2"/>
              <a:buChar char="E"/>
              <a:defRPr/>
            </a:pPr>
            <a:endParaRPr lang="tr-TR" sz="2400" dirty="0" smtClean="0">
              <a:latin typeface="+mj-lt"/>
            </a:endParaRPr>
          </a:p>
          <a:p>
            <a:pPr eaLnBrk="1" fontAlgn="auto" hangingPunct="1">
              <a:lnSpc>
                <a:spcPct val="110000"/>
              </a:lnSpc>
              <a:spcAft>
                <a:spcPts val="0"/>
              </a:spcAft>
              <a:buClr>
                <a:srgbClr val="CC0000"/>
              </a:buClr>
              <a:buFont typeface="Wingdings 2" pitchFamily="18" charset="2"/>
              <a:buChar char="E"/>
              <a:defRPr/>
            </a:pPr>
            <a:r>
              <a:rPr lang="tr-TR" sz="2600" dirty="0" smtClean="0">
                <a:latin typeface="+mj-lt"/>
              </a:rPr>
              <a:t>İş bittikten sonra </a:t>
            </a:r>
            <a:r>
              <a:rPr lang="tr-TR" sz="2600" dirty="0" smtClean="0">
                <a:solidFill>
                  <a:srgbClr val="FF0000"/>
                </a:solidFill>
                <a:latin typeface="+mj-lt"/>
              </a:rPr>
              <a:t>bütün personelin alanı terk ettiğini </a:t>
            </a:r>
            <a:r>
              <a:rPr lang="tr-TR" sz="2600" dirty="0" smtClean="0">
                <a:latin typeface="+mj-lt"/>
              </a:rPr>
              <a:t>doğrulamak.</a:t>
            </a:r>
          </a:p>
          <a:p>
            <a:pPr eaLnBrk="1" fontAlgn="auto" hangingPunct="1">
              <a:lnSpc>
                <a:spcPct val="80000"/>
              </a:lnSpc>
              <a:spcAft>
                <a:spcPts val="0"/>
              </a:spcAft>
              <a:buClr>
                <a:srgbClr val="CC0000"/>
              </a:buClr>
              <a:buFont typeface="Wingdings 2" pitchFamily="18" charset="2"/>
              <a:buChar char="E"/>
              <a:defRPr/>
            </a:pPr>
            <a:endParaRPr lang="tr-TR" sz="2400" dirty="0" smtClean="0">
              <a:latin typeface="+mj-lt"/>
            </a:endParaRPr>
          </a:p>
          <a:p>
            <a:pPr eaLnBrk="1" fontAlgn="auto" hangingPunct="1">
              <a:lnSpc>
                <a:spcPct val="110000"/>
              </a:lnSpc>
              <a:spcAft>
                <a:spcPts val="0"/>
              </a:spcAft>
              <a:buClr>
                <a:srgbClr val="CC0000"/>
              </a:buClr>
              <a:buFont typeface="Wingdings 2" pitchFamily="18" charset="2"/>
              <a:buChar char="E"/>
              <a:defRPr/>
            </a:pPr>
            <a:r>
              <a:rPr lang="tr-TR" sz="2400" dirty="0" smtClean="0">
                <a:latin typeface="+mj-lt"/>
              </a:rPr>
              <a:t>Kapalı alanda çalışan tüm personelin </a:t>
            </a:r>
            <a:r>
              <a:rPr lang="tr-TR" sz="2400" b="1" dirty="0" smtClean="0">
                <a:solidFill>
                  <a:srgbClr val="FF0000"/>
                </a:solidFill>
                <a:latin typeface="+mj-lt"/>
              </a:rPr>
              <a:t>tehlikelerin farkında olduğundan </a:t>
            </a:r>
            <a:r>
              <a:rPr lang="tr-TR" sz="2400" dirty="0" smtClean="0">
                <a:latin typeface="+mj-lt"/>
              </a:rPr>
              <a:t>emin olmak.</a:t>
            </a:r>
          </a:p>
          <a:p>
            <a:pPr eaLnBrk="1" fontAlgn="auto" hangingPunct="1">
              <a:lnSpc>
                <a:spcPct val="80000"/>
              </a:lnSpc>
              <a:spcAft>
                <a:spcPts val="0"/>
              </a:spcAft>
              <a:buClr>
                <a:srgbClr val="CC0000"/>
              </a:buClr>
              <a:buFont typeface="Wingdings 2" pitchFamily="18" charset="2"/>
              <a:buChar char="E"/>
              <a:defRPr/>
            </a:pPr>
            <a:endParaRPr lang="tr-TR" sz="2400" dirty="0" smtClean="0">
              <a:latin typeface="+mj-lt"/>
            </a:endParaRPr>
          </a:p>
          <a:p>
            <a:pPr eaLnBrk="1" fontAlgn="auto" hangingPunct="1">
              <a:lnSpc>
                <a:spcPct val="110000"/>
              </a:lnSpc>
              <a:spcAft>
                <a:spcPts val="0"/>
              </a:spcAft>
              <a:buClr>
                <a:srgbClr val="CC0000"/>
              </a:buClr>
              <a:buFont typeface="Wingdings 2" pitchFamily="18" charset="2"/>
              <a:buChar char="E"/>
              <a:defRPr/>
            </a:pPr>
            <a:r>
              <a:rPr lang="tr-TR" sz="2400" dirty="0" smtClean="0">
                <a:latin typeface="+mj-lt"/>
              </a:rPr>
              <a:t>Kapalı alana </a:t>
            </a:r>
            <a:r>
              <a:rPr lang="tr-TR" sz="2400" b="1" dirty="0" smtClean="0">
                <a:solidFill>
                  <a:srgbClr val="0070C0"/>
                </a:solidFill>
                <a:latin typeface="+mj-lt"/>
              </a:rPr>
              <a:t>girişten önce </a:t>
            </a:r>
            <a:r>
              <a:rPr lang="tr-TR" sz="2400" dirty="0" smtClean="0">
                <a:solidFill>
                  <a:srgbClr val="FF0000"/>
                </a:solidFill>
                <a:latin typeface="+mj-lt"/>
              </a:rPr>
              <a:t>kurtarma ekiplerinin ve ekipmanların ulaşılabilir olmasını sağlamak</a:t>
            </a:r>
            <a:r>
              <a:rPr lang="tr-TR" sz="2000" dirty="0" smtClean="0">
                <a:latin typeface="+mj-lt"/>
              </a:rPr>
              <a:t>.</a:t>
            </a:r>
          </a:p>
        </p:txBody>
      </p:sp>
    </p:spTree>
    <p:extLst>
      <p:ext uri="{BB962C8B-B14F-4D97-AF65-F5344CB8AC3E}">
        <p14:creationId xmlns="" xmlns:p14="http://schemas.microsoft.com/office/powerpoint/2010/main" val="2083115407"/>
      </p:ext>
    </p:extLst>
  </p:cSld>
  <p:clrMapOvr>
    <a:masterClrMapping/>
  </p:clrMapOvr>
  <p:transition advClick="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subTitle" idx="4294967295"/>
          </p:nvPr>
        </p:nvSpPr>
        <p:spPr>
          <a:xfrm>
            <a:off x="0" y="-531440"/>
            <a:ext cx="8532440" cy="7128792"/>
          </a:xfrm>
          <a:noFill/>
        </p:spPr>
        <p:txBody>
          <a:bodyPr lIns="92075" tIns="46038" rIns="92075" bIns="46038" anchor="ctr"/>
          <a:lstStyle/>
          <a:p>
            <a:pPr marL="0" indent="0" eaLnBrk="1" hangingPunct="1">
              <a:lnSpc>
                <a:spcPct val="120000"/>
              </a:lnSpc>
              <a:buFont typeface="Symbol" pitchFamily="18" charset="2"/>
              <a:buChar char="·"/>
            </a:pPr>
            <a:r>
              <a:rPr lang="en-US" altLang="tr-TR" sz="2400" dirty="0" err="1" smtClean="0">
                <a:latin typeface="+mj-lt"/>
              </a:rPr>
              <a:t>Giriş</a:t>
            </a:r>
            <a:r>
              <a:rPr lang="en-US" altLang="tr-TR" sz="2400" dirty="0" smtClean="0">
                <a:latin typeface="+mj-lt"/>
              </a:rPr>
              <a:t> </a:t>
            </a:r>
            <a:r>
              <a:rPr lang="en-US" altLang="tr-TR" sz="2400" dirty="0" err="1" smtClean="0">
                <a:latin typeface="+mj-lt"/>
              </a:rPr>
              <a:t>yapacak</a:t>
            </a:r>
            <a:r>
              <a:rPr lang="en-US" altLang="tr-TR" sz="2400" dirty="0" smtClean="0">
                <a:latin typeface="+mj-lt"/>
              </a:rPr>
              <a:t> </a:t>
            </a:r>
            <a:r>
              <a:rPr lang="en-US" altLang="tr-TR" sz="2400" dirty="0" err="1" smtClean="0">
                <a:latin typeface="+mj-lt"/>
              </a:rPr>
              <a:t>elemanın</a:t>
            </a:r>
            <a:r>
              <a:rPr lang="en-US" altLang="tr-TR" sz="2400" dirty="0" smtClean="0">
                <a:latin typeface="+mj-lt"/>
              </a:rPr>
              <a:t> </a:t>
            </a:r>
            <a:r>
              <a:rPr lang="en-US" altLang="tr-TR" sz="2400" dirty="0" err="1" smtClean="0">
                <a:latin typeface="+mj-lt"/>
              </a:rPr>
              <a:t>ve</a:t>
            </a:r>
            <a:r>
              <a:rPr lang="en-US" altLang="tr-TR" sz="2400" dirty="0" smtClean="0">
                <a:latin typeface="+mj-lt"/>
              </a:rPr>
              <a:t> </a:t>
            </a:r>
            <a:r>
              <a:rPr lang="en-US" altLang="tr-TR" sz="2400" dirty="0" err="1" smtClean="0">
                <a:latin typeface="+mj-lt"/>
              </a:rPr>
              <a:t>gözlemcinin</a:t>
            </a:r>
            <a:r>
              <a:rPr lang="en-US" altLang="tr-TR" sz="2400" dirty="0" smtClean="0">
                <a:latin typeface="+mj-lt"/>
              </a:rPr>
              <a:t> </a:t>
            </a:r>
            <a:r>
              <a:rPr lang="en-US" altLang="tr-TR" sz="2400" dirty="0" err="1" smtClean="0">
                <a:solidFill>
                  <a:srgbClr val="025198"/>
                </a:solidFill>
                <a:latin typeface="+mj-lt"/>
              </a:rPr>
              <a:t>eğitim</a:t>
            </a:r>
            <a:r>
              <a:rPr lang="tr-TR" altLang="tr-TR" sz="2400" dirty="0" err="1" smtClean="0">
                <a:solidFill>
                  <a:srgbClr val="025198"/>
                </a:solidFill>
                <a:latin typeface="+mj-lt"/>
              </a:rPr>
              <a:t>li</a:t>
            </a:r>
            <a:r>
              <a:rPr lang="tr-TR" altLang="tr-TR" sz="2400" dirty="0" smtClean="0">
                <a:solidFill>
                  <a:srgbClr val="025198"/>
                </a:solidFill>
                <a:latin typeface="+mj-lt"/>
              </a:rPr>
              <a:t> ve </a:t>
            </a:r>
            <a:r>
              <a:rPr lang="en-US" altLang="tr-TR" sz="2400" dirty="0" err="1" smtClean="0">
                <a:solidFill>
                  <a:srgbClr val="025198"/>
                </a:solidFill>
                <a:latin typeface="+mj-lt"/>
              </a:rPr>
              <a:t>kalifiye</a:t>
            </a:r>
            <a:r>
              <a:rPr lang="en-US" altLang="tr-TR" sz="2400" dirty="0" smtClean="0">
                <a:solidFill>
                  <a:srgbClr val="025198"/>
                </a:solidFill>
                <a:latin typeface="+mj-lt"/>
              </a:rPr>
              <a:t> </a:t>
            </a:r>
            <a:r>
              <a:rPr lang="en-US" altLang="tr-TR" sz="2400" dirty="0" err="1" smtClean="0">
                <a:solidFill>
                  <a:srgbClr val="025198"/>
                </a:solidFill>
                <a:latin typeface="+mj-lt"/>
              </a:rPr>
              <a:t>olduklarını</a:t>
            </a:r>
            <a:r>
              <a:rPr lang="en-US" altLang="tr-TR" sz="2400" dirty="0" smtClean="0">
                <a:solidFill>
                  <a:srgbClr val="025198"/>
                </a:solidFill>
                <a:latin typeface="+mj-lt"/>
              </a:rPr>
              <a:t> </a:t>
            </a:r>
            <a:r>
              <a:rPr lang="en-US" altLang="tr-TR" sz="2400" dirty="0" err="1" smtClean="0">
                <a:solidFill>
                  <a:srgbClr val="025198"/>
                </a:solidFill>
                <a:latin typeface="+mj-lt"/>
              </a:rPr>
              <a:t>kontrol</a:t>
            </a:r>
            <a:r>
              <a:rPr lang="en-US" altLang="tr-TR" sz="2400" dirty="0" smtClean="0">
                <a:solidFill>
                  <a:srgbClr val="025198"/>
                </a:solidFill>
                <a:latin typeface="+mj-lt"/>
              </a:rPr>
              <a:t> </a:t>
            </a:r>
            <a:r>
              <a:rPr lang="en-US" altLang="tr-TR" sz="2400" dirty="0" err="1" smtClean="0">
                <a:solidFill>
                  <a:srgbClr val="025198"/>
                </a:solidFill>
                <a:latin typeface="+mj-lt"/>
              </a:rPr>
              <a:t>etmek</a:t>
            </a:r>
            <a:r>
              <a:rPr lang="tr-TR" altLang="tr-TR" sz="2400" dirty="0" smtClean="0">
                <a:solidFill>
                  <a:srgbClr val="025198"/>
                </a:solidFill>
                <a:latin typeface="+mj-lt"/>
              </a:rPr>
              <a:t>,</a:t>
            </a:r>
          </a:p>
          <a:p>
            <a:pPr marL="0" indent="0" eaLnBrk="1" hangingPunct="1">
              <a:lnSpc>
                <a:spcPct val="120000"/>
              </a:lnSpc>
              <a:buFont typeface="Arial" pitchFamily="34" charset="0"/>
              <a:buNone/>
            </a:pPr>
            <a:endParaRPr lang="en-US" altLang="tr-TR" sz="2400" dirty="0" smtClean="0">
              <a:latin typeface="+mj-lt"/>
            </a:endParaRPr>
          </a:p>
          <a:p>
            <a:pPr marL="0" indent="0" eaLnBrk="1" hangingPunct="1">
              <a:lnSpc>
                <a:spcPct val="120000"/>
              </a:lnSpc>
              <a:buFont typeface="Symbol" pitchFamily="18" charset="2"/>
              <a:buChar char="·"/>
            </a:pPr>
            <a:r>
              <a:rPr lang="en-US" altLang="tr-TR" sz="2400" dirty="0" err="1" smtClean="0">
                <a:latin typeface="+mj-lt"/>
              </a:rPr>
              <a:t>Tanklara</a:t>
            </a:r>
            <a:r>
              <a:rPr lang="en-US" altLang="tr-TR" sz="2400" dirty="0" smtClean="0">
                <a:latin typeface="+mj-lt"/>
              </a:rPr>
              <a:t> </a:t>
            </a:r>
            <a:r>
              <a:rPr lang="en-US" altLang="tr-TR" sz="2400" dirty="0" err="1" smtClean="0">
                <a:latin typeface="+mj-lt"/>
              </a:rPr>
              <a:t>üstten</a:t>
            </a:r>
            <a:r>
              <a:rPr lang="en-US" altLang="tr-TR" sz="2400" dirty="0" smtClean="0">
                <a:latin typeface="+mj-lt"/>
              </a:rPr>
              <a:t> </a:t>
            </a:r>
            <a:r>
              <a:rPr lang="en-US" altLang="tr-TR" sz="2400" dirty="0" err="1" smtClean="0">
                <a:latin typeface="+mj-lt"/>
              </a:rPr>
              <a:t>yapılacak</a:t>
            </a:r>
            <a:r>
              <a:rPr lang="en-US" altLang="tr-TR" sz="2400" dirty="0" smtClean="0">
                <a:latin typeface="+mj-lt"/>
              </a:rPr>
              <a:t> </a:t>
            </a:r>
            <a:r>
              <a:rPr lang="en-US" altLang="tr-TR" sz="2400" dirty="0" err="1" smtClean="0">
                <a:latin typeface="+mj-lt"/>
              </a:rPr>
              <a:t>girişlerde</a:t>
            </a:r>
            <a:r>
              <a:rPr lang="en-US" altLang="tr-TR" sz="2400" dirty="0" smtClean="0">
                <a:latin typeface="+mj-lt"/>
              </a:rPr>
              <a:t> </a:t>
            </a:r>
            <a:r>
              <a:rPr lang="en-US" altLang="tr-TR" sz="2400" dirty="0" smtClean="0">
                <a:solidFill>
                  <a:srgbClr val="025198"/>
                </a:solidFill>
                <a:latin typeface="+mj-lt"/>
              </a:rPr>
              <a:t>2  </a:t>
            </a:r>
            <a:r>
              <a:rPr lang="en-US" altLang="tr-TR" sz="2400" dirty="0" err="1" smtClean="0">
                <a:solidFill>
                  <a:srgbClr val="025198"/>
                </a:solidFill>
                <a:latin typeface="+mj-lt"/>
              </a:rPr>
              <a:t>gözlemci</a:t>
            </a:r>
            <a:r>
              <a:rPr lang="en-US" altLang="tr-TR" sz="2400" dirty="0" smtClean="0">
                <a:solidFill>
                  <a:srgbClr val="025198"/>
                </a:solidFill>
                <a:latin typeface="+mj-lt"/>
              </a:rPr>
              <a:t> </a:t>
            </a:r>
            <a:r>
              <a:rPr lang="en-US" altLang="tr-TR" sz="2400" dirty="0" err="1" smtClean="0">
                <a:latin typeface="+mj-lt"/>
              </a:rPr>
              <a:t>olmasını</a:t>
            </a:r>
            <a:r>
              <a:rPr lang="en-US" altLang="tr-TR" sz="2400" dirty="0" smtClean="0">
                <a:latin typeface="+mj-lt"/>
              </a:rPr>
              <a:t> </a:t>
            </a:r>
            <a:r>
              <a:rPr lang="tr-TR" altLang="tr-TR" sz="2400" dirty="0" smtClean="0">
                <a:latin typeface="+mj-lt"/>
              </a:rPr>
              <a:t> temin etmek.</a:t>
            </a:r>
          </a:p>
          <a:p>
            <a:pPr marL="0" indent="0" eaLnBrk="1" hangingPunct="1">
              <a:lnSpc>
                <a:spcPct val="120000"/>
              </a:lnSpc>
              <a:buFont typeface="Symbol" pitchFamily="18" charset="2"/>
              <a:buChar char="·"/>
            </a:pPr>
            <a:endParaRPr lang="en-US" altLang="tr-TR" sz="2400" dirty="0" smtClean="0">
              <a:latin typeface="+mj-lt"/>
            </a:endParaRPr>
          </a:p>
          <a:p>
            <a:pPr marL="0" indent="0" eaLnBrk="1" hangingPunct="1">
              <a:lnSpc>
                <a:spcPct val="120000"/>
              </a:lnSpc>
              <a:buFont typeface="Symbol" pitchFamily="18" charset="2"/>
              <a:buChar char="·"/>
            </a:pPr>
            <a:r>
              <a:rPr lang="en-US" altLang="tr-TR" sz="2400" dirty="0" err="1" smtClean="0">
                <a:solidFill>
                  <a:srgbClr val="FF0000"/>
                </a:solidFill>
                <a:latin typeface="+mj-lt"/>
              </a:rPr>
              <a:t>Kapalı</a:t>
            </a:r>
            <a:r>
              <a:rPr lang="en-US" altLang="tr-TR" sz="2400" dirty="0" smtClean="0">
                <a:solidFill>
                  <a:srgbClr val="FF0000"/>
                </a:solidFill>
                <a:latin typeface="+mj-lt"/>
              </a:rPr>
              <a:t> </a:t>
            </a:r>
            <a:r>
              <a:rPr lang="tr-TR" altLang="tr-TR" sz="2400" dirty="0" smtClean="0">
                <a:solidFill>
                  <a:srgbClr val="FF0000"/>
                </a:solidFill>
                <a:latin typeface="+mj-lt"/>
              </a:rPr>
              <a:t>Alan</a:t>
            </a:r>
            <a:r>
              <a:rPr lang="en-US" altLang="tr-TR" sz="2400" dirty="0" smtClean="0">
                <a:solidFill>
                  <a:srgbClr val="FF0000"/>
                </a:solidFill>
                <a:latin typeface="+mj-lt"/>
              </a:rPr>
              <a:t> </a:t>
            </a:r>
            <a:r>
              <a:rPr lang="en-US" altLang="tr-TR" sz="2400" dirty="0" err="1" smtClean="0">
                <a:solidFill>
                  <a:srgbClr val="FF0000"/>
                </a:solidFill>
                <a:latin typeface="+mj-lt"/>
              </a:rPr>
              <a:t>Giriş</a:t>
            </a:r>
            <a:r>
              <a:rPr lang="en-US" altLang="tr-TR" sz="2400" dirty="0" smtClean="0">
                <a:solidFill>
                  <a:srgbClr val="FF0000"/>
                </a:solidFill>
                <a:latin typeface="+mj-lt"/>
              </a:rPr>
              <a:t> </a:t>
            </a:r>
            <a:r>
              <a:rPr lang="tr-TR" altLang="tr-TR" sz="2400" dirty="0" smtClean="0">
                <a:solidFill>
                  <a:srgbClr val="FF0000"/>
                </a:solidFill>
                <a:latin typeface="+mj-lt"/>
              </a:rPr>
              <a:t>İ</a:t>
            </a:r>
            <a:r>
              <a:rPr lang="en-US" altLang="tr-TR" sz="2400" dirty="0" smtClean="0">
                <a:solidFill>
                  <a:srgbClr val="FF0000"/>
                </a:solidFill>
                <a:latin typeface="+mj-lt"/>
              </a:rPr>
              <a:t>zin </a:t>
            </a:r>
            <a:r>
              <a:rPr lang="en-US" altLang="tr-TR" sz="2400" dirty="0" err="1" smtClean="0">
                <a:solidFill>
                  <a:srgbClr val="FF0000"/>
                </a:solidFill>
                <a:latin typeface="+mj-lt"/>
              </a:rPr>
              <a:t>Formu</a:t>
            </a:r>
            <a:r>
              <a:rPr lang="en-US" altLang="tr-TR" sz="2400" dirty="0" err="1" smtClean="0">
                <a:latin typeface="+mj-lt"/>
              </a:rPr>
              <a:t>nun</a:t>
            </a:r>
            <a:r>
              <a:rPr lang="en-US" altLang="tr-TR" sz="2400" dirty="0" smtClean="0">
                <a:latin typeface="+mj-lt"/>
              </a:rPr>
              <a:t> tam </a:t>
            </a:r>
            <a:r>
              <a:rPr lang="en-US" altLang="tr-TR" sz="2400" dirty="0" err="1" smtClean="0">
                <a:latin typeface="+mj-lt"/>
              </a:rPr>
              <a:t>olarak</a:t>
            </a:r>
            <a:r>
              <a:rPr lang="en-US" altLang="tr-TR" sz="2400" dirty="0" smtClean="0">
                <a:latin typeface="+mj-lt"/>
              </a:rPr>
              <a:t> </a:t>
            </a:r>
            <a:r>
              <a:rPr lang="en-US" altLang="tr-TR" sz="2400" dirty="0" err="1" smtClean="0">
                <a:latin typeface="+mj-lt"/>
              </a:rPr>
              <a:t>doldurulduğunu</a:t>
            </a:r>
            <a:r>
              <a:rPr lang="en-US" altLang="tr-TR" sz="2400" dirty="0" smtClean="0">
                <a:latin typeface="+mj-lt"/>
              </a:rPr>
              <a:t> </a:t>
            </a:r>
            <a:r>
              <a:rPr lang="en-US" altLang="tr-TR" sz="2400" dirty="0" err="1" smtClean="0">
                <a:latin typeface="+mj-lt"/>
              </a:rPr>
              <a:t>ve</a:t>
            </a:r>
            <a:r>
              <a:rPr lang="en-US" altLang="tr-TR" sz="2400" dirty="0" smtClean="0">
                <a:latin typeface="+mj-lt"/>
              </a:rPr>
              <a:t> </a:t>
            </a:r>
            <a:r>
              <a:rPr lang="en-US" altLang="tr-TR" sz="2400" dirty="0" err="1" smtClean="0">
                <a:latin typeface="+mj-lt"/>
              </a:rPr>
              <a:t>bütün</a:t>
            </a:r>
            <a:r>
              <a:rPr lang="en-US" altLang="tr-TR" sz="2400" dirty="0" smtClean="0">
                <a:latin typeface="+mj-lt"/>
              </a:rPr>
              <a:t> </a:t>
            </a:r>
            <a:r>
              <a:rPr lang="en-US" altLang="tr-TR" sz="2400" dirty="0" err="1" smtClean="0">
                <a:latin typeface="+mj-lt"/>
              </a:rPr>
              <a:t>gereksinimlerin</a:t>
            </a:r>
            <a:r>
              <a:rPr lang="en-US" altLang="tr-TR" sz="2400" dirty="0" smtClean="0">
                <a:latin typeface="+mj-lt"/>
              </a:rPr>
              <a:t> </a:t>
            </a:r>
            <a:r>
              <a:rPr lang="en-US" altLang="tr-TR" sz="2400" dirty="0" err="1" smtClean="0">
                <a:latin typeface="+mj-lt"/>
              </a:rPr>
              <a:t>yerine</a:t>
            </a:r>
            <a:r>
              <a:rPr lang="en-US" altLang="tr-TR" sz="2400" dirty="0" smtClean="0">
                <a:latin typeface="+mj-lt"/>
              </a:rPr>
              <a:t> </a:t>
            </a:r>
            <a:r>
              <a:rPr lang="en-US" altLang="tr-TR" sz="2400" dirty="0" err="1" smtClean="0">
                <a:latin typeface="+mj-lt"/>
              </a:rPr>
              <a:t>getirildiğini</a:t>
            </a:r>
            <a:r>
              <a:rPr lang="en-US" altLang="tr-TR" sz="2400" dirty="0" smtClean="0">
                <a:latin typeface="+mj-lt"/>
              </a:rPr>
              <a:t> </a:t>
            </a:r>
            <a:r>
              <a:rPr lang="en-US" altLang="tr-TR" sz="2400" dirty="0" err="1" smtClean="0">
                <a:solidFill>
                  <a:srgbClr val="FF0000"/>
                </a:solidFill>
                <a:latin typeface="+mj-lt"/>
              </a:rPr>
              <a:t>kontrol</a:t>
            </a:r>
            <a:r>
              <a:rPr lang="en-US" altLang="tr-TR" sz="2400" dirty="0" smtClean="0">
                <a:solidFill>
                  <a:srgbClr val="FF0000"/>
                </a:solidFill>
                <a:latin typeface="+mj-lt"/>
              </a:rPr>
              <a:t> </a:t>
            </a:r>
            <a:r>
              <a:rPr lang="en-US" altLang="tr-TR" sz="2400" dirty="0" err="1" smtClean="0">
                <a:solidFill>
                  <a:srgbClr val="FF0000"/>
                </a:solidFill>
                <a:latin typeface="+mj-lt"/>
              </a:rPr>
              <a:t>etmek</a:t>
            </a:r>
            <a:r>
              <a:rPr lang="en-US" altLang="tr-TR" sz="2400" dirty="0" smtClean="0">
                <a:solidFill>
                  <a:srgbClr val="FF0000"/>
                </a:solidFill>
                <a:latin typeface="+mj-lt"/>
              </a:rPr>
              <a:t>.</a:t>
            </a:r>
            <a:endParaRPr lang="tr-TR" altLang="tr-TR" sz="2400" dirty="0" smtClean="0">
              <a:solidFill>
                <a:srgbClr val="FF0000"/>
              </a:solidFill>
              <a:latin typeface="+mj-lt"/>
            </a:endParaRPr>
          </a:p>
          <a:p>
            <a:pPr marL="0" indent="0" eaLnBrk="1" hangingPunct="1">
              <a:lnSpc>
                <a:spcPct val="120000"/>
              </a:lnSpc>
              <a:buFont typeface="Symbol" pitchFamily="18" charset="2"/>
              <a:buChar char="·"/>
            </a:pPr>
            <a:endParaRPr lang="en-US" altLang="tr-TR" sz="2400" dirty="0" smtClean="0">
              <a:latin typeface="+mj-lt"/>
            </a:endParaRPr>
          </a:p>
          <a:p>
            <a:pPr marL="0" indent="0" eaLnBrk="1" hangingPunct="1">
              <a:lnSpc>
                <a:spcPct val="120000"/>
              </a:lnSpc>
              <a:buFont typeface="Symbol" pitchFamily="18" charset="2"/>
              <a:buChar char="·"/>
            </a:pPr>
            <a:r>
              <a:rPr lang="en-US" altLang="tr-TR" sz="2400" dirty="0" err="1" smtClean="0">
                <a:solidFill>
                  <a:srgbClr val="FF0000"/>
                </a:solidFill>
                <a:latin typeface="+mj-lt"/>
              </a:rPr>
              <a:t>Giriş</a:t>
            </a:r>
            <a:r>
              <a:rPr lang="en-US" altLang="tr-TR" sz="2400" dirty="0" smtClean="0">
                <a:solidFill>
                  <a:srgbClr val="FF0000"/>
                </a:solidFill>
                <a:latin typeface="+mj-lt"/>
              </a:rPr>
              <a:t> </a:t>
            </a:r>
            <a:r>
              <a:rPr lang="en-US" altLang="tr-TR" sz="2400" dirty="0" err="1" smtClean="0">
                <a:solidFill>
                  <a:srgbClr val="FF0000"/>
                </a:solidFill>
                <a:latin typeface="+mj-lt"/>
              </a:rPr>
              <a:t>işlemi</a:t>
            </a:r>
            <a:r>
              <a:rPr lang="en-US" altLang="tr-TR" sz="2400" dirty="0" smtClean="0">
                <a:solidFill>
                  <a:srgbClr val="FF0000"/>
                </a:solidFill>
                <a:latin typeface="+mj-lt"/>
              </a:rPr>
              <a:t> </a:t>
            </a:r>
            <a:r>
              <a:rPr lang="en-US" altLang="tr-TR" sz="2400" dirty="0" err="1" smtClean="0">
                <a:solidFill>
                  <a:srgbClr val="FF0000"/>
                </a:solidFill>
                <a:latin typeface="+mj-lt"/>
              </a:rPr>
              <a:t>boyunca</a:t>
            </a:r>
            <a:r>
              <a:rPr lang="en-US" altLang="tr-TR" sz="2400" dirty="0" smtClean="0">
                <a:solidFill>
                  <a:srgbClr val="FF0000"/>
                </a:solidFill>
                <a:latin typeface="+mj-lt"/>
              </a:rPr>
              <a:t> </a:t>
            </a:r>
            <a:r>
              <a:rPr lang="en-US" altLang="tr-TR" sz="2400" dirty="0" err="1" smtClean="0">
                <a:latin typeface="+mj-lt"/>
              </a:rPr>
              <a:t>izin</a:t>
            </a:r>
            <a:r>
              <a:rPr lang="en-US" altLang="tr-TR" sz="2400" dirty="0" smtClean="0">
                <a:latin typeface="+mj-lt"/>
              </a:rPr>
              <a:t> </a:t>
            </a:r>
            <a:r>
              <a:rPr lang="en-US" altLang="tr-TR" sz="2400" dirty="0" err="1" smtClean="0">
                <a:latin typeface="+mj-lt"/>
              </a:rPr>
              <a:t>formundaki</a:t>
            </a:r>
            <a:r>
              <a:rPr lang="en-US" altLang="tr-TR" sz="2400" dirty="0" smtClean="0">
                <a:latin typeface="+mj-lt"/>
              </a:rPr>
              <a:t> </a:t>
            </a:r>
            <a:r>
              <a:rPr lang="en-US" altLang="tr-TR" sz="2400" dirty="0" err="1" smtClean="0">
                <a:latin typeface="+mj-lt"/>
              </a:rPr>
              <a:t>gereksinimlerin</a:t>
            </a:r>
            <a:r>
              <a:rPr lang="en-US" altLang="tr-TR" sz="2400" dirty="0" smtClean="0">
                <a:latin typeface="+mj-lt"/>
              </a:rPr>
              <a:t> </a:t>
            </a:r>
            <a:r>
              <a:rPr lang="en-US" altLang="tr-TR" sz="2400" dirty="0" err="1" smtClean="0">
                <a:latin typeface="+mj-lt"/>
              </a:rPr>
              <a:t>eksiksiz</a:t>
            </a:r>
            <a:r>
              <a:rPr lang="en-US" altLang="tr-TR" sz="2400" dirty="0" smtClean="0">
                <a:latin typeface="+mj-lt"/>
              </a:rPr>
              <a:t> </a:t>
            </a:r>
            <a:r>
              <a:rPr lang="en-US" altLang="tr-TR" sz="2400" dirty="0" err="1" smtClean="0">
                <a:latin typeface="+mj-lt"/>
              </a:rPr>
              <a:t>yerine</a:t>
            </a:r>
            <a:r>
              <a:rPr lang="en-US" altLang="tr-TR" sz="2400" dirty="0" smtClean="0">
                <a:latin typeface="+mj-lt"/>
              </a:rPr>
              <a:t> </a:t>
            </a:r>
            <a:r>
              <a:rPr lang="en-US" altLang="tr-TR" sz="2400" dirty="0" err="1" smtClean="0">
                <a:latin typeface="+mj-lt"/>
              </a:rPr>
              <a:t>getirildiğini</a:t>
            </a:r>
            <a:r>
              <a:rPr lang="en-US" altLang="tr-TR" sz="2400" dirty="0" smtClean="0">
                <a:latin typeface="+mj-lt"/>
              </a:rPr>
              <a:t> </a:t>
            </a:r>
            <a:r>
              <a:rPr lang="en-US" altLang="tr-TR" sz="2400" dirty="0" err="1" smtClean="0">
                <a:solidFill>
                  <a:srgbClr val="FF0000"/>
                </a:solidFill>
                <a:latin typeface="+mj-lt"/>
              </a:rPr>
              <a:t>kontrol</a:t>
            </a:r>
            <a:r>
              <a:rPr lang="en-US" altLang="tr-TR" sz="2400" dirty="0" smtClean="0">
                <a:latin typeface="+mj-lt"/>
              </a:rPr>
              <a:t> </a:t>
            </a:r>
            <a:r>
              <a:rPr lang="en-US" altLang="tr-TR" sz="2400" dirty="0" err="1" smtClean="0">
                <a:latin typeface="+mj-lt"/>
              </a:rPr>
              <a:t>etmek</a:t>
            </a:r>
            <a:r>
              <a:rPr lang="en-US" altLang="tr-TR" sz="2400" dirty="0" smtClean="0">
                <a:latin typeface="+mj-lt"/>
              </a:rPr>
              <a:t> </a:t>
            </a:r>
            <a:r>
              <a:rPr lang="en-US" altLang="tr-TR" sz="2400" dirty="0" err="1" smtClean="0">
                <a:latin typeface="+mj-lt"/>
              </a:rPr>
              <a:t>ve</a:t>
            </a:r>
            <a:r>
              <a:rPr lang="en-US" altLang="tr-TR" sz="2400" dirty="0" smtClean="0">
                <a:latin typeface="+mj-lt"/>
              </a:rPr>
              <a:t> </a:t>
            </a:r>
            <a:r>
              <a:rPr lang="en-US" altLang="tr-TR" sz="2400" dirty="0" err="1" smtClean="0">
                <a:solidFill>
                  <a:srgbClr val="FF0000"/>
                </a:solidFill>
                <a:latin typeface="+mj-lt"/>
              </a:rPr>
              <a:t>gerekirse</a:t>
            </a:r>
            <a:r>
              <a:rPr lang="en-US" altLang="tr-TR" sz="2400" dirty="0" smtClean="0">
                <a:solidFill>
                  <a:srgbClr val="FF0000"/>
                </a:solidFill>
                <a:latin typeface="+mj-lt"/>
              </a:rPr>
              <a:t> </a:t>
            </a:r>
            <a:r>
              <a:rPr lang="en-US" altLang="tr-TR" sz="2400" dirty="0" err="1" smtClean="0">
                <a:solidFill>
                  <a:srgbClr val="FF0000"/>
                </a:solidFill>
                <a:latin typeface="+mj-lt"/>
              </a:rPr>
              <a:t>izin</a:t>
            </a:r>
            <a:r>
              <a:rPr lang="en-US" altLang="tr-TR" sz="2400" dirty="0" smtClean="0">
                <a:solidFill>
                  <a:srgbClr val="FF0000"/>
                </a:solidFill>
                <a:latin typeface="+mj-lt"/>
              </a:rPr>
              <a:t> </a:t>
            </a:r>
            <a:r>
              <a:rPr lang="en-US" altLang="tr-TR" sz="2400" dirty="0" err="1" smtClean="0">
                <a:solidFill>
                  <a:srgbClr val="FF0000"/>
                </a:solidFill>
                <a:latin typeface="+mj-lt"/>
              </a:rPr>
              <a:t>belgesini</a:t>
            </a:r>
            <a:r>
              <a:rPr lang="en-US" altLang="tr-TR" sz="2400" dirty="0" smtClean="0">
                <a:solidFill>
                  <a:srgbClr val="FF0000"/>
                </a:solidFill>
                <a:latin typeface="+mj-lt"/>
              </a:rPr>
              <a:t> </a:t>
            </a:r>
            <a:r>
              <a:rPr lang="en-US" altLang="tr-TR" sz="2400" dirty="0" err="1" smtClean="0">
                <a:solidFill>
                  <a:srgbClr val="FF0000"/>
                </a:solidFill>
                <a:latin typeface="+mj-lt"/>
              </a:rPr>
              <a:t>iptal</a:t>
            </a:r>
            <a:r>
              <a:rPr lang="en-US" altLang="tr-TR" sz="2400" dirty="0" smtClean="0">
                <a:solidFill>
                  <a:srgbClr val="FF0000"/>
                </a:solidFill>
                <a:latin typeface="+mj-lt"/>
              </a:rPr>
              <a:t> </a:t>
            </a:r>
            <a:r>
              <a:rPr lang="en-US" altLang="tr-TR" sz="2400" dirty="0" err="1" smtClean="0">
                <a:solidFill>
                  <a:srgbClr val="FF0000"/>
                </a:solidFill>
                <a:latin typeface="+mj-lt"/>
              </a:rPr>
              <a:t>etmek</a:t>
            </a:r>
            <a:r>
              <a:rPr lang="en-US" altLang="tr-TR" sz="2400" dirty="0" smtClean="0">
                <a:solidFill>
                  <a:srgbClr val="FF0000"/>
                </a:solidFill>
                <a:latin typeface="+mj-lt"/>
              </a:rPr>
              <a:t>.</a:t>
            </a:r>
          </a:p>
        </p:txBody>
      </p:sp>
    </p:spTree>
    <p:custDataLst>
      <p:tags r:id="rId1"/>
    </p:custDataLst>
    <p:extLst>
      <p:ext uri="{BB962C8B-B14F-4D97-AF65-F5344CB8AC3E}">
        <p14:creationId xmlns="" xmlns:p14="http://schemas.microsoft.com/office/powerpoint/2010/main" val="3075335553"/>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754E56C3-E64F-48E7-8603-99F0BBEE065A}" type="slidenum">
              <a:rPr lang="tr-TR" smtClean="0"/>
              <a:pPr>
                <a:defRPr/>
              </a:pPr>
              <a:t>25</a:t>
            </a:fld>
            <a:endParaRPr lang="tr-TR"/>
          </a:p>
        </p:txBody>
      </p:sp>
      <p:sp>
        <p:nvSpPr>
          <p:cNvPr id="45058" name="Rectangle 2"/>
          <p:cNvSpPr>
            <a:spLocks noGrp="1" noChangeArrowheads="1"/>
          </p:cNvSpPr>
          <p:nvPr>
            <p:ph type="body" idx="4294967295"/>
          </p:nvPr>
        </p:nvSpPr>
        <p:spPr>
          <a:xfrm>
            <a:off x="1" y="404813"/>
            <a:ext cx="8316416" cy="6048523"/>
          </a:xfrm>
        </p:spPr>
        <p:txBody>
          <a:bodyPr rtlCol="0">
            <a:normAutofit lnSpcReduction="10000"/>
          </a:bodyPr>
          <a:lstStyle/>
          <a:p>
            <a:pPr eaLnBrk="1" fontAlgn="auto" hangingPunct="1">
              <a:lnSpc>
                <a:spcPct val="80000"/>
              </a:lnSpc>
              <a:spcAft>
                <a:spcPts val="0"/>
              </a:spcAft>
              <a:buFont typeface="Arial" pitchFamily="34" charset="0"/>
              <a:buNone/>
              <a:defRPr/>
            </a:pPr>
            <a:r>
              <a:rPr lang="tr-TR" sz="3600" b="1" dirty="0" smtClean="0">
                <a:solidFill>
                  <a:srgbClr val="FF0000"/>
                </a:solidFill>
                <a:latin typeface="+mj-lt"/>
              </a:rPr>
              <a:t>Kapalı Alanda Çalışma İzni</a:t>
            </a:r>
          </a:p>
          <a:p>
            <a:pPr eaLnBrk="1" fontAlgn="auto" hangingPunct="1">
              <a:lnSpc>
                <a:spcPct val="80000"/>
              </a:lnSpc>
              <a:spcAft>
                <a:spcPts val="0"/>
              </a:spcAft>
              <a:buFont typeface="Arial" pitchFamily="34" charset="0"/>
              <a:buNone/>
              <a:defRPr/>
            </a:pPr>
            <a:endParaRPr lang="tr-TR" sz="2400" dirty="0" smtClean="0">
              <a:solidFill>
                <a:srgbClr val="000066"/>
              </a:solidFill>
              <a:effectLst>
                <a:outerShdw blurRad="38100" dist="38100" dir="2700000" algn="tl">
                  <a:srgbClr val="C0C0C0"/>
                </a:outerShdw>
              </a:effectLst>
              <a:latin typeface="+mj-lt"/>
            </a:endParaRPr>
          </a:p>
          <a:p>
            <a:pPr eaLnBrk="1" fontAlgn="auto" hangingPunct="1">
              <a:lnSpc>
                <a:spcPct val="170000"/>
              </a:lnSpc>
              <a:spcAft>
                <a:spcPts val="0"/>
              </a:spcAft>
              <a:buClr>
                <a:srgbClr val="CC0000"/>
              </a:buClr>
              <a:buFont typeface="Wingdings 2" pitchFamily="18" charset="2"/>
              <a:buChar char="E"/>
              <a:defRPr/>
            </a:pPr>
            <a:r>
              <a:rPr lang="tr-TR" sz="2800" b="1" dirty="0" smtClean="0">
                <a:solidFill>
                  <a:srgbClr val="0070C0"/>
                </a:solidFill>
                <a:latin typeface="+mj-lt"/>
              </a:rPr>
              <a:t>Hava</a:t>
            </a:r>
            <a:r>
              <a:rPr lang="tr-TR" sz="2800" dirty="0" smtClean="0">
                <a:latin typeface="+mj-lt"/>
              </a:rPr>
              <a:t> / Havalandırma bozuk – yetersiz ise,  </a:t>
            </a:r>
          </a:p>
          <a:p>
            <a:pPr eaLnBrk="1" fontAlgn="auto" hangingPunct="1">
              <a:lnSpc>
                <a:spcPct val="170000"/>
              </a:lnSpc>
              <a:spcAft>
                <a:spcPts val="0"/>
              </a:spcAft>
              <a:buClr>
                <a:srgbClr val="CC0000"/>
              </a:buClr>
              <a:buFont typeface="Wingdings 2" pitchFamily="18" charset="2"/>
              <a:buChar char="E"/>
              <a:defRPr/>
            </a:pPr>
            <a:r>
              <a:rPr lang="tr-TR" sz="2800" dirty="0" smtClean="0">
                <a:latin typeface="+mj-lt"/>
              </a:rPr>
              <a:t>Personeli </a:t>
            </a:r>
            <a:r>
              <a:rPr lang="tr-TR" sz="2800" b="1" dirty="0" smtClean="0">
                <a:solidFill>
                  <a:srgbClr val="0070C0"/>
                </a:solidFill>
                <a:latin typeface="+mj-lt"/>
              </a:rPr>
              <a:t>içine çekecek </a:t>
            </a:r>
            <a:r>
              <a:rPr lang="tr-TR" sz="2800" dirty="0" smtClean="0">
                <a:latin typeface="+mj-lt"/>
              </a:rPr>
              <a:t>bir ekipman </a:t>
            </a:r>
            <a:r>
              <a:rPr lang="tr-TR" sz="2800" dirty="0">
                <a:latin typeface="+mj-lt"/>
              </a:rPr>
              <a:t>/</a:t>
            </a:r>
            <a:r>
              <a:rPr lang="tr-TR" sz="2800" dirty="0" smtClean="0">
                <a:latin typeface="+mj-lt"/>
              </a:rPr>
              <a:t> malzeme varsa,  </a:t>
            </a:r>
          </a:p>
          <a:p>
            <a:pPr eaLnBrk="1" fontAlgn="auto" hangingPunct="1">
              <a:lnSpc>
                <a:spcPct val="170000"/>
              </a:lnSpc>
              <a:spcAft>
                <a:spcPts val="0"/>
              </a:spcAft>
              <a:buClr>
                <a:srgbClr val="CC0000"/>
              </a:buClr>
              <a:buFont typeface="Wingdings 2" pitchFamily="18" charset="2"/>
              <a:buChar char="E"/>
              <a:defRPr/>
            </a:pPr>
            <a:r>
              <a:rPr lang="tr-TR" sz="2800" dirty="0" smtClean="0">
                <a:latin typeface="+mj-lt"/>
              </a:rPr>
              <a:t>Personelin </a:t>
            </a:r>
            <a:r>
              <a:rPr lang="tr-TR" sz="2800" b="1" dirty="0" smtClean="0">
                <a:solidFill>
                  <a:srgbClr val="0070C0"/>
                </a:solidFill>
                <a:latin typeface="+mj-lt"/>
              </a:rPr>
              <a:t>kapana kısılacağı </a:t>
            </a:r>
            <a:r>
              <a:rPr lang="tr-TR" sz="2800" dirty="0" smtClean="0">
                <a:latin typeface="+mj-lt"/>
              </a:rPr>
              <a:t>bir durum varsa,</a:t>
            </a:r>
          </a:p>
          <a:p>
            <a:pPr eaLnBrk="1" fontAlgn="auto" hangingPunct="1">
              <a:lnSpc>
                <a:spcPct val="170000"/>
              </a:lnSpc>
              <a:spcAft>
                <a:spcPts val="0"/>
              </a:spcAft>
              <a:buClr>
                <a:srgbClr val="CC0000"/>
              </a:buClr>
              <a:buFont typeface="Wingdings 2" pitchFamily="18" charset="2"/>
              <a:buChar char="E"/>
              <a:defRPr/>
            </a:pPr>
            <a:r>
              <a:rPr lang="tr-TR" sz="2800" b="1" dirty="0" smtClean="0">
                <a:solidFill>
                  <a:srgbClr val="0070C0"/>
                </a:solidFill>
                <a:latin typeface="+mj-lt"/>
              </a:rPr>
              <a:t>Diğer</a:t>
            </a:r>
            <a:r>
              <a:rPr lang="tr-TR" sz="2800" dirty="0" smtClean="0">
                <a:latin typeface="+mj-lt"/>
              </a:rPr>
              <a:t> ciddi güvenlik – sağlık tehlikeleri varsa,</a:t>
            </a:r>
          </a:p>
          <a:p>
            <a:pPr eaLnBrk="1" fontAlgn="auto" hangingPunct="1">
              <a:lnSpc>
                <a:spcPct val="80000"/>
              </a:lnSpc>
              <a:spcAft>
                <a:spcPts val="0"/>
              </a:spcAft>
              <a:buFont typeface="Arial" pitchFamily="34" charset="0"/>
              <a:buNone/>
              <a:defRPr/>
            </a:pPr>
            <a:endParaRPr lang="tr-TR" sz="2800" dirty="0" smtClean="0">
              <a:latin typeface="+mj-lt"/>
            </a:endParaRPr>
          </a:p>
          <a:p>
            <a:pPr eaLnBrk="1" fontAlgn="auto" hangingPunct="1">
              <a:lnSpc>
                <a:spcPct val="80000"/>
              </a:lnSpc>
              <a:spcAft>
                <a:spcPts val="0"/>
              </a:spcAft>
              <a:buFont typeface="Arial" pitchFamily="34" charset="0"/>
              <a:buNone/>
              <a:defRPr/>
            </a:pPr>
            <a:r>
              <a:rPr lang="tr-TR" sz="2800" dirty="0" smtClean="0">
                <a:latin typeface="+mj-lt"/>
              </a:rPr>
              <a:t>	Yapılacak çalışmalarda,</a:t>
            </a:r>
          </a:p>
          <a:p>
            <a:pPr eaLnBrk="1" fontAlgn="auto" hangingPunct="1">
              <a:lnSpc>
                <a:spcPct val="80000"/>
              </a:lnSpc>
              <a:spcAft>
                <a:spcPts val="0"/>
              </a:spcAft>
              <a:buFont typeface="Arial" pitchFamily="34" charset="0"/>
              <a:buNone/>
              <a:defRPr/>
            </a:pPr>
            <a:r>
              <a:rPr lang="tr-TR" sz="2800" dirty="0" smtClean="0">
                <a:latin typeface="+mj-lt"/>
              </a:rPr>
              <a:t> </a:t>
            </a:r>
            <a:r>
              <a:rPr lang="tr-TR" sz="2800" b="1" dirty="0" smtClean="0">
                <a:latin typeface="+mj-lt"/>
              </a:rPr>
              <a:t>“</a:t>
            </a:r>
            <a:r>
              <a:rPr lang="tr-TR" sz="2800" b="1" dirty="0" smtClean="0">
                <a:solidFill>
                  <a:srgbClr val="FF0000"/>
                </a:solidFill>
                <a:latin typeface="+mj-lt"/>
              </a:rPr>
              <a:t>Çalışma İzni</a:t>
            </a:r>
            <a:r>
              <a:rPr lang="tr-TR" sz="2800" b="1" dirty="0" smtClean="0">
                <a:latin typeface="+mj-lt"/>
              </a:rPr>
              <a:t>”</a:t>
            </a:r>
            <a:r>
              <a:rPr lang="tr-TR" sz="2800" dirty="0" smtClean="0">
                <a:latin typeface="+mj-lt"/>
              </a:rPr>
              <a:t> düzenlenmesi gereklidir.</a:t>
            </a:r>
            <a:endParaRPr lang="en-US" sz="2800" dirty="0" smtClean="0">
              <a:latin typeface="+mj-lt"/>
            </a:endParaRPr>
          </a:p>
          <a:p>
            <a:pPr lvl="1" eaLnBrk="1" fontAlgn="auto" hangingPunct="1">
              <a:lnSpc>
                <a:spcPct val="80000"/>
              </a:lnSpc>
              <a:spcAft>
                <a:spcPts val="0"/>
              </a:spcAft>
              <a:defRPr/>
            </a:pPr>
            <a:endParaRPr lang="en-US" sz="2000" dirty="0" smtClean="0">
              <a:latin typeface="+mj-lt"/>
            </a:endParaRPr>
          </a:p>
          <a:p>
            <a:pPr eaLnBrk="1" fontAlgn="auto" hangingPunct="1">
              <a:lnSpc>
                <a:spcPct val="80000"/>
              </a:lnSpc>
              <a:spcAft>
                <a:spcPts val="0"/>
              </a:spcAft>
              <a:defRPr/>
            </a:pPr>
            <a:endParaRPr lang="tr-TR" sz="2000" dirty="0" smtClean="0">
              <a:latin typeface="+mj-lt"/>
            </a:endParaRPr>
          </a:p>
        </p:txBody>
      </p:sp>
    </p:spTree>
    <p:extLst>
      <p:ext uri="{BB962C8B-B14F-4D97-AF65-F5344CB8AC3E}">
        <p14:creationId xmlns="" xmlns:p14="http://schemas.microsoft.com/office/powerpoint/2010/main" val="3862591398"/>
      </p:ext>
    </p:extLst>
  </p:cSld>
  <p:clrMapOvr>
    <a:masterClrMapping/>
  </p:clrMapOvr>
  <p:transition advClick="0"/>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a:xfrm>
            <a:off x="6300788" y="5300663"/>
            <a:ext cx="2133600" cy="365125"/>
          </a:xfrm>
        </p:spPr>
        <p:txBody>
          <a:bodyPr/>
          <a:lstStyle/>
          <a:p>
            <a:pPr>
              <a:defRPr/>
            </a:pPr>
            <a:fld id="{A42EB79C-3515-4D2D-B828-D9A50D3BDAD7}" type="slidenum">
              <a:rPr lang="tr-TR" smtClean="0"/>
              <a:pPr>
                <a:defRPr/>
              </a:pPr>
              <a:t>26</a:t>
            </a:fld>
            <a:endParaRPr lang="tr-TR"/>
          </a:p>
        </p:txBody>
      </p:sp>
      <p:sp>
        <p:nvSpPr>
          <p:cNvPr id="50178" name="Rectangle 2"/>
          <p:cNvSpPr>
            <a:spLocks noGrp="1" noChangeArrowheads="1"/>
          </p:cNvSpPr>
          <p:nvPr>
            <p:ph type="body" idx="4294967295"/>
          </p:nvPr>
        </p:nvSpPr>
        <p:spPr>
          <a:xfrm>
            <a:off x="0" y="332656"/>
            <a:ext cx="9144000" cy="650007"/>
          </a:xfrm>
        </p:spPr>
        <p:txBody>
          <a:bodyPr/>
          <a:lstStyle/>
          <a:p>
            <a:pPr eaLnBrk="1" hangingPunct="1">
              <a:lnSpc>
                <a:spcPct val="80000"/>
              </a:lnSpc>
              <a:buFont typeface="Arial" pitchFamily="34" charset="0"/>
              <a:buNone/>
            </a:pPr>
            <a:r>
              <a:rPr lang="tr-TR" altLang="tr-TR" sz="3600" b="1" dirty="0" smtClean="0">
                <a:solidFill>
                  <a:srgbClr val="FF0000"/>
                </a:solidFill>
                <a:latin typeface="+mj-lt"/>
              </a:rPr>
              <a:t>Kapalı Alanda Çalışma öncesinde</a:t>
            </a:r>
            <a:endParaRPr lang="tr-TR" altLang="tr-TR" sz="3600" dirty="0" smtClean="0">
              <a:solidFill>
                <a:srgbClr val="FF0000"/>
              </a:solidFill>
              <a:latin typeface="+mj-lt"/>
            </a:endParaRPr>
          </a:p>
        </p:txBody>
      </p:sp>
      <p:graphicFrame>
        <p:nvGraphicFramePr>
          <p:cNvPr id="47107" name="Group 3"/>
          <p:cNvGraphicFramePr>
            <a:graphicFrameLocks noGrp="1"/>
          </p:cNvGraphicFramePr>
          <p:nvPr/>
        </p:nvGraphicFramePr>
        <p:xfrm>
          <a:off x="250825" y="1484313"/>
          <a:ext cx="8424863" cy="3475038"/>
        </p:xfrm>
        <a:graphic>
          <a:graphicData uri="http://schemas.openxmlformats.org/drawingml/2006/table">
            <a:tbl>
              <a:tblPr>
                <a:tableStyleId>{2D5ABB26-0587-4C30-8999-92F81FD0307C}</a:tableStyleId>
              </a:tblPr>
              <a:tblGrid>
                <a:gridCol w="8424863"/>
              </a:tblGrid>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effectLst/>
                        </a:rPr>
                        <a:t>Alanı tehlikelerden </a:t>
                      </a:r>
                      <a:r>
                        <a:rPr kumimoji="0" lang="tr-TR" sz="3200" u="none" strike="noStrike" cap="none" normalizeH="0" baseline="0" dirty="0" smtClean="0">
                          <a:ln>
                            <a:noFill/>
                          </a:ln>
                          <a:solidFill>
                            <a:srgbClr val="FF0000"/>
                          </a:solidFill>
                          <a:effectLst/>
                        </a:rPr>
                        <a:t>izole et</a:t>
                      </a:r>
                      <a:endParaRPr kumimoji="0" lang="tr-TR" sz="3200" b="1" i="0" u="none" strike="noStrike" cap="none" normalizeH="0" baseline="0" dirty="0" smtClean="0">
                        <a:ln>
                          <a:noFill/>
                        </a:ln>
                        <a:solidFill>
                          <a:srgbClr val="FF0000"/>
                        </a:solidFill>
                        <a:effectLst/>
                        <a:latin typeface="Verdana" pitchFamily="34" charset="0"/>
                      </a:endParaRPr>
                    </a:p>
                  </a:txBody>
                  <a:tcPr marL="91439" marR="91439" marT="45724" marB="45724" horzOverflow="overflow"/>
                </a:tc>
              </a:tr>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effectLst/>
                        </a:rPr>
                        <a:t>Alanı </a:t>
                      </a:r>
                      <a:r>
                        <a:rPr kumimoji="0" lang="tr-TR" sz="3200" u="none" strike="noStrike" cap="none" normalizeH="0" baseline="0" dirty="0" smtClean="0">
                          <a:ln>
                            <a:noFill/>
                          </a:ln>
                          <a:solidFill>
                            <a:srgbClr val="FF0000"/>
                          </a:solidFill>
                          <a:effectLst/>
                        </a:rPr>
                        <a:t>havalandır</a:t>
                      </a:r>
                      <a:endParaRPr kumimoji="0" lang="tr-TR" sz="3200" b="1" i="0" u="none" strike="noStrike" cap="none" normalizeH="0" baseline="0" dirty="0" smtClean="0">
                        <a:ln>
                          <a:noFill/>
                        </a:ln>
                        <a:solidFill>
                          <a:srgbClr val="FF0000"/>
                        </a:solidFill>
                        <a:effectLst/>
                        <a:latin typeface="Verdana" pitchFamily="34" charset="0"/>
                      </a:endParaRPr>
                    </a:p>
                  </a:txBody>
                  <a:tcPr marL="91439" marR="91439" marT="45724" marB="45724" horzOverflow="overflow"/>
                </a:tc>
              </a:tr>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solidFill>
                            <a:srgbClr val="FF0000"/>
                          </a:solidFill>
                          <a:effectLst/>
                        </a:rPr>
                        <a:t>Kısa bilgilendirme </a:t>
                      </a:r>
                      <a:r>
                        <a:rPr kumimoji="0" lang="tr-TR" sz="3200" u="none" strike="noStrike" cap="none" normalizeH="0" baseline="0" dirty="0" smtClean="0">
                          <a:ln>
                            <a:noFill/>
                          </a:ln>
                          <a:effectLst/>
                        </a:rPr>
                        <a:t>yap</a:t>
                      </a:r>
                      <a:endParaRPr kumimoji="0" lang="tr-TR" sz="3200" b="1" i="0" u="none" strike="noStrike" cap="none" normalizeH="0" baseline="0" dirty="0" smtClean="0">
                        <a:ln>
                          <a:noFill/>
                        </a:ln>
                        <a:solidFill>
                          <a:srgbClr val="0070C0"/>
                        </a:solidFill>
                        <a:effectLst/>
                        <a:latin typeface="Verdana" pitchFamily="34" charset="0"/>
                      </a:endParaRPr>
                    </a:p>
                  </a:txBody>
                  <a:tcPr marL="91439" marR="91439" marT="45724" marB="45724" horzOverflow="overflow"/>
                </a:tc>
              </a:tr>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solidFill>
                            <a:srgbClr val="FF0000"/>
                          </a:solidFill>
                          <a:effectLst/>
                        </a:rPr>
                        <a:t>İzni tamamla</a:t>
                      </a:r>
                      <a:endParaRPr kumimoji="0" lang="tr-TR" sz="3200" b="1" i="0" u="none" strike="noStrike" cap="none" normalizeH="0" baseline="0" dirty="0" smtClean="0">
                        <a:ln>
                          <a:noFill/>
                        </a:ln>
                        <a:solidFill>
                          <a:srgbClr val="FF0000"/>
                        </a:solidFill>
                        <a:effectLst/>
                        <a:latin typeface="Verdana" pitchFamily="34" charset="0"/>
                      </a:endParaRPr>
                    </a:p>
                  </a:txBody>
                  <a:tcPr marL="91439" marR="91439" marT="45724" marB="45724" horzOverflow="overflow"/>
                </a:tc>
              </a:tr>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effectLst/>
                        </a:rPr>
                        <a:t>İç atmosferi </a:t>
                      </a:r>
                      <a:r>
                        <a:rPr kumimoji="0" lang="tr-TR" sz="3200" u="none" strike="noStrike" cap="none" normalizeH="0" baseline="0" dirty="0" smtClean="0">
                          <a:ln>
                            <a:noFill/>
                          </a:ln>
                          <a:solidFill>
                            <a:srgbClr val="FF0000"/>
                          </a:solidFill>
                          <a:effectLst/>
                        </a:rPr>
                        <a:t>test et</a:t>
                      </a:r>
                      <a:endParaRPr kumimoji="0" lang="tr-TR" sz="3200" b="1" i="0" u="none" strike="noStrike" cap="none" normalizeH="0" baseline="0" dirty="0" smtClean="0">
                        <a:ln>
                          <a:noFill/>
                        </a:ln>
                        <a:solidFill>
                          <a:srgbClr val="FF0000"/>
                        </a:solidFill>
                        <a:effectLst/>
                        <a:latin typeface="Verdana" pitchFamily="34" charset="0"/>
                      </a:endParaRPr>
                    </a:p>
                  </a:txBody>
                  <a:tcPr marL="91439" marR="91439" marT="45724" marB="45724" horzOverflow="overflow"/>
                </a:tc>
              </a:tr>
              <a:tr h="579173">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200" u="none" strike="noStrike" cap="none" normalizeH="0" baseline="0" dirty="0" smtClean="0">
                          <a:ln>
                            <a:noFill/>
                          </a:ln>
                          <a:effectLst/>
                        </a:rPr>
                        <a:t>Kapalı alana </a:t>
                      </a:r>
                      <a:r>
                        <a:rPr kumimoji="0" lang="tr-TR" sz="3200" u="none" strike="noStrike" cap="none" normalizeH="0" baseline="0" dirty="0" smtClean="0">
                          <a:ln>
                            <a:noFill/>
                          </a:ln>
                          <a:solidFill>
                            <a:srgbClr val="FF0000"/>
                          </a:solidFill>
                          <a:effectLst/>
                        </a:rPr>
                        <a:t>girişi başlat</a:t>
                      </a:r>
                      <a:endParaRPr kumimoji="0" lang="tr-TR" sz="3200" b="1" i="0" u="none" strike="noStrike" cap="none" normalizeH="0" baseline="0" dirty="0" smtClean="0">
                        <a:ln>
                          <a:noFill/>
                        </a:ln>
                        <a:solidFill>
                          <a:srgbClr val="FF0000"/>
                        </a:solidFill>
                        <a:effectLst/>
                        <a:latin typeface="Verdana" pitchFamily="34" charset="0"/>
                      </a:endParaRPr>
                    </a:p>
                  </a:txBody>
                  <a:tcPr marL="91439" marR="91439" marT="45724" marB="45724" horzOverflow="overflow"/>
                </a:tc>
              </a:tr>
            </a:tbl>
          </a:graphicData>
        </a:graphic>
      </p:graphicFrame>
    </p:spTree>
    <p:extLst>
      <p:ext uri="{BB962C8B-B14F-4D97-AF65-F5344CB8AC3E}">
        <p14:creationId xmlns="" xmlns:p14="http://schemas.microsoft.com/office/powerpoint/2010/main" val="3568976864"/>
      </p:ext>
    </p:extLst>
  </p:cSld>
  <p:clrMapOvr>
    <a:masterClrMapping/>
  </p:clrMapOvr>
  <p:transition advClick="0"/>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9155" name="Group 3"/>
          <p:cNvGraphicFramePr>
            <a:graphicFrameLocks noGrp="1"/>
          </p:cNvGraphicFramePr>
          <p:nvPr>
            <p:extLst>
              <p:ext uri="{D42A27DB-BD31-4B8C-83A1-F6EECF244321}">
                <p14:modId xmlns="" xmlns:p14="http://schemas.microsoft.com/office/powerpoint/2010/main" val="1905706353"/>
              </p:ext>
            </p:extLst>
          </p:nvPr>
        </p:nvGraphicFramePr>
        <p:xfrm>
          <a:off x="179388" y="404813"/>
          <a:ext cx="7921625" cy="920750"/>
        </p:xfrm>
        <a:graphic>
          <a:graphicData uri="http://schemas.openxmlformats.org/drawingml/2006/table">
            <a:tbl>
              <a:tblPr/>
              <a:tblGrid>
                <a:gridCol w="7921625"/>
              </a:tblGrid>
              <a:tr h="920750">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600" b="1" i="0" u="none" strike="noStrike" cap="none" normalizeH="0" baseline="0" dirty="0" smtClean="0">
                          <a:ln>
                            <a:noFill/>
                          </a:ln>
                          <a:solidFill>
                            <a:srgbClr val="FF0000"/>
                          </a:solidFill>
                          <a:effectLst/>
                          <a:latin typeface="Verdana" pitchFamily="34" charset="0"/>
                        </a:rPr>
                        <a:t>1-Alanı tehlikelerden izole et</a:t>
                      </a:r>
                    </a:p>
                  </a:txBody>
                  <a:tcPr marL="91449" marR="91449" marT="45697" marB="4569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08" name="Rectangle 19"/>
          <p:cNvSpPr>
            <a:spLocks noChangeArrowheads="1"/>
          </p:cNvSpPr>
          <p:nvPr/>
        </p:nvSpPr>
        <p:spPr bwMode="auto">
          <a:xfrm>
            <a:off x="179388" y="1997075"/>
            <a:ext cx="5832475" cy="3343275"/>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220000"/>
              </a:lnSpc>
              <a:buClr>
                <a:srgbClr val="CC0000"/>
              </a:buClr>
              <a:buFont typeface="Wingdings 2" pitchFamily="18" charset="2"/>
              <a:buChar char="E"/>
            </a:pPr>
            <a:r>
              <a:rPr lang="tr-TR" altLang="tr-TR" sz="2400" b="1" dirty="0">
                <a:solidFill>
                  <a:srgbClr val="000066"/>
                </a:solidFill>
                <a:latin typeface="Verdana" pitchFamily="34" charset="0"/>
              </a:rPr>
              <a:t>Valfleri kapat</a:t>
            </a:r>
          </a:p>
          <a:p>
            <a:pPr eaLnBrk="1" hangingPunct="1">
              <a:lnSpc>
                <a:spcPct val="220000"/>
              </a:lnSpc>
              <a:buClr>
                <a:srgbClr val="CC0000"/>
              </a:buClr>
              <a:buFont typeface="Wingdings 2" pitchFamily="18" charset="2"/>
              <a:buChar char="E"/>
            </a:pPr>
            <a:r>
              <a:rPr lang="tr-TR" altLang="tr-TR" sz="2400" b="1" dirty="0">
                <a:solidFill>
                  <a:srgbClr val="000066"/>
                </a:solidFill>
                <a:latin typeface="Verdana" pitchFamily="34" charset="0"/>
              </a:rPr>
              <a:t>Alanı boşalt</a:t>
            </a:r>
          </a:p>
          <a:p>
            <a:pPr eaLnBrk="1" hangingPunct="1">
              <a:lnSpc>
                <a:spcPct val="220000"/>
              </a:lnSpc>
              <a:buClr>
                <a:srgbClr val="CC0000"/>
              </a:buClr>
              <a:buFont typeface="Wingdings 2" pitchFamily="18" charset="2"/>
              <a:buChar char="E"/>
            </a:pPr>
            <a:r>
              <a:rPr lang="tr-TR" altLang="tr-TR" sz="2400" b="1" dirty="0">
                <a:solidFill>
                  <a:srgbClr val="000066"/>
                </a:solidFill>
                <a:latin typeface="Verdana" pitchFamily="34" charset="0"/>
              </a:rPr>
              <a:t>Kilitleme/etiketleme yap</a:t>
            </a:r>
          </a:p>
          <a:p>
            <a:pPr eaLnBrk="1" hangingPunct="1">
              <a:lnSpc>
                <a:spcPct val="220000"/>
              </a:lnSpc>
              <a:buClr>
                <a:srgbClr val="CC0000"/>
              </a:buClr>
              <a:buFont typeface="Wingdings 2" pitchFamily="18" charset="2"/>
              <a:buChar char="E"/>
            </a:pPr>
            <a:r>
              <a:rPr lang="tr-TR" altLang="tr-TR" sz="2400" b="1" dirty="0">
                <a:solidFill>
                  <a:srgbClr val="000066"/>
                </a:solidFill>
                <a:latin typeface="Verdana" pitchFamily="34" charset="0"/>
              </a:rPr>
              <a:t>Alandaki kalıntıları temizle</a:t>
            </a:r>
            <a:endParaRPr lang="en-US" altLang="tr-TR" sz="2400" b="1" dirty="0">
              <a:solidFill>
                <a:srgbClr val="000066"/>
              </a:solidFill>
              <a:latin typeface="Verdana" pitchFamily="34" charset="0"/>
            </a:endParaRPr>
          </a:p>
        </p:txBody>
      </p:sp>
      <p:pic>
        <p:nvPicPr>
          <p:cNvPr id="51209" name="Picture 20" descr="3a_btraining3_small"/>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11863" y="2636838"/>
            <a:ext cx="3132137" cy="2736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ayt Numarası Yer Tutucusu 1"/>
          <p:cNvSpPr>
            <a:spLocks noGrp="1"/>
          </p:cNvSpPr>
          <p:nvPr>
            <p:ph type="sldNum" sz="quarter" idx="12"/>
          </p:nvPr>
        </p:nvSpPr>
        <p:spPr/>
        <p:txBody>
          <a:bodyPr/>
          <a:lstStyle/>
          <a:p>
            <a:pPr>
              <a:defRPr/>
            </a:pPr>
            <a:fld id="{3178E8D9-1576-4190-9EB0-163C4A83459C}" type="slidenum">
              <a:rPr lang="tr-TR" smtClean="0"/>
              <a:pPr>
                <a:defRPr/>
              </a:pPr>
              <a:t>27</a:t>
            </a:fld>
            <a:endParaRPr lang="tr-TR"/>
          </a:p>
        </p:txBody>
      </p:sp>
    </p:spTree>
    <p:extLst>
      <p:ext uri="{BB962C8B-B14F-4D97-AF65-F5344CB8AC3E}">
        <p14:creationId xmlns="" xmlns:p14="http://schemas.microsoft.com/office/powerpoint/2010/main" val="3073390952"/>
      </p:ext>
    </p:extLst>
  </p:cSld>
  <p:clrMapOvr>
    <a:masterClrMapping/>
  </p:clrMapOvr>
  <p:transition advClick="0"/>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2227" name="Rounded Rectangle 3"/>
          <p:cNvGrpSpPr>
            <a:grpSpLocks/>
          </p:cNvGrpSpPr>
          <p:nvPr/>
        </p:nvGrpSpPr>
        <p:grpSpPr bwMode="auto">
          <a:xfrm>
            <a:off x="2584450" y="146050"/>
            <a:ext cx="6596063" cy="798513"/>
            <a:chOff x="1628" y="92"/>
            <a:chExt cx="4155" cy="503"/>
          </a:xfrm>
        </p:grpSpPr>
        <p:pic>
          <p:nvPicPr>
            <p:cNvPr id="52231" name="Rounded Rectangle 3"/>
            <p:cNvPicPr>
              <a:picLocks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628" y="92"/>
              <a:ext cx="4155" cy="5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2232" name="Text Box 4"/>
            <p:cNvSpPr txBox="1">
              <a:spLocks noChangeArrowheads="1"/>
            </p:cNvSpPr>
            <p:nvPr/>
          </p:nvSpPr>
          <p:spPr bwMode="auto">
            <a:xfrm>
              <a:off x="1652" y="116"/>
              <a:ext cx="3992" cy="3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1800" b="1" dirty="0">
                  <a:solidFill>
                    <a:srgbClr val="FF0000"/>
                  </a:solidFill>
                  <a:latin typeface="Calibri" pitchFamily="34" charset="0"/>
                </a:rPr>
                <a:t>Bazı  kapalı alanlarda   gaz ve  buhar boruları, elektrik  tesisatı,  tehlikeli makine /</a:t>
              </a:r>
              <a:r>
                <a:rPr lang="tr-TR" altLang="tr-TR" sz="1800" b="1" dirty="0" smtClean="0">
                  <a:solidFill>
                    <a:srgbClr val="FF0000"/>
                  </a:solidFill>
                  <a:latin typeface="Calibri" pitchFamily="34" charset="0"/>
                </a:rPr>
                <a:t>ekipmanlar  </a:t>
              </a:r>
              <a:r>
                <a:rPr lang="tr-TR" altLang="tr-TR" sz="1800" b="1" dirty="0">
                  <a:solidFill>
                    <a:srgbClr val="FF0000"/>
                  </a:solidFill>
                  <a:latin typeface="Calibri" pitchFamily="34" charset="0"/>
                </a:rPr>
                <a:t>bulunabilir</a:t>
              </a:r>
              <a:r>
                <a:rPr lang="tr-TR" altLang="tr-TR" dirty="0">
                  <a:latin typeface="Calibri" pitchFamily="34" charset="0"/>
                </a:rPr>
                <a:t>.</a:t>
              </a:r>
              <a:endParaRPr lang="en-US" altLang="tr-TR" dirty="0">
                <a:latin typeface="Calibri" pitchFamily="34" charset="0"/>
              </a:endParaRPr>
            </a:p>
          </p:txBody>
        </p:sp>
      </p:grpSp>
      <p:grpSp>
        <p:nvGrpSpPr>
          <p:cNvPr id="52228" name="Rounded Rectangle 4"/>
          <p:cNvGrpSpPr>
            <a:grpSpLocks/>
          </p:cNvGrpSpPr>
          <p:nvPr/>
        </p:nvGrpSpPr>
        <p:grpSpPr bwMode="auto">
          <a:xfrm>
            <a:off x="195263" y="5661025"/>
            <a:ext cx="5097462" cy="1196975"/>
            <a:chOff x="123" y="3566"/>
            <a:chExt cx="3211" cy="754"/>
          </a:xfrm>
        </p:grpSpPr>
        <p:pic>
          <p:nvPicPr>
            <p:cNvPr id="52229" name="Rounded Rectangle 4"/>
            <p:cNvPicPr>
              <a:picLocks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23" y="3790"/>
              <a:ext cx="2711" cy="5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2230" name="Text Box 7"/>
            <p:cNvSpPr txBox="1">
              <a:spLocks noChangeArrowheads="1"/>
            </p:cNvSpPr>
            <p:nvPr/>
          </p:nvSpPr>
          <p:spPr bwMode="auto">
            <a:xfrm>
              <a:off x="123" y="3566"/>
              <a:ext cx="3211" cy="7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5720" tIns="0" rIns="45720" bIns="0"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b="1">
                  <a:solidFill>
                    <a:srgbClr val="FF0000"/>
                  </a:solidFill>
                  <a:latin typeface="Calibri" pitchFamily="34" charset="0"/>
                </a:rPr>
                <a:t>   Bunların vana, şalter, kumanda vb. çalıştırma /</a:t>
              </a:r>
            </a:p>
            <a:p>
              <a:pPr eaLnBrk="1" hangingPunct="1"/>
              <a:r>
                <a:rPr lang="tr-TR" altLang="tr-TR" b="1">
                  <a:solidFill>
                    <a:srgbClr val="FF0000"/>
                  </a:solidFill>
                  <a:latin typeface="Calibri" pitchFamily="34" charset="0"/>
                </a:rPr>
                <a:t> besleme elemanlarını KAPAT /KİLİTLE</a:t>
              </a:r>
              <a:endParaRPr lang="en-US" altLang="tr-TR" b="1">
                <a:solidFill>
                  <a:srgbClr val="FF0000"/>
                </a:solidFill>
                <a:latin typeface="Calibri" pitchFamily="34" charset="0"/>
              </a:endParaRPr>
            </a:p>
          </p:txBody>
        </p:sp>
      </p:grpSp>
    </p:spTree>
    <p:extLst>
      <p:ext uri="{BB962C8B-B14F-4D97-AF65-F5344CB8AC3E}">
        <p14:creationId xmlns="" xmlns:p14="http://schemas.microsoft.com/office/powerpoint/2010/main" val="29788275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8389" name="Group 21"/>
          <p:cNvGraphicFramePr>
            <a:graphicFrameLocks noGrp="1"/>
          </p:cNvGraphicFramePr>
          <p:nvPr>
            <p:extLst>
              <p:ext uri="{D42A27DB-BD31-4B8C-83A1-F6EECF244321}">
                <p14:modId xmlns="" xmlns:p14="http://schemas.microsoft.com/office/powerpoint/2010/main" val="2448849106"/>
              </p:ext>
            </p:extLst>
          </p:nvPr>
        </p:nvGraphicFramePr>
        <p:xfrm>
          <a:off x="179388" y="404813"/>
          <a:ext cx="8280400" cy="1231900"/>
        </p:xfrm>
        <a:graphic>
          <a:graphicData uri="http://schemas.openxmlformats.org/drawingml/2006/table">
            <a:tbl>
              <a:tblPr/>
              <a:tblGrid>
                <a:gridCol w="8280400"/>
              </a:tblGrid>
              <a:tr h="1231900">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600" b="1" i="0" u="none" strike="noStrike" cap="none" normalizeH="0" baseline="0" dirty="0" smtClean="0">
                          <a:ln>
                            <a:noFill/>
                          </a:ln>
                          <a:solidFill>
                            <a:srgbClr val="FF0000"/>
                          </a:solidFill>
                          <a:effectLst/>
                          <a:latin typeface="Verdana" pitchFamily="34" charset="0"/>
                        </a:rPr>
                        <a:t>2- Alanı havalandır</a:t>
                      </a:r>
                    </a:p>
                  </a:txBody>
                  <a:tcPr marL="91434" marR="91434" marT="45714" marB="4571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53256" name="Picture 19" descr="vent_to_spray_area"/>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787900" y="4086225"/>
            <a:ext cx="3744913" cy="2409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3257" name="Rectangle 20"/>
          <p:cNvSpPr>
            <a:spLocks noChangeArrowheads="1"/>
          </p:cNvSpPr>
          <p:nvPr/>
        </p:nvSpPr>
        <p:spPr bwMode="auto">
          <a:xfrm>
            <a:off x="0" y="1760538"/>
            <a:ext cx="8964613" cy="2085975"/>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84138" indent="-84138"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80000"/>
              </a:lnSpc>
              <a:buClr>
                <a:srgbClr val="CC0000"/>
              </a:buClr>
              <a:buFont typeface="Wingdings 2" pitchFamily="18" charset="2"/>
              <a:buChar char="E"/>
            </a:pPr>
            <a:r>
              <a:rPr lang="tr-TR" altLang="tr-TR" sz="1800" b="1">
                <a:solidFill>
                  <a:srgbClr val="000066"/>
                </a:solidFill>
                <a:latin typeface="Verdana" pitchFamily="34" charset="0"/>
              </a:rPr>
              <a:t> Havalandırma ekipmanı  kullan (fanlar, hava boruları…)</a:t>
            </a:r>
          </a:p>
          <a:p>
            <a:pPr eaLnBrk="1" hangingPunct="1">
              <a:lnSpc>
                <a:spcPct val="180000"/>
              </a:lnSpc>
              <a:buClr>
                <a:srgbClr val="CC0000"/>
              </a:buClr>
              <a:buFont typeface="Wingdings 2" pitchFamily="18" charset="2"/>
              <a:buChar char="E"/>
            </a:pPr>
            <a:r>
              <a:rPr lang="tr-TR" altLang="tr-TR" sz="1800" b="1">
                <a:solidFill>
                  <a:srgbClr val="000066"/>
                </a:solidFill>
                <a:latin typeface="Verdana" pitchFamily="34" charset="0"/>
              </a:rPr>
              <a:t> </a:t>
            </a:r>
            <a:r>
              <a:rPr lang="tr-TR" altLang="tr-TR" sz="1800" b="1">
                <a:solidFill>
                  <a:srgbClr val="FF0000"/>
                </a:solidFill>
                <a:latin typeface="Verdana" pitchFamily="34" charset="0"/>
              </a:rPr>
              <a:t>1saatte</a:t>
            </a:r>
            <a:r>
              <a:rPr lang="tr-TR" altLang="tr-TR" sz="1800" b="1">
                <a:solidFill>
                  <a:srgbClr val="000066"/>
                </a:solidFill>
                <a:latin typeface="Verdana" pitchFamily="34" charset="0"/>
              </a:rPr>
              <a:t>, kapalı alanın </a:t>
            </a:r>
            <a:r>
              <a:rPr lang="tr-TR" altLang="tr-TR" sz="1800" b="1">
                <a:solidFill>
                  <a:srgbClr val="FF0000"/>
                </a:solidFill>
                <a:latin typeface="Verdana" pitchFamily="34" charset="0"/>
              </a:rPr>
              <a:t>en az  dört (4) katı </a:t>
            </a:r>
            <a:r>
              <a:rPr lang="tr-TR" altLang="tr-TR" sz="1800" b="1">
                <a:solidFill>
                  <a:srgbClr val="000066"/>
                </a:solidFill>
                <a:latin typeface="Verdana" pitchFamily="34" charset="0"/>
              </a:rPr>
              <a:t>kadar havalandırma yap</a:t>
            </a:r>
            <a:endParaRPr lang="en-US" altLang="tr-TR" sz="1800" b="1">
              <a:solidFill>
                <a:srgbClr val="000066"/>
              </a:solidFill>
              <a:latin typeface="Verdana" pitchFamily="34" charset="0"/>
            </a:endParaRPr>
          </a:p>
          <a:p>
            <a:pPr lvl="1" eaLnBrk="1" hangingPunct="1">
              <a:lnSpc>
                <a:spcPct val="180000"/>
              </a:lnSpc>
              <a:buClr>
                <a:srgbClr val="CC0000"/>
              </a:buClr>
              <a:buFont typeface="Wingdings 2" pitchFamily="18" charset="2"/>
              <a:buChar char="E"/>
            </a:pPr>
            <a:r>
              <a:rPr lang="tr-TR" altLang="tr-TR" sz="1800" b="1">
                <a:solidFill>
                  <a:srgbClr val="000066"/>
                </a:solidFill>
                <a:latin typeface="Verdana" pitchFamily="34" charset="0"/>
              </a:rPr>
              <a:t>Büyük alanlar daha büyük havalandırmaya ihtiyaç duyar</a:t>
            </a:r>
            <a:endParaRPr lang="en-US" altLang="tr-TR" sz="1800" b="1">
              <a:solidFill>
                <a:srgbClr val="000066"/>
              </a:solidFill>
              <a:latin typeface="Verdana" pitchFamily="34" charset="0"/>
            </a:endParaRPr>
          </a:p>
          <a:p>
            <a:pPr eaLnBrk="1" hangingPunct="1">
              <a:lnSpc>
                <a:spcPct val="180000"/>
              </a:lnSpc>
              <a:buClr>
                <a:srgbClr val="CC0000"/>
              </a:buClr>
              <a:buFont typeface="Wingdings 2" pitchFamily="18" charset="2"/>
              <a:buChar char="E"/>
            </a:pPr>
            <a:r>
              <a:rPr lang="tr-TR" altLang="tr-TR" sz="1800" b="1">
                <a:solidFill>
                  <a:srgbClr val="000066"/>
                </a:solidFill>
                <a:latin typeface="Verdana" pitchFamily="34" charset="0"/>
              </a:rPr>
              <a:t>Havalandırmanın </a:t>
            </a:r>
            <a:r>
              <a:rPr lang="tr-TR" altLang="tr-TR" sz="1800" b="1">
                <a:solidFill>
                  <a:srgbClr val="FF0000"/>
                </a:solidFill>
                <a:latin typeface="Verdana" pitchFamily="34" charset="0"/>
              </a:rPr>
              <a:t>taze hava </a:t>
            </a:r>
            <a:r>
              <a:rPr lang="tr-TR" altLang="tr-TR" sz="1800" b="1">
                <a:solidFill>
                  <a:srgbClr val="000066"/>
                </a:solidFill>
                <a:latin typeface="Verdana" pitchFamily="34" charset="0"/>
              </a:rPr>
              <a:t>beslediğinden </a:t>
            </a:r>
            <a:r>
              <a:rPr lang="tr-TR" altLang="tr-TR" sz="1800" b="1">
                <a:solidFill>
                  <a:srgbClr val="FF0000"/>
                </a:solidFill>
                <a:latin typeface="Verdana" pitchFamily="34" charset="0"/>
              </a:rPr>
              <a:t>emin ol</a:t>
            </a:r>
            <a:endParaRPr lang="en-US" altLang="tr-TR" sz="1800" b="1">
              <a:solidFill>
                <a:srgbClr val="FF0000"/>
              </a:solidFill>
              <a:latin typeface="Verdana" pitchFamily="34" charset="0"/>
            </a:endParaRPr>
          </a:p>
        </p:txBody>
      </p:sp>
      <p:sp>
        <p:nvSpPr>
          <p:cNvPr id="2" name="Slayt Numarası Yer Tutucusu 1"/>
          <p:cNvSpPr>
            <a:spLocks noGrp="1"/>
          </p:cNvSpPr>
          <p:nvPr>
            <p:ph type="sldNum" sz="quarter" idx="12"/>
          </p:nvPr>
        </p:nvSpPr>
        <p:spPr/>
        <p:txBody>
          <a:bodyPr/>
          <a:lstStyle/>
          <a:p>
            <a:pPr>
              <a:defRPr/>
            </a:pPr>
            <a:fld id="{E3226E49-F8B4-4F58-B738-93738DE510F4}" type="slidenum">
              <a:rPr lang="tr-TR" smtClean="0"/>
              <a:pPr>
                <a:defRPr/>
              </a:pPr>
              <a:t>29</a:t>
            </a:fld>
            <a:endParaRPr lang="tr-TR"/>
          </a:p>
        </p:txBody>
      </p:sp>
      <p:pic>
        <p:nvPicPr>
          <p:cNvPr id="53259" name="Picture 5"/>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11188" y="4086225"/>
            <a:ext cx="3582987" cy="240982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224087606"/>
      </p:ext>
    </p:extLst>
  </p:cSld>
  <p:clrMapOvr>
    <a:masterClrMapping/>
  </p:clrMapOvr>
  <p:transition advClick="0"/>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3251" name="Group 3"/>
          <p:cNvGraphicFramePr>
            <a:graphicFrameLocks noGrp="1"/>
          </p:cNvGraphicFramePr>
          <p:nvPr>
            <p:extLst>
              <p:ext uri="{D42A27DB-BD31-4B8C-83A1-F6EECF244321}">
                <p14:modId xmlns="" xmlns:p14="http://schemas.microsoft.com/office/powerpoint/2010/main" val="3977674839"/>
              </p:ext>
            </p:extLst>
          </p:nvPr>
        </p:nvGraphicFramePr>
        <p:xfrm>
          <a:off x="179388" y="115888"/>
          <a:ext cx="7056437" cy="985837"/>
        </p:xfrm>
        <a:graphic>
          <a:graphicData uri="http://schemas.openxmlformats.org/drawingml/2006/table">
            <a:tbl>
              <a:tblPr/>
              <a:tblGrid>
                <a:gridCol w="7056437"/>
              </a:tblGrid>
              <a:tr h="985837">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3600" b="1" i="0" u="none" strike="noStrike" cap="none" normalizeH="0" baseline="0" dirty="0" smtClean="0">
                          <a:ln>
                            <a:noFill/>
                          </a:ln>
                          <a:solidFill>
                            <a:srgbClr val="FF0000"/>
                          </a:solidFill>
                          <a:effectLst/>
                          <a:latin typeface="Verdana" pitchFamily="34" charset="0"/>
                        </a:rPr>
                        <a:t>3-Kısa bilgilendirme yap</a:t>
                      </a:r>
                    </a:p>
                  </a:txBody>
                  <a:tcPr marL="91435" marR="91435" marT="45766" marB="4576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4280" name="Rectangle 19"/>
          <p:cNvSpPr>
            <a:spLocks noChangeArrowheads="1"/>
          </p:cNvSpPr>
          <p:nvPr/>
        </p:nvSpPr>
        <p:spPr bwMode="auto">
          <a:xfrm>
            <a:off x="0" y="1268413"/>
            <a:ext cx="9144000" cy="3478212"/>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buClr>
                <a:srgbClr val="CC0000"/>
              </a:buClr>
              <a:buFont typeface="Wingdings 2" pitchFamily="18" charset="2"/>
              <a:buChar char="E"/>
            </a:pPr>
            <a:r>
              <a:rPr lang="tr-TR" altLang="tr-TR" sz="2000" b="1">
                <a:solidFill>
                  <a:srgbClr val="FF0000"/>
                </a:solidFill>
                <a:latin typeface="Verdana" pitchFamily="34" charset="0"/>
              </a:rPr>
              <a:t>Tüm ekip </a:t>
            </a:r>
            <a:r>
              <a:rPr lang="tr-TR" altLang="tr-TR" sz="2000" b="1">
                <a:solidFill>
                  <a:srgbClr val="000066"/>
                </a:solidFill>
                <a:latin typeface="Verdana" pitchFamily="34" charset="0"/>
              </a:rPr>
              <a:t>katılmalıdır</a:t>
            </a:r>
            <a:endParaRPr lang="en-US" altLang="tr-TR" sz="2000" b="1">
              <a:solidFill>
                <a:srgbClr val="000066"/>
              </a:solidFill>
              <a:latin typeface="Verdana" pitchFamily="34" charset="0"/>
            </a:endParaRPr>
          </a:p>
          <a:p>
            <a:pPr marL="0" lvl="1" eaLnBrk="1" hangingPunct="1">
              <a:buClr>
                <a:srgbClr val="CC0000"/>
              </a:buClr>
              <a:buFont typeface="Arial" pitchFamily="34" charset="0"/>
              <a:buNone/>
            </a:pPr>
            <a:r>
              <a:rPr lang="tr-TR" altLang="tr-TR" sz="2000" b="1">
                <a:solidFill>
                  <a:srgbClr val="000066"/>
                </a:solidFill>
                <a:latin typeface="Verdana" pitchFamily="34" charset="0"/>
              </a:rPr>
              <a:t>   (Gözlemciler, giriş yapanlar, yetki verenler)</a:t>
            </a:r>
          </a:p>
          <a:p>
            <a:pPr marL="0" lvl="1" eaLnBrk="1" hangingPunct="1">
              <a:buClr>
                <a:srgbClr val="CC0000"/>
              </a:buClr>
              <a:buFont typeface="Arial" pitchFamily="34" charset="0"/>
              <a:buNone/>
            </a:pPr>
            <a:endParaRPr lang="en-US" altLang="tr-TR" sz="2000" b="1">
              <a:solidFill>
                <a:srgbClr val="000066"/>
              </a:solidFill>
              <a:latin typeface="Verdana" pitchFamily="34" charset="0"/>
            </a:endParaRPr>
          </a:p>
          <a:p>
            <a:pPr eaLnBrk="1" hangingPunct="1">
              <a:buClr>
                <a:srgbClr val="CC0000"/>
              </a:buClr>
              <a:buFont typeface="Wingdings 2" pitchFamily="18" charset="2"/>
              <a:buChar char="E"/>
            </a:pPr>
            <a:r>
              <a:rPr lang="tr-TR" altLang="tr-TR" sz="2000" b="1">
                <a:solidFill>
                  <a:srgbClr val="FF0000"/>
                </a:solidFill>
                <a:latin typeface="Verdana" pitchFamily="34" charset="0"/>
              </a:rPr>
              <a:t>Girişte ve çalışma sırasındaki </a:t>
            </a:r>
            <a:r>
              <a:rPr lang="tr-TR" altLang="tr-TR" sz="2000" b="1">
                <a:solidFill>
                  <a:srgbClr val="000066"/>
                </a:solidFill>
                <a:latin typeface="Verdana" pitchFamily="34" charset="0"/>
              </a:rPr>
              <a:t>tehlikeleri gözden geçir</a:t>
            </a:r>
          </a:p>
          <a:p>
            <a:pPr eaLnBrk="1" hangingPunct="1">
              <a:buClr>
                <a:srgbClr val="CC0000"/>
              </a:buClr>
              <a:buFont typeface="Arial" pitchFamily="34" charset="0"/>
              <a:buNone/>
            </a:pPr>
            <a:endParaRPr lang="tr-TR" altLang="tr-TR" sz="2000" b="1">
              <a:solidFill>
                <a:srgbClr val="000066"/>
              </a:solidFill>
              <a:latin typeface="Verdana" pitchFamily="34" charset="0"/>
            </a:endParaRPr>
          </a:p>
          <a:p>
            <a:pPr eaLnBrk="1" hangingPunct="1">
              <a:buClr>
                <a:srgbClr val="CC0000"/>
              </a:buClr>
              <a:buFont typeface="Wingdings 2" pitchFamily="18" charset="2"/>
              <a:buChar char="E"/>
            </a:pPr>
            <a:r>
              <a:rPr lang="tr-TR" altLang="tr-TR" sz="2000" b="1">
                <a:solidFill>
                  <a:srgbClr val="FF0000"/>
                </a:solidFill>
                <a:latin typeface="Verdana" pitchFamily="34" charset="0"/>
              </a:rPr>
              <a:t>Kişisel koruyucu </a:t>
            </a:r>
            <a:r>
              <a:rPr lang="tr-TR" altLang="tr-TR" sz="2000" b="1">
                <a:solidFill>
                  <a:srgbClr val="000066"/>
                </a:solidFill>
                <a:latin typeface="Verdana" pitchFamily="34" charset="0"/>
              </a:rPr>
              <a:t>ekipmanları </a:t>
            </a:r>
            <a:r>
              <a:rPr lang="tr-TR" altLang="tr-TR" sz="2000" b="1">
                <a:solidFill>
                  <a:srgbClr val="002060"/>
                </a:solidFill>
                <a:latin typeface="Verdana" pitchFamily="34" charset="0"/>
              </a:rPr>
              <a:t>gözden geçir</a:t>
            </a:r>
          </a:p>
          <a:p>
            <a:pPr eaLnBrk="1" hangingPunct="1">
              <a:buClr>
                <a:srgbClr val="CC0000"/>
              </a:buClr>
              <a:buFont typeface="Arial" pitchFamily="34" charset="0"/>
              <a:buNone/>
            </a:pPr>
            <a:endParaRPr lang="tr-TR" altLang="tr-TR" sz="2000" b="1">
              <a:solidFill>
                <a:srgbClr val="000066"/>
              </a:solidFill>
              <a:latin typeface="Verdana" pitchFamily="34" charset="0"/>
            </a:endParaRPr>
          </a:p>
          <a:p>
            <a:pPr eaLnBrk="1" hangingPunct="1">
              <a:buClr>
                <a:srgbClr val="CC0000"/>
              </a:buClr>
              <a:buFont typeface="Wingdings 2" pitchFamily="18" charset="2"/>
              <a:buChar char="E"/>
            </a:pPr>
            <a:r>
              <a:rPr lang="tr-TR" altLang="tr-TR" sz="2000" b="1">
                <a:solidFill>
                  <a:srgbClr val="FF0000"/>
                </a:solidFill>
                <a:latin typeface="Verdana" pitchFamily="34" charset="0"/>
              </a:rPr>
              <a:t>Kurtarma prosedürlerini </a:t>
            </a:r>
            <a:r>
              <a:rPr lang="tr-TR" altLang="tr-TR" sz="2000" b="1">
                <a:solidFill>
                  <a:srgbClr val="000066"/>
                </a:solidFill>
                <a:latin typeface="Verdana" pitchFamily="34" charset="0"/>
              </a:rPr>
              <a:t>gözden geçir ve uygulanabilir olduğunu doğrula</a:t>
            </a:r>
          </a:p>
          <a:p>
            <a:pPr eaLnBrk="1" hangingPunct="1">
              <a:buClr>
                <a:srgbClr val="CC0000"/>
              </a:buClr>
              <a:buFont typeface="Arial" pitchFamily="34" charset="0"/>
              <a:buNone/>
            </a:pPr>
            <a:endParaRPr lang="tr-TR" altLang="tr-TR" sz="2000" b="1">
              <a:solidFill>
                <a:srgbClr val="000066"/>
              </a:solidFill>
              <a:latin typeface="Verdana" pitchFamily="34" charset="0"/>
            </a:endParaRPr>
          </a:p>
          <a:p>
            <a:pPr eaLnBrk="1" hangingPunct="1">
              <a:buClr>
                <a:srgbClr val="CC0000"/>
              </a:buClr>
              <a:buFont typeface="Wingdings 2" pitchFamily="18" charset="2"/>
              <a:buChar char="E"/>
            </a:pPr>
            <a:r>
              <a:rPr lang="tr-TR" altLang="tr-TR" sz="2000" b="1">
                <a:solidFill>
                  <a:srgbClr val="FF0000"/>
                </a:solidFill>
                <a:latin typeface="Verdana" pitchFamily="34" charset="0"/>
              </a:rPr>
              <a:t>İzni tamamla</a:t>
            </a:r>
            <a:endParaRPr lang="en-US" altLang="tr-TR" sz="2000" b="1">
              <a:solidFill>
                <a:srgbClr val="FF0000"/>
              </a:solidFill>
              <a:latin typeface="Verdana" pitchFamily="34" charset="0"/>
            </a:endParaRPr>
          </a:p>
        </p:txBody>
      </p:sp>
      <p:pic>
        <p:nvPicPr>
          <p:cNvPr id="54281" name="Picture 20" descr="ecat-train-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87675" y="4724400"/>
            <a:ext cx="2897188" cy="2111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ayt Numarası Yer Tutucusu 1"/>
          <p:cNvSpPr>
            <a:spLocks noGrp="1"/>
          </p:cNvSpPr>
          <p:nvPr>
            <p:ph type="sldNum" sz="quarter" idx="12"/>
          </p:nvPr>
        </p:nvSpPr>
        <p:spPr/>
        <p:txBody>
          <a:bodyPr/>
          <a:lstStyle/>
          <a:p>
            <a:pPr>
              <a:defRPr/>
            </a:pPr>
            <a:fld id="{DABB5A82-3B90-48FE-ACD0-2FA34C71F0C3}" type="slidenum">
              <a:rPr lang="tr-TR" smtClean="0"/>
              <a:pPr>
                <a:defRPr/>
              </a:pPr>
              <a:t>30</a:t>
            </a:fld>
            <a:endParaRPr lang="tr-TR"/>
          </a:p>
        </p:txBody>
      </p:sp>
    </p:spTree>
    <p:extLst>
      <p:ext uri="{BB962C8B-B14F-4D97-AF65-F5344CB8AC3E}">
        <p14:creationId xmlns="" xmlns:p14="http://schemas.microsoft.com/office/powerpoint/2010/main" val="980822169"/>
      </p:ext>
    </p:extLst>
  </p:cSld>
  <p:clrMapOvr>
    <a:masterClrMapping/>
  </p:clrMapOvr>
  <p:transition advClick="0"/>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2486" name="Group 22"/>
          <p:cNvGraphicFramePr>
            <a:graphicFrameLocks noGrp="1"/>
          </p:cNvGraphicFramePr>
          <p:nvPr>
            <p:extLst>
              <p:ext uri="{D42A27DB-BD31-4B8C-83A1-F6EECF244321}">
                <p14:modId xmlns="" xmlns:p14="http://schemas.microsoft.com/office/powerpoint/2010/main" val="1106877653"/>
              </p:ext>
            </p:extLst>
          </p:nvPr>
        </p:nvGraphicFramePr>
        <p:xfrm>
          <a:off x="269875" y="333375"/>
          <a:ext cx="5111750" cy="762012"/>
        </p:xfrm>
        <a:graphic>
          <a:graphicData uri="http://schemas.openxmlformats.org/drawingml/2006/table">
            <a:tbl>
              <a:tblPr/>
              <a:tblGrid>
                <a:gridCol w="5111750"/>
              </a:tblGrid>
              <a:tr h="762000">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r>
                        <a:rPr kumimoji="0" lang="tr-TR" sz="4400" b="1" i="0" u="none" strike="noStrike" cap="none" normalizeH="0" baseline="0" dirty="0" smtClean="0">
                          <a:ln>
                            <a:noFill/>
                          </a:ln>
                          <a:solidFill>
                            <a:srgbClr val="FF0000"/>
                          </a:solidFill>
                          <a:effectLst/>
                          <a:latin typeface="Verdana" pitchFamily="34" charset="0"/>
                        </a:rPr>
                        <a:t>4-İzni tamamla</a:t>
                      </a:r>
                    </a:p>
                  </a:txBody>
                  <a:tcPr marL="91423" marR="91423"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5304" name="Rectangle 19"/>
          <p:cNvSpPr>
            <a:spLocks noChangeArrowheads="1"/>
          </p:cNvSpPr>
          <p:nvPr/>
        </p:nvSpPr>
        <p:spPr bwMode="auto">
          <a:xfrm>
            <a:off x="0" y="1196975"/>
            <a:ext cx="9161463" cy="5262563"/>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buClr>
                <a:srgbClr val="CC0000"/>
              </a:buClr>
              <a:buFont typeface="Wingdings 2" pitchFamily="18" charset="2"/>
              <a:buChar char="E"/>
            </a:pPr>
            <a:r>
              <a:rPr lang="tr-TR" altLang="tr-TR" sz="2400" b="1">
                <a:solidFill>
                  <a:srgbClr val="000066"/>
                </a:solidFill>
                <a:latin typeface="Verdana" pitchFamily="34" charset="0"/>
              </a:rPr>
              <a:t>Kapalı alana girişten önce izin </a:t>
            </a:r>
            <a:r>
              <a:rPr lang="tr-TR" altLang="tr-TR" sz="2400" b="1">
                <a:solidFill>
                  <a:srgbClr val="FF0000"/>
                </a:solidFill>
                <a:latin typeface="Verdana" pitchFamily="34" charset="0"/>
              </a:rPr>
              <a:t>tam ve doğru olarak</a:t>
            </a:r>
            <a:r>
              <a:rPr lang="tr-TR" altLang="tr-TR" sz="2400" b="1">
                <a:solidFill>
                  <a:srgbClr val="000066"/>
                </a:solidFill>
                <a:latin typeface="Verdana" pitchFamily="34" charset="0"/>
              </a:rPr>
              <a:t> doldurulmalıdır.</a:t>
            </a:r>
          </a:p>
          <a:p>
            <a:pPr eaLnBrk="1" hangingPunct="1">
              <a:buClr>
                <a:srgbClr val="CC0000"/>
              </a:buClr>
              <a:buFont typeface="Wingdings 2" pitchFamily="18" charset="2"/>
              <a:buChar char="E"/>
            </a:pPr>
            <a:endParaRPr lang="tr-TR" altLang="tr-TR" sz="2400" b="1">
              <a:solidFill>
                <a:srgbClr val="000066"/>
              </a:solidFill>
              <a:latin typeface="Verdana" pitchFamily="34" charset="0"/>
            </a:endParaRPr>
          </a:p>
          <a:p>
            <a:pPr eaLnBrk="1" hangingPunct="1">
              <a:buClr>
                <a:srgbClr val="CC0000"/>
              </a:buClr>
              <a:buFont typeface="Wingdings 2" pitchFamily="18" charset="2"/>
              <a:buChar char="E"/>
            </a:pPr>
            <a:r>
              <a:rPr lang="tr-TR" altLang="tr-TR" sz="2400" b="1">
                <a:solidFill>
                  <a:srgbClr val="000066"/>
                </a:solidFill>
                <a:latin typeface="Verdana" pitchFamily="34" charset="0"/>
              </a:rPr>
              <a:t>İznin geçerli olabilmesi için </a:t>
            </a:r>
            <a:r>
              <a:rPr lang="tr-TR" altLang="tr-TR" sz="2400" b="1">
                <a:solidFill>
                  <a:srgbClr val="FF0000"/>
                </a:solidFill>
                <a:latin typeface="Verdana" pitchFamily="34" charset="0"/>
              </a:rPr>
              <a:t>Yetki Veren’in imzası </a:t>
            </a:r>
            <a:r>
              <a:rPr lang="tr-TR" altLang="tr-TR" sz="2400" b="1">
                <a:solidFill>
                  <a:srgbClr val="000066"/>
                </a:solidFill>
                <a:latin typeface="Verdana" pitchFamily="34" charset="0"/>
              </a:rPr>
              <a:t>bulunmalıdır.</a:t>
            </a:r>
          </a:p>
          <a:p>
            <a:pPr eaLnBrk="1" hangingPunct="1">
              <a:buClr>
                <a:srgbClr val="CC0000"/>
              </a:buClr>
              <a:buFont typeface="Wingdings 2" pitchFamily="18" charset="2"/>
              <a:buChar char="E"/>
            </a:pPr>
            <a:endParaRPr lang="tr-TR" altLang="tr-TR" sz="2400" b="1">
              <a:solidFill>
                <a:srgbClr val="000066"/>
              </a:solidFill>
              <a:latin typeface="Verdana" pitchFamily="34" charset="0"/>
            </a:endParaRPr>
          </a:p>
          <a:p>
            <a:pPr eaLnBrk="1" hangingPunct="1">
              <a:buClr>
                <a:srgbClr val="CC0000"/>
              </a:buClr>
              <a:buFont typeface="Wingdings 2" pitchFamily="18" charset="2"/>
              <a:buChar char="E"/>
            </a:pPr>
            <a:r>
              <a:rPr lang="tr-TR" altLang="tr-TR" sz="2400" b="1">
                <a:solidFill>
                  <a:srgbClr val="000066"/>
                </a:solidFill>
                <a:latin typeface="Verdana" pitchFamily="34" charset="0"/>
              </a:rPr>
              <a:t>Geçerli bir izin olmadan </a:t>
            </a:r>
            <a:r>
              <a:rPr lang="tr-TR" altLang="tr-TR" sz="2400" b="1">
                <a:solidFill>
                  <a:srgbClr val="FF0000"/>
                </a:solidFill>
                <a:latin typeface="Verdana" pitchFamily="34" charset="0"/>
              </a:rPr>
              <a:t>giriş yapılamaz.</a:t>
            </a:r>
          </a:p>
          <a:p>
            <a:pPr eaLnBrk="1" hangingPunct="1">
              <a:buClr>
                <a:srgbClr val="CC0000"/>
              </a:buClr>
              <a:buFont typeface="Wingdings 2" pitchFamily="18" charset="2"/>
              <a:buChar char="E"/>
            </a:pPr>
            <a:endParaRPr lang="tr-TR" altLang="tr-TR" sz="2400" b="1">
              <a:solidFill>
                <a:srgbClr val="000066"/>
              </a:solidFill>
              <a:latin typeface="Verdana" pitchFamily="34" charset="0"/>
            </a:endParaRPr>
          </a:p>
          <a:p>
            <a:pPr eaLnBrk="1" hangingPunct="1">
              <a:buClr>
                <a:srgbClr val="CC0000"/>
              </a:buClr>
              <a:buFont typeface="Wingdings 2" pitchFamily="18" charset="2"/>
              <a:buChar char="E"/>
            </a:pPr>
            <a:r>
              <a:rPr lang="tr-TR" altLang="tr-TR" sz="2400" b="1">
                <a:solidFill>
                  <a:srgbClr val="000066"/>
                </a:solidFill>
                <a:latin typeface="Verdana" pitchFamily="34" charset="0"/>
              </a:rPr>
              <a:t>İzinler </a:t>
            </a:r>
            <a:r>
              <a:rPr lang="tr-TR" altLang="tr-TR" sz="2400" b="1">
                <a:solidFill>
                  <a:srgbClr val="FF0000"/>
                </a:solidFill>
                <a:latin typeface="Verdana" pitchFamily="34" charset="0"/>
              </a:rPr>
              <a:t>12 saate kadar geçerlidir.</a:t>
            </a:r>
          </a:p>
          <a:p>
            <a:pPr eaLnBrk="1" hangingPunct="1">
              <a:buClr>
                <a:srgbClr val="CC0000"/>
              </a:buClr>
              <a:buFont typeface="Wingdings 2" pitchFamily="18" charset="2"/>
              <a:buChar char="E"/>
            </a:pPr>
            <a:endParaRPr lang="tr-TR" altLang="tr-TR" sz="2400" b="1">
              <a:solidFill>
                <a:srgbClr val="000066"/>
              </a:solidFill>
              <a:latin typeface="Verdana" pitchFamily="34" charset="0"/>
            </a:endParaRPr>
          </a:p>
          <a:p>
            <a:pPr eaLnBrk="1" hangingPunct="1">
              <a:buClr>
                <a:srgbClr val="CC0000"/>
              </a:buClr>
              <a:buFont typeface="Wingdings 2" pitchFamily="18" charset="2"/>
              <a:buChar char="E"/>
            </a:pPr>
            <a:r>
              <a:rPr lang="tr-TR" altLang="tr-TR" sz="2400" b="1">
                <a:solidFill>
                  <a:srgbClr val="000066"/>
                </a:solidFill>
                <a:latin typeface="Verdana" pitchFamily="34" charset="0"/>
              </a:rPr>
              <a:t>İş tamamlandığı zaman </a:t>
            </a:r>
            <a:r>
              <a:rPr lang="tr-TR" altLang="tr-TR" sz="2400" b="1">
                <a:solidFill>
                  <a:srgbClr val="FF0000"/>
                </a:solidFill>
                <a:latin typeface="Verdana" pitchFamily="34" charset="0"/>
              </a:rPr>
              <a:t>izin İSG Yöneticisine teslim edilmelidir.</a:t>
            </a:r>
          </a:p>
          <a:p>
            <a:pPr eaLnBrk="1" hangingPunct="1">
              <a:buClr>
                <a:srgbClr val="CC0000"/>
              </a:buClr>
              <a:buFont typeface="Wingdings 2" pitchFamily="18" charset="2"/>
              <a:buChar char="E"/>
            </a:pPr>
            <a:endParaRPr lang="tr-TR" altLang="tr-TR" sz="2400" b="1">
              <a:solidFill>
                <a:srgbClr val="000066"/>
              </a:solidFill>
              <a:latin typeface="Verdana" pitchFamily="34" charset="0"/>
            </a:endParaRPr>
          </a:p>
          <a:p>
            <a:pPr eaLnBrk="1" hangingPunct="1">
              <a:buClr>
                <a:srgbClr val="CC0000"/>
              </a:buClr>
              <a:buFont typeface="Wingdings 2" pitchFamily="18" charset="2"/>
              <a:buChar char="E"/>
            </a:pPr>
            <a:r>
              <a:rPr lang="tr-TR" altLang="tr-TR" sz="2400" b="1">
                <a:solidFill>
                  <a:srgbClr val="FF0000"/>
                </a:solidFill>
                <a:latin typeface="Verdana" pitchFamily="34" charset="0"/>
              </a:rPr>
              <a:t>İptal edilen </a:t>
            </a:r>
            <a:r>
              <a:rPr lang="tr-TR" altLang="tr-TR" sz="2400" b="1">
                <a:solidFill>
                  <a:srgbClr val="000066"/>
                </a:solidFill>
                <a:latin typeface="Verdana" pitchFamily="34" charset="0"/>
              </a:rPr>
              <a:t>izinler </a:t>
            </a:r>
            <a:r>
              <a:rPr lang="tr-TR" altLang="tr-TR" sz="2400" b="1">
                <a:solidFill>
                  <a:srgbClr val="FF0000"/>
                </a:solidFill>
                <a:latin typeface="Verdana" pitchFamily="34" charset="0"/>
              </a:rPr>
              <a:t>en az 1 sene saklanmalıdır.</a:t>
            </a:r>
          </a:p>
        </p:txBody>
      </p:sp>
      <p:sp>
        <p:nvSpPr>
          <p:cNvPr id="2" name="Slayt Numarası Yer Tutucusu 1"/>
          <p:cNvSpPr>
            <a:spLocks noGrp="1"/>
          </p:cNvSpPr>
          <p:nvPr>
            <p:ph type="sldNum" sz="quarter" idx="12"/>
          </p:nvPr>
        </p:nvSpPr>
        <p:spPr/>
        <p:txBody>
          <a:bodyPr/>
          <a:lstStyle/>
          <a:p>
            <a:pPr>
              <a:defRPr/>
            </a:pPr>
            <a:fld id="{AB00F8BF-A143-4B13-8DC5-8E269DE16711}" type="slidenum">
              <a:rPr lang="tr-TR" smtClean="0"/>
              <a:pPr>
                <a:defRPr/>
              </a:pPr>
              <a:t>31</a:t>
            </a:fld>
            <a:endParaRPr lang="tr-TR"/>
          </a:p>
        </p:txBody>
      </p:sp>
    </p:spTree>
    <p:extLst>
      <p:ext uri="{BB962C8B-B14F-4D97-AF65-F5344CB8AC3E}">
        <p14:creationId xmlns="" xmlns:p14="http://schemas.microsoft.com/office/powerpoint/2010/main" val="570908611"/>
      </p:ext>
    </p:extLst>
  </p:cSld>
  <p:clrMapOvr>
    <a:masterClrMapping/>
  </p:clrMapOvr>
  <p:transition advClick="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6" name="Picture 4" descr="monitor1"/>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339975" y="1160463"/>
            <a:ext cx="2447925" cy="233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7397" name="Picture 5" descr="harness"/>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385763" y="4149725"/>
            <a:ext cx="1954212" cy="2501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7398" name="Picture 6" descr="blower"/>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5651500" y="1160463"/>
            <a:ext cx="3168650" cy="2332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8373" name="Başlık 1"/>
          <p:cNvSpPr>
            <a:spLocks noGrp="1"/>
          </p:cNvSpPr>
          <p:nvPr>
            <p:ph type="title"/>
          </p:nvPr>
        </p:nvSpPr>
        <p:spPr>
          <a:xfrm>
            <a:off x="0" y="0"/>
            <a:ext cx="8767763" cy="1165225"/>
          </a:xfrm>
        </p:spPr>
        <p:txBody>
          <a:bodyPr/>
          <a:lstStyle/>
          <a:p>
            <a:r>
              <a:rPr lang="tr-TR" altLang="tr-TR" b="1" smtClean="0">
                <a:solidFill>
                  <a:srgbClr val="0070C0"/>
                </a:solidFill>
                <a:latin typeface="+mj-lt"/>
              </a:rPr>
              <a:t>Yardımcı donanım ve ekipmanlar</a:t>
            </a:r>
          </a:p>
        </p:txBody>
      </p:sp>
      <p:pic>
        <p:nvPicPr>
          <p:cNvPr id="58374" name="Picture 3" descr="http://www.raesystems.com/attached_images/1162_th.jpg">
            <a:hlinkClick r:id="rId7"/>
          </p:cNvPr>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323850" y="1209675"/>
            <a:ext cx="1727200" cy="22875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375" name="Picture 2"/>
          <p:cNvPicPr>
            <a:picLocks noChangeAspect="1" noChangeArrowheads="1"/>
          </p:cNvPicPr>
          <p:nvPr>
            <p:custDataLst>
              <p:tags r:id="rId1"/>
            </p:custDataLst>
          </p:nvPr>
        </p:nvPicPr>
        <p:blipFill>
          <a:blip r:embed="rId9" cstate="print">
            <a:extLst>
              <a:ext uri="{28A0092B-C50C-407E-A947-70E740481C1C}">
                <a14:useLocalDpi xmlns="" xmlns:a14="http://schemas.microsoft.com/office/drawing/2010/main" val="0"/>
              </a:ext>
            </a:extLst>
          </a:blip>
          <a:srcRect/>
          <a:stretch>
            <a:fillRect/>
          </a:stretch>
        </p:blipFill>
        <p:spPr bwMode="auto">
          <a:xfrm>
            <a:off x="2916238" y="3733800"/>
            <a:ext cx="2017712" cy="3133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376" name="Picture 5" descr="6nz16"/>
          <p:cNvPicPr>
            <a:picLocks noChangeAspect="1" noChangeArrowheads="1"/>
          </p:cNvPicPr>
          <p:nvPr/>
        </p:nvPicPr>
        <p:blipFill>
          <a:blip r:embed="rId10" cstate="print">
            <a:extLst>
              <a:ext uri="{28A0092B-C50C-407E-A947-70E740481C1C}">
                <a14:useLocalDpi xmlns="" xmlns:a14="http://schemas.microsoft.com/office/drawing/2010/main" val="0"/>
              </a:ext>
            </a:extLst>
          </a:blip>
          <a:srcRect/>
          <a:stretch>
            <a:fillRect/>
          </a:stretch>
        </p:blipFill>
        <p:spPr bwMode="auto">
          <a:xfrm>
            <a:off x="5148263" y="3606800"/>
            <a:ext cx="1439862" cy="3167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377" name="Resim 11" descr="http://www.kayagrubu.com.tr/uploaded/safety/T-150-EL-VINCLI15_28_36_b.png"/>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6875463" y="3733800"/>
            <a:ext cx="2089150" cy="2913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838019159"/>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7396"/>
                                        </p:tgtEl>
                                        <p:attrNameLst>
                                          <p:attrName>style.visibility</p:attrName>
                                        </p:attrNameLst>
                                      </p:cBhvr>
                                      <p:to>
                                        <p:strVal val="visible"/>
                                      </p:to>
                                    </p:set>
                                    <p:anim calcmode="lin" valueType="num">
                                      <p:cBhvr additive="base">
                                        <p:cTn id="7" dur="500" fill="hold"/>
                                        <p:tgtEl>
                                          <p:spTgt spid="187396"/>
                                        </p:tgtEl>
                                        <p:attrNameLst>
                                          <p:attrName>ppt_x</p:attrName>
                                        </p:attrNameLst>
                                      </p:cBhvr>
                                      <p:tavLst>
                                        <p:tav tm="0">
                                          <p:val>
                                            <p:strVal val="#ppt_x"/>
                                          </p:val>
                                        </p:tav>
                                        <p:tav tm="100000">
                                          <p:val>
                                            <p:strVal val="#ppt_x"/>
                                          </p:val>
                                        </p:tav>
                                      </p:tavLst>
                                    </p:anim>
                                    <p:anim calcmode="lin" valueType="num">
                                      <p:cBhvr additive="base">
                                        <p:cTn id="8" dur="500" fill="hold"/>
                                        <p:tgtEl>
                                          <p:spTgt spid="1873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7398"/>
                                        </p:tgtEl>
                                        <p:attrNameLst>
                                          <p:attrName>style.visibility</p:attrName>
                                        </p:attrNameLst>
                                      </p:cBhvr>
                                      <p:to>
                                        <p:strVal val="visible"/>
                                      </p:to>
                                    </p:set>
                                    <p:anim calcmode="lin" valueType="num">
                                      <p:cBhvr additive="base">
                                        <p:cTn id="13" dur="500" fill="hold"/>
                                        <p:tgtEl>
                                          <p:spTgt spid="187398"/>
                                        </p:tgtEl>
                                        <p:attrNameLst>
                                          <p:attrName>ppt_x</p:attrName>
                                        </p:attrNameLst>
                                      </p:cBhvr>
                                      <p:tavLst>
                                        <p:tav tm="0">
                                          <p:val>
                                            <p:strVal val="#ppt_x"/>
                                          </p:val>
                                        </p:tav>
                                        <p:tav tm="100000">
                                          <p:val>
                                            <p:strVal val="#ppt_x"/>
                                          </p:val>
                                        </p:tav>
                                      </p:tavLst>
                                    </p:anim>
                                    <p:anim calcmode="lin" valueType="num">
                                      <p:cBhvr additive="base">
                                        <p:cTn id="14" dur="500" fill="hold"/>
                                        <p:tgtEl>
                                          <p:spTgt spid="18739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7397"/>
                                        </p:tgtEl>
                                        <p:attrNameLst>
                                          <p:attrName>style.visibility</p:attrName>
                                        </p:attrNameLst>
                                      </p:cBhvr>
                                      <p:to>
                                        <p:strVal val="visible"/>
                                      </p:to>
                                    </p:set>
                                    <p:anim calcmode="lin" valueType="num">
                                      <p:cBhvr additive="base">
                                        <p:cTn id="19" dur="500" fill="hold"/>
                                        <p:tgtEl>
                                          <p:spTgt spid="187397"/>
                                        </p:tgtEl>
                                        <p:attrNameLst>
                                          <p:attrName>ppt_x</p:attrName>
                                        </p:attrNameLst>
                                      </p:cBhvr>
                                      <p:tavLst>
                                        <p:tav tm="0">
                                          <p:val>
                                            <p:strVal val="#ppt_x"/>
                                          </p:val>
                                        </p:tav>
                                        <p:tav tm="100000">
                                          <p:val>
                                            <p:strVal val="#ppt_x"/>
                                          </p:val>
                                        </p:tav>
                                      </p:tavLst>
                                    </p:anim>
                                    <p:anim calcmode="lin" valueType="num">
                                      <p:cBhvr additive="base">
                                        <p:cTn id="20" dur="500" fill="hold"/>
                                        <p:tgtEl>
                                          <p:spTgt spid="1873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Resim 1"/>
          <p:cNvPicPr>
            <a:picLocks noChangeAspect="1"/>
          </p:cNvPicPr>
          <p:nvPr>
            <p:custDataLst>
              <p:tags r:id="rId1"/>
            </p:custDataLst>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382588"/>
            <a:ext cx="9144000" cy="6359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395" name="Başlık 1"/>
          <p:cNvSpPr>
            <a:spLocks noGrp="1"/>
          </p:cNvSpPr>
          <p:nvPr>
            <p:ph type="title"/>
          </p:nvPr>
        </p:nvSpPr>
        <p:spPr>
          <a:xfrm>
            <a:off x="323850" y="-387350"/>
            <a:ext cx="8229600" cy="1143000"/>
          </a:xfrm>
        </p:spPr>
        <p:txBody>
          <a:bodyPr/>
          <a:lstStyle/>
          <a:p>
            <a:r>
              <a:rPr lang="tr-TR" altLang="tr-TR" sz="3200" b="1" dirty="0" smtClean="0">
                <a:solidFill>
                  <a:srgbClr val="FF0000"/>
                </a:solidFill>
                <a:latin typeface="+mj-lt"/>
              </a:rPr>
              <a:t>Giriş izin formu</a:t>
            </a:r>
          </a:p>
        </p:txBody>
      </p:sp>
    </p:spTree>
    <p:extLst>
      <p:ext uri="{BB962C8B-B14F-4D97-AF65-F5344CB8AC3E}">
        <p14:creationId xmlns="" xmlns:p14="http://schemas.microsoft.com/office/powerpoint/2010/main" val="1424240986"/>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0418" name="Picture 19" descr="confined1"/>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156325" y="3990975"/>
            <a:ext cx="2279650" cy="2520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0419" name="Rectangle 20"/>
          <p:cNvSpPr>
            <a:spLocks noChangeArrowheads="1"/>
          </p:cNvSpPr>
          <p:nvPr/>
        </p:nvSpPr>
        <p:spPr bwMode="auto">
          <a:xfrm>
            <a:off x="236538" y="908719"/>
            <a:ext cx="8007870" cy="3416320"/>
          </a:xfrm>
          <a:prstGeom prst="rect">
            <a:avLst/>
          </a:prstGeom>
          <a:solidFill>
            <a:schemeClr val="bg2"/>
          </a:solidFill>
          <a:ln w="9525">
            <a:solidFill>
              <a:schemeClr val="tx1"/>
            </a:solidFill>
            <a:miter lim="800000"/>
            <a:headEnd/>
            <a:tailEnd/>
          </a:ln>
        </p:spPr>
        <p:txBody>
          <a:bodyPr wrap="square">
            <a:spAutoFit/>
          </a:bodyPr>
          <a:lstStyle>
            <a:lvl1pPr marL="457200" indent="-457200"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buClr>
                <a:srgbClr val="CC0000"/>
              </a:buClr>
              <a:buFont typeface="Wingdings 2" pitchFamily="18" charset="2"/>
              <a:buChar char="E"/>
            </a:pPr>
            <a:r>
              <a:rPr lang="tr-TR" altLang="tr-TR" sz="2400" b="1" dirty="0">
                <a:solidFill>
                  <a:srgbClr val="FF0000"/>
                </a:solidFill>
                <a:latin typeface="Verdana" pitchFamily="34" charset="0"/>
              </a:rPr>
              <a:t>Oksijen</a:t>
            </a:r>
            <a:r>
              <a:rPr lang="tr-TR" altLang="tr-TR" sz="2400" b="1" dirty="0">
                <a:solidFill>
                  <a:srgbClr val="000066"/>
                </a:solidFill>
                <a:latin typeface="Verdana" pitchFamily="34" charset="0"/>
              </a:rPr>
              <a:t> seviyesini kontrol et </a:t>
            </a:r>
          </a:p>
          <a:p>
            <a:pPr eaLnBrk="1" hangingPunct="1">
              <a:buClr>
                <a:srgbClr val="CC0000"/>
              </a:buClr>
              <a:buFont typeface="Wingdings 2" pitchFamily="18" charset="2"/>
              <a:buNone/>
            </a:pPr>
            <a:r>
              <a:rPr lang="tr-TR" altLang="tr-TR" sz="2400" b="1" dirty="0">
                <a:solidFill>
                  <a:srgbClr val="000066"/>
                </a:solidFill>
                <a:latin typeface="Verdana" pitchFamily="34" charset="0"/>
              </a:rPr>
              <a:t>     (</a:t>
            </a:r>
            <a:r>
              <a:rPr lang="tr-TR" altLang="tr-TR" sz="2400" b="1" dirty="0">
                <a:solidFill>
                  <a:srgbClr val="FF0000"/>
                </a:solidFill>
                <a:latin typeface="Verdana" pitchFamily="34" charset="0"/>
              </a:rPr>
              <a:t>%</a:t>
            </a:r>
            <a:r>
              <a:rPr lang="en-US" altLang="tr-TR" sz="2400" b="1" dirty="0">
                <a:solidFill>
                  <a:srgbClr val="FF0000"/>
                </a:solidFill>
                <a:latin typeface="Verdana" pitchFamily="34" charset="0"/>
              </a:rPr>
              <a:t>19.5</a:t>
            </a:r>
            <a:r>
              <a:rPr lang="en-US" altLang="tr-TR" sz="2400" b="1" dirty="0">
                <a:solidFill>
                  <a:srgbClr val="000066"/>
                </a:solidFill>
                <a:latin typeface="Verdana" pitchFamily="34" charset="0"/>
              </a:rPr>
              <a:t> &lt;</a:t>
            </a:r>
            <a:r>
              <a:rPr lang="tr-TR" altLang="tr-TR" sz="2400" b="1" dirty="0">
                <a:solidFill>
                  <a:srgbClr val="000066"/>
                </a:solidFill>
                <a:latin typeface="Verdana" pitchFamily="34" charset="0"/>
              </a:rPr>
              <a:t> </a:t>
            </a:r>
            <a:r>
              <a:rPr lang="tr-TR" altLang="tr-TR" sz="2000" b="1" dirty="0">
                <a:solidFill>
                  <a:srgbClr val="000066"/>
                </a:solidFill>
                <a:latin typeface="Verdana" pitchFamily="34" charset="0"/>
              </a:rPr>
              <a:t>O2 konsantrasyonu </a:t>
            </a:r>
            <a:r>
              <a:rPr lang="tr-TR" altLang="tr-TR" sz="2000" b="1" dirty="0">
                <a:solidFill>
                  <a:srgbClr val="FF0000"/>
                </a:solidFill>
                <a:latin typeface="Verdana" pitchFamily="34" charset="0"/>
              </a:rPr>
              <a:t> </a:t>
            </a:r>
            <a:r>
              <a:rPr lang="en-US" altLang="tr-TR" sz="2400" b="1" dirty="0">
                <a:solidFill>
                  <a:srgbClr val="000066"/>
                </a:solidFill>
                <a:latin typeface="Verdana" pitchFamily="34" charset="0"/>
              </a:rPr>
              <a:t>&lt;</a:t>
            </a:r>
            <a:r>
              <a:rPr lang="en-US" altLang="tr-TR" sz="2000" b="1" dirty="0">
                <a:solidFill>
                  <a:srgbClr val="000066"/>
                </a:solidFill>
                <a:latin typeface="Verdana" pitchFamily="34" charset="0"/>
              </a:rPr>
              <a:t> </a:t>
            </a:r>
            <a:r>
              <a:rPr lang="tr-TR" altLang="tr-TR" sz="2400" b="1" dirty="0">
                <a:solidFill>
                  <a:srgbClr val="FF0000"/>
                </a:solidFill>
                <a:latin typeface="Verdana" pitchFamily="34" charset="0"/>
              </a:rPr>
              <a:t>% </a:t>
            </a:r>
            <a:r>
              <a:rPr lang="en-US" altLang="tr-TR" sz="2400" b="1" dirty="0">
                <a:solidFill>
                  <a:srgbClr val="FF0000"/>
                </a:solidFill>
                <a:latin typeface="Verdana" pitchFamily="34" charset="0"/>
              </a:rPr>
              <a:t>23</a:t>
            </a:r>
            <a:r>
              <a:rPr lang="tr-TR" altLang="tr-TR" sz="2400" b="1" dirty="0">
                <a:solidFill>
                  <a:srgbClr val="000066"/>
                </a:solidFill>
                <a:latin typeface="Verdana" pitchFamily="34" charset="0"/>
              </a:rPr>
              <a:t>)</a:t>
            </a:r>
          </a:p>
          <a:p>
            <a:pPr eaLnBrk="1" hangingPunct="1">
              <a:buClr>
                <a:srgbClr val="CC0000"/>
              </a:buClr>
              <a:buFont typeface="Wingdings 2" pitchFamily="18" charset="2"/>
              <a:buChar char="E"/>
            </a:pPr>
            <a:endParaRPr lang="tr-TR" altLang="tr-TR" sz="2400" b="1" dirty="0">
              <a:solidFill>
                <a:srgbClr val="000066"/>
              </a:solidFill>
              <a:latin typeface="Verdana" pitchFamily="34" charset="0"/>
            </a:endParaRPr>
          </a:p>
          <a:p>
            <a:pPr eaLnBrk="1" hangingPunct="1">
              <a:buClr>
                <a:srgbClr val="CC0000"/>
              </a:buClr>
              <a:buFont typeface="Wingdings 2" pitchFamily="18" charset="2"/>
              <a:buChar char="E"/>
            </a:pPr>
            <a:r>
              <a:rPr lang="tr-TR" altLang="tr-TR" sz="2400" b="1" dirty="0">
                <a:solidFill>
                  <a:srgbClr val="FF0000"/>
                </a:solidFill>
                <a:latin typeface="Verdana" pitchFamily="34" charset="0"/>
              </a:rPr>
              <a:t>Yanıcı, parlayıcıları </a:t>
            </a:r>
            <a:r>
              <a:rPr lang="tr-TR" altLang="tr-TR" sz="2400" b="1" dirty="0">
                <a:solidFill>
                  <a:srgbClr val="000066"/>
                </a:solidFill>
                <a:latin typeface="Verdana" pitchFamily="34" charset="0"/>
              </a:rPr>
              <a:t>kontrol et</a:t>
            </a:r>
          </a:p>
          <a:p>
            <a:pPr eaLnBrk="1" hangingPunct="1">
              <a:buClr>
                <a:srgbClr val="CC0000"/>
              </a:buClr>
              <a:buFont typeface="Wingdings 2" pitchFamily="18" charset="2"/>
              <a:buChar char="E"/>
            </a:pPr>
            <a:endParaRPr lang="tr-TR" altLang="tr-TR" sz="2400" b="1" dirty="0">
              <a:solidFill>
                <a:srgbClr val="000066"/>
              </a:solidFill>
              <a:latin typeface="Verdana" pitchFamily="34" charset="0"/>
            </a:endParaRPr>
          </a:p>
          <a:p>
            <a:pPr eaLnBrk="1" hangingPunct="1">
              <a:buClr>
                <a:srgbClr val="CC0000"/>
              </a:buClr>
              <a:buFont typeface="Wingdings 2" pitchFamily="18" charset="2"/>
              <a:buChar char="E"/>
            </a:pPr>
            <a:r>
              <a:rPr lang="tr-TR" altLang="tr-TR" sz="2400" b="1" dirty="0">
                <a:solidFill>
                  <a:srgbClr val="FF0000"/>
                </a:solidFill>
                <a:latin typeface="Verdana" pitchFamily="34" charset="0"/>
              </a:rPr>
              <a:t>Parlama seviyesi </a:t>
            </a:r>
            <a:r>
              <a:rPr lang="tr-TR" altLang="tr-TR" sz="2400" b="1" dirty="0">
                <a:solidFill>
                  <a:srgbClr val="002060"/>
                </a:solidFill>
                <a:latin typeface="Verdana" pitchFamily="34" charset="0"/>
              </a:rPr>
              <a:t>(</a:t>
            </a:r>
            <a:r>
              <a:rPr lang="tr-TR" altLang="tr-TR" sz="2000" b="1" dirty="0">
                <a:latin typeface="Verdana" pitchFamily="34" charset="0"/>
              </a:rPr>
              <a:t>kendi</a:t>
            </a:r>
            <a:r>
              <a:rPr lang="tr-TR" altLang="tr-TR" sz="2400" b="1" dirty="0">
                <a:solidFill>
                  <a:srgbClr val="002060"/>
                </a:solidFill>
                <a:latin typeface="Verdana" pitchFamily="34" charset="0"/>
              </a:rPr>
              <a:t> ‘</a:t>
            </a:r>
            <a:r>
              <a:rPr lang="en-US" altLang="tr-TR" sz="2400" b="1" dirty="0">
                <a:latin typeface="Calibri" pitchFamily="34" charset="0"/>
              </a:rPr>
              <a:t>LEL</a:t>
            </a:r>
            <a:r>
              <a:rPr lang="tr-TR" altLang="tr-TR" sz="2400" b="1" dirty="0">
                <a:latin typeface="Calibri" pitchFamily="34" charset="0"/>
              </a:rPr>
              <a:t>’ değerinin </a:t>
            </a:r>
            <a:r>
              <a:rPr lang="en-US" altLang="tr-TR" sz="2400" b="1" dirty="0">
                <a:latin typeface="Calibri" pitchFamily="34" charset="0"/>
              </a:rPr>
              <a:t>%10</a:t>
            </a:r>
            <a:r>
              <a:rPr lang="tr-TR" altLang="tr-TR" sz="2400" b="1" dirty="0">
                <a:latin typeface="Calibri" pitchFamily="34" charset="0"/>
              </a:rPr>
              <a:t>’undan küçük olmalıdır</a:t>
            </a:r>
            <a:r>
              <a:rPr lang="tr-TR" altLang="tr-TR" sz="2400" b="1" dirty="0">
                <a:solidFill>
                  <a:srgbClr val="002060"/>
                </a:solidFill>
                <a:latin typeface="Calibri" pitchFamily="34" charset="0"/>
              </a:rPr>
              <a:t>. )</a:t>
            </a:r>
            <a:r>
              <a:rPr lang="en-US" altLang="tr-TR" sz="2400" b="1" dirty="0">
                <a:solidFill>
                  <a:srgbClr val="002060"/>
                </a:solidFill>
                <a:latin typeface="Calibri" pitchFamily="34" charset="0"/>
              </a:rPr>
              <a:t> </a:t>
            </a:r>
            <a:endParaRPr lang="tr-TR" altLang="tr-TR" sz="2400" b="1" dirty="0">
              <a:solidFill>
                <a:srgbClr val="002060"/>
              </a:solidFill>
              <a:latin typeface="Verdana" pitchFamily="34" charset="0"/>
            </a:endParaRPr>
          </a:p>
          <a:p>
            <a:pPr eaLnBrk="1" hangingPunct="1">
              <a:buClr>
                <a:srgbClr val="CC0000"/>
              </a:buClr>
              <a:buFont typeface="Wingdings 2" pitchFamily="18" charset="2"/>
              <a:buChar char="E"/>
            </a:pPr>
            <a:endParaRPr lang="en-US" altLang="tr-TR" sz="2400" b="1" dirty="0">
              <a:solidFill>
                <a:srgbClr val="000066"/>
              </a:solidFill>
              <a:latin typeface="Verdana" pitchFamily="34" charset="0"/>
            </a:endParaRPr>
          </a:p>
          <a:p>
            <a:pPr eaLnBrk="1" hangingPunct="1">
              <a:buClr>
                <a:srgbClr val="CC0000"/>
              </a:buClr>
              <a:buFont typeface="Wingdings 2" pitchFamily="18" charset="2"/>
              <a:buChar char="E"/>
            </a:pPr>
            <a:r>
              <a:rPr lang="tr-TR" altLang="tr-TR" sz="2400" b="1" dirty="0" err="1">
                <a:solidFill>
                  <a:srgbClr val="FF0000"/>
                </a:solidFill>
                <a:latin typeface="Verdana" pitchFamily="34" charset="0"/>
              </a:rPr>
              <a:t>Toksik</a:t>
            </a:r>
            <a:r>
              <a:rPr lang="tr-TR" altLang="tr-TR" sz="2400" b="1" dirty="0">
                <a:solidFill>
                  <a:srgbClr val="FF0000"/>
                </a:solidFill>
                <a:latin typeface="Verdana" pitchFamily="34" charset="0"/>
              </a:rPr>
              <a:t> (zehirli) gazları </a:t>
            </a:r>
            <a:r>
              <a:rPr lang="tr-TR" altLang="tr-TR" sz="2400" b="1" dirty="0">
                <a:solidFill>
                  <a:srgbClr val="000066"/>
                </a:solidFill>
                <a:latin typeface="Verdana" pitchFamily="34" charset="0"/>
              </a:rPr>
              <a:t>kontrol et</a:t>
            </a:r>
          </a:p>
        </p:txBody>
      </p:sp>
      <p:sp>
        <p:nvSpPr>
          <p:cNvPr id="2" name="Slayt Numarası Yer Tutucusu 1"/>
          <p:cNvSpPr>
            <a:spLocks noGrp="1"/>
          </p:cNvSpPr>
          <p:nvPr>
            <p:ph type="sldNum" sz="quarter" idx="12"/>
          </p:nvPr>
        </p:nvSpPr>
        <p:spPr/>
        <p:txBody>
          <a:bodyPr/>
          <a:lstStyle/>
          <a:p>
            <a:pPr>
              <a:defRPr/>
            </a:pPr>
            <a:fld id="{9299E018-85C4-4AED-9AB5-C9C7562A6467}" type="slidenum">
              <a:rPr lang="tr-TR" smtClean="0"/>
              <a:pPr>
                <a:defRPr/>
              </a:pPr>
              <a:t>34</a:t>
            </a:fld>
            <a:endParaRPr lang="tr-TR"/>
          </a:p>
        </p:txBody>
      </p:sp>
      <p:sp>
        <p:nvSpPr>
          <p:cNvPr id="60421" name="Dikdörtgen 2"/>
          <p:cNvSpPr>
            <a:spLocks noChangeArrowheads="1"/>
          </p:cNvSpPr>
          <p:nvPr/>
        </p:nvSpPr>
        <p:spPr bwMode="auto">
          <a:xfrm rot="10800000" flipV="1">
            <a:off x="236538" y="123825"/>
            <a:ext cx="6302375" cy="706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4000" b="1" dirty="0">
                <a:solidFill>
                  <a:srgbClr val="FF0000"/>
                </a:solidFill>
                <a:latin typeface="Arial Black" pitchFamily="34" charset="0"/>
              </a:rPr>
              <a:t>5- İç atmosferi test et</a:t>
            </a:r>
          </a:p>
        </p:txBody>
      </p:sp>
      <p:pic>
        <p:nvPicPr>
          <p:cNvPr id="6" name="Picture 4" descr="Instrument display"/>
          <p:cNvPicPr>
            <a:picLocks noChangeAspect="1" noChangeArrowheads="1"/>
          </p:cNvPicPr>
          <p:nvPr/>
        </p:nvPicPr>
        <p:blipFill>
          <a:blip r:embed="rId4" cstate="screen"/>
          <a:srcRect/>
          <a:stretch>
            <a:fillRect/>
          </a:stretch>
        </p:blipFill>
        <p:spPr bwMode="auto">
          <a:xfrm>
            <a:off x="236538" y="4284529"/>
            <a:ext cx="4839518" cy="2462519"/>
          </a:xfrm>
          <a:prstGeom prst="rect">
            <a:avLst/>
          </a:prstGeom>
          <a:solidFill>
            <a:srgbClr val="FFFFFF">
              <a:shade val="85000"/>
            </a:srgbClr>
          </a:solidFill>
          <a:ln w="1905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 xmlns:p14="http://schemas.microsoft.com/office/powerpoint/2010/main" val="1845883871"/>
      </p:ext>
    </p:extLst>
  </p:cSld>
  <p:clrMapOvr>
    <a:masterClrMapping/>
  </p:clrMapOvr>
  <p:transition advClick="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19"/>
          <p:cNvSpPr>
            <a:spLocks noChangeArrowheads="1"/>
          </p:cNvSpPr>
          <p:nvPr/>
        </p:nvSpPr>
        <p:spPr bwMode="auto">
          <a:xfrm>
            <a:off x="0" y="906463"/>
            <a:ext cx="9144000" cy="3540125"/>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200" b="1">
                <a:solidFill>
                  <a:srgbClr val="CC0000"/>
                </a:solidFill>
                <a:latin typeface="Verdana" pitchFamily="34" charset="0"/>
              </a:rPr>
              <a:t>Dikkat !!!</a:t>
            </a:r>
          </a:p>
          <a:p>
            <a:pPr eaLnBrk="1" hangingPunct="1"/>
            <a:endParaRPr lang="tr-TR" altLang="tr-TR" sz="2400" b="1">
              <a:solidFill>
                <a:srgbClr val="CC0000"/>
              </a:solidFill>
              <a:latin typeface="Verdana" pitchFamily="34" charset="0"/>
            </a:endParaRPr>
          </a:p>
          <a:p>
            <a:pPr eaLnBrk="1" hangingPunct="1"/>
            <a:r>
              <a:rPr lang="tr-TR" altLang="tr-TR" sz="2800" b="1">
                <a:solidFill>
                  <a:srgbClr val="000066"/>
                </a:solidFill>
                <a:latin typeface="Verdana" pitchFamily="34" charset="0"/>
              </a:rPr>
              <a:t>Ölçümler sonucunda </a:t>
            </a:r>
            <a:r>
              <a:rPr lang="tr-TR" altLang="tr-TR" sz="2800" b="1">
                <a:solidFill>
                  <a:srgbClr val="C00000"/>
                </a:solidFill>
                <a:latin typeface="Verdana" pitchFamily="34" charset="0"/>
              </a:rPr>
              <a:t>herhangi bir limit değerin</a:t>
            </a:r>
            <a:r>
              <a:rPr lang="tr-TR" altLang="tr-TR" sz="2800" b="1">
                <a:solidFill>
                  <a:srgbClr val="000066"/>
                </a:solidFill>
                <a:latin typeface="Verdana" pitchFamily="34" charset="0"/>
              </a:rPr>
              <a:t>, </a:t>
            </a:r>
            <a:r>
              <a:rPr lang="tr-TR" altLang="tr-TR" sz="2800" b="1">
                <a:solidFill>
                  <a:srgbClr val="FF0000"/>
                </a:solidFill>
                <a:latin typeface="Verdana" pitchFamily="34" charset="0"/>
              </a:rPr>
              <a:t>belirlenen sınır değerleri aşması durumunda tüm personel hemen kapalı alanı terk edecek </a:t>
            </a:r>
            <a:r>
              <a:rPr lang="tr-TR" altLang="tr-TR" sz="2800" b="1">
                <a:solidFill>
                  <a:srgbClr val="000066"/>
                </a:solidFill>
                <a:latin typeface="Verdana" pitchFamily="34" charset="0"/>
              </a:rPr>
              <a:t>ve atmosferik şartlar emniyetli sınırlara gelmedikçe kimse içeri girmeyecektir.</a:t>
            </a:r>
            <a:endParaRPr lang="en-US" altLang="tr-TR" sz="2800" b="1">
              <a:solidFill>
                <a:srgbClr val="000066"/>
              </a:solidFill>
              <a:latin typeface="Verdana" pitchFamily="34" charset="0"/>
            </a:endParaRPr>
          </a:p>
        </p:txBody>
      </p:sp>
      <p:pic>
        <p:nvPicPr>
          <p:cNvPr id="61443" name="Picture 20"/>
          <p:cNvPicPr>
            <a:picLocks noChangeAspect="1" noChangeArrowheads="1"/>
          </p:cNvPicPr>
          <p:nvPr/>
        </p:nvPicPr>
        <p:blipFill>
          <a:blip r:embed="rId3" cstate="print">
            <a:lum bright="-6000"/>
            <a:extLst>
              <a:ext uri="{28A0092B-C50C-407E-A947-70E740481C1C}">
                <a14:useLocalDpi xmlns="" xmlns:a14="http://schemas.microsoft.com/office/drawing/2010/main" val="0"/>
              </a:ext>
            </a:extLst>
          </a:blip>
          <a:srcRect/>
          <a:stretch>
            <a:fillRect/>
          </a:stretch>
        </p:blipFill>
        <p:spPr bwMode="auto">
          <a:xfrm>
            <a:off x="6186488" y="4508500"/>
            <a:ext cx="2957512" cy="2349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ayt Numarası Yer Tutucusu 1"/>
          <p:cNvSpPr>
            <a:spLocks noGrp="1"/>
          </p:cNvSpPr>
          <p:nvPr>
            <p:ph type="sldNum" sz="quarter" idx="12"/>
          </p:nvPr>
        </p:nvSpPr>
        <p:spPr/>
        <p:txBody>
          <a:bodyPr/>
          <a:lstStyle/>
          <a:p>
            <a:pPr>
              <a:defRPr/>
            </a:pPr>
            <a:fld id="{23FC3592-D31E-45CC-A21F-7580E40A255D}" type="slidenum">
              <a:rPr lang="tr-TR" smtClean="0"/>
              <a:pPr>
                <a:defRPr/>
              </a:pPr>
              <a:t>35</a:t>
            </a:fld>
            <a:endParaRPr lang="tr-TR"/>
          </a:p>
        </p:txBody>
      </p:sp>
      <p:sp>
        <p:nvSpPr>
          <p:cNvPr id="61445" name="Dikdörtgen 2"/>
          <p:cNvSpPr>
            <a:spLocks noChangeArrowheads="1"/>
          </p:cNvSpPr>
          <p:nvPr/>
        </p:nvSpPr>
        <p:spPr bwMode="auto">
          <a:xfrm>
            <a:off x="250825" y="260350"/>
            <a:ext cx="5935663"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600" b="1" dirty="0">
                <a:solidFill>
                  <a:srgbClr val="0070C0"/>
                </a:solidFill>
                <a:latin typeface="Verdana" pitchFamily="34" charset="0"/>
              </a:rPr>
              <a:t>İ</a:t>
            </a:r>
            <a:r>
              <a:rPr lang="tr-TR" altLang="tr-TR" sz="3600" b="1" dirty="0">
                <a:solidFill>
                  <a:srgbClr val="0070C0"/>
                </a:solidFill>
                <a:latin typeface="Calibri" pitchFamily="34" charset="0"/>
              </a:rPr>
              <a:t>ç</a:t>
            </a:r>
            <a:r>
              <a:rPr lang="tr-TR" altLang="tr-TR" sz="3600" b="1" dirty="0">
                <a:solidFill>
                  <a:srgbClr val="0070C0"/>
                </a:solidFill>
                <a:latin typeface="Verdana" pitchFamily="34" charset="0"/>
              </a:rPr>
              <a:t> atmosferi test et(2)</a:t>
            </a:r>
          </a:p>
        </p:txBody>
      </p:sp>
    </p:spTree>
    <p:extLst>
      <p:ext uri="{BB962C8B-B14F-4D97-AF65-F5344CB8AC3E}">
        <p14:creationId xmlns="" xmlns:p14="http://schemas.microsoft.com/office/powerpoint/2010/main" val="3463049709"/>
      </p:ext>
    </p:extLst>
  </p:cSld>
  <p:clrMapOvr>
    <a:masterClrMapping/>
  </p:clrMapOvr>
  <p:transition advClick="0"/>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subTitle" idx="4294967295"/>
          </p:nvPr>
        </p:nvSpPr>
        <p:spPr>
          <a:xfrm>
            <a:off x="0" y="-458788"/>
            <a:ext cx="8785225" cy="6248401"/>
          </a:xfrm>
          <a:noFill/>
        </p:spPr>
        <p:txBody>
          <a:bodyPr lIns="92075" tIns="46038" rIns="92075" bIns="46038" anchor="ctr">
            <a:normAutofit/>
          </a:bodyPr>
          <a:lstStyle/>
          <a:p>
            <a:pPr marL="0" indent="0" eaLnBrk="1" hangingPunct="1">
              <a:buFont typeface="Wingdings" pitchFamily="2" charset="2"/>
              <a:buNone/>
            </a:pPr>
            <a:r>
              <a:rPr lang="en-US" altLang="tr-TR" sz="2800" b="1" dirty="0" smtClean="0">
                <a:solidFill>
                  <a:srgbClr val="0070C0"/>
                </a:solidFill>
                <a:latin typeface="+mj-lt"/>
              </a:rPr>
              <a:t>GİRİŞ ÖNCESİ YAPILMASI GEREKEN ÖLÇÜMLER</a:t>
            </a:r>
            <a:endParaRPr lang="tr-TR" altLang="tr-TR" sz="2800" b="1" dirty="0">
              <a:solidFill>
                <a:srgbClr val="0070C0"/>
              </a:solidFill>
              <a:latin typeface="+mj-lt"/>
            </a:endParaRPr>
          </a:p>
          <a:p>
            <a:pPr marL="0" indent="0" eaLnBrk="1" hangingPunct="1">
              <a:buFont typeface="Wingdings" pitchFamily="2" charset="2"/>
              <a:buNone/>
            </a:pPr>
            <a:endParaRPr lang="tr-TR" altLang="tr-TR" sz="2800" b="1" dirty="0" smtClean="0">
              <a:solidFill>
                <a:srgbClr val="0070C0"/>
              </a:solidFill>
              <a:latin typeface="+mj-lt"/>
            </a:endParaRPr>
          </a:p>
          <a:p>
            <a:pPr marL="0" indent="0" eaLnBrk="1" hangingPunct="1">
              <a:buFont typeface="Symbol" pitchFamily="18" charset="2"/>
              <a:buChar char="·"/>
            </a:pPr>
            <a:r>
              <a:rPr lang="en-US" altLang="tr-TR" sz="2800" dirty="0" err="1" smtClean="0">
                <a:latin typeface="+mj-lt"/>
              </a:rPr>
              <a:t>Ölçümler</a:t>
            </a:r>
            <a:r>
              <a:rPr lang="en-US" altLang="tr-TR" sz="2800" dirty="0" smtClean="0">
                <a:latin typeface="+mj-lt"/>
              </a:rPr>
              <a:t> </a:t>
            </a:r>
            <a:r>
              <a:rPr lang="en-US" altLang="tr-TR" sz="2800" dirty="0" err="1" smtClean="0">
                <a:latin typeface="+mj-lt"/>
              </a:rPr>
              <a:t>kapalı</a:t>
            </a:r>
            <a:r>
              <a:rPr lang="en-US" altLang="tr-TR" sz="2800" dirty="0" smtClean="0">
                <a:latin typeface="+mj-lt"/>
              </a:rPr>
              <a:t> </a:t>
            </a:r>
            <a:r>
              <a:rPr lang="tr-TR" altLang="tr-TR" sz="2800" dirty="0" smtClean="0">
                <a:latin typeface="+mj-lt"/>
              </a:rPr>
              <a:t>alana</a:t>
            </a:r>
            <a:r>
              <a:rPr lang="en-US" altLang="tr-TR" sz="2800" dirty="0" smtClean="0">
                <a:latin typeface="+mj-lt"/>
              </a:rPr>
              <a:t> </a:t>
            </a:r>
            <a:r>
              <a:rPr lang="en-US" altLang="tr-TR" sz="2800" dirty="0" err="1" smtClean="0">
                <a:latin typeface="+mj-lt"/>
              </a:rPr>
              <a:t>girilmeden</a:t>
            </a:r>
            <a:r>
              <a:rPr lang="en-US" altLang="tr-TR" sz="2800" dirty="0" smtClean="0">
                <a:latin typeface="+mj-lt"/>
              </a:rPr>
              <a:t>  </a:t>
            </a:r>
            <a:r>
              <a:rPr lang="en-US" altLang="tr-TR" sz="2800" b="1" dirty="0" err="1" smtClean="0">
                <a:solidFill>
                  <a:srgbClr val="FF0000"/>
                </a:solidFill>
                <a:latin typeface="+mj-lt"/>
              </a:rPr>
              <a:t>uzatma</a:t>
            </a:r>
            <a:r>
              <a:rPr lang="en-US" altLang="tr-TR" sz="2800" b="1" dirty="0" smtClean="0">
                <a:solidFill>
                  <a:srgbClr val="FF0000"/>
                </a:solidFill>
                <a:latin typeface="+mj-lt"/>
              </a:rPr>
              <a:t> </a:t>
            </a:r>
            <a:r>
              <a:rPr lang="en-US" altLang="tr-TR" sz="2800" b="1" dirty="0" err="1" smtClean="0">
                <a:solidFill>
                  <a:srgbClr val="FF0000"/>
                </a:solidFill>
                <a:latin typeface="+mj-lt"/>
              </a:rPr>
              <a:t>çubuğu</a:t>
            </a:r>
            <a:r>
              <a:rPr lang="en-US" altLang="tr-TR" sz="2800" b="1" dirty="0" smtClean="0">
                <a:solidFill>
                  <a:srgbClr val="FF0000"/>
                </a:solidFill>
                <a:latin typeface="+mj-lt"/>
              </a:rPr>
              <a:t> </a:t>
            </a:r>
            <a:r>
              <a:rPr lang="en-US" altLang="tr-TR" sz="2800" dirty="0" err="1" smtClean="0">
                <a:solidFill>
                  <a:srgbClr val="FF0000"/>
                </a:solidFill>
                <a:latin typeface="+mj-lt"/>
              </a:rPr>
              <a:t>kullanılarak</a:t>
            </a:r>
            <a:r>
              <a:rPr lang="en-US" altLang="tr-TR" sz="2800" dirty="0" smtClean="0">
                <a:solidFill>
                  <a:srgbClr val="FF0000"/>
                </a:solidFill>
                <a:latin typeface="+mj-lt"/>
              </a:rPr>
              <a:t>  </a:t>
            </a:r>
            <a:r>
              <a:rPr lang="en-US" altLang="tr-TR" sz="2800" dirty="0" err="1" smtClean="0">
                <a:solidFill>
                  <a:srgbClr val="FF0000"/>
                </a:solidFill>
                <a:latin typeface="+mj-lt"/>
              </a:rPr>
              <a:t>yapılmalıdır</a:t>
            </a:r>
            <a:r>
              <a:rPr lang="en-US" altLang="tr-TR" sz="2800" dirty="0" smtClean="0">
                <a:solidFill>
                  <a:srgbClr val="FF0000"/>
                </a:solidFill>
                <a:latin typeface="+mj-lt"/>
              </a:rPr>
              <a:t>.</a:t>
            </a:r>
            <a:r>
              <a:rPr lang="en-US" altLang="tr-TR" sz="2800" dirty="0" smtClean="0">
                <a:latin typeface="+mj-lt"/>
              </a:rPr>
              <a:t> </a:t>
            </a:r>
            <a:r>
              <a:rPr lang="en-US" altLang="tr-TR" sz="2800" dirty="0" err="1" smtClean="0">
                <a:latin typeface="+mj-lt"/>
              </a:rPr>
              <a:t>Ayrıca</a:t>
            </a:r>
            <a:r>
              <a:rPr lang="en-US" altLang="tr-TR" sz="2800" dirty="0" smtClean="0">
                <a:latin typeface="+mj-lt"/>
              </a:rPr>
              <a:t> </a:t>
            </a:r>
            <a:r>
              <a:rPr lang="en-US" altLang="tr-TR" sz="2800" b="1" dirty="0" err="1" smtClean="0">
                <a:solidFill>
                  <a:srgbClr val="FF0000"/>
                </a:solidFill>
                <a:latin typeface="+mj-lt"/>
              </a:rPr>
              <a:t>çalışma</a:t>
            </a:r>
            <a:r>
              <a:rPr lang="en-US" altLang="tr-TR" sz="2800" b="1" dirty="0" smtClean="0">
                <a:solidFill>
                  <a:srgbClr val="FF0000"/>
                </a:solidFill>
                <a:latin typeface="+mj-lt"/>
              </a:rPr>
              <a:t> </a:t>
            </a:r>
            <a:r>
              <a:rPr lang="en-US" altLang="tr-TR" sz="2800" b="1" dirty="0" err="1" smtClean="0">
                <a:solidFill>
                  <a:srgbClr val="FF0000"/>
                </a:solidFill>
                <a:latin typeface="+mj-lt"/>
              </a:rPr>
              <a:t>sırasında</a:t>
            </a:r>
            <a:r>
              <a:rPr lang="en-US" altLang="tr-TR" sz="2800" b="1" dirty="0" smtClean="0">
                <a:solidFill>
                  <a:srgbClr val="FF0000"/>
                </a:solidFill>
                <a:latin typeface="+mj-lt"/>
              </a:rPr>
              <a:t> </a:t>
            </a:r>
            <a:r>
              <a:rPr lang="en-US" altLang="tr-TR" sz="2800" b="1" dirty="0" err="1" smtClean="0">
                <a:solidFill>
                  <a:srgbClr val="FF0000"/>
                </a:solidFill>
                <a:latin typeface="+mj-lt"/>
              </a:rPr>
              <a:t>oksijen</a:t>
            </a:r>
            <a:r>
              <a:rPr lang="en-US" altLang="tr-TR" sz="2800" b="1" dirty="0" smtClean="0">
                <a:solidFill>
                  <a:srgbClr val="FF0000"/>
                </a:solidFill>
                <a:latin typeface="+mj-lt"/>
              </a:rPr>
              <a:t> </a:t>
            </a:r>
            <a:r>
              <a:rPr lang="en-US" altLang="tr-TR" sz="2800" b="1" dirty="0" err="1" smtClean="0">
                <a:solidFill>
                  <a:srgbClr val="FF0000"/>
                </a:solidFill>
                <a:latin typeface="+mj-lt"/>
              </a:rPr>
              <a:t>ölçüm</a:t>
            </a:r>
            <a:r>
              <a:rPr lang="en-US" altLang="tr-TR" sz="2800" b="1" dirty="0" smtClean="0">
                <a:solidFill>
                  <a:srgbClr val="FF0000"/>
                </a:solidFill>
                <a:latin typeface="+mj-lt"/>
              </a:rPr>
              <a:t> </a:t>
            </a:r>
            <a:r>
              <a:rPr lang="en-US" altLang="tr-TR" sz="2800" b="1" dirty="0" err="1" smtClean="0">
                <a:solidFill>
                  <a:srgbClr val="FF0000"/>
                </a:solidFill>
                <a:latin typeface="+mj-lt"/>
              </a:rPr>
              <a:t>aleti</a:t>
            </a:r>
            <a:r>
              <a:rPr lang="en-US" altLang="tr-TR" sz="2800" b="1" dirty="0" smtClean="0">
                <a:solidFill>
                  <a:srgbClr val="FF0000"/>
                </a:solidFill>
                <a:latin typeface="+mj-lt"/>
              </a:rPr>
              <a:t> </a:t>
            </a:r>
            <a:r>
              <a:rPr lang="en-US" altLang="tr-TR" sz="2800" b="1" dirty="0" err="1" smtClean="0">
                <a:solidFill>
                  <a:srgbClr val="FF0000"/>
                </a:solidFill>
                <a:latin typeface="+mj-lt"/>
              </a:rPr>
              <a:t>kapalı</a:t>
            </a:r>
            <a:r>
              <a:rPr lang="en-US" altLang="tr-TR" sz="2800" b="1" dirty="0" smtClean="0">
                <a:solidFill>
                  <a:srgbClr val="FF0000"/>
                </a:solidFill>
                <a:latin typeface="+mj-lt"/>
              </a:rPr>
              <a:t> </a:t>
            </a:r>
            <a:r>
              <a:rPr lang="en-US" altLang="tr-TR" sz="2800" b="1" dirty="0" err="1" smtClean="0">
                <a:solidFill>
                  <a:srgbClr val="FF0000"/>
                </a:solidFill>
                <a:latin typeface="+mj-lt"/>
              </a:rPr>
              <a:t>birim</a:t>
            </a:r>
            <a:r>
              <a:rPr lang="en-US" altLang="tr-TR" sz="2800" b="1" dirty="0" smtClean="0">
                <a:solidFill>
                  <a:srgbClr val="FF0000"/>
                </a:solidFill>
                <a:latin typeface="+mj-lt"/>
              </a:rPr>
              <a:t> </a:t>
            </a:r>
            <a:r>
              <a:rPr lang="en-US" altLang="tr-TR" sz="2800" b="1" dirty="0" err="1" smtClean="0">
                <a:solidFill>
                  <a:srgbClr val="FF0000"/>
                </a:solidFill>
                <a:latin typeface="+mj-lt"/>
              </a:rPr>
              <a:t>içerisinde</a:t>
            </a:r>
            <a:r>
              <a:rPr lang="en-US" altLang="tr-TR" sz="2800" b="1" dirty="0" smtClean="0">
                <a:solidFill>
                  <a:srgbClr val="FF0000"/>
                </a:solidFill>
                <a:latin typeface="+mj-lt"/>
              </a:rPr>
              <a:t> </a:t>
            </a:r>
            <a:r>
              <a:rPr lang="en-US" altLang="tr-TR" sz="2800" b="1" dirty="0" err="1" smtClean="0">
                <a:solidFill>
                  <a:srgbClr val="FF0000"/>
                </a:solidFill>
                <a:latin typeface="+mj-lt"/>
              </a:rPr>
              <a:t>tutularak</a:t>
            </a:r>
            <a:r>
              <a:rPr lang="en-US" altLang="tr-TR" sz="2800" b="1" dirty="0" smtClean="0">
                <a:solidFill>
                  <a:srgbClr val="FF0000"/>
                </a:solidFill>
                <a:latin typeface="+mj-lt"/>
              </a:rPr>
              <a:t> </a:t>
            </a:r>
            <a:r>
              <a:rPr lang="en-US" altLang="tr-TR" sz="2800" dirty="0" err="1" smtClean="0">
                <a:latin typeface="+mj-lt"/>
              </a:rPr>
              <a:t>oksijen</a:t>
            </a:r>
            <a:r>
              <a:rPr lang="en-US" altLang="tr-TR" sz="2800" dirty="0" smtClean="0">
                <a:latin typeface="+mj-lt"/>
              </a:rPr>
              <a:t> </a:t>
            </a:r>
            <a:r>
              <a:rPr lang="en-US" altLang="tr-TR" sz="2800" dirty="0" err="1" smtClean="0">
                <a:latin typeface="+mj-lt"/>
              </a:rPr>
              <a:t>seviyesi</a:t>
            </a:r>
            <a:r>
              <a:rPr lang="en-US" altLang="tr-TR" sz="2800" dirty="0" smtClean="0">
                <a:latin typeface="+mj-lt"/>
              </a:rPr>
              <a:t> </a:t>
            </a:r>
            <a:r>
              <a:rPr lang="en-US" altLang="tr-TR" sz="2800" b="1" dirty="0" err="1" smtClean="0">
                <a:solidFill>
                  <a:srgbClr val="0070C0"/>
                </a:solidFill>
                <a:latin typeface="+mj-lt"/>
              </a:rPr>
              <a:t>sürekli</a:t>
            </a:r>
            <a:r>
              <a:rPr lang="en-US" altLang="tr-TR" sz="2800" b="1" dirty="0" smtClean="0">
                <a:solidFill>
                  <a:srgbClr val="0070C0"/>
                </a:solidFill>
                <a:latin typeface="+mj-lt"/>
              </a:rPr>
              <a:t> </a:t>
            </a:r>
            <a:r>
              <a:rPr lang="en-US" altLang="tr-TR" sz="2800" b="1" dirty="0" err="1" smtClean="0">
                <a:solidFill>
                  <a:srgbClr val="0070C0"/>
                </a:solidFill>
                <a:latin typeface="+mj-lt"/>
              </a:rPr>
              <a:t>kontrol</a:t>
            </a:r>
            <a:r>
              <a:rPr lang="en-US" altLang="tr-TR" sz="2800" b="1" dirty="0" smtClean="0">
                <a:solidFill>
                  <a:srgbClr val="0070C0"/>
                </a:solidFill>
                <a:latin typeface="+mj-lt"/>
              </a:rPr>
              <a:t> </a:t>
            </a:r>
            <a:r>
              <a:rPr lang="en-US" altLang="tr-TR" sz="2800" b="1" dirty="0" err="1" smtClean="0">
                <a:solidFill>
                  <a:srgbClr val="0070C0"/>
                </a:solidFill>
                <a:latin typeface="+mj-lt"/>
              </a:rPr>
              <a:t>edilmelidir</a:t>
            </a:r>
            <a:r>
              <a:rPr lang="en-US" altLang="tr-TR" sz="2800" b="1" dirty="0" smtClean="0">
                <a:solidFill>
                  <a:srgbClr val="0070C0"/>
                </a:solidFill>
                <a:latin typeface="+mj-lt"/>
              </a:rPr>
              <a:t>.</a:t>
            </a:r>
            <a:endParaRPr lang="tr-TR" altLang="tr-TR" sz="2800" b="1" dirty="0" smtClean="0">
              <a:solidFill>
                <a:srgbClr val="0070C0"/>
              </a:solidFill>
              <a:latin typeface="+mj-lt"/>
            </a:endParaRPr>
          </a:p>
          <a:p>
            <a:pPr marL="0" indent="0" eaLnBrk="1" hangingPunct="1">
              <a:buFont typeface="Symbol" pitchFamily="18" charset="2"/>
              <a:buChar char="·"/>
            </a:pPr>
            <a:endParaRPr lang="en-US" altLang="tr-TR" sz="2800" dirty="0" smtClean="0">
              <a:latin typeface="+mj-lt"/>
            </a:endParaRPr>
          </a:p>
          <a:p>
            <a:pPr marL="0" indent="0" eaLnBrk="1" hangingPunct="1">
              <a:buFont typeface="Symbol" pitchFamily="18" charset="2"/>
              <a:buChar char="·"/>
            </a:pPr>
            <a:r>
              <a:rPr lang="en-US" altLang="tr-TR" sz="2800" dirty="0" err="1" smtClean="0">
                <a:latin typeface="+mj-lt"/>
              </a:rPr>
              <a:t>Ölçüm</a:t>
            </a:r>
            <a:r>
              <a:rPr lang="en-US" altLang="tr-TR" sz="2800" dirty="0" smtClean="0">
                <a:latin typeface="+mj-lt"/>
              </a:rPr>
              <a:t> </a:t>
            </a:r>
            <a:r>
              <a:rPr lang="en-US" altLang="tr-TR" sz="2800" dirty="0" err="1" smtClean="0">
                <a:latin typeface="+mj-lt"/>
              </a:rPr>
              <a:t>kapalı</a:t>
            </a:r>
            <a:r>
              <a:rPr lang="en-US" altLang="tr-TR" sz="2800" dirty="0" smtClean="0">
                <a:latin typeface="+mj-lt"/>
              </a:rPr>
              <a:t> </a:t>
            </a:r>
            <a:r>
              <a:rPr lang="tr-TR" altLang="tr-TR" sz="2800" dirty="0" smtClean="0">
                <a:latin typeface="+mj-lt"/>
              </a:rPr>
              <a:t>ortam</a:t>
            </a:r>
            <a:r>
              <a:rPr lang="en-US" altLang="tr-TR" sz="2800" dirty="0" smtClean="0">
                <a:latin typeface="+mj-lt"/>
              </a:rPr>
              <a:t> </a:t>
            </a:r>
            <a:r>
              <a:rPr lang="en-US" altLang="tr-TR" sz="2800" dirty="0" err="1" smtClean="0">
                <a:latin typeface="+mj-lt"/>
              </a:rPr>
              <a:t>içerisinde</a:t>
            </a:r>
            <a:r>
              <a:rPr lang="en-US" altLang="tr-TR" sz="2800" dirty="0" smtClean="0">
                <a:latin typeface="+mj-lt"/>
              </a:rPr>
              <a:t> </a:t>
            </a:r>
            <a:r>
              <a:rPr lang="en-US" altLang="tr-TR" sz="2800" b="1" dirty="0" err="1" smtClean="0">
                <a:solidFill>
                  <a:srgbClr val="FF0000"/>
                </a:solidFill>
                <a:latin typeface="+mj-lt"/>
              </a:rPr>
              <a:t>değişik</a:t>
            </a:r>
            <a:r>
              <a:rPr lang="en-US" altLang="tr-TR" sz="2800" b="1" dirty="0" smtClean="0">
                <a:solidFill>
                  <a:srgbClr val="FF0000"/>
                </a:solidFill>
                <a:latin typeface="+mj-lt"/>
              </a:rPr>
              <a:t> </a:t>
            </a:r>
            <a:r>
              <a:rPr lang="en-US" altLang="tr-TR" sz="2800" b="1" dirty="0" err="1" smtClean="0">
                <a:solidFill>
                  <a:srgbClr val="FF0000"/>
                </a:solidFill>
                <a:latin typeface="+mj-lt"/>
              </a:rPr>
              <a:t>noktalarda</a:t>
            </a:r>
            <a:r>
              <a:rPr lang="en-US" altLang="tr-TR" sz="2800" b="1" dirty="0" smtClean="0">
                <a:solidFill>
                  <a:srgbClr val="FF0000"/>
                </a:solidFill>
                <a:latin typeface="+mj-lt"/>
              </a:rPr>
              <a:t> </a:t>
            </a:r>
            <a:r>
              <a:rPr lang="en-US" altLang="tr-TR" sz="2800" dirty="0" err="1" smtClean="0">
                <a:latin typeface="+mj-lt"/>
              </a:rPr>
              <a:t>yapılmalıdır</a:t>
            </a:r>
            <a:r>
              <a:rPr lang="en-US" altLang="tr-TR" sz="2800" dirty="0" smtClean="0">
                <a:latin typeface="+mj-lt"/>
              </a:rPr>
              <a:t>.</a:t>
            </a:r>
            <a:r>
              <a:rPr lang="tr-TR" altLang="tr-TR" sz="2800" dirty="0" smtClean="0">
                <a:latin typeface="+mj-lt"/>
              </a:rPr>
              <a:t> </a:t>
            </a:r>
            <a:r>
              <a:rPr lang="en-US" altLang="tr-TR" sz="2800" dirty="0" smtClean="0">
                <a:latin typeface="+mj-lt"/>
              </a:rPr>
              <a:t> </a:t>
            </a:r>
            <a:r>
              <a:rPr lang="en-US" altLang="tr-TR" sz="2800" dirty="0" err="1" smtClean="0">
                <a:latin typeface="+mj-lt"/>
              </a:rPr>
              <a:t>Kapalı</a:t>
            </a:r>
            <a:r>
              <a:rPr lang="en-US" altLang="tr-TR" sz="2800" dirty="0" smtClean="0">
                <a:latin typeface="+mj-lt"/>
              </a:rPr>
              <a:t> </a:t>
            </a:r>
            <a:r>
              <a:rPr lang="tr-TR" altLang="tr-TR" sz="2800" dirty="0" smtClean="0">
                <a:latin typeface="+mj-lt"/>
              </a:rPr>
              <a:t>ortamın</a:t>
            </a:r>
            <a:r>
              <a:rPr lang="en-US" altLang="tr-TR" sz="2800" dirty="0" smtClean="0">
                <a:latin typeface="+mj-lt"/>
              </a:rPr>
              <a:t> </a:t>
            </a:r>
            <a:r>
              <a:rPr lang="en-US" altLang="tr-TR" sz="2800" b="1" dirty="0" smtClean="0">
                <a:solidFill>
                  <a:srgbClr val="FF0000"/>
                </a:solidFill>
                <a:latin typeface="+mj-lt"/>
              </a:rPr>
              <a:t>alt </a:t>
            </a:r>
            <a:r>
              <a:rPr lang="en-US" altLang="tr-TR" sz="2800" b="1" dirty="0" err="1" smtClean="0">
                <a:solidFill>
                  <a:srgbClr val="FF0000"/>
                </a:solidFill>
                <a:latin typeface="+mj-lt"/>
              </a:rPr>
              <a:t>kısmında</a:t>
            </a:r>
            <a:r>
              <a:rPr lang="en-US" altLang="tr-TR" sz="2800" b="1" dirty="0" smtClean="0">
                <a:solidFill>
                  <a:srgbClr val="FF0000"/>
                </a:solidFill>
                <a:latin typeface="+mj-lt"/>
              </a:rPr>
              <a:t>,  </a:t>
            </a:r>
            <a:r>
              <a:rPr lang="tr-TR" altLang="tr-TR" sz="2800" b="1" dirty="0" smtClean="0">
                <a:solidFill>
                  <a:srgbClr val="FF0000"/>
                </a:solidFill>
                <a:latin typeface="+mj-lt"/>
              </a:rPr>
              <a:t>solunum bölgesi</a:t>
            </a:r>
            <a:r>
              <a:rPr lang="en-US" altLang="tr-TR" sz="2800" b="1" dirty="0" smtClean="0">
                <a:solidFill>
                  <a:srgbClr val="FF0000"/>
                </a:solidFill>
                <a:latin typeface="+mj-lt"/>
              </a:rPr>
              <a:t> </a:t>
            </a:r>
            <a:r>
              <a:rPr lang="tr-TR" altLang="tr-TR" sz="2800" b="1" dirty="0" smtClean="0">
                <a:solidFill>
                  <a:srgbClr val="FF0000"/>
                </a:solidFill>
                <a:latin typeface="+mj-lt"/>
              </a:rPr>
              <a:t> </a:t>
            </a:r>
            <a:r>
              <a:rPr lang="en-US" altLang="tr-TR" sz="2800" b="1" dirty="0" err="1" smtClean="0">
                <a:solidFill>
                  <a:srgbClr val="FF0000"/>
                </a:solidFill>
                <a:latin typeface="+mj-lt"/>
              </a:rPr>
              <a:t>seviyesinde</a:t>
            </a:r>
            <a:r>
              <a:rPr lang="en-US" altLang="tr-TR" sz="2800" b="1" dirty="0" smtClean="0">
                <a:solidFill>
                  <a:srgbClr val="FF0000"/>
                </a:solidFill>
                <a:latin typeface="+mj-lt"/>
              </a:rPr>
              <a:t> </a:t>
            </a:r>
            <a:r>
              <a:rPr lang="en-US" altLang="tr-TR" sz="2800" b="1" dirty="0" err="1" smtClean="0">
                <a:solidFill>
                  <a:srgbClr val="FF0000"/>
                </a:solidFill>
                <a:latin typeface="+mj-lt"/>
              </a:rPr>
              <a:t>ve</a:t>
            </a:r>
            <a:r>
              <a:rPr lang="en-US" altLang="tr-TR" sz="2800" b="1" dirty="0" smtClean="0">
                <a:solidFill>
                  <a:srgbClr val="FF0000"/>
                </a:solidFill>
                <a:latin typeface="+mj-lt"/>
              </a:rPr>
              <a:t> </a:t>
            </a:r>
            <a:r>
              <a:rPr lang="en-US" altLang="tr-TR" sz="2800" b="1" dirty="0" err="1" smtClean="0">
                <a:solidFill>
                  <a:srgbClr val="FF0000"/>
                </a:solidFill>
                <a:latin typeface="+mj-lt"/>
              </a:rPr>
              <a:t>üst</a:t>
            </a:r>
            <a:r>
              <a:rPr lang="en-US" altLang="tr-TR" sz="2800" b="1" dirty="0" smtClean="0">
                <a:solidFill>
                  <a:srgbClr val="FF0000"/>
                </a:solidFill>
                <a:latin typeface="+mj-lt"/>
              </a:rPr>
              <a:t> </a:t>
            </a:r>
            <a:r>
              <a:rPr lang="en-US" altLang="tr-TR" sz="2800" b="1" dirty="0" err="1" smtClean="0">
                <a:solidFill>
                  <a:srgbClr val="FF0000"/>
                </a:solidFill>
                <a:latin typeface="+mj-lt"/>
              </a:rPr>
              <a:t>kısımda</a:t>
            </a:r>
            <a:r>
              <a:rPr lang="en-US" altLang="tr-TR" sz="2800" b="1" dirty="0" smtClean="0">
                <a:solidFill>
                  <a:srgbClr val="FF0000"/>
                </a:solidFill>
                <a:latin typeface="+mj-lt"/>
              </a:rPr>
              <a:t> </a:t>
            </a:r>
            <a:r>
              <a:rPr lang="en-US" altLang="tr-TR" sz="2800" dirty="0" err="1" smtClean="0">
                <a:latin typeface="+mj-lt"/>
              </a:rPr>
              <a:t>mutlaka</a:t>
            </a:r>
            <a:r>
              <a:rPr lang="en-US" altLang="tr-TR" sz="2800" dirty="0" smtClean="0">
                <a:latin typeface="+mj-lt"/>
              </a:rPr>
              <a:t> </a:t>
            </a:r>
            <a:r>
              <a:rPr lang="en-US" altLang="tr-TR" sz="2800" dirty="0" err="1" smtClean="0">
                <a:latin typeface="+mj-lt"/>
              </a:rPr>
              <a:t>ölçüm</a:t>
            </a:r>
            <a:r>
              <a:rPr lang="en-US" altLang="tr-TR" sz="2800" dirty="0" smtClean="0">
                <a:latin typeface="+mj-lt"/>
              </a:rPr>
              <a:t> </a:t>
            </a:r>
            <a:r>
              <a:rPr lang="en-US" altLang="tr-TR" sz="2800" dirty="0" err="1" smtClean="0">
                <a:latin typeface="+mj-lt"/>
              </a:rPr>
              <a:t>alınmalıdır</a:t>
            </a:r>
            <a:r>
              <a:rPr lang="en-US" altLang="tr-TR" sz="2800" dirty="0" smtClean="0">
                <a:latin typeface="+mj-lt"/>
              </a:rPr>
              <a:t>.</a:t>
            </a:r>
          </a:p>
        </p:txBody>
      </p:sp>
    </p:spTree>
    <p:custDataLst>
      <p:tags r:id="rId1"/>
    </p:custDataLst>
    <p:extLst>
      <p:ext uri="{BB962C8B-B14F-4D97-AF65-F5344CB8AC3E}">
        <p14:creationId xmlns="" xmlns:p14="http://schemas.microsoft.com/office/powerpoint/2010/main" val="592926548"/>
      </p:ext>
    </p:extLst>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subTitle" idx="4294967295"/>
          </p:nvPr>
        </p:nvSpPr>
        <p:spPr>
          <a:xfrm>
            <a:off x="-73025" y="-171450"/>
            <a:ext cx="9217025" cy="6248400"/>
          </a:xfrm>
          <a:noFill/>
        </p:spPr>
        <p:txBody>
          <a:bodyPr lIns="92075" tIns="46038" rIns="92075" bIns="46038" anchor="ctr"/>
          <a:lstStyle/>
          <a:p>
            <a:pPr marL="0" indent="0" eaLnBrk="1" hangingPunct="1">
              <a:lnSpc>
                <a:spcPct val="90000"/>
              </a:lnSpc>
              <a:buFont typeface="Wingdings" pitchFamily="2" charset="2"/>
              <a:buNone/>
            </a:pPr>
            <a:endParaRPr lang="tr-TR" altLang="tr-TR" sz="2400" b="1" i="1" dirty="0" smtClean="0">
              <a:solidFill>
                <a:srgbClr val="FF0000"/>
              </a:solidFill>
              <a:latin typeface="+mj-lt"/>
            </a:endParaRPr>
          </a:p>
          <a:p>
            <a:pPr marL="0" indent="0" eaLnBrk="1" hangingPunct="1">
              <a:lnSpc>
                <a:spcPct val="90000"/>
              </a:lnSpc>
              <a:buFont typeface="Wingdings" pitchFamily="2" charset="2"/>
              <a:buNone/>
            </a:pPr>
            <a:r>
              <a:rPr lang="en-US" altLang="tr-TR" sz="2800" b="1" dirty="0" smtClean="0">
                <a:solidFill>
                  <a:srgbClr val="FF0000"/>
                </a:solidFill>
                <a:latin typeface="+mj-lt"/>
              </a:rPr>
              <a:t>1. </a:t>
            </a:r>
            <a:r>
              <a:rPr lang="en-US" altLang="tr-TR" sz="2800" b="1" dirty="0" err="1" smtClean="0">
                <a:solidFill>
                  <a:srgbClr val="FF0000"/>
                </a:solidFill>
                <a:latin typeface="+mj-lt"/>
              </a:rPr>
              <a:t>Oksijen</a:t>
            </a:r>
            <a:r>
              <a:rPr lang="en-US" altLang="tr-TR" sz="2800" b="1" dirty="0" smtClean="0">
                <a:solidFill>
                  <a:srgbClr val="FF0000"/>
                </a:solidFill>
                <a:latin typeface="+mj-lt"/>
              </a:rPr>
              <a:t> </a:t>
            </a:r>
            <a:r>
              <a:rPr lang="en-US" altLang="tr-TR" sz="2800" b="1" dirty="0" err="1" smtClean="0">
                <a:solidFill>
                  <a:srgbClr val="FF0000"/>
                </a:solidFill>
                <a:latin typeface="+mj-lt"/>
              </a:rPr>
              <a:t>seviyesi</a:t>
            </a:r>
            <a:r>
              <a:rPr lang="en-US" altLang="tr-TR" sz="2800" b="1" dirty="0" smtClean="0">
                <a:solidFill>
                  <a:srgbClr val="FF0000"/>
                </a:solidFill>
                <a:latin typeface="+mj-lt"/>
              </a:rPr>
              <a:t> </a:t>
            </a:r>
            <a:r>
              <a:rPr lang="en-US" altLang="tr-TR" sz="2400" b="1" dirty="0" smtClean="0">
                <a:solidFill>
                  <a:srgbClr val="0070C0"/>
                </a:solidFill>
                <a:latin typeface="+mj-lt"/>
              </a:rPr>
              <a:t>(</a:t>
            </a:r>
            <a:r>
              <a:rPr lang="en-US" altLang="tr-TR" sz="2400" b="1" dirty="0" err="1" smtClean="0">
                <a:solidFill>
                  <a:srgbClr val="0070C0"/>
                </a:solidFill>
                <a:latin typeface="+mj-lt"/>
              </a:rPr>
              <a:t>Zorunlu</a:t>
            </a:r>
            <a:r>
              <a:rPr lang="en-US" altLang="tr-TR" sz="2400" b="1" dirty="0" smtClean="0">
                <a:solidFill>
                  <a:srgbClr val="0070C0"/>
                </a:solidFill>
                <a:latin typeface="+mj-lt"/>
              </a:rPr>
              <a:t> </a:t>
            </a:r>
            <a:r>
              <a:rPr lang="en-US" altLang="tr-TR" sz="2400" b="1" dirty="0" err="1" smtClean="0">
                <a:solidFill>
                  <a:srgbClr val="0070C0"/>
                </a:solidFill>
                <a:latin typeface="+mj-lt"/>
              </a:rPr>
              <a:t>olarak</a:t>
            </a:r>
            <a:r>
              <a:rPr lang="en-US" altLang="tr-TR" sz="2400" b="1" dirty="0" smtClean="0">
                <a:solidFill>
                  <a:srgbClr val="0070C0"/>
                </a:solidFill>
                <a:latin typeface="+mj-lt"/>
              </a:rPr>
              <a:t> </a:t>
            </a:r>
            <a:r>
              <a:rPr lang="en-US" altLang="tr-TR" sz="2400" b="1" dirty="0" err="1" smtClean="0">
                <a:solidFill>
                  <a:srgbClr val="0070C0"/>
                </a:solidFill>
                <a:latin typeface="+mj-lt"/>
              </a:rPr>
              <a:t>yapılacak</a:t>
            </a:r>
            <a:r>
              <a:rPr lang="en-US" altLang="tr-TR" sz="2400" b="1" dirty="0" smtClean="0">
                <a:solidFill>
                  <a:srgbClr val="0070C0"/>
                </a:solidFill>
                <a:latin typeface="+mj-lt"/>
              </a:rPr>
              <a:t> ilk </a:t>
            </a:r>
            <a:r>
              <a:rPr lang="en-US" altLang="tr-TR" sz="2400" b="1" dirty="0" err="1" smtClean="0">
                <a:solidFill>
                  <a:srgbClr val="0070C0"/>
                </a:solidFill>
                <a:latin typeface="+mj-lt"/>
              </a:rPr>
              <a:t>ölçüm</a:t>
            </a:r>
            <a:r>
              <a:rPr lang="en-US" altLang="tr-TR" sz="2400" b="1" dirty="0" smtClean="0">
                <a:solidFill>
                  <a:srgbClr val="0070C0"/>
                </a:solidFill>
                <a:latin typeface="+mj-lt"/>
              </a:rPr>
              <a:t>):</a:t>
            </a:r>
          </a:p>
          <a:p>
            <a:pPr marL="0" indent="0" eaLnBrk="1" hangingPunct="1">
              <a:lnSpc>
                <a:spcPct val="90000"/>
              </a:lnSpc>
              <a:buFont typeface="Wingdings" pitchFamily="2" charset="2"/>
              <a:buNone/>
            </a:pPr>
            <a:r>
              <a:rPr lang="tr-TR" altLang="tr-TR" sz="2400" b="1" dirty="0" smtClean="0">
                <a:latin typeface="+mj-lt"/>
              </a:rPr>
              <a:t>      </a:t>
            </a:r>
            <a:r>
              <a:rPr lang="en-US" altLang="tr-TR" sz="2400" b="1" dirty="0" smtClean="0">
                <a:latin typeface="+mj-lt"/>
              </a:rPr>
              <a:t>19.5% &lt; 0</a:t>
            </a:r>
            <a:r>
              <a:rPr lang="en-US" altLang="tr-TR" sz="2400" b="1" baseline="-25000" dirty="0" smtClean="0">
                <a:latin typeface="+mj-lt"/>
              </a:rPr>
              <a:t>2</a:t>
            </a:r>
            <a:r>
              <a:rPr lang="en-US" altLang="tr-TR" sz="2400" b="1" dirty="0" smtClean="0">
                <a:latin typeface="+mj-lt"/>
              </a:rPr>
              <a:t> &lt; 23%</a:t>
            </a:r>
          </a:p>
          <a:p>
            <a:pPr marL="0" indent="0" eaLnBrk="1" hangingPunct="1">
              <a:lnSpc>
                <a:spcPct val="90000"/>
              </a:lnSpc>
              <a:buFont typeface="Wingdings" pitchFamily="2" charset="2"/>
              <a:buNone/>
            </a:pPr>
            <a:r>
              <a:rPr lang="en-US" altLang="tr-TR" sz="2800" b="1" dirty="0" smtClean="0">
                <a:solidFill>
                  <a:schemeClr val="bg1"/>
                </a:solidFill>
                <a:latin typeface="+mj-lt"/>
              </a:rPr>
              <a:t>2. </a:t>
            </a:r>
            <a:r>
              <a:rPr lang="en-US" altLang="tr-TR" sz="2800" b="1" dirty="0" err="1" smtClean="0">
                <a:solidFill>
                  <a:srgbClr val="FF0000"/>
                </a:solidFill>
                <a:latin typeface="+mj-lt"/>
              </a:rPr>
              <a:t>Parlayabilir</a:t>
            </a:r>
            <a:r>
              <a:rPr lang="en-US" altLang="tr-TR" sz="2800" b="1" dirty="0" smtClean="0">
                <a:solidFill>
                  <a:srgbClr val="FF0000"/>
                </a:solidFill>
                <a:latin typeface="+mj-lt"/>
              </a:rPr>
              <a:t> </a:t>
            </a:r>
            <a:r>
              <a:rPr lang="en-US" altLang="tr-TR" sz="2800" b="1" dirty="0" err="1" smtClean="0">
                <a:solidFill>
                  <a:srgbClr val="FF0000"/>
                </a:solidFill>
                <a:latin typeface="+mj-lt"/>
              </a:rPr>
              <a:t>Gaz</a:t>
            </a:r>
            <a:r>
              <a:rPr lang="en-US" altLang="tr-TR" sz="2800" b="1" dirty="0" smtClean="0">
                <a:solidFill>
                  <a:srgbClr val="FF0000"/>
                </a:solidFill>
                <a:latin typeface="+mj-lt"/>
              </a:rPr>
              <a:t> </a:t>
            </a:r>
            <a:r>
              <a:rPr lang="en-US" altLang="tr-TR" sz="2800" b="1" dirty="0" err="1" smtClean="0">
                <a:solidFill>
                  <a:srgbClr val="FF0000"/>
                </a:solidFill>
                <a:latin typeface="+mj-lt"/>
              </a:rPr>
              <a:t>Seviyesi</a:t>
            </a:r>
            <a:r>
              <a:rPr lang="tr-TR" altLang="tr-TR" sz="2800" b="1" dirty="0" smtClean="0">
                <a:solidFill>
                  <a:srgbClr val="FF0000"/>
                </a:solidFill>
                <a:latin typeface="+mj-lt"/>
              </a:rPr>
              <a:t>:</a:t>
            </a:r>
            <a:endParaRPr lang="en-US" altLang="tr-TR" sz="2800" b="1" dirty="0" smtClean="0">
              <a:solidFill>
                <a:srgbClr val="FF0000"/>
              </a:solidFill>
              <a:latin typeface="+mj-lt"/>
            </a:endParaRPr>
          </a:p>
          <a:p>
            <a:pPr marL="0" indent="0" eaLnBrk="1" hangingPunct="1">
              <a:lnSpc>
                <a:spcPct val="90000"/>
              </a:lnSpc>
              <a:buFont typeface="Wingdings" pitchFamily="2" charset="2"/>
              <a:buNone/>
            </a:pPr>
            <a:r>
              <a:rPr lang="en-US" altLang="tr-TR" sz="2400" b="1" dirty="0" smtClean="0">
                <a:latin typeface="+mj-lt"/>
              </a:rPr>
              <a:t>	</a:t>
            </a:r>
            <a:r>
              <a:rPr lang="tr-TR" altLang="tr-TR" sz="2400" b="1" dirty="0" smtClean="0">
                <a:latin typeface="+mj-lt"/>
              </a:rPr>
              <a:t>   </a:t>
            </a:r>
            <a:r>
              <a:rPr lang="en-US" altLang="tr-TR" sz="2400" b="1" dirty="0" err="1" smtClean="0">
                <a:latin typeface="+mj-lt"/>
              </a:rPr>
              <a:t>Herhangi</a:t>
            </a:r>
            <a:r>
              <a:rPr lang="en-US" altLang="tr-TR" sz="2400" b="1" dirty="0" smtClean="0">
                <a:latin typeface="+mj-lt"/>
              </a:rPr>
              <a:t> </a:t>
            </a:r>
            <a:r>
              <a:rPr lang="en-US" altLang="tr-TR" sz="2400" b="1" dirty="0" err="1" smtClean="0">
                <a:latin typeface="+mj-lt"/>
              </a:rPr>
              <a:t>bir</a:t>
            </a:r>
            <a:r>
              <a:rPr lang="en-US" altLang="tr-TR" sz="2400" b="1" dirty="0" smtClean="0">
                <a:latin typeface="+mj-lt"/>
              </a:rPr>
              <a:t> </a:t>
            </a:r>
            <a:r>
              <a:rPr lang="en-US" altLang="tr-TR" sz="2400" b="1" dirty="0" err="1" smtClean="0">
                <a:latin typeface="+mj-lt"/>
              </a:rPr>
              <a:t>parlayabilir</a:t>
            </a:r>
            <a:r>
              <a:rPr lang="en-US" altLang="tr-TR" sz="2400" b="1" dirty="0" smtClean="0">
                <a:latin typeface="+mj-lt"/>
              </a:rPr>
              <a:t> </a:t>
            </a:r>
            <a:r>
              <a:rPr lang="en-US" altLang="tr-TR" sz="2400" b="1" dirty="0" err="1" smtClean="0">
                <a:latin typeface="+mj-lt"/>
              </a:rPr>
              <a:t>gaz</a:t>
            </a:r>
            <a:r>
              <a:rPr lang="en-US" altLang="tr-TR" sz="2400" b="1" dirty="0" smtClean="0">
                <a:latin typeface="+mj-lt"/>
              </a:rPr>
              <a:t> </a:t>
            </a:r>
            <a:r>
              <a:rPr lang="en-US" altLang="tr-TR" sz="2400" b="1" dirty="0" err="1" smtClean="0">
                <a:latin typeface="+mj-lt"/>
              </a:rPr>
              <a:t>için</a:t>
            </a:r>
            <a:r>
              <a:rPr lang="en-US" altLang="tr-TR" sz="2400" b="1" dirty="0" smtClean="0">
                <a:latin typeface="+mj-lt"/>
              </a:rPr>
              <a:t>;</a:t>
            </a:r>
          </a:p>
          <a:p>
            <a:pPr marL="0" indent="0" eaLnBrk="1" hangingPunct="1">
              <a:lnSpc>
                <a:spcPct val="90000"/>
              </a:lnSpc>
              <a:buFont typeface="Wingdings" pitchFamily="2" charset="2"/>
              <a:buNone/>
            </a:pPr>
            <a:r>
              <a:rPr lang="en-US" altLang="tr-TR" sz="2400" b="1" dirty="0" smtClean="0">
                <a:latin typeface="+mj-lt"/>
              </a:rPr>
              <a:t>	</a:t>
            </a:r>
            <a:r>
              <a:rPr lang="tr-TR" altLang="tr-TR" sz="2400" b="1" dirty="0" smtClean="0">
                <a:latin typeface="+mj-lt"/>
              </a:rPr>
              <a:t>   </a:t>
            </a:r>
            <a:r>
              <a:rPr lang="en-US" altLang="tr-TR" sz="2400" b="1" dirty="0" err="1" smtClean="0">
                <a:solidFill>
                  <a:srgbClr val="0070C0"/>
                </a:solidFill>
                <a:latin typeface="+mj-lt"/>
              </a:rPr>
              <a:t>Parlama</a:t>
            </a:r>
            <a:r>
              <a:rPr lang="en-US" altLang="tr-TR" sz="2400" b="1" dirty="0" smtClean="0">
                <a:solidFill>
                  <a:srgbClr val="0070C0"/>
                </a:solidFill>
                <a:latin typeface="+mj-lt"/>
              </a:rPr>
              <a:t> </a:t>
            </a:r>
            <a:r>
              <a:rPr lang="en-US" altLang="tr-TR" sz="2400" b="1" dirty="0" err="1" smtClean="0">
                <a:solidFill>
                  <a:srgbClr val="0070C0"/>
                </a:solidFill>
                <a:latin typeface="+mj-lt"/>
              </a:rPr>
              <a:t>seviyesi</a:t>
            </a:r>
            <a:r>
              <a:rPr lang="tr-TR" altLang="tr-TR" sz="2400" b="1" dirty="0" smtClean="0">
                <a:solidFill>
                  <a:srgbClr val="0070C0"/>
                </a:solidFill>
                <a:latin typeface="+mj-lt"/>
              </a:rPr>
              <a:t> = </a:t>
            </a:r>
            <a:r>
              <a:rPr lang="en-US" altLang="tr-TR" sz="2400" b="1" dirty="0" smtClean="0">
                <a:latin typeface="+mj-lt"/>
              </a:rPr>
              <a:t> %10 LEL</a:t>
            </a:r>
            <a:r>
              <a:rPr lang="tr-TR" altLang="tr-TR" sz="2400" b="1" dirty="0" smtClean="0">
                <a:latin typeface="+mj-lt"/>
              </a:rPr>
              <a:t>’den küçük   olmalıdır.</a:t>
            </a:r>
            <a:r>
              <a:rPr lang="en-US" altLang="tr-TR" sz="2400" b="1" dirty="0" smtClean="0">
                <a:latin typeface="+mj-lt"/>
              </a:rPr>
              <a:t> </a:t>
            </a:r>
            <a:endParaRPr lang="tr-TR" altLang="tr-TR" sz="2400" b="1" dirty="0" smtClean="0">
              <a:latin typeface="+mj-lt"/>
            </a:endParaRPr>
          </a:p>
          <a:p>
            <a:pPr marL="0" indent="0" eaLnBrk="1" hangingPunct="1">
              <a:lnSpc>
                <a:spcPct val="90000"/>
              </a:lnSpc>
              <a:buFont typeface="Wingdings" pitchFamily="2" charset="2"/>
              <a:buNone/>
            </a:pPr>
            <a:r>
              <a:rPr lang="en-US" altLang="tr-TR" sz="2400" b="1" dirty="0" smtClean="0">
                <a:latin typeface="+mj-lt"/>
              </a:rPr>
              <a:t>				</a:t>
            </a:r>
            <a:r>
              <a:rPr lang="tr-TR" altLang="tr-TR" sz="2400" b="1" dirty="0" smtClean="0">
                <a:latin typeface="+mj-lt"/>
              </a:rPr>
              <a:t>            </a:t>
            </a:r>
            <a:r>
              <a:rPr lang="en-US" altLang="tr-TR" sz="2400" b="1" u="sng" dirty="0" smtClean="0">
                <a:solidFill>
                  <a:srgbClr val="FF0000"/>
                </a:solidFill>
                <a:latin typeface="+mj-lt"/>
              </a:rPr>
              <a:t>LEL(%)</a:t>
            </a:r>
            <a:r>
              <a:rPr lang="en-US" altLang="tr-TR" sz="2400" b="1" dirty="0" smtClean="0">
                <a:solidFill>
                  <a:srgbClr val="FF0000"/>
                </a:solidFill>
                <a:latin typeface="+mj-lt"/>
              </a:rPr>
              <a:t>	</a:t>
            </a:r>
            <a:r>
              <a:rPr lang="en-US" altLang="tr-TR" sz="2400" b="1" u="sng" dirty="0" smtClean="0">
                <a:solidFill>
                  <a:srgbClr val="FF0000"/>
                </a:solidFill>
                <a:latin typeface="+mj-lt"/>
              </a:rPr>
              <a:t>UEL(%)</a:t>
            </a:r>
            <a:endParaRPr lang="en-US" altLang="tr-TR" sz="2400" b="1" dirty="0" smtClean="0">
              <a:solidFill>
                <a:srgbClr val="FF0000"/>
              </a:solidFill>
              <a:latin typeface="+mj-lt"/>
            </a:endParaRPr>
          </a:p>
          <a:p>
            <a:pPr marL="0" indent="0" eaLnBrk="1" hangingPunct="1">
              <a:lnSpc>
                <a:spcPct val="90000"/>
              </a:lnSpc>
              <a:buFont typeface="Wingdings" pitchFamily="2" charset="2"/>
              <a:buNone/>
            </a:pPr>
            <a:r>
              <a:rPr lang="en-US" altLang="tr-TR" sz="2400" b="1" dirty="0" smtClean="0">
                <a:latin typeface="+mj-lt"/>
              </a:rPr>
              <a:t>	Ethanol			   3.5		   15</a:t>
            </a:r>
          </a:p>
          <a:p>
            <a:pPr marL="0" indent="0" eaLnBrk="1" hangingPunct="1">
              <a:lnSpc>
                <a:spcPct val="90000"/>
              </a:lnSpc>
              <a:buFont typeface="Wingdings" pitchFamily="2" charset="2"/>
              <a:buNone/>
            </a:pPr>
            <a:r>
              <a:rPr lang="en-US" altLang="tr-TR" sz="2400" b="1" dirty="0" smtClean="0">
                <a:latin typeface="+mj-lt"/>
              </a:rPr>
              <a:t>	</a:t>
            </a:r>
            <a:r>
              <a:rPr lang="tr-TR" altLang="tr-TR" sz="2400" b="1" dirty="0" smtClean="0">
                <a:latin typeface="+mj-lt"/>
              </a:rPr>
              <a:t>Amonyak                 </a:t>
            </a:r>
            <a:r>
              <a:rPr lang="tr-TR" altLang="tr-TR" sz="2400" b="1" baseline="-25000" dirty="0" smtClean="0">
                <a:latin typeface="+mj-lt"/>
              </a:rPr>
              <a:t>                </a:t>
            </a:r>
            <a:r>
              <a:rPr lang="en-US" altLang="tr-TR" sz="2400" b="1" dirty="0" smtClean="0">
                <a:latin typeface="+mj-lt"/>
              </a:rPr>
              <a:t>	   15		   28</a:t>
            </a:r>
          </a:p>
          <a:p>
            <a:pPr marL="0" indent="0" eaLnBrk="1" hangingPunct="1">
              <a:lnSpc>
                <a:spcPct val="90000"/>
              </a:lnSpc>
              <a:buFont typeface="Wingdings" pitchFamily="2" charset="2"/>
              <a:buNone/>
            </a:pPr>
            <a:r>
              <a:rPr lang="en-US" altLang="tr-TR" sz="2400" b="1" dirty="0" smtClean="0">
                <a:latin typeface="+mj-lt"/>
              </a:rPr>
              <a:t>	Ethyl Ether			</a:t>
            </a:r>
            <a:r>
              <a:rPr lang="tr-TR" altLang="tr-TR" sz="2400" b="1" dirty="0" smtClean="0">
                <a:latin typeface="+mj-lt"/>
              </a:rPr>
              <a:t>   </a:t>
            </a:r>
            <a:r>
              <a:rPr lang="en-US" altLang="tr-TR" sz="2400" b="1" dirty="0" smtClean="0">
                <a:latin typeface="+mj-lt"/>
              </a:rPr>
              <a:t>1.7		   48</a:t>
            </a:r>
          </a:p>
          <a:p>
            <a:pPr marL="0" indent="0" eaLnBrk="1" hangingPunct="1">
              <a:lnSpc>
                <a:spcPct val="90000"/>
              </a:lnSpc>
              <a:buFont typeface="Wingdings" pitchFamily="2" charset="2"/>
              <a:buNone/>
            </a:pPr>
            <a:r>
              <a:rPr lang="en-US" altLang="tr-TR" sz="2400" b="1" dirty="0" smtClean="0">
                <a:latin typeface="+mj-lt"/>
              </a:rPr>
              <a:t>	Methane			   5		   15</a:t>
            </a:r>
          </a:p>
          <a:p>
            <a:pPr marL="0" indent="0" eaLnBrk="1" hangingPunct="1">
              <a:lnSpc>
                <a:spcPct val="90000"/>
              </a:lnSpc>
              <a:buFont typeface="Wingdings" pitchFamily="2" charset="2"/>
              <a:buNone/>
            </a:pPr>
            <a:r>
              <a:rPr lang="en-US" altLang="tr-TR" sz="2400" b="1" dirty="0" smtClean="0">
                <a:latin typeface="+mj-lt"/>
              </a:rPr>
              <a:t>	</a:t>
            </a:r>
            <a:r>
              <a:rPr lang="en-US" altLang="tr-TR" sz="2400" b="1" dirty="0" err="1" smtClean="0">
                <a:latin typeface="+mj-lt"/>
              </a:rPr>
              <a:t>Acethylene</a:t>
            </a:r>
            <a:r>
              <a:rPr lang="en-US" altLang="tr-TR" sz="2400" b="1" dirty="0" smtClean="0">
                <a:latin typeface="+mj-lt"/>
              </a:rPr>
              <a:t>			 </a:t>
            </a:r>
            <a:r>
              <a:rPr lang="tr-TR" altLang="tr-TR" sz="2400" b="1" dirty="0" smtClean="0">
                <a:latin typeface="+mj-lt"/>
              </a:rPr>
              <a:t>  </a:t>
            </a:r>
            <a:r>
              <a:rPr lang="en-US" altLang="tr-TR" sz="2400" b="1" dirty="0" smtClean="0">
                <a:latin typeface="+mj-lt"/>
              </a:rPr>
              <a:t>1.5		   82</a:t>
            </a:r>
          </a:p>
          <a:p>
            <a:pPr marL="0" indent="0" eaLnBrk="1" hangingPunct="1">
              <a:lnSpc>
                <a:spcPct val="90000"/>
              </a:lnSpc>
              <a:buFont typeface="Wingdings" pitchFamily="2" charset="2"/>
              <a:buNone/>
            </a:pPr>
            <a:r>
              <a:rPr lang="en-US" altLang="tr-TR" sz="2400" b="1" dirty="0" smtClean="0">
                <a:latin typeface="+mj-lt"/>
              </a:rPr>
              <a:t>	H</a:t>
            </a:r>
            <a:r>
              <a:rPr lang="en-US" altLang="tr-TR" sz="2400" b="1" baseline="-25000" dirty="0" smtClean="0">
                <a:latin typeface="+mj-lt"/>
              </a:rPr>
              <a:t>2</a:t>
            </a:r>
            <a:r>
              <a:rPr lang="en-US" altLang="tr-TR" sz="2400" b="1" dirty="0" smtClean="0">
                <a:latin typeface="+mj-lt"/>
              </a:rPr>
              <a:t>				    4		   76</a:t>
            </a:r>
            <a:endParaRPr lang="tr-TR" altLang="tr-TR" sz="2400" b="1" dirty="0" smtClean="0">
              <a:latin typeface="+mj-lt"/>
            </a:endParaRPr>
          </a:p>
          <a:p>
            <a:pPr marL="0" indent="0" eaLnBrk="1" hangingPunct="1">
              <a:lnSpc>
                <a:spcPct val="90000"/>
              </a:lnSpc>
              <a:buFont typeface="Wingdings" pitchFamily="2" charset="2"/>
              <a:buNone/>
            </a:pPr>
            <a:endParaRPr lang="tr-TR" altLang="tr-TR" sz="2000" b="1" dirty="0" smtClean="0">
              <a:latin typeface="+mj-lt"/>
            </a:endParaRPr>
          </a:p>
          <a:p>
            <a:pPr marL="0" indent="0" eaLnBrk="1" hangingPunct="1">
              <a:lnSpc>
                <a:spcPct val="90000"/>
              </a:lnSpc>
              <a:buFont typeface="Wingdings" pitchFamily="2" charset="2"/>
              <a:buNone/>
            </a:pPr>
            <a:r>
              <a:rPr lang="tr-TR" altLang="tr-TR" sz="2000" b="1" dirty="0" smtClean="0">
                <a:latin typeface="+mj-lt"/>
              </a:rPr>
              <a:t>          (</a:t>
            </a:r>
            <a:r>
              <a:rPr lang="tr-TR" altLang="tr-TR" sz="2000" b="1" dirty="0" smtClean="0">
                <a:solidFill>
                  <a:srgbClr val="FF0000"/>
                </a:solidFill>
                <a:latin typeface="+mj-lt"/>
              </a:rPr>
              <a:t>LEL</a:t>
            </a:r>
            <a:r>
              <a:rPr lang="tr-TR" altLang="tr-TR" sz="2000" b="1" dirty="0" smtClean="0">
                <a:latin typeface="+mj-lt"/>
              </a:rPr>
              <a:t> : en alt patlama sınırı,    </a:t>
            </a:r>
            <a:r>
              <a:rPr lang="tr-TR" altLang="tr-TR" sz="2000" b="1" dirty="0" smtClean="0">
                <a:solidFill>
                  <a:srgbClr val="FF0000"/>
                </a:solidFill>
                <a:latin typeface="+mj-lt"/>
              </a:rPr>
              <a:t>UEL</a:t>
            </a:r>
            <a:r>
              <a:rPr lang="tr-TR" altLang="tr-TR" sz="2000" b="1" dirty="0" smtClean="0">
                <a:latin typeface="+mj-lt"/>
              </a:rPr>
              <a:t>: en üst patlama sınırı</a:t>
            </a:r>
            <a:r>
              <a:rPr lang="tr-TR" altLang="tr-TR" sz="2400" b="1" dirty="0" smtClean="0">
                <a:latin typeface="+mj-lt"/>
              </a:rPr>
              <a:t>)</a:t>
            </a:r>
            <a:endParaRPr lang="en-US" altLang="tr-TR" sz="2400" b="1" dirty="0" smtClean="0">
              <a:latin typeface="+mj-lt"/>
            </a:endParaRPr>
          </a:p>
        </p:txBody>
      </p:sp>
    </p:spTree>
    <p:extLst>
      <p:ext uri="{BB962C8B-B14F-4D97-AF65-F5344CB8AC3E}">
        <p14:creationId xmlns="" xmlns:p14="http://schemas.microsoft.com/office/powerpoint/2010/main" val="2133746233"/>
      </p:ext>
    </p:extLst>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subTitle" idx="4294967295"/>
          </p:nvPr>
        </p:nvSpPr>
        <p:spPr>
          <a:xfrm>
            <a:off x="0" y="-458788"/>
            <a:ext cx="8929688" cy="6248401"/>
          </a:xfrm>
          <a:noFill/>
        </p:spPr>
        <p:txBody>
          <a:bodyPr lIns="92075" tIns="46038" rIns="92075" bIns="46038" anchor="ctr">
            <a:normAutofit lnSpcReduction="10000"/>
          </a:bodyPr>
          <a:lstStyle/>
          <a:p>
            <a:pPr marL="0" indent="0" eaLnBrk="1" hangingPunct="1">
              <a:lnSpc>
                <a:spcPct val="80000"/>
              </a:lnSpc>
              <a:buFont typeface="Wingdings" pitchFamily="2" charset="2"/>
              <a:buNone/>
            </a:pPr>
            <a:r>
              <a:rPr lang="tr-TR" altLang="tr-TR" b="1" dirty="0" smtClean="0">
                <a:solidFill>
                  <a:srgbClr val="0070C0"/>
                </a:solidFill>
                <a:latin typeface="+mj-lt"/>
              </a:rPr>
              <a:t>        </a:t>
            </a:r>
          </a:p>
          <a:p>
            <a:pPr marL="0" indent="0" eaLnBrk="1" hangingPunct="1">
              <a:lnSpc>
                <a:spcPct val="80000"/>
              </a:lnSpc>
              <a:buFont typeface="Wingdings" pitchFamily="2" charset="2"/>
              <a:buNone/>
            </a:pPr>
            <a:endParaRPr lang="tr-TR" altLang="tr-TR" b="1" dirty="0" smtClean="0">
              <a:solidFill>
                <a:srgbClr val="0070C0"/>
              </a:solidFill>
              <a:latin typeface="+mj-lt"/>
            </a:endParaRPr>
          </a:p>
          <a:p>
            <a:pPr marL="0" indent="0" eaLnBrk="1" hangingPunct="1">
              <a:lnSpc>
                <a:spcPct val="80000"/>
              </a:lnSpc>
              <a:buFont typeface="Wingdings" pitchFamily="2" charset="2"/>
              <a:buNone/>
            </a:pPr>
            <a:r>
              <a:rPr lang="tr-TR" altLang="tr-TR" b="1" dirty="0" smtClean="0">
                <a:solidFill>
                  <a:srgbClr val="0070C0"/>
                </a:solidFill>
                <a:latin typeface="+mj-lt"/>
              </a:rPr>
              <a:t>  </a:t>
            </a:r>
            <a:r>
              <a:rPr lang="tr-TR" altLang="tr-TR" b="1" dirty="0" smtClean="0">
                <a:solidFill>
                  <a:srgbClr val="FF0000"/>
                </a:solidFill>
                <a:latin typeface="+mj-lt"/>
              </a:rPr>
              <a:t>        </a:t>
            </a:r>
            <a:r>
              <a:rPr lang="en-US" altLang="tr-TR" b="1" dirty="0" smtClean="0">
                <a:solidFill>
                  <a:srgbClr val="0070C0"/>
                </a:solidFill>
                <a:latin typeface="+mj-lt"/>
              </a:rPr>
              <a:t>OKSİJEN MİKTARI / ETKİLERİ</a:t>
            </a:r>
          </a:p>
          <a:p>
            <a:pPr marL="0" indent="0" eaLnBrk="1" hangingPunct="1">
              <a:lnSpc>
                <a:spcPct val="80000"/>
              </a:lnSpc>
              <a:buFont typeface="Wingdings" pitchFamily="2" charset="2"/>
              <a:buNone/>
            </a:pPr>
            <a:endParaRPr lang="en-US" altLang="tr-TR" sz="1800" dirty="0" smtClean="0">
              <a:solidFill>
                <a:srgbClr val="FF0000"/>
              </a:solidFill>
              <a:latin typeface="+mj-lt"/>
            </a:endParaRPr>
          </a:p>
          <a:p>
            <a:pPr marL="0" indent="0" eaLnBrk="1" hangingPunct="1">
              <a:lnSpc>
                <a:spcPct val="80000"/>
              </a:lnSpc>
              <a:buFont typeface="Wingdings" pitchFamily="2" charset="2"/>
              <a:buNone/>
            </a:pPr>
            <a:r>
              <a:rPr lang="en-US" altLang="tr-TR" sz="1800" dirty="0" smtClean="0">
                <a:solidFill>
                  <a:srgbClr val="FF0000"/>
                </a:solidFill>
                <a:latin typeface="+mj-lt"/>
              </a:rPr>
              <a:t>	</a:t>
            </a:r>
            <a:r>
              <a:rPr lang="en-US" altLang="tr-TR" sz="2400" b="1" dirty="0" smtClean="0">
                <a:solidFill>
                  <a:srgbClr val="FF0000"/>
                </a:solidFill>
                <a:latin typeface="+mj-lt"/>
              </a:rPr>
              <a:t>%23 </a:t>
            </a:r>
            <a:r>
              <a:rPr lang="en-US" altLang="tr-TR" sz="2400" b="1" dirty="0" err="1" smtClean="0">
                <a:solidFill>
                  <a:srgbClr val="FF0000"/>
                </a:solidFill>
                <a:latin typeface="+mj-lt"/>
              </a:rPr>
              <a:t>ve</a:t>
            </a:r>
            <a:r>
              <a:rPr lang="en-US" altLang="tr-TR" sz="2400" b="1" dirty="0" smtClean="0">
                <a:solidFill>
                  <a:srgbClr val="FF0000"/>
                </a:solidFill>
                <a:latin typeface="+mj-lt"/>
              </a:rPr>
              <a:t> </a:t>
            </a:r>
            <a:r>
              <a:rPr lang="en-US" altLang="tr-TR" sz="2400" b="1" dirty="0" err="1" smtClean="0">
                <a:solidFill>
                  <a:srgbClr val="FF0000"/>
                </a:solidFill>
                <a:latin typeface="+mj-lt"/>
              </a:rPr>
              <a:t>yukarısı</a:t>
            </a:r>
            <a:r>
              <a:rPr lang="en-US" altLang="tr-TR" sz="2400" b="1" dirty="0" smtClean="0">
                <a:solidFill>
                  <a:srgbClr val="FF0000"/>
                </a:solidFill>
                <a:latin typeface="+mj-lt"/>
              </a:rPr>
              <a:t>	</a:t>
            </a:r>
            <a:r>
              <a:rPr lang="tr-TR" altLang="tr-TR" sz="2400" b="1" dirty="0" smtClean="0">
                <a:solidFill>
                  <a:srgbClr val="FF0000"/>
                </a:solidFill>
                <a:latin typeface="+mj-lt"/>
              </a:rPr>
              <a:t>    </a:t>
            </a:r>
            <a:r>
              <a:rPr lang="en-US" altLang="tr-TR" sz="2400" b="1" dirty="0" err="1" smtClean="0">
                <a:solidFill>
                  <a:srgbClr val="FF0000"/>
                </a:solidFill>
                <a:latin typeface="+mj-lt"/>
              </a:rPr>
              <a:t>Patlama</a:t>
            </a:r>
            <a:r>
              <a:rPr lang="en-US" altLang="tr-TR" sz="2400" b="1" dirty="0" smtClean="0">
                <a:solidFill>
                  <a:srgbClr val="FF0000"/>
                </a:solidFill>
                <a:latin typeface="+mj-lt"/>
              </a:rPr>
              <a:t> / </a:t>
            </a:r>
            <a:r>
              <a:rPr lang="en-US" altLang="tr-TR" sz="2400" b="1" dirty="0" err="1" smtClean="0">
                <a:solidFill>
                  <a:srgbClr val="FF0000"/>
                </a:solidFill>
                <a:latin typeface="+mj-lt"/>
              </a:rPr>
              <a:t>yangın</a:t>
            </a:r>
            <a:r>
              <a:rPr lang="en-US" altLang="tr-TR" sz="2400" b="1" dirty="0" smtClean="0">
                <a:solidFill>
                  <a:srgbClr val="FF0000"/>
                </a:solidFill>
                <a:latin typeface="+mj-lt"/>
              </a:rPr>
              <a:t> </a:t>
            </a:r>
            <a:r>
              <a:rPr lang="en-US" altLang="tr-TR" sz="2400" b="1" dirty="0" err="1" smtClean="0">
                <a:solidFill>
                  <a:srgbClr val="FF0000"/>
                </a:solidFill>
                <a:latin typeface="+mj-lt"/>
              </a:rPr>
              <a:t>tehlikesi</a:t>
            </a:r>
            <a:endParaRPr lang="en-US" altLang="tr-TR" sz="2400" b="1" dirty="0" smtClean="0">
              <a:solidFill>
                <a:srgbClr val="FF0000"/>
              </a:solidFill>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a:t>
            </a:r>
            <a:r>
              <a:rPr lang="en-US" altLang="tr-TR" sz="2400" b="1" dirty="0" smtClean="0">
                <a:solidFill>
                  <a:srgbClr val="0070C0"/>
                </a:solidFill>
                <a:latin typeface="+mj-lt"/>
              </a:rPr>
              <a:t>%21		</a:t>
            </a:r>
            <a:r>
              <a:rPr lang="tr-TR" altLang="tr-TR" sz="2400" b="1" dirty="0" smtClean="0">
                <a:solidFill>
                  <a:srgbClr val="0070C0"/>
                </a:solidFill>
                <a:latin typeface="+mj-lt"/>
              </a:rPr>
              <a:t>                 </a:t>
            </a:r>
            <a:r>
              <a:rPr lang="en-US" altLang="tr-TR" sz="2400" b="1" dirty="0" smtClean="0">
                <a:solidFill>
                  <a:srgbClr val="0070C0"/>
                </a:solidFill>
                <a:latin typeface="+mj-lt"/>
              </a:rPr>
              <a:t>Normal </a:t>
            </a:r>
            <a:r>
              <a:rPr lang="en-US" altLang="tr-TR" sz="2400" b="1" dirty="0" err="1" smtClean="0">
                <a:solidFill>
                  <a:srgbClr val="0070C0"/>
                </a:solidFill>
                <a:latin typeface="+mj-lt"/>
              </a:rPr>
              <a:t>seviye</a:t>
            </a:r>
            <a:endParaRPr lang="en-US" altLang="tr-TR" sz="2400" b="1" dirty="0" smtClean="0">
              <a:solidFill>
                <a:srgbClr val="0070C0"/>
              </a:solidFill>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a:t>
            </a:r>
            <a:r>
              <a:rPr lang="en-US" altLang="tr-TR" sz="2400" b="1" dirty="0" smtClean="0">
                <a:solidFill>
                  <a:srgbClr val="663300"/>
                </a:solidFill>
                <a:latin typeface="+mj-lt"/>
              </a:rPr>
              <a:t>%19.5		</a:t>
            </a:r>
            <a:r>
              <a:rPr lang="tr-TR" altLang="tr-TR" sz="2400" b="1" dirty="0" smtClean="0">
                <a:solidFill>
                  <a:srgbClr val="663300"/>
                </a:solidFill>
                <a:latin typeface="+mj-lt"/>
              </a:rPr>
              <a:t>                 </a:t>
            </a:r>
            <a:r>
              <a:rPr lang="en-US" altLang="tr-TR" sz="2400" b="1" dirty="0" smtClean="0">
                <a:solidFill>
                  <a:srgbClr val="663300"/>
                </a:solidFill>
                <a:latin typeface="+mj-lt"/>
              </a:rPr>
              <a:t>Alt </a:t>
            </a:r>
            <a:r>
              <a:rPr lang="en-US" altLang="tr-TR" sz="2400" b="1" dirty="0" err="1" smtClean="0">
                <a:solidFill>
                  <a:srgbClr val="663300"/>
                </a:solidFill>
                <a:latin typeface="+mj-lt"/>
              </a:rPr>
              <a:t>tehlike</a:t>
            </a:r>
            <a:r>
              <a:rPr lang="en-US" altLang="tr-TR" sz="2400" b="1" dirty="0" smtClean="0">
                <a:solidFill>
                  <a:srgbClr val="663300"/>
                </a:solidFill>
                <a:latin typeface="+mj-lt"/>
              </a:rPr>
              <a:t> </a:t>
            </a:r>
            <a:r>
              <a:rPr lang="en-US" altLang="tr-TR" sz="2400" b="1" dirty="0" err="1" smtClean="0">
                <a:solidFill>
                  <a:srgbClr val="663300"/>
                </a:solidFill>
                <a:latin typeface="+mj-lt"/>
              </a:rPr>
              <a:t>sınırı</a:t>
            </a:r>
            <a:endParaRPr lang="en-US" altLang="tr-TR" sz="2400" b="1" dirty="0" smtClean="0">
              <a:solidFill>
                <a:srgbClr val="663300"/>
              </a:solidFill>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%16		</a:t>
            </a:r>
            <a:r>
              <a:rPr lang="tr-TR" altLang="tr-TR" sz="2400" b="1" dirty="0" smtClean="0">
                <a:latin typeface="+mj-lt"/>
              </a:rPr>
              <a:t>                </a:t>
            </a:r>
            <a:r>
              <a:rPr lang="en-US" altLang="tr-TR" sz="2400" b="1" dirty="0" err="1" smtClean="0">
                <a:latin typeface="+mj-lt"/>
              </a:rPr>
              <a:t>Hafif</a:t>
            </a:r>
            <a:r>
              <a:rPr lang="en-US" altLang="tr-TR" sz="2400" b="1" dirty="0" smtClean="0">
                <a:latin typeface="+mj-lt"/>
              </a:rPr>
              <a:t> </a:t>
            </a:r>
            <a:r>
              <a:rPr lang="en-US" altLang="tr-TR" sz="2400" b="1" dirty="0" err="1" smtClean="0">
                <a:latin typeface="+mj-lt"/>
              </a:rPr>
              <a:t>bilinç</a:t>
            </a:r>
            <a:r>
              <a:rPr lang="en-US" altLang="tr-TR" sz="2400" b="1" dirty="0" smtClean="0">
                <a:latin typeface="+mj-lt"/>
              </a:rPr>
              <a:t> </a:t>
            </a:r>
            <a:r>
              <a:rPr lang="en-US" altLang="tr-TR" sz="2400" b="1" dirty="0" err="1" smtClean="0">
                <a:latin typeface="+mj-lt"/>
              </a:rPr>
              <a:t>kaybı</a:t>
            </a:r>
            <a:r>
              <a:rPr lang="en-US" altLang="tr-TR" sz="2400" b="1" dirty="0" smtClean="0">
                <a:latin typeface="+mj-lt"/>
              </a:rPr>
              <a:t>, </a:t>
            </a:r>
            <a:r>
              <a:rPr lang="en-US" altLang="tr-TR" sz="2400" b="1" dirty="0" err="1" smtClean="0">
                <a:latin typeface="+mj-lt"/>
              </a:rPr>
              <a:t>sersemlik</a:t>
            </a:r>
            <a:endParaRPr lang="en-US" altLang="tr-TR" sz="2400" b="1" dirty="0" smtClean="0">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%14</a:t>
            </a:r>
            <a:r>
              <a:rPr lang="tr-TR" altLang="tr-TR" sz="2400" b="1" dirty="0" smtClean="0">
                <a:latin typeface="+mj-lt"/>
              </a:rPr>
              <a:t>                                   </a:t>
            </a:r>
            <a:r>
              <a:rPr lang="en-US" altLang="tr-TR" sz="2400" b="1" dirty="0" err="1" smtClean="0">
                <a:latin typeface="+mj-lt"/>
              </a:rPr>
              <a:t>Halsizlik</a:t>
            </a:r>
            <a:r>
              <a:rPr lang="en-US" altLang="tr-TR" sz="2400" b="1" dirty="0" smtClean="0">
                <a:latin typeface="+mj-lt"/>
              </a:rPr>
              <a:t>, </a:t>
            </a:r>
            <a:r>
              <a:rPr lang="en-US" altLang="tr-TR" sz="2400" b="1" dirty="0" err="1" smtClean="0">
                <a:latin typeface="+mj-lt"/>
              </a:rPr>
              <a:t>yanlış</a:t>
            </a:r>
            <a:r>
              <a:rPr lang="tr-TR" altLang="tr-TR" sz="2400" b="1" dirty="0" smtClean="0">
                <a:latin typeface="+mj-lt"/>
              </a:rPr>
              <a:t> </a:t>
            </a:r>
            <a:r>
              <a:rPr lang="en-US" altLang="tr-TR" sz="2400" b="1" dirty="0" err="1" smtClean="0">
                <a:latin typeface="+mj-lt"/>
              </a:rPr>
              <a:t>değerlendirme</a:t>
            </a:r>
            <a:r>
              <a:rPr lang="en-US" altLang="tr-TR" sz="2400" b="1" dirty="0" smtClean="0">
                <a:latin typeface="+mj-lt"/>
              </a:rPr>
              <a:t> </a:t>
            </a:r>
            <a:r>
              <a:rPr lang="en-US" altLang="tr-TR" sz="2400" b="1" dirty="0" err="1" smtClean="0">
                <a:latin typeface="+mj-lt"/>
              </a:rPr>
              <a:t>yapma</a:t>
            </a:r>
            <a:endParaRPr lang="en-US" altLang="tr-TR" sz="2400" b="1" dirty="0" smtClean="0">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%8</a:t>
            </a:r>
            <a:r>
              <a:rPr lang="tr-TR" altLang="tr-TR" sz="2400" b="1" dirty="0" smtClean="0">
                <a:latin typeface="+mj-lt"/>
              </a:rPr>
              <a:t>                                     </a:t>
            </a:r>
            <a:r>
              <a:rPr lang="en-US" altLang="tr-TR" sz="2400" b="1" dirty="0" err="1" smtClean="0">
                <a:latin typeface="+mj-lt"/>
              </a:rPr>
              <a:t>Anlık</a:t>
            </a:r>
            <a:r>
              <a:rPr lang="en-US" altLang="tr-TR" sz="2400" b="1" dirty="0" smtClean="0">
                <a:latin typeface="+mj-lt"/>
              </a:rPr>
              <a:t> </a:t>
            </a:r>
            <a:r>
              <a:rPr lang="en-US" altLang="tr-TR" sz="2400" b="1" dirty="0" err="1" smtClean="0">
                <a:latin typeface="+mj-lt"/>
              </a:rPr>
              <a:t>hafıza</a:t>
            </a:r>
            <a:r>
              <a:rPr lang="en-US" altLang="tr-TR" sz="2400" b="1" dirty="0" smtClean="0">
                <a:latin typeface="+mj-lt"/>
              </a:rPr>
              <a:t> </a:t>
            </a:r>
            <a:r>
              <a:rPr lang="en-US" altLang="tr-TR" sz="2400" b="1" dirty="0" err="1" smtClean="0">
                <a:latin typeface="+mj-lt"/>
              </a:rPr>
              <a:t>kaybı</a:t>
            </a:r>
            <a:r>
              <a:rPr lang="en-US" altLang="tr-TR" sz="2400" b="1" dirty="0" smtClean="0">
                <a:latin typeface="+mj-lt"/>
              </a:rPr>
              <a:t>, </a:t>
            </a:r>
            <a:r>
              <a:rPr lang="en-US" altLang="tr-TR" sz="2400" b="1" dirty="0" err="1" smtClean="0">
                <a:latin typeface="+mj-lt"/>
              </a:rPr>
              <a:t>baygınlık</a:t>
            </a:r>
            <a:endParaRPr lang="tr-TR" altLang="tr-TR" sz="2400" b="1" dirty="0" smtClean="0">
              <a:latin typeface="+mj-lt"/>
            </a:endParaRPr>
          </a:p>
          <a:p>
            <a:pPr marL="0" indent="0" eaLnBrk="1" hangingPunct="1">
              <a:lnSpc>
                <a:spcPct val="80000"/>
              </a:lnSpc>
              <a:buFont typeface="Wingdings" pitchFamily="2" charset="2"/>
              <a:buNone/>
            </a:pPr>
            <a:endParaRPr lang="en-US" altLang="tr-TR" sz="2400" b="1" dirty="0" smtClean="0">
              <a:latin typeface="+mj-lt"/>
            </a:endParaRPr>
          </a:p>
          <a:p>
            <a:pPr marL="0" indent="0" eaLnBrk="1" hangingPunct="1">
              <a:lnSpc>
                <a:spcPct val="80000"/>
              </a:lnSpc>
              <a:buFont typeface="Wingdings" pitchFamily="2" charset="2"/>
              <a:buNone/>
            </a:pPr>
            <a:r>
              <a:rPr lang="en-US" altLang="tr-TR" sz="2400" b="1" dirty="0" smtClean="0">
                <a:latin typeface="+mj-lt"/>
              </a:rPr>
              <a:t>	</a:t>
            </a:r>
            <a:r>
              <a:rPr lang="en-US" altLang="tr-TR" sz="2400" b="1" dirty="0" smtClean="0">
                <a:solidFill>
                  <a:srgbClr val="FF0000"/>
                </a:solidFill>
                <a:latin typeface="+mj-lt"/>
              </a:rPr>
              <a:t>%6</a:t>
            </a:r>
            <a:r>
              <a:rPr lang="en-US" altLang="tr-TR" sz="2400" b="1" dirty="0" smtClean="0">
                <a:latin typeface="+mj-lt"/>
              </a:rPr>
              <a:t>		</a:t>
            </a:r>
            <a:r>
              <a:rPr lang="tr-TR" altLang="tr-TR" sz="2400" b="1" dirty="0" smtClean="0">
                <a:latin typeface="+mj-lt"/>
              </a:rPr>
              <a:t>                </a:t>
            </a:r>
            <a:r>
              <a:rPr lang="en-US" altLang="tr-TR" sz="2400" b="1" dirty="0" err="1" smtClean="0">
                <a:solidFill>
                  <a:srgbClr val="FF0000"/>
                </a:solidFill>
                <a:latin typeface="+mj-lt"/>
              </a:rPr>
              <a:t>Nefes</a:t>
            </a:r>
            <a:r>
              <a:rPr lang="en-US" altLang="tr-TR" sz="2400" b="1" dirty="0" smtClean="0">
                <a:solidFill>
                  <a:srgbClr val="FF0000"/>
                </a:solidFill>
                <a:latin typeface="+mj-lt"/>
              </a:rPr>
              <a:t> </a:t>
            </a:r>
            <a:r>
              <a:rPr lang="en-US" altLang="tr-TR" sz="2400" b="1" dirty="0" err="1" smtClean="0">
                <a:solidFill>
                  <a:srgbClr val="FF0000"/>
                </a:solidFill>
                <a:latin typeface="+mj-lt"/>
              </a:rPr>
              <a:t>almada</a:t>
            </a:r>
            <a:r>
              <a:rPr lang="en-US" altLang="tr-TR" sz="2400" b="1" dirty="0" smtClean="0">
                <a:solidFill>
                  <a:srgbClr val="FF0000"/>
                </a:solidFill>
                <a:latin typeface="+mj-lt"/>
              </a:rPr>
              <a:t> </a:t>
            </a:r>
            <a:r>
              <a:rPr lang="en-US" altLang="tr-TR" sz="2400" b="1" dirty="0" err="1" smtClean="0">
                <a:solidFill>
                  <a:srgbClr val="FF0000"/>
                </a:solidFill>
                <a:latin typeface="+mj-lt"/>
              </a:rPr>
              <a:t>zorluk</a:t>
            </a:r>
            <a:r>
              <a:rPr lang="en-US" altLang="tr-TR" sz="2400" b="1" dirty="0" smtClean="0">
                <a:solidFill>
                  <a:srgbClr val="FF0000"/>
                </a:solidFill>
                <a:latin typeface="+mj-lt"/>
              </a:rPr>
              <a:t>, </a:t>
            </a:r>
            <a:r>
              <a:rPr lang="en-US" altLang="tr-TR" sz="2400" b="1" dirty="0" err="1" smtClean="0">
                <a:solidFill>
                  <a:srgbClr val="FF0000"/>
                </a:solidFill>
                <a:latin typeface="+mj-lt"/>
              </a:rPr>
              <a:t>ölüm</a:t>
            </a:r>
            <a:endParaRPr lang="en-US" altLang="tr-TR" sz="2400" b="1" dirty="0" smtClean="0">
              <a:solidFill>
                <a:srgbClr val="FF0000"/>
              </a:solidFill>
              <a:latin typeface="+mj-lt"/>
            </a:endParaRPr>
          </a:p>
        </p:txBody>
      </p:sp>
    </p:spTree>
    <p:custDataLst>
      <p:tags r:id="rId1"/>
    </p:custDataLst>
    <p:extLst>
      <p:ext uri="{BB962C8B-B14F-4D97-AF65-F5344CB8AC3E}">
        <p14:creationId xmlns="" xmlns:p14="http://schemas.microsoft.com/office/powerpoint/2010/main" val="3122167858"/>
      </p:ext>
    </p:extLst>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19"/>
          <p:cNvSpPr>
            <a:spLocks noChangeArrowheads="1"/>
          </p:cNvSpPr>
          <p:nvPr/>
        </p:nvSpPr>
        <p:spPr bwMode="auto">
          <a:xfrm>
            <a:off x="107950" y="1382713"/>
            <a:ext cx="9036050" cy="2446337"/>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70000"/>
              </a:lnSpc>
              <a:buClr>
                <a:srgbClr val="CC0000"/>
              </a:buClr>
              <a:buFont typeface="Wingdings 2" pitchFamily="18" charset="2"/>
              <a:buChar char="E"/>
            </a:pPr>
            <a:r>
              <a:rPr lang="tr-TR" altLang="tr-TR" sz="1800" b="1">
                <a:solidFill>
                  <a:srgbClr val="000066"/>
                </a:solidFill>
                <a:latin typeface="Verdana" pitchFamily="34" charset="0"/>
              </a:rPr>
              <a:t>Kapalı alan boş olduğu zamanlarda </a:t>
            </a:r>
            <a:r>
              <a:rPr lang="tr-TR" altLang="tr-TR" sz="1800" b="1">
                <a:solidFill>
                  <a:srgbClr val="FF0000"/>
                </a:solidFill>
                <a:latin typeface="Verdana" pitchFamily="34" charset="0"/>
              </a:rPr>
              <a:t>her girişten önce,</a:t>
            </a:r>
          </a:p>
          <a:p>
            <a:pPr eaLnBrk="1" hangingPunct="1">
              <a:lnSpc>
                <a:spcPct val="170000"/>
              </a:lnSpc>
              <a:buClr>
                <a:srgbClr val="CC0000"/>
              </a:buClr>
              <a:buFont typeface="Wingdings 2" pitchFamily="18" charset="2"/>
              <a:buChar char="E"/>
            </a:pPr>
            <a:r>
              <a:rPr lang="tr-TR" altLang="tr-TR" sz="1800" b="1">
                <a:solidFill>
                  <a:srgbClr val="000066"/>
                </a:solidFill>
                <a:latin typeface="Verdana" pitchFamily="34" charset="0"/>
              </a:rPr>
              <a:t>10 dakikalık havalandırma (gerekliyse) periyotlarından sonra,</a:t>
            </a:r>
          </a:p>
          <a:p>
            <a:pPr eaLnBrk="1" hangingPunct="1">
              <a:lnSpc>
                <a:spcPct val="170000"/>
              </a:lnSpc>
              <a:buClr>
                <a:srgbClr val="CC0000"/>
              </a:buClr>
              <a:buFont typeface="Wingdings 2" pitchFamily="18" charset="2"/>
              <a:buChar char="E"/>
            </a:pPr>
            <a:r>
              <a:rPr lang="tr-TR" altLang="tr-TR" sz="1800" b="1">
                <a:solidFill>
                  <a:srgbClr val="FF0000"/>
                </a:solidFill>
                <a:latin typeface="Verdana" pitchFamily="34" charset="0"/>
              </a:rPr>
              <a:t>En az saat başı,</a:t>
            </a:r>
          </a:p>
          <a:p>
            <a:pPr eaLnBrk="1" hangingPunct="1">
              <a:lnSpc>
                <a:spcPct val="170000"/>
              </a:lnSpc>
              <a:buClr>
                <a:srgbClr val="CC0000"/>
              </a:buClr>
              <a:buFont typeface="Wingdings 2" pitchFamily="18" charset="2"/>
              <a:buChar char="E"/>
            </a:pPr>
            <a:r>
              <a:rPr lang="tr-TR" altLang="tr-TR" sz="1800" b="1">
                <a:solidFill>
                  <a:srgbClr val="000066"/>
                </a:solidFill>
                <a:latin typeface="Verdana" pitchFamily="34" charset="0"/>
              </a:rPr>
              <a:t>Şüpheli durumlarda </a:t>
            </a:r>
            <a:r>
              <a:rPr lang="tr-TR" altLang="tr-TR" sz="1800" b="1">
                <a:solidFill>
                  <a:srgbClr val="FF0000"/>
                </a:solidFill>
                <a:latin typeface="Verdana" pitchFamily="34" charset="0"/>
              </a:rPr>
              <a:t>daha sık</a:t>
            </a:r>
          </a:p>
          <a:p>
            <a:pPr eaLnBrk="1" hangingPunct="1">
              <a:lnSpc>
                <a:spcPct val="170000"/>
              </a:lnSpc>
              <a:buClr>
                <a:srgbClr val="CC0000"/>
              </a:buClr>
              <a:buFont typeface="Wingdings 2" pitchFamily="18" charset="2"/>
              <a:buNone/>
            </a:pPr>
            <a:r>
              <a:rPr lang="tr-TR" altLang="tr-TR" sz="1800" b="1">
                <a:solidFill>
                  <a:srgbClr val="000066"/>
                </a:solidFill>
                <a:latin typeface="Verdana" pitchFamily="34" charset="0"/>
              </a:rPr>
              <a:t>                                                        olarak testler yapılmalıdır.</a:t>
            </a:r>
          </a:p>
        </p:txBody>
      </p:sp>
      <p:sp>
        <p:nvSpPr>
          <p:cNvPr id="2" name="Slayt Numarası Yer Tutucusu 1"/>
          <p:cNvSpPr>
            <a:spLocks noGrp="1"/>
          </p:cNvSpPr>
          <p:nvPr>
            <p:ph type="sldNum" sz="quarter" idx="12"/>
          </p:nvPr>
        </p:nvSpPr>
        <p:spPr/>
        <p:txBody>
          <a:bodyPr/>
          <a:lstStyle/>
          <a:p>
            <a:pPr>
              <a:defRPr/>
            </a:pPr>
            <a:fld id="{E3DE3C48-8A23-4EB7-BE90-F04BB9138505}" type="slidenum">
              <a:rPr lang="tr-TR" smtClean="0"/>
              <a:pPr>
                <a:defRPr/>
              </a:pPr>
              <a:t>39</a:t>
            </a:fld>
            <a:endParaRPr lang="tr-TR"/>
          </a:p>
        </p:txBody>
      </p:sp>
      <p:sp>
        <p:nvSpPr>
          <p:cNvPr id="65540" name="Dikdörtgen 7"/>
          <p:cNvSpPr>
            <a:spLocks noChangeArrowheads="1"/>
          </p:cNvSpPr>
          <p:nvPr/>
        </p:nvSpPr>
        <p:spPr bwMode="auto">
          <a:xfrm>
            <a:off x="250825" y="260350"/>
            <a:ext cx="5935663"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600" b="1">
                <a:solidFill>
                  <a:srgbClr val="0070C0"/>
                </a:solidFill>
                <a:latin typeface="Verdana" pitchFamily="34" charset="0"/>
              </a:rPr>
              <a:t>İ</a:t>
            </a:r>
            <a:r>
              <a:rPr lang="tr-TR" altLang="tr-TR" sz="3600" b="1">
                <a:solidFill>
                  <a:srgbClr val="0070C0"/>
                </a:solidFill>
                <a:latin typeface="Calibri" pitchFamily="34" charset="0"/>
              </a:rPr>
              <a:t>ç</a:t>
            </a:r>
            <a:r>
              <a:rPr lang="tr-TR" altLang="tr-TR" sz="3600" b="1">
                <a:solidFill>
                  <a:srgbClr val="0070C0"/>
                </a:solidFill>
                <a:latin typeface="Verdana" pitchFamily="34" charset="0"/>
              </a:rPr>
              <a:t> atmosferi test et(3)</a:t>
            </a:r>
          </a:p>
        </p:txBody>
      </p:sp>
    </p:spTree>
    <p:extLst>
      <p:ext uri="{BB962C8B-B14F-4D97-AF65-F5344CB8AC3E}">
        <p14:creationId xmlns="" xmlns:p14="http://schemas.microsoft.com/office/powerpoint/2010/main" val="2862227671"/>
      </p:ext>
    </p:extLst>
  </p:cSld>
  <p:clrMapOvr>
    <a:masterClrMapping/>
  </p:clrMapOvr>
  <p:transition advClick="0"/>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6562" name="Group 19"/>
          <p:cNvGrpSpPr>
            <a:grpSpLocks/>
          </p:cNvGrpSpPr>
          <p:nvPr/>
        </p:nvGrpSpPr>
        <p:grpSpPr bwMode="auto">
          <a:xfrm>
            <a:off x="5846763" y="823913"/>
            <a:ext cx="3168650" cy="5160962"/>
            <a:chOff x="2273" y="709"/>
            <a:chExt cx="1804" cy="3279"/>
          </a:xfrm>
        </p:grpSpPr>
        <p:sp>
          <p:nvSpPr>
            <p:cNvPr id="66569" name="AutoShape 20"/>
            <p:cNvSpPr>
              <a:spLocks noChangeArrowheads="1"/>
            </p:cNvSpPr>
            <p:nvPr/>
          </p:nvSpPr>
          <p:spPr bwMode="auto">
            <a:xfrm>
              <a:off x="2273" y="1063"/>
              <a:ext cx="1804" cy="2925"/>
            </a:xfrm>
            <a:prstGeom prst="roundRect">
              <a:avLst>
                <a:gd name="adj" fmla="val 11843"/>
              </a:avLst>
            </a:prstGeom>
            <a:solidFill>
              <a:schemeClr val="accent1"/>
            </a:solidFill>
            <a:ln w="76200">
              <a:solidFill>
                <a:schemeClr val="bg2"/>
              </a:solidFill>
              <a:round/>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0" name="Rectangle 21"/>
            <p:cNvSpPr>
              <a:spLocks noChangeArrowheads="1"/>
            </p:cNvSpPr>
            <p:nvPr/>
          </p:nvSpPr>
          <p:spPr bwMode="auto">
            <a:xfrm>
              <a:off x="2412" y="1152"/>
              <a:ext cx="1657" cy="2696"/>
            </a:xfrm>
            <a:prstGeom prst="rect">
              <a:avLst/>
            </a:prstGeom>
            <a:solidFill>
              <a:schemeClr val="tx1"/>
            </a:solidFill>
            <a:ln w="12700">
              <a:solidFill>
                <a:schemeClr val="tx1"/>
              </a:solidFill>
              <a:miter lim="800000"/>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1" name="Rectangle 22"/>
            <p:cNvSpPr>
              <a:spLocks noChangeArrowheads="1"/>
            </p:cNvSpPr>
            <p:nvPr/>
          </p:nvSpPr>
          <p:spPr bwMode="auto">
            <a:xfrm>
              <a:off x="2412" y="1950"/>
              <a:ext cx="1657" cy="1853"/>
            </a:xfrm>
            <a:prstGeom prst="rect">
              <a:avLst/>
            </a:prstGeom>
            <a:solidFill>
              <a:srgbClr val="FFFF00"/>
            </a:solidFill>
            <a:ln w="12700">
              <a:solidFill>
                <a:schemeClr val="tx1"/>
              </a:solidFill>
              <a:miter lim="800000"/>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2" name="Rectangle 23"/>
            <p:cNvSpPr>
              <a:spLocks noChangeArrowheads="1"/>
            </p:cNvSpPr>
            <p:nvPr/>
          </p:nvSpPr>
          <p:spPr bwMode="auto">
            <a:xfrm>
              <a:off x="2412" y="2925"/>
              <a:ext cx="1657" cy="930"/>
            </a:xfrm>
            <a:prstGeom prst="rect">
              <a:avLst/>
            </a:prstGeom>
            <a:solidFill>
              <a:srgbClr val="FF0033"/>
            </a:solidFill>
            <a:ln w="12700">
              <a:solidFill>
                <a:schemeClr val="tx1"/>
              </a:solidFill>
              <a:miter lim="800000"/>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3" name="Rectangle 24"/>
            <p:cNvSpPr>
              <a:spLocks noChangeArrowheads="1"/>
            </p:cNvSpPr>
            <p:nvPr/>
          </p:nvSpPr>
          <p:spPr bwMode="auto">
            <a:xfrm>
              <a:off x="2381" y="901"/>
              <a:ext cx="432" cy="103"/>
            </a:xfrm>
            <a:prstGeom prst="rect">
              <a:avLst/>
            </a:prstGeom>
            <a:solidFill>
              <a:schemeClr val="accent1"/>
            </a:solidFill>
            <a:ln w="50800">
              <a:solidFill>
                <a:schemeClr val="bg2"/>
              </a:solidFill>
              <a:miter lim="800000"/>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4" name="AutoShape 25"/>
            <p:cNvSpPr>
              <a:spLocks noChangeArrowheads="1"/>
            </p:cNvSpPr>
            <p:nvPr/>
          </p:nvSpPr>
          <p:spPr bwMode="auto">
            <a:xfrm>
              <a:off x="2558" y="1381"/>
              <a:ext cx="124" cy="251"/>
            </a:xfrm>
            <a:prstGeom prst="roundRect">
              <a:avLst>
                <a:gd name="adj" fmla="val 12495"/>
              </a:avLst>
            </a:prstGeom>
            <a:solidFill>
              <a:schemeClr val="bg2"/>
            </a:solidFill>
            <a:ln w="25400">
              <a:solidFill>
                <a:srgbClr val="FF0033"/>
              </a:solidFill>
              <a:round/>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5" name="AutoShape 26"/>
            <p:cNvSpPr>
              <a:spLocks noChangeArrowheads="1"/>
            </p:cNvSpPr>
            <p:nvPr/>
          </p:nvSpPr>
          <p:spPr bwMode="auto">
            <a:xfrm>
              <a:off x="2558" y="2312"/>
              <a:ext cx="124" cy="251"/>
            </a:xfrm>
            <a:prstGeom prst="roundRect">
              <a:avLst>
                <a:gd name="adj" fmla="val 12495"/>
              </a:avLst>
            </a:prstGeom>
            <a:solidFill>
              <a:schemeClr val="bg2"/>
            </a:solidFill>
            <a:ln w="25400">
              <a:solidFill>
                <a:srgbClr val="FF0033"/>
              </a:solidFill>
              <a:prstDash val="sysDot"/>
              <a:round/>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6" name="AutoShape 27"/>
            <p:cNvSpPr>
              <a:spLocks noChangeArrowheads="1"/>
            </p:cNvSpPr>
            <p:nvPr/>
          </p:nvSpPr>
          <p:spPr bwMode="auto">
            <a:xfrm>
              <a:off x="2558" y="3286"/>
              <a:ext cx="124" cy="252"/>
            </a:xfrm>
            <a:prstGeom prst="roundRect">
              <a:avLst>
                <a:gd name="adj" fmla="val 12495"/>
              </a:avLst>
            </a:prstGeom>
            <a:solidFill>
              <a:schemeClr val="bg2"/>
            </a:solidFill>
            <a:ln w="25400">
              <a:solidFill>
                <a:schemeClr val="tx1"/>
              </a:solidFill>
              <a:prstDash val="sysDot"/>
              <a:round/>
              <a:headEnd/>
              <a:tailEnd/>
            </a:ln>
          </p:spPr>
          <p:txBody>
            <a:bodyPr wrap="none"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endParaRPr lang="tr-TR" altLang="tr-TR" sz="1800"/>
            </a:p>
          </p:txBody>
        </p:sp>
        <p:sp>
          <p:nvSpPr>
            <p:cNvPr id="66577" name="Line 28"/>
            <p:cNvSpPr>
              <a:spLocks noChangeShapeType="1"/>
            </p:cNvSpPr>
            <p:nvPr/>
          </p:nvSpPr>
          <p:spPr bwMode="auto">
            <a:xfrm flipV="1">
              <a:off x="2643" y="709"/>
              <a:ext cx="0" cy="886"/>
            </a:xfrm>
            <a:prstGeom prst="line">
              <a:avLst/>
            </a:prstGeom>
            <a:noFill/>
            <a:ln w="12700">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tr-TR"/>
            </a:p>
          </p:txBody>
        </p:sp>
        <p:sp>
          <p:nvSpPr>
            <p:cNvPr id="66578" name="Line 29"/>
            <p:cNvSpPr>
              <a:spLocks noChangeShapeType="1"/>
            </p:cNvSpPr>
            <p:nvPr/>
          </p:nvSpPr>
          <p:spPr bwMode="auto">
            <a:xfrm flipV="1">
              <a:off x="2597" y="1640"/>
              <a:ext cx="0" cy="664"/>
            </a:xfrm>
            <a:prstGeom prst="line">
              <a:avLst/>
            </a:prstGeom>
            <a:noFill/>
            <a:ln w="12700">
              <a:solidFill>
                <a:srgbClr val="000000"/>
              </a:solidFill>
              <a:prstDash val="dash"/>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tr-TR"/>
            </a:p>
          </p:txBody>
        </p:sp>
        <p:sp>
          <p:nvSpPr>
            <p:cNvPr id="66579" name="Line 30"/>
            <p:cNvSpPr>
              <a:spLocks noChangeShapeType="1"/>
            </p:cNvSpPr>
            <p:nvPr/>
          </p:nvSpPr>
          <p:spPr bwMode="auto">
            <a:xfrm flipV="1">
              <a:off x="2597" y="2614"/>
              <a:ext cx="0" cy="665"/>
            </a:xfrm>
            <a:prstGeom prst="line">
              <a:avLst/>
            </a:prstGeom>
            <a:noFill/>
            <a:ln w="12700">
              <a:solidFill>
                <a:srgbClr val="000000"/>
              </a:solidFill>
              <a:prstDash val="dash"/>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tr-TR"/>
            </a:p>
          </p:txBody>
        </p:sp>
      </p:grpSp>
      <p:sp>
        <p:nvSpPr>
          <p:cNvPr id="66563" name="Rectangle 31"/>
          <p:cNvSpPr>
            <a:spLocks noChangeArrowheads="1"/>
          </p:cNvSpPr>
          <p:nvPr/>
        </p:nvSpPr>
        <p:spPr bwMode="auto">
          <a:xfrm>
            <a:off x="73025" y="1689100"/>
            <a:ext cx="5721350" cy="3970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2800" b="1">
                <a:solidFill>
                  <a:srgbClr val="000066"/>
                </a:solidFill>
                <a:latin typeface="Verdana" pitchFamily="34" charset="0"/>
              </a:rPr>
              <a:t>Giriş alanının emniyetli olduğundan emin olmak için her zaman </a:t>
            </a:r>
            <a:r>
              <a:rPr lang="tr-TR" altLang="tr-TR" sz="2800" b="1">
                <a:solidFill>
                  <a:srgbClr val="FF0000"/>
                </a:solidFill>
                <a:latin typeface="Verdana" pitchFamily="34" charset="0"/>
              </a:rPr>
              <a:t>farklı seviyelerde test </a:t>
            </a:r>
            <a:r>
              <a:rPr lang="tr-TR" altLang="tr-TR" sz="2800" b="1">
                <a:solidFill>
                  <a:srgbClr val="000066"/>
                </a:solidFill>
                <a:latin typeface="Verdana" pitchFamily="34" charset="0"/>
              </a:rPr>
              <a:t>yapın.</a:t>
            </a:r>
          </a:p>
          <a:p>
            <a:pPr eaLnBrk="1" hangingPunct="1"/>
            <a:endParaRPr lang="tr-TR" altLang="tr-TR" sz="2800" b="1">
              <a:solidFill>
                <a:srgbClr val="000066"/>
              </a:solidFill>
              <a:latin typeface="Verdana" pitchFamily="34" charset="0"/>
            </a:endParaRPr>
          </a:p>
          <a:p>
            <a:pPr eaLnBrk="1" hangingPunct="1"/>
            <a:r>
              <a:rPr lang="tr-TR" altLang="tr-TR" sz="2800" b="1">
                <a:solidFill>
                  <a:srgbClr val="0070C0"/>
                </a:solidFill>
                <a:latin typeface="Verdana" pitchFamily="34" charset="0"/>
              </a:rPr>
              <a:t>Girişe yakın noktalardaki iyi hava</a:t>
            </a:r>
            <a:r>
              <a:rPr lang="tr-TR" altLang="tr-TR" sz="2800" b="1">
                <a:solidFill>
                  <a:srgbClr val="FF0033"/>
                </a:solidFill>
                <a:latin typeface="Verdana" pitchFamily="34" charset="0"/>
              </a:rPr>
              <a:t>, tabanda da iyi hava olduğu anlamına gelmez!</a:t>
            </a:r>
            <a:endParaRPr lang="en-US" altLang="tr-TR" sz="2800" b="1">
              <a:solidFill>
                <a:srgbClr val="000066"/>
              </a:solidFill>
              <a:latin typeface="Verdana" pitchFamily="34" charset="0"/>
            </a:endParaRPr>
          </a:p>
        </p:txBody>
      </p:sp>
      <p:sp>
        <p:nvSpPr>
          <p:cNvPr id="66564" name="Text Box 32"/>
          <p:cNvSpPr txBox="1">
            <a:spLocks noChangeArrowheads="1"/>
          </p:cNvSpPr>
          <p:nvPr/>
        </p:nvSpPr>
        <p:spPr bwMode="auto">
          <a:xfrm>
            <a:off x="7164388" y="4797425"/>
            <a:ext cx="1223962" cy="58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a:solidFill>
                  <a:schemeClr val="bg1"/>
                </a:solidFill>
                <a:latin typeface="Verdana" pitchFamily="34" charset="0"/>
              </a:rPr>
              <a:t>Öldürücü hava</a:t>
            </a:r>
          </a:p>
        </p:txBody>
      </p:sp>
      <p:sp>
        <p:nvSpPr>
          <p:cNvPr id="66565" name="Text Box 33"/>
          <p:cNvSpPr txBox="1">
            <a:spLocks noChangeArrowheads="1"/>
          </p:cNvSpPr>
          <p:nvPr/>
        </p:nvSpPr>
        <p:spPr bwMode="auto">
          <a:xfrm>
            <a:off x="7308850" y="3284538"/>
            <a:ext cx="1223963" cy="58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a:latin typeface="Verdana" pitchFamily="34" charset="0"/>
              </a:rPr>
              <a:t>Sağlıksız hava</a:t>
            </a:r>
          </a:p>
        </p:txBody>
      </p:sp>
      <p:sp>
        <p:nvSpPr>
          <p:cNvPr id="66566" name="Text Box 34"/>
          <p:cNvSpPr txBox="1">
            <a:spLocks noChangeArrowheads="1"/>
          </p:cNvSpPr>
          <p:nvPr/>
        </p:nvSpPr>
        <p:spPr bwMode="auto">
          <a:xfrm>
            <a:off x="7235825" y="1916113"/>
            <a:ext cx="1223963"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a:solidFill>
                  <a:schemeClr val="bg1"/>
                </a:solidFill>
                <a:latin typeface="Verdana" pitchFamily="34" charset="0"/>
              </a:rPr>
              <a:t>İyi hava</a:t>
            </a:r>
          </a:p>
        </p:txBody>
      </p:sp>
      <p:sp>
        <p:nvSpPr>
          <p:cNvPr id="2" name="Slayt Numarası Yer Tutucusu 1"/>
          <p:cNvSpPr>
            <a:spLocks noGrp="1"/>
          </p:cNvSpPr>
          <p:nvPr>
            <p:ph type="sldNum" sz="quarter" idx="12"/>
          </p:nvPr>
        </p:nvSpPr>
        <p:spPr/>
        <p:txBody>
          <a:bodyPr/>
          <a:lstStyle/>
          <a:p>
            <a:pPr>
              <a:defRPr/>
            </a:pPr>
            <a:fld id="{9EC45F75-223A-4AF4-A4B6-8C0E34770E86}" type="slidenum">
              <a:rPr lang="tr-TR" smtClean="0"/>
              <a:pPr>
                <a:defRPr/>
              </a:pPr>
              <a:t>40</a:t>
            </a:fld>
            <a:endParaRPr lang="tr-TR"/>
          </a:p>
        </p:txBody>
      </p:sp>
      <p:sp>
        <p:nvSpPr>
          <p:cNvPr id="66568" name="Dikdörtgen 2"/>
          <p:cNvSpPr>
            <a:spLocks noChangeArrowheads="1"/>
          </p:cNvSpPr>
          <p:nvPr/>
        </p:nvSpPr>
        <p:spPr bwMode="auto">
          <a:xfrm>
            <a:off x="92075" y="234950"/>
            <a:ext cx="6307138"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600" b="1">
                <a:solidFill>
                  <a:srgbClr val="0070C0"/>
                </a:solidFill>
                <a:latin typeface="Verdana" pitchFamily="34" charset="0"/>
              </a:rPr>
              <a:t>İ</a:t>
            </a:r>
            <a:r>
              <a:rPr lang="tr-TR" altLang="tr-TR" sz="3600" b="1">
                <a:solidFill>
                  <a:srgbClr val="0070C0"/>
                </a:solidFill>
                <a:latin typeface="Calibri" pitchFamily="34" charset="0"/>
              </a:rPr>
              <a:t>ç</a:t>
            </a:r>
            <a:r>
              <a:rPr lang="tr-TR" altLang="tr-TR" sz="3600" b="1">
                <a:solidFill>
                  <a:srgbClr val="0070C0"/>
                </a:solidFill>
                <a:latin typeface="Verdana" pitchFamily="34" charset="0"/>
              </a:rPr>
              <a:t> atmosferi test et (4)</a:t>
            </a:r>
          </a:p>
        </p:txBody>
      </p:sp>
    </p:spTree>
    <p:extLst>
      <p:ext uri="{BB962C8B-B14F-4D97-AF65-F5344CB8AC3E}">
        <p14:creationId xmlns="" xmlns:p14="http://schemas.microsoft.com/office/powerpoint/2010/main" val="2120774240"/>
      </p:ext>
    </p:extLst>
  </p:cSld>
  <p:clrMapOvr>
    <a:masterClrMapping/>
  </p:clrMapOvr>
  <p:transition advClick="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10" descr="http://www.hantsfire.gov.uk/space1.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67587" name="Rounded Rectangle 2"/>
          <p:cNvGrpSpPr>
            <a:grpSpLocks/>
          </p:cNvGrpSpPr>
          <p:nvPr/>
        </p:nvGrpSpPr>
        <p:grpSpPr bwMode="auto">
          <a:xfrm>
            <a:off x="3578225" y="0"/>
            <a:ext cx="5541963" cy="944563"/>
            <a:chOff x="2254" y="0"/>
            <a:chExt cx="3491" cy="595"/>
          </a:xfrm>
        </p:grpSpPr>
        <p:pic>
          <p:nvPicPr>
            <p:cNvPr id="67591" name="Rounded Rectangle 2"/>
            <p:cNvPicPr>
              <a:picLocks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254" y="92"/>
              <a:ext cx="3491" cy="5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7592" name="Text Box 5"/>
            <p:cNvSpPr txBox="1">
              <a:spLocks noChangeArrowheads="1"/>
            </p:cNvSpPr>
            <p:nvPr/>
          </p:nvSpPr>
          <p:spPr bwMode="auto">
            <a:xfrm>
              <a:off x="2276" y="0"/>
              <a:ext cx="3320" cy="5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1800" b="1">
                  <a:solidFill>
                    <a:srgbClr val="FF0000"/>
                  </a:solidFill>
                  <a:latin typeface="Calibri" pitchFamily="34" charset="0"/>
                </a:rPr>
                <a:t>Bu kapalı alan da oksijen  yetersizliği veya yanıcı, patlayıcı, ya da zehirli  gaz  veya buhar </a:t>
              </a:r>
              <a:r>
                <a:rPr lang="en-US" altLang="tr-TR" sz="1800" b="1">
                  <a:solidFill>
                    <a:srgbClr val="FF0000"/>
                  </a:solidFill>
                  <a:latin typeface="Calibri" pitchFamily="34" charset="0"/>
                </a:rPr>
                <a:t> </a:t>
              </a:r>
              <a:r>
                <a:rPr lang="tr-TR" altLang="tr-TR" sz="1800" b="1">
                  <a:solidFill>
                    <a:srgbClr val="FF0000"/>
                  </a:solidFill>
                  <a:latin typeface="Calibri" pitchFamily="34" charset="0"/>
                </a:rPr>
                <a:t>bulunabilir</a:t>
              </a:r>
              <a:endParaRPr lang="en-US" altLang="tr-TR" sz="1800" b="1">
                <a:solidFill>
                  <a:srgbClr val="FF0000"/>
                </a:solidFill>
                <a:latin typeface="Calibri" pitchFamily="34" charset="0"/>
              </a:endParaRPr>
            </a:p>
          </p:txBody>
        </p:sp>
      </p:grpSp>
      <p:grpSp>
        <p:nvGrpSpPr>
          <p:cNvPr id="67588" name="Rounded Rectangle 3"/>
          <p:cNvGrpSpPr>
            <a:grpSpLocks/>
          </p:cNvGrpSpPr>
          <p:nvPr/>
        </p:nvGrpSpPr>
        <p:grpSpPr bwMode="auto">
          <a:xfrm>
            <a:off x="195263" y="6059488"/>
            <a:ext cx="5114925" cy="798512"/>
            <a:chOff x="123" y="3817"/>
            <a:chExt cx="3222" cy="503"/>
          </a:xfrm>
        </p:grpSpPr>
        <p:pic>
          <p:nvPicPr>
            <p:cNvPr id="67589" name="Rounded Rectangle 3"/>
            <p:cNvPicPr>
              <a:picLocks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123" y="3817"/>
              <a:ext cx="3222" cy="5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7590" name="Text Box 8"/>
            <p:cNvSpPr txBox="1">
              <a:spLocks noChangeArrowheads="1"/>
            </p:cNvSpPr>
            <p:nvPr/>
          </p:nvSpPr>
          <p:spPr bwMode="auto">
            <a:xfrm>
              <a:off x="164" y="3840"/>
              <a:ext cx="3032" cy="3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45720" tIns="0" rIns="45720" bIns="0" anchor="ct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1800" b="1" dirty="0">
                  <a:solidFill>
                    <a:srgbClr val="FF0000"/>
                  </a:solidFill>
                  <a:latin typeface="Calibri" pitchFamily="34" charset="0"/>
                </a:rPr>
                <a:t>Ortam havasını  daima  şu sırayla ölçün:  oksijen düzeyi, yanıcı  gazlar, zehirli gazlar, sonra diğerleri</a:t>
              </a:r>
              <a:endParaRPr lang="en-US" altLang="tr-TR" sz="1800" b="1" dirty="0">
                <a:solidFill>
                  <a:srgbClr val="FF0000"/>
                </a:solidFill>
                <a:latin typeface="Calibri" pitchFamily="34" charset="0"/>
              </a:endParaRPr>
            </a:p>
          </p:txBody>
        </p:sp>
      </p:grpSp>
    </p:spTree>
    <p:extLst>
      <p:ext uri="{BB962C8B-B14F-4D97-AF65-F5344CB8AC3E}">
        <p14:creationId xmlns="" xmlns:p14="http://schemas.microsoft.com/office/powerpoint/2010/main" val="15321770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8610" name="Picture 20" descr="187222"/>
          <p:cNvPicPr>
            <a:picLocks noChangeAspect="1" noChangeArrowheads="1"/>
          </p:cNvPicPr>
          <p:nvPr/>
        </p:nvPicPr>
        <p:blipFill>
          <a:blip r:embed="rId3" cstate="print">
            <a:lum bright="-12000"/>
            <a:extLst>
              <a:ext uri="{28A0092B-C50C-407E-A947-70E740481C1C}">
                <a14:useLocalDpi xmlns="" xmlns:a14="http://schemas.microsoft.com/office/drawing/2010/main" val="0"/>
              </a:ext>
            </a:extLst>
          </a:blip>
          <a:srcRect/>
          <a:stretch>
            <a:fillRect/>
          </a:stretch>
        </p:blipFill>
        <p:spPr bwMode="auto">
          <a:xfrm>
            <a:off x="5651500" y="4803775"/>
            <a:ext cx="2339975" cy="2036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72725" name="Group 21"/>
          <p:cNvGraphicFramePr>
            <a:graphicFrameLocks noGrp="1"/>
          </p:cNvGraphicFramePr>
          <p:nvPr/>
        </p:nvGraphicFramePr>
        <p:xfrm>
          <a:off x="179388" y="36513"/>
          <a:ext cx="7993062" cy="701675"/>
        </p:xfrm>
        <a:graphic>
          <a:graphicData uri="http://schemas.openxmlformats.org/drawingml/2006/table">
            <a:tbl>
              <a:tblPr/>
              <a:tblGrid>
                <a:gridCol w="7993062"/>
              </a:tblGrid>
              <a:tr h="701675">
                <a:tc>
                  <a: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tr-TR" sz="4000" b="1" i="0" u="none" strike="noStrike" cap="none" normalizeH="0" baseline="0" dirty="0" smtClean="0">
                        <a:ln>
                          <a:noFill/>
                        </a:ln>
                        <a:solidFill>
                          <a:srgbClr val="FF0000"/>
                        </a:solidFill>
                        <a:effectLst/>
                        <a:latin typeface="Verdana" pitchFamily="34" charset="0"/>
                      </a:endParaRPr>
                    </a:p>
                  </a:txBody>
                  <a:tcPr marL="91442" marR="91442" marT="45704" marB="4570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8617" name="Rectangle 19"/>
          <p:cNvSpPr>
            <a:spLocks noChangeArrowheads="1"/>
          </p:cNvSpPr>
          <p:nvPr/>
        </p:nvSpPr>
        <p:spPr bwMode="auto">
          <a:xfrm>
            <a:off x="0" y="1014413"/>
            <a:ext cx="9144000" cy="3786187"/>
          </a:xfrm>
          <a:prstGeom prst="rect">
            <a:avLst/>
          </a:prstGeom>
          <a:solidFill>
            <a:schemeClr val="bg2"/>
          </a:solidFill>
          <a:ln w="9525">
            <a:solidFill>
              <a:schemeClr val="tx1"/>
            </a:solidFill>
            <a:miter lim="800000"/>
            <a:headEnd/>
            <a:tailEnd/>
          </a:ln>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buClr>
                <a:srgbClr val="CC0000"/>
              </a:buClr>
              <a:buFont typeface="Wingdings 2" pitchFamily="18" charset="2"/>
              <a:buChar char="E"/>
            </a:pPr>
            <a:r>
              <a:rPr lang="tr-TR" altLang="tr-TR" sz="2400" b="1" dirty="0">
                <a:solidFill>
                  <a:srgbClr val="FF0000"/>
                </a:solidFill>
                <a:latin typeface="Verdana" pitchFamily="34" charset="0"/>
              </a:rPr>
              <a:t>Gözlemc</a:t>
            </a:r>
            <a:r>
              <a:rPr lang="tr-TR" altLang="tr-TR" sz="2400" b="1" dirty="0">
                <a:solidFill>
                  <a:srgbClr val="000066"/>
                </a:solidFill>
                <a:latin typeface="Verdana" pitchFamily="34" charset="0"/>
              </a:rPr>
              <a:t>i kapalı alanda çalışma süresince </a:t>
            </a:r>
            <a:r>
              <a:rPr lang="tr-TR" altLang="tr-TR" sz="2400" b="1" dirty="0">
                <a:solidFill>
                  <a:srgbClr val="FF0000"/>
                </a:solidFill>
                <a:latin typeface="Verdana" pitchFamily="34" charset="0"/>
              </a:rPr>
              <a:t>girişe yakın bir yerde beklemelidir</a:t>
            </a:r>
            <a:r>
              <a:rPr lang="tr-TR" altLang="tr-TR" sz="2400" b="1" dirty="0">
                <a:solidFill>
                  <a:srgbClr val="000066"/>
                </a:solidFill>
                <a:latin typeface="Verdana" pitchFamily="34" charset="0"/>
              </a:rPr>
              <a:t>. Çalışma devam ederken </a:t>
            </a:r>
            <a:r>
              <a:rPr lang="tr-TR" altLang="tr-TR" sz="2400" b="1" dirty="0">
                <a:solidFill>
                  <a:srgbClr val="FF0000"/>
                </a:solidFill>
                <a:latin typeface="Verdana" pitchFamily="34" charset="0"/>
              </a:rPr>
              <a:t>giriş yapan personelle sürekli iletişim halinde</a:t>
            </a:r>
            <a:r>
              <a:rPr lang="tr-TR" altLang="tr-TR" sz="2400" b="1" dirty="0">
                <a:solidFill>
                  <a:srgbClr val="000066"/>
                </a:solidFill>
                <a:latin typeface="Verdana" pitchFamily="34" charset="0"/>
              </a:rPr>
              <a:t> olmalıdır.</a:t>
            </a:r>
          </a:p>
          <a:p>
            <a:pPr eaLnBrk="1" hangingPunct="1">
              <a:buClr>
                <a:srgbClr val="CC0000"/>
              </a:buClr>
              <a:buFont typeface="Arial" pitchFamily="34" charset="0"/>
              <a:buNone/>
            </a:pPr>
            <a:endParaRPr lang="tr-TR" altLang="tr-TR" sz="2400" b="1" dirty="0">
              <a:solidFill>
                <a:srgbClr val="000066"/>
              </a:solidFill>
              <a:latin typeface="Verdana" pitchFamily="34" charset="0"/>
            </a:endParaRPr>
          </a:p>
          <a:p>
            <a:pPr eaLnBrk="1" hangingPunct="1">
              <a:buClr>
                <a:srgbClr val="CC0000"/>
              </a:buClr>
              <a:buFont typeface="Wingdings 2" pitchFamily="18" charset="2"/>
              <a:buChar char="E"/>
            </a:pPr>
            <a:r>
              <a:rPr lang="tr-TR" altLang="tr-TR" sz="2400" b="1" dirty="0">
                <a:solidFill>
                  <a:srgbClr val="000066"/>
                </a:solidFill>
                <a:latin typeface="Verdana" pitchFamily="34" charset="0"/>
              </a:rPr>
              <a:t>Tüm gözlemciler </a:t>
            </a:r>
            <a:r>
              <a:rPr lang="tr-TR" altLang="tr-TR" sz="2400" b="1" dirty="0">
                <a:solidFill>
                  <a:srgbClr val="FF0000"/>
                </a:solidFill>
                <a:latin typeface="Verdana" pitchFamily="34" charset="0"/>
              </a:rPr>
              <a:t>kapalı alana giriş-çıkış </a:t>
            </a:r>
            <a:r>
              <a:rPr lang="tr-TR" altLang="tr-TR" sz="2400" b="1" dirty="0" smtClean="0">
                <a:solidFill>
                  <a:srgbClr val="FF0000"/>
                </a:solidFill>
                <a:latin typeface="Verdana" pitchFamily="34" charset="0"/>
              </a:rPr>
              <a:t>dokümanlarını </a:t>
            </a:r>
            <a:r>
              <a:rPr lang="tr-TR" altLang="tr-TR" sz="2400" b="1" dirty="0">
                <a:solidFill>
                  <a:srgbClr val="FF0000"/>
                </a:solidFill>
                <a:latin typeface="Verdana" pitchFamily="34" charset="0"/>
              </a:rPr>
              <a:t>girişte ve çıkışta doldurmalıdırlar.</a:t>
            </a:r>
          </a:p>
          <a:p>
            <a:pPr eaLnBrk="1" hangingPunct="1">
              <a:buClr>
                <a:srgbClr val="CC0000"/>
              </a:buClr>
              <a:buFont typeface="Arial" pitchFamily="34" charset="0"/>
              <a:buNone/>
            </a:pPr>
            <a:endParaRPr lang="tr-TR" altLang="tr-TR" sz="2400" b="1" dirty="0">
              <a:solidFill>
                <a:srgbClr val="FF0000"/>
              </a:solidFill>
              <a:latin typeface="Verdana" pitchFamily="34" charset="0"/>
            </a:endParaRPr>
          </a:p>
          <a:p>
            <a:pPr eaLnBrk="1" hangingPunct="1">
              <a:buClr>
                <a:srgbClr val="CC0000"/>
              </a:buClr>
              <a:buFont typeface="Wingdings 2" pitchFamily="18" charset="2"/>
              <a:buChar char="E"/>
            </a:pPr>
            <a:r>
              <a:rPr lang="tr-TR" altLang="tr-TR" sz="2400" b="1" dirty="0">
                <a:solidFill>
                  <a:srgbClr val="000066"/>
                </a:solidFill>
                <a:latin typeface="Verdana" pitchFamily="34" charset="0"/>
              </a:rPr>
              <a:t>gözlemci </a:t>
            </a:r>
            <a:r>
              <a:rPr lang="tr-TR" altLang="tr-TR" sz="2400" b="1" dirty="0">
                <a:solidFill>
                  <a:srgbClr val="FF0000"/>
                </a:solidFill>
                <a:latin typeface="Verdana" pitchFamily="34" charset="0"/>
              </a:rPr>
              <a:t>çalışma süresince izin ve giriş dokümanlarını saklamalıdır.</a:t>
            </a:r>
          </a:p>
        </p:txBody>
      </p:sp>
      <p:sp>
        <p:nvSpPr>
          <p:cNvPr id="2" name="Slayt Numarası Yer Tutucusu 1"/>
          <p:cNvSpPr>
            <a:spLocks noGrp="1"/>
          </p:cNvSpPr>
          <p:nvPr>
            <p:ph type="sldNum" sz="quarter" idx="12"/>
          </p:nvPr>
        </p:nvSpPr>
        <p:spPr/>
        <p:txBody>
          <a:bodyPr/>
          <a:lstStyle/>
          <a:p>
            <a:pPr>
              <a:defRPr/>
            </a:pPr>
            <a:fld id="{5B21F01B-4C38-48C3-86B3-B97772ACC596}" type="slidenum">
              <a:rPr lang="tr-TR" smtClean="0"/>
              <a:pPr>
                <a:defRPr/>
              </a:pPr>
              <a:t>42</a:t>
            </a:fld>
            <a:endParaRPr lang="tr-TR"/>
          </a:p>
        </p:txBody>
      </p:sp>
      <p:pic>
        <p:nvPicPr>
          <p:cNvPr id="68619" name="Picture 4" descr="C:\WINNT\Profiles\higgi06\Desktop\Confined Spaces\Tripod.jp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403350" y="5113338"/>
            <a:ext cx="2279650" cy="172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8620" name="Dikdörtgen 2"/>
          <p:cNvSpPr>
            <a:spLocks noChangeArrowheads="1"/>
          </p:cNvSpPr>
          <p:nvPr/>
        </p:nvSpPr>
        <p:spPr bwMode="auto">
          <a:xfrm>
            <a:off x="96838" y="115888"/>
            <a:ext cx="8135937" cy="5857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200" b="1" dirty="0">
                <a:solidFill>
                  <a:srgbClr val="FF0000"/>
                </a:solidFill>
                <a:latin typeface="Verdana" pitchFamily="34" charset="0"/>
              </a:rPr>
              <a:t> 6-Kapalı alana girişi başlat</a:t>
            </a:r>
          </a:p>
        </p:txBody>
      </p:sp>
    </p:spTree>
    <p:extLst>
      <p:ext uri="{BB962C8B-B14F-4D97-AF65-F5344CB8AC3E}">
        <p14:creationId xmlns="" xmlns:p14="http://schemas.microsoft.com/office/powerpoint/2010/main" val="3503990679"/>
      </p:ext>
    </p:extLst>
  </p:cSld>
  <p:clrMapOvr>
    <a:masterClrMapping/>
  </p:clrMapOvr>
  <p:transition advClick="0"/>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subTitle" idx="4294967295"/>
          </p:nvPr>
        </p:nvSpPr>
        <p:spPr>
          <a:xfrm>
            <a:off x="0" y="304800"/>
            <a:ext cx="8532440" cy="6436568"/>
          </a:xfrm>
          <a:noFill/>
        </p:spPr>
        <p:txBody>
          <a:bodyPr lIns="92075" tIns="46038" rIns="92075" bIns="46038" anchor="ctr">
            <a:normAutofit/>
          </a:bodyPr>
          <a:lstStyle/>
          <a:p>
            <a:pPr marL="0" indent="0" eaLnBrk="1" hangingPunct="1">
              <a:buFont typeface="Wingdings" pitchFamily="2" charset="2"/>
              <a:buNone/>
            </a:pPr>
            <a:r>
              <a:rPr lang="en-US" altLang="tr-TR" sz="2400" b="1" dirty="0" smtClean="0">
                <a:solidFill>
                  <a:srgbClr val="0070C0"/>
                </a:solidFill>
                <a:latin typeface="+mj-lt"/>
              </a:rPr>
              <a:t>ÇALIŞMA SIRASINDA SAĞLANMASI GEREKEN ŞARTLAR VE GEREKLİ EKİPMANLAR</a:t>
            </a:r>
          </a:p>
          <a:p>
            <a:pPr marL="0" indent="0" eaLnBrk="1" hangingPunct="1">
              <a:lnSpc>
                <a:spcPct val="120000"/>
              </a:lnSpc>
              <a:buFont typeface="Symbol" pitchFamily="18" charset="2"/>
              <a:buChar char="·"/>
            </a:pPr>
            <a:r>
              <a:rPr lang="en-US" altLang="tr-TR" sz="2400" dirty="0" err="1" smtClean="0">
                <a:latin typeface="+mj-lt"/>
              </a:rPr>
              <a:t>Aydınlatma</a:t>
            </a:r>
            <a:r>
              <a:rPr lang="en-US" altLang="tr-TR" sz="2400" dirty="0" smtClean="0">
                <a:latin typeface="+mj-lt"/>
              </a:rPr>
              <a:t> </a:t>
            </a:r>
            <a:r>
              <a:rPr lang="en-US" altLang="tr-TR" sz="2400" dirty="0" err="1" smtClean="0">
                <a:latin typeface="+mj-lt"/>
              </a:rPr>
              <a:t>lambası</a:t>
            </a:r>
            <a:r>
              <a:rPr lang="en-US" altLang="tr-TR" sz="2400" dirty="0" smtClean="0">
                <a:latin typeface="+mj-lt"/>
              </a:rPr>
              <a:t> - </a:t>
            </a:r>
            <a:r>
              <a:rPr lang="en-US" altLang="tr-TR" sz="2400" dirty="0" err="1" smtClean="0">
                <a:solidFill>
                  <a:srgbClr val="FF0000"/>
                </a:solidFill>
                <a:latin typeface="+mj-lt"/>
              </a:rPr>
              <a:t>maksimum</a:t>
            </a:r>
            <a:r>
              <a:rPr lang="en-US" altLang="tr-TR" sz="2400" dirty="0" smtClean="0">
                <a:solidFill>
                  <a:srgbClr val="FF0000"/>
                </a:solidFill>
                <a:latin typeface="+mj-lt"/>
              </a:rPr>
              <a:t> </a:t>
            </a:r>
            <a:r>
              <a:rPr lang="tr-TR" altLang="tr-TR" sz="2400" dirty="0" smtClean="0">
                <a:solidFill>
                  <a:srgbClr val="FF0000"/>
                </a:solidFill>
                <a:latin typeface="+mj-lt"/>
              </a:rPr>
              <a:t>4</a:t>
            </a:r>
            <a:r>
              <a:rPr lang="en-US" altLang="tr-TR" sz="2400" dirty="0" smtClean="0">
                <a:solidFill>
                  <a:srgbClr val="FF0000"/>
                </a:solidFill>
                <a:latin typeface="+mj-lt"/>
              </a:rPr>
              <a:t>2 volt </a:t>
            </a:r>
            <a:r>
              <a:rPr lang="en-US" altLang="tr-TR" sz="2400" dirty="0" err="1" smtClean="0">
                <a:latin typeface="+mj-lt"/>
              </a:rPr>
              <a:t>olmalı</a:t>
            </a:r>
            <a:r>
              <a:rPr lang="en-US" altLang="tr-TR" sz="2400" dirty="0" smtClean="0">
                <a:latin typeface="+mj-lt"/>
              </a:rPr>
              <a:t> </a:t>
            </a:r>
            <a:r>
              <a:rPr lang="en-US" altLang="tr-TR" sz="2400" dirty="0" err="1" smtClean="0">
                <a:latin typeface="+mj-lt"/>
              </a:rPr>
              <a:t>veya</a:t>
            </a:r>
            <a:r>
              <a:rPr lang="en-US" altLang="tr-TR" sz="2400" dirty="0" smtClean="0">
                <a:latin typeface="+mj-lt"/>
              </a:rPr>
              <a:t> </a:t>
            </a:r>
            <a:r>
              <a:rPr lang="en-US" altLang="tr-TR" sz="2400" dirty="0" err="1" smtClean="0">
                <a:solidFill>
                  <a:srgbClr val="FF0000"/>
                </a:solidFill>
                <a:latin typeface="+mj-lt"/>
              </a:rPr>
              <a:t>kaçak</a:t>
            </a:r>
            <a:r>
              <a:rPr lang="en-US" altLang="tr-TR" sz="2400" dirty="0" smtClean="0">
                <a:solidFill>
                  <a:srgbClr val="FF0000"/>
                </a:solidFill>
                <a:latin typeface="+mj-lt"/>
              </a:rPr>
              <a:t> </a:t>
            </a:r>
            <a:r>
              <a:rPr lang="en-US" altLang="tr-TR" sz="2400" dirty="0" err="1" smtClean="0">
                <a:solidFill>
                  <a:srgbClr val="FF0000"/>
                </a:solidFill>
                <a:latin typeface="+mj-lt"/>
              </a:rPr>
              <a:t>akım</a:t>
            </a:r>
            <a:r>
              <a:rPr lang="en-US" altLang="tr-TR" sz="2400" dirty="0" smtClean="0">
                <a:solidFill>
                  <a:srgbClr val="FF0000"/>
                </a:solidFill>
                <a:latin typeface="+mj-lt"/>
              </a:rPr>
              <a:t> </a:t>
            </a:r>
            <a:r>
              <a:rPr lang="en-US" altLang="tr-TR" sz="2400" dirty="0" err="1" smtClean="0">
                <a:solidFill>
                  <a:srgbClr val="FF0000"/>
                </a:solidFill>
                <a:latin typeface="+mj-lt"/>
              </a:rPr>
              <a:t>rölesi</a:t>
            </a:r>
            <a:r>
              <a:rPr lang="en-US" altLang="tr-TR" sz="2400" dirty="0" smtClean="0">
                <a:solidFill>
                  <a:srgbClr val="FF0000"/>
                </a:solidFill>
                <a:latin typeface="+mj-lt"/>
              </a:rPr>
              <a:t> </a:t>
            </a:r>
            <a:r>
              <a:rPr lang="en-US" altLang="tr-TR" sz="2400" dirty="0" err="1" smtClean="0">
                <a:latin typeface="+mj-lt"/>
              </a:rPr>
              <a:t>ile</a:t>
            </a:r>
            <a:r>
              <a:rPr lang="en-US" altLang="tr-TR" sz="2400" dirty="0" smtClean="0">
                <a:latin typeface="+mj-lt"/>
              </a:rPr>
              <a:t> </a:t>
            </a:r>
            <a:r>
              <a:rPr lang="en-US" altLang="tr-TR" sz="2400" dirty="0" err="1" smtClean="0">
                <a:latin typeface="+mj-lt"/>
              </a:rPr>
              <a:t>korunmalıdır</a:t>
            </a:r>
            <a:r>
              <a:rPr lang="en-US" altLang="tr-TR" sz="2400" dirty="0" smtClean="0">
                <a:latin typeface="+mj-lt"/>
              </a:rPr>
              <a:t>.</a:t>
            </a:r>
          </a:p>
          <a:p>
            <a:pPr marL="0" indent="0" eaLnBrk="1" hangingPunct="1">
              <a:lnSpc>
                <a:spcPct val="120000"/>
              </a:lnSpc>
              <a:buFont typeface="Symbol" pitchFamily="18" charset="2"/>
              <a:buChar char="·"/>
            </a:pPr>
            <a:r>
              <a:rPr lang="en-US" altLang="tr-TR" sz="2400" dirty="0" err="1" smtClean="0">
                <a:latin typeface="+mj-lt"/>
              </a:rPr>
              <a:t>Kullanılacak</a:t>
            </a:r>
            <a:r>
              <a:rPr lang="en-US" altLang="tr-TR" sz="2400" dirty="0" smtClean="0">
                <a:latin typeface="+mj-lt"/>
              </a:rPr>
              <a:t> </a:t>
            </a:r>
            <a:r>
              <a:rPr lang="en-US" altLang="tr-TR" sz="2400" dirty="0" err="1" smtClean="0">
                <a:solidFill>
                  <a:srgbClr val="FF0000"/>
                </a:solidFill>
                <a:latin typeface="+mj-lt"/>
              </a:rPr>
              <a:t>bütün</a:t>
            </a:r>
            <a:r>
              <a:rPr lang="en-US" altLang="tr-TR" sz="2400" dirty="0" smtClean="0">
                <a:solidFill>
                  <a:srgbClr val="FF0000"/>
                </a:solidFill>
                <a:latin typeface="+mj-lt"/>
              </a:rPr>
              <a:t> </a:t>
            </a:r>
            <a:r>
              <a:rPr lang="en-US" altLang="tr-TR" sz="2400" dirty="0" err="1" smtClean="0">
                <a:solidFill>
                  <a:srgbClr val="FF0000"/>
                </a:solidFill>
                <a:latin typeface="+mj-lt"/>
              </a:rPr>
              <a:t>elektrikli</a:t>
            </a:r>
            <a:r>
              <a:rPr lang="en-US" altLang="tr-TR" sz="2400" dirty="0" smtClean="0">
                <a:solidFill>
                  <a:srgbClr val="FF0000"/>
                </a:solidFill>
                <a:latin typeface="+mj-lt"/>
              </a:rPr>
              <a:t> </a:t>
            </a:r>
            <a:r>
              <a:rPr lang="en-US" altLang="tr-TR" sz="2400" dirty="0" err="1" smtClean="0">
                <a:solidFill>
                  <a:srgbClr val="FF0000"/>
                </a:solidFill>
                <a:latin typeface="+mj-lt"/>
              </a:rPr>
              <a:t>aletler</a:t>
            </a:r>
            <a:r>
              <a:rPr lang="en-US" altLang="tr-TR" sz="2400" dirty="0" smtClean="0">
                <a:solidFill>
                  <a:srgbClr val="FF0000"/>
                </a:solidFill>
                <a:latin typeface="+mj-lt"/>
              </a:rPr>
              <a:t> </a:t>
            </a:r>
            <a:r>
              <a:rPr lang="en-US" altLang="tr-TR" sz="2400" dirty="0" err="1" smtClean="0">
                <a:solidFill>
                  <a:srgbClr val="FF0000"/>
                </a:solidFill>
                <a:latin typeface="+mj-lt"/>
              </a:rPr>
              <a:t>kaçak</a:t>
            </a:r>
            <a:r>
              <a:rPr lang="en-US" altLang="tr-TR" sz="2400" dirty="0" smtClean="0">
                <a:solidFill>
                  <a:srgbClr val="FF0000"/>
                </a:solidFill>
                <a:latin typeface="+mj-lt"/>
              </a:rPr>
              <a:t> </a:t>
            </a:r>
            <a:r>
              <a:rPr lang="en-US" altLang="tr-TR" sz="2400" dirty="0" err="1" smtClean="0">
                <a:solidFill>
                  <a:srgbClr val="FF0000"/>
                </a:solidFill>
                <a:latin typeface="+mj-lt"/>
              </a:rPr>
              <a:t>akım</a:t>
            </a:r>
            <a:r>
              <a:rPr lang="en-US" altLang="tr-TR" sz="2400" dirty="0" smtClean="0">
                <a:solidFill>
                  <a:srgbClr val="FF0000"/>
                </a:solidFill>
                <a:latin typeface="+mj-lt"/>
              </a:rPr>
              <a:t> </a:t>
            </a:r>
            <a:r>
              <a:rPr lang="en-US" altLang="tr-TR" sz="2400" dirty="0" err="1" smtClean="0">
                <a:solidFill>
                  <a:srgbClr val="FF0000"/>
                </a:solidFill>
                <a:latin typeface="+mj-lt"/>
              </a:rPr>
              <a:t>rölesi</a:t>
            </a:r>
            <a:r>
              <a:rPr lang="en-US" altLang="tr-TR" sz="2400" dirty="0" smtClean="0">
                <a:solidFill>
                  <a:srgbClr val="FF0000"/>
                </a:solidFill>
                <a:latin typeface="+mj-lt"/>
              </a:rPr>
              <a:t> </a:t>
            </a:r>
            <a:r>
              <a:rPr lang="en-US" altLang="tr-TR" sz="2400" dirty="0" err="1" smtClean="0">
                <a:solidFill>
                  <a:srgbClr val="FF0000"/>
                </a:solidFill>
                <a:latin typeface="+mj-lt"/>
              </a:rPr>
              <a:t>ile</a:t>
            </a:r>
            <a:r>
              <a:rPr lang="en-US" altLang="tr-TR" sz="2400" dirty="0" smtClean="0">
                <a:solidFill>
                  <a:srgbClr val="FF0000"/>
                </a:solidFill>
                <a:latin typeface="+mj-lt"/>
              </a:rPr>
              <a:t> </a:t>
            </a:r>
            <a:r>
              <a:rPr lang="en-US" altLang="tr-TR" sz="2400" dirty="0" err="1" smtClean="0">
                <a:latin typeface="+mj-lt"/>
              </a:rPr>
              <a:t>korunuyor</a:t>
            </a:r>
            <a:r>
              <a:rPr lang="en-US" altLang="tr-TR" sz="2400" dirty="0" smtClean="0">
                <a:latin typeface="+mj-lt"/>
              </a:rPr>
              <a:t> </a:t>
            </a:r>
            <a:r>
              <a:rPr lang="en-US" altLang="tr-TR" sz="2400" dirty="0" err="1" smtClean="0">
                <a:latin typeface="+mj-lt"/>
              </a:rPr>
              <a:t>olmalıdır</a:t>
            </a:r>
            <a:r>
              <a:rPr lang="en-US" altLang="tr-TR" sz="2400" dirty="0" smtClean="0">
                <a:latin typeface="+mj-lt"/>
              </a:rPr>
              <a:t>.</a:t>
            </a:r>
          </a:p>
          <a:p>
            <a:pPr marL="0" indent="0" eaLnBrk="1" hangingPunct="1">
              <a:lnSpc>
                <a:spcPct val="120000"/>
              </a:lnSpc>
              <a:buFont typeface="Symbol" pitchFamily="18" charset="2"/>
              <a:buChar char="·"/>
            </a:pPr>
            <a:r>
              <a:rPr lang="en-US" altLang="tr-TR" sz="2400" dirty="0" err="1" smtClean="0">
                <a:latin typeface="+mj-lt"/>
              </a:rPr>
              <a:t>Kapalı</a:t>
            </a:r>
            <a:r>
              <a:rPr lang="en-US" altLang="tr-TR" sz="2400" dirty="0" smtClean="0">
                <a:latin typeface="+mj-lt"/>
              </a:rPr>
              <a:t> </a:t>
            </a:r>
            <a:r>
              <a:rPr lang="tr-TR" altLang="tr-TR" sz="2400" dirty="0" smtClean="0">
                <a:latin typeface="+mj-lt"/>
              </a:rPr>
              <a:t>ortam</a:t>
            </a:r>
            <a:r>
              <a:rPr lang="en-US" altLang="tr-TR" sz="2400" dirty="0" smtClean="0">
                <a:latin typeface="+mj-lt"/>
              </a:rPr>
              <a:t> </a:t>
            </a:r>
            <a:r>
              <a:rPr lang="en-US" altLang="tr-TR" sz="2400" dirty="0" err="1" smtClean="0">
                <a:latin typeface="+mj-lt"/>
              </a:rPr>
              <a:t>içinde</a:t>
            </a:r>
            <a:r>
              <a:rPr lang="en-US" altLang="tr-TR" sz="2400" dirty="0" smtClean="0">
                <a:latin typeface="+mj-lt"/>
              </a:rPr>
              <a:t> </a:t>
            </a:r>
            <a:r>
              <a:rPr lang="en-US" altLang="tr-TR" sz="2400" dirty="0" err="1" smtClean="0">
                <a:latin typeface="+mj-lt"/>
              </a:rPr>
              <a:t>yapılacak</a:t>
            </a:r>
            <a:r>
              <a:rPr lang="en-US" altLang="tr-TR" sz="2400" dirty="0" smtClean="0">
                <a:latin typeface="+mj-lt"/>
              </a:rPr>
              <a:t> </a:t>
            </a:r>
            <a:r>
              <a:rPr lang="en-US" altLang="tr-TR" sz="2400" dirty="0" err="1" smtClean="0">
                <a:solidFill>
                  <a:srgbClr val="FF0000"/>
                </a:solidFill>
                <a:latin typeface="+mj-lt"/>
              </a:rPr>
              <a:t>kaynak</a:t>
            </a:r>
            <a:r>
              <a:rPr lang="en-US" altLang="tr-TR" sz="2400" dirty="0" smtClean="0">
                <a:solidFill>
                  <a:srgbClr val="FF0000"/>
                </a:solidFill>
                <a:latin typeface="+mj-lt"/>
              </a:rPr>
              <a:t> </a:t>
            </a:r>
            <a:r>
              <a:rPr lang="en-US" altLang="tr-TR" sz="2400" dirty="0" err="1" smtClean="0">
                <a:solidFill>
                  <a:srgbClr val="FF0000"/>
                </a:solidFill>
                <a:latin typeface="+mj-lt"/>
              </a:rPr>
              <a:t>işlemleri</a:t>
            </a:r>
            <a:r>
              <a:rPr lang="en-US" altLang="tr-TR" sz="2400" dirty="0" smtClean="0">
                <a:solidFill>
                  <a:srgbClr val="FF0000"/>
                </a:solidFill>
                <a:latin typeface="+mj-lt"/>
              </a:rPr>
              <a:t> </a:t>
            </a:r>
            <a:r>
              <a:rPr lang="en-US" altLang="tr-TR" sz="2400" dirty="0" err="1" smtClean="0">
                <a:solidFill>
                  <a:srgbClr val="FF0000"/>
                </a:solidFill>
                <a:latin typeface="+mj-lt"/>
              </a:rPr>
              <a:t>için</a:t>
            </a:r>
            <a:r>
              <a:rPr lang="en-US" altLang="tr-TR" sz="2400" dirty="0" smtClean="0">
                <a:solidFill>
                  <a:srgbClr val="FF0000"/>
                </a:solidFill>
                <a:latin typeface="+mj-lt"/>
              </a:rPr>
              <a:t> </a:t>
            </a:r>
            <a:r>
              <a:rPr lang="en-US" altLang="tr-TR" sz="2400" dirty="0" err="1" smtClean="0">
                <a:latin typeface="+mj-lt"/>
              </a:rPr>
              <a:t>gerekli</a:t>
            </a:r>
            <a:r>
              <a:rPr lang="en-US" altLang="tr-TR" sz="2400" dirty="0" smtClean="0">
                <a:latin typeface="+mj-lt"/>
              </a:rPr>
              <a:t> </a:t>
            </a:r>
            <a:r>
              <a:rPr lang="en-US" altLang="tr-TR" sz="2400" dirty="0" err="1" smtClean="0">
                <a:solidFill>
                  <a:srgbClr val="FF0000"/>
                </a:solidFill>
                <a:latin typeface="+mj-lt"/>
              </a:rPr>
              <a:t>havalandırma</a:t>
            </a:r>
            <a:r>
              <a:rPr lang="en-US" altLang="tr-TR" sz="2400" dirty="0" smtClean="0">
                <a:latin typeface="+mj-lt"/>
              </a:rPr>
              <a:t> (</a:t>
            </a:r>
            <a:r>
              <a:rPr lang="en-US" altLang="tr-TR" sz="2400" dirty="0" smtClean="0">
                <a:solidFill>
                  <a:srgbClr val="FF0000"/>
                </a:solidFill>
                <a:latin typeface="+mj-lt"/>
              </a:rPr>
              <a:t>56 m3/</a:t>
            </a:r>
            <a:r>
              <a:rPr lang="en-US" altLang="tr-TR" sz="2400" dirty="0" err="1" smtClean="0">
                <a:solidFill>
                  <a:srgbClr val="FF0000"/>
                </a:solidFill>
                <a:latin typeface="+mj-lt"/>
              </a:rPr>
              <a:t>dakika</a:t>
            </a:r>
            <a:r>
              <a:rPr lang="en-US" altLang="tr-TR" sz="2400" dirty="0" smtClean="0">
                <a:latin typeface="+mj-lt"/>
              </a:rPr>
              <a:t>) </a:t>
            </a:r>
            <a:r>
              <a:rPr lang="en-US" altLang="tr-TR" sz="2400" dirty="0" err="1" smtClean="0">
                <a:latin typeface="+mj-lt"/>
              </a:rPr>
              <a:t>vantilatör</a:t>
            </a:r>
            <a:r>
              <a:rPr lang="en-US" altLang="tr-TR" sz="2400" dirty="0" smtClean="0">
                <a:latin typeface="+mj-lt"/>
              </a:rPr>
              <a:t> </a:t>
            </a:r>
            <a:r>
              <a:rPr lang="en-US" altLang="tr-TR" sz="2400" dirty="0" err="1" smtClean="0">
                <a:latin typeface="+mj-lt"/>
              </a:rPr>
              <a:t>ile</a:t>
            </a:r>
            <a:r>
              <a:rPr lang="en-US" altLang="tr-TR" sz="2400" dirty="0" smtClean="0">
                <a:latin typeface="+mj-lt"/>
              </a:rPr>
              <a:t> </a:t>
            </a:r>
            <a:r>
              <a:rPr lang="en-US" altLang="tr-TR" sz="2400" dirty="0" err="1" smtClean="0">
                <a:solidFill>
                  <a:srgbClr val="FF0000"/>
                </a:solidFill>
                <a:latin typeface="+mj-lt"/>
              </a:rPr>
              <a:t>sürekli</a:t>
            </a:r>
            <a:r>
              <a:rPr lang="en-US" altLang="tr-TR" sz="2400" dirty="0" smtClean="0">
                <a:solidFill>
                  <a:srgbClr val="FF0000"/>
                </a:solidFill>
                <a:latin typeface="+mj-lt"/>
              </a:rPr>
              <a:t> </a:t>
            </a:r>
            <a:r>
              <a:rPr lang="en-US" altLang="tr-TR" sz="2400" dirty="0" err="1" smtClean="0">
                <a:solidFill>
                  <a:srgbClr val="FF0000"/>
                </a:solidFill>
                <a:latin typeface="+mj-lt"/>
              </a:rPr>
              <a:t>temin</a:t>
            </a:r>
            <a:r>
              <a:rPr lang="en-US" altLang="tr-TR" sz="2400" dirty="0" smtClean="0">
                <a:solidFill>
                  <a:srgbClr val="FF0000"/>
                </a:solidFill>
                <a:latin typeface="+mj-lt"/>
              </a:rPr>
              <a:t> </a:t>
            </a:r>
            <a:r>
              <a:rPr lang="en-US" altLang="tr-TR" sz="2400" dirty="0" err="1" smtClean="0">
                <a:solidFill>
                  <a:srgbClr val="FF0000"/>
                </a:solidFill>
                <a:latin typeface="+mj-lt"/>
              </a:rPr>
              <a:t>edilmelidir</a:t>
            </a:r>
            <a:r>
              <a:rPr lang="en-US" altLang="tr-TR" sz="2400" dirty="0" smtClean="0">
                <a:latin typeface="+mj-lt"/>
              </a:rPr>
              <a:t>. </a:t>
            </a:r>
            <a:r>
              <a:rPr lang="en-US" altLang="tr-TR" sz="2400" dirty="0" err="1" smtClean="0">
                <a:latin typeface="+mj-lt"/>
              </a:rPr>
              <a:t>Kaynak</a:t>
            </a:r>
            <a:r>
              <a:rPr lang="en-US" altLang="tr-TR" sz="2400" dirty="0" smtClean="0">
                <a:latin typeface="+mj-lt"/>
              </a:rPr>
              <a:t> </a:t>
            </a:r>
            <a:r>
              <a:rPr lang="en-US" altLang="tr-TR" sz="2400" dirty="0" err="1" smtClean="0">
                <a:latin typeface="+mj-lt"/>
              </a:rPr>
              <a:t>için</a:t>
            </a:r>
            <a:r>
              <a:rPr lang="en-US" altLang="tr-TR" sz="2400" dirty="0" smtClean="0">
                <a:latin typeface="+mj-lt"/>
              </a:rPr>
              <a:t> </a:t>
            </a:r>
            <a:r>
              <a:rPr lang="en-US" altLang="tr-TR" sz="2400" dirty="0" err="1" smtClean="0">
                <a:latin typeface="+mj-lt"/>
              </a:rPr>
              <a:t>kullanılacak</a:t>
            </a:r>
            <a:r>
              <a:rPr lang="en-US" altLang="tr-TR" sz="2400" dirty="0" smtClean="0">
                <a:latin typeface="+mj-lt"/>
              </a:rPr>
              <a:t> </a:t>
            </a:r>
            <a:r>
              <a:rPr lang="en-US" altLang="tr-TR" sz="2400" b="1" dirty="0" err="1" smtClean="0">
                <a:solidFill>
                  <a:srgbClr val="FF0000"/>
                </a:solidFill>
                <a:latin typeface="+mj-lt"/>
              </a:rPr>
              <a:t>basınçlı</a:t>
            </a:r>
            <a:r>
              <a:rPr lang="en-US" altLang="tr-TR" sz="2400" b="1" dirty="0" smtClean="0">
                <a:solidFill>
                  <a:srgbClr val="FF0000"/>
                </a:solidFill>
                <a:latin typeface="+mj-lt"/>
              </a:rPr>
              <a:t> </a:t>
            </a:r>
            <a:r>
              <a:rPr lang="en-US" altLang="tr-TR" sz="2400" b="1" dirty="0" err="1" smtClean="0">
                <a:solidFill>
                  <a:srgbClr val="FF0000"/>
                </a:solidFill>
                <a:latin typeface="+mj-lt"/>
              </a:rPr>
              <a:t>tüpler</a:t>
            </a:r>
            <a:r>
              <a:rPr lang="en-US" altLang="tr-TR" sz="2400" b="1" dirty="0" smtClean="0">
                <a:solidFill>
                  <a:srgbClr val="FF0000"/>
                </a:solidFill>
                <a:latin typeface="+mj-lt"/>
              </a:rPr>
              <a:t> </a:t>
            </a:r>
            <a:r>
              <a:rPr lang="en-US" altLang="tr-TR" sz="2400" b="1" dirty="0" err="1" smtClean="0">
                <a:solidFill>
                  <a:srgbClr val="FF0000"/>
                </a:solidFill>
                <a:latin typeface="+mj-lt"/>
              </a:rPr>
              <a:t>kapalı</a:t>
            </a:r>
            <a:r>
              <a:rPr lang="en-US" altLang="tr-TR" sz="2400" b="1" dirty="0" smtClean="0">
                <a:solidFill>
                  <a:srgbClr val="FF0000"/>
                </a:solidFill>
                <a:latin typeface="+mj-lt"/>
              </a:rPr>
              <a:t> </a:t>
            </a:r>
            <a:r>
              <a:rPr lang="en-US" altLang="tr-TR" sz="2400" b="1" dirty="0" err="1" smtClean="0">
                <a:solidFill>
                  <a:srgbClr val="FF0000"/>
                </a:solidFill>
                <a:latin typeface="+mj-lt"/>
              </a:rPr>
              <a:t>birim</a:t>
            </a:r>
            <a:r>
              <a:rPr lang="en-US" altLang="tr-TR" sz="2400" b="1" dirty="0" smtClean="0">
                <a:solidFill>
                  <a:srgbClr val="FF0000"/>
                </a:solidFill>
                <a:latin typeface="+mj-lt"/>
              </a:rPr>
              <a:t> </a:t>
            </a:r>
            <a:r>
              <a:rPr lang="en-US" altLang="tr-TR" sz="2400" b="1" dirty="0" err="1" smtClean="0">
                <a:solidFill>
                  <a:srgbClr val="FF0000"/>
                </a:solidFill>
                <a:latin typeface="+mj-lt"/>
              </a:rPr>
              <a:t>dışında</a:t>
            </a:r>
            <a:r>
              <a:rPr lang="en-US" altLang="tr-TR" sz="2400" b="1" dirty="0" smtClean="0">
                <a:solidFill>
                  <a:srgbClr val="FF0000"/>
                </a:solidFill>
                <a:latin typeface="+mj-lt"/>
              </a:rPr>
              <a:t> </a:t>
            </a:r>
            <a:r>
              <a:rPr lang="en-US" altLang="tr-TR" sz="2400" b="1" dirty="0" err="1" smtClean="0">
                <a:solidFill>
                  <a:srgbClr val="FF0000"/>
                </a:solidFill>
                <a:latin typeface="+mj-lt"/>
              </a:rPr>
              <a:t>tutulmalıdır</a:t>
            </a:r>
            <a:r>
              <a:rPr lang="en-US" altLang="tr-TR" sz="2400" b="1" dirty="0" smtClean="0">
                <a:solidFill>
                  <a:srgbClr val="FF0000"/>
                </a:solidFill>
                <a:latin typeface="+mj-lt"/>
              </a:rPr>
              <a:t>.</a:t>
            </a:r>
            <a:endParaRPr lang="tr-TR" altLang="tr-TR" sz="2400" dirty="0" smtClean="0">
              <a:latin typeface="+mj-lt"/>
            </a:endParaRPr>
          </a:p>
          <a:p>
            <a:pPr marL="0" indent="0" eaLnBrk="1" hangingPunct="1">
              <a:lnSpc>
                <a:spcPct val="120000"/>
              </a:lnSpc>
              <a:buFont typeface="Symbol" pitchFamily="18" charset="2"/>
              <a:buChar char="·"/>
            </a:pPr>
            <a:r>
              <a:rPr lang="en-US" altLang="tr-TR" sz="2400" dirty="0" err="1" smtClean="0">
                <a:solidFill>
                  <a:srgbClr val="FF0000"/>
                </a:solidFill>
                <a:latin typeface="+mj-lt"/>
              </a:rPr>
              <a:t>Üstten</a:t>
            </a:r>
            <a:r>
              <a:rPr lang="en-US" altLang="tr-TR" sz="2400" dirty="0" smtClean="0">
                <a:solidFill>
                  <a:srgbClr val="FF0000"/>
                </a:solidFill>
                <a:latin typeface="+mj-lt"/>
              </a:rPr>
              <a:t> </a:t>
            </a:r>
            <a:r>
              <a:rPr lang="en-US" altLang="tr-TR" sz="2400" dirty="0" err="1" smtClean="0">
                <a:solidFill>
                  <a:srgbClr val="FF0000"/>
                </a:solidFill>
                <a:latin typeface="+mj-lt"/>
              </a:rPr>
              <a:t>yapılan</a:t>
            </a:r>
            <a:r>
              <a:rPr lang="en-US" altLang="tr-TR" sz="2400" dirty="0" smtClean="0">
                <a:solidFill>
                  <a:srgbClr val="FF0000"/>
                </a:solidFill>
                <a:latin typeface="+mj-lt"/>
              </a:rPr>
              <a:t> </a:t>
            </a:r>
            <a:r>
              <a:rPr lang="en-US" altLang="tr-TR" sz="2400" dirty="0" err="1" smtClean="0">
                <a:solidFill>
                  <a:srgbClr val="FF0000"/>
                </a:solidFill>
                <a:latin typeface="+mj-lt"/>
              </a:rPr>
              <a:t>girişler</a:t>
            </a:r>
            <a:r>
              <a:rPr lang="en-US" altLang="tr-TR" sz="2400" dirty="0" smtClean="0">
                <a:solidFill>
                  <a:srgbClr val="FF0000"/>
                </a:solidFill>
                <a:latin typeface="+mj-lt"/>
              </a:rPr>
              <a:t> </a:t>
            </a:r>
            <a:r>
              <a:rPr lang="en-US" altLang="tr-TR" sz="2400" dirty="0" err="1" smtClean="0">
                <a:solidFill>
                  <a:srgbClr val="FF0000"/>
                </a:solidFill>
                <a:latin typeface="+mj-lt"/>
              </a:rPr>
              <a:t>için</a:t>
            </a:r>
            <a:r>
              <a:rPr lang="en-US" altLang="tr-TR" sz="2400" dirty="0" smtClean="0">
                <a:solidFill>
                  <a:srgbClr val="FF0000"/>
                </a:solidFill>
                <a:latin typeface="+mj-lt"/>
              </a:rPr>
              <a:t> 2 </a:t>
            </a:r>
            <a:r>
              <a:rPr lang="en-US" altLang="tr-TR" sz="2400" dirty="0" err="1" smtClean="0">
                <a:solidFill>
                  <a:srgbClr val="FF0000"/>
                </a:solidFill>
                <a:latin typeface="+mj-lt"/>
              </a:rPr>
              <a:t>gözlemci</a:t>
            </a:r>
            <a:r>
              <a:rPr lang="en-US" altLang="tr-TR" sz="2400" dirty="0" smtClean="0">
                <a:solidFill>
                  <a:srgbClr val="FF0000"/>
                </a:solidFill>
                <a:latin typeface="+mj-lt"/>
              </a:rPr>
              <a:t> </a:t>
            </a:r>
            <a:r>
              <a:rPr lang="en-US" altLang="tr-TR" sz="2400" dirty="0" err="1" smtClean="0">
                <a:latin typeface="+mj-lt"/>
              </a:rPr>
              <a:t>olması</a:t>
            </a:r>
            <a:r>
              <a:rPr lang="en-US" altLang="tr-TR" sz="2400" dirty="0" smtClean="0">
                <a:latin typeface="+mj-lt"/>
              </a:rPr>
              <a:t> </a:t>
            </a:r>
            <a:r>
              <a:rPr lang="en-US" altLang="tr-TR" sz="2400" dirty="0" err="1" smtClean="0">
                <a:latin typeface="+mj-lt"/>
              </a:rPr>
              <a:t>gereklidir</a:t>
            </a:r>
            <a:r>
              <a:rPr lang="en-US" altLang="tr-TR" sz="2400" dirty="0" smtClean="0">
                <a:latin typeface="+mj-lt"/>
              </a:rPr>
              <a:t>. </a:t>
            </a:r>
            <a:r>
              <a:rPr lang="tr-TR" altLang="tr-TR" sz="2400" dirty="0" smtClean="0">
                <a:latin typeface="+mj-lt"/>
              </a:rPr>
              <a:t>İ</a:t>
            </a:r>
            <a:r>
              <a:rPr lang="en-US" altLang="tr-TR" sz="2400" dirty="0" err="1" smtClean="0">
                <a:latin typeface="+mj-lt"/>
              </a:rPr>
              <a:t>çeri</a:t>
            </a:r>
            <a:r>
              <a:rPr lang="en-US" altLang="tr-TR" sz="2400" dirty="0" smtClean="0">
                <a:latin typeface="+mj-lt"/>
              </a:rPr>
              <a:t> </a:t>
            </a:r>
            <a:r>
              <a:rPr lang="en-US" altLang="tr-TR" sz="2400" dirty="0" err="1" smtClean="0">
                <a:latin typeface="+mj-lt"/>
              </a:rPr>
              <a:t>giren</a:t>
            </a:r>
            <a:r>
              <a:rPr lang="en-US" altLang="tr-TR" sz="2400" dirty="0" smtClean="0">
                <a:latin typeface="+mj-lt"/>
              </a:rPr>
              <a:t> </a:t>
            </a:r>
            <a:r>
              <a:rPr lang="en-US" altLang="tr-TR" sz="2400" dirty="0" err="1" smtClean="0">
                <a:latin typeface="+mj-lt"/>
              </a:rPr>
              <a:t>eleman</a:t>
            </a:r>
            <a:r>
              <a:rPr lang="en-US" altLang="tr-TR" sz="2400" dirty="0" smtClean="0">
                <a:latin typeface="+mj-lt"/>
              </a:rPr>
              <a:t> </a:t>
            </a:r>
            <a:r>
              <a:rPr lang="en-US" altLang="tr-TR" sz="2400" dirty="0" err="1" smtClean="0">
                <a:latin typeface="+mj-lt"/>
              </a:rPr>
              <a:t>ve</a:t>
            </a:r>
            <a:r>
              <a:rPr lang="en-US" altLang="tr-TR" sz="2400" dirty="0" smtClean="0">
                <a:latin typeface="+mj-lt"/>
              </a:rPr>
              <a:t> </a:t>
            </a:r>
            <a:r>
              <a:rPr lang="en-US" altLang="tr-TR" sz="2400" dirty="0" err="1" smtClean="0">
                <a:latin typeface="+mj-lt"/>
              </a:rPr>
              <a:t>gözlemci</a:t>
            </a:r>
            <a:r>
              <a:rPr lang="en-US" altLang="tr-TR" sz="2400" dirty="0" smtClean="0">
                <a:latin typeface="+mj-lt"/>
              </a:rPr>
              <a:t> </a:t>
            </a:r>
            <a:r>
              <a:rPr lang="en-US" altLang="tr-TR" sz="2400" dirty="0" err="1" smtClean="0">
                <a:latin typeface="+mj-lt"/>
              </a:rPr>
              <a:t>sürekli</a:t>
            </a:r>
            <a:r>
              <a:rPr lang="en-US" altLang="tr-TR" sz="2400" dirty="0" smtClean="0">
                <a:latin typeface="+mj-lt"/>
              </a:rPr>
              <a:t> </a:t>
            </a:r>
            <a:r>
              <a:rPr lang="en-US" altLang="tr-TR" sz="2400" dirty="0" err="1" smtClean="0">
                <a:solidFill>
                  <a:srgbClr val="FF0000"/>
                </a:solidFill>
                <a:latin typeface="+mj-lt"/>
              </a:rPr>
              <a:t>paraşütçü</a:t>
            </a:r>
            <a:r>
              <a:rPr lang="en-US" altLang="tr-TR" sz="2400" dirty="0" smtClean="0">
                <a:solidFill>
                  <a:srgbClr val="FF0000"/>
                </a:solidFill>
                <a:latin typeface="+mj-lt"/>
              </a:rPr>
              <a:t> tipi </a:t>
            </a:r>
            <a:r>
              <a:rPr lang="en-US" altLang="tr-TR" sz="2400" dirty="0" err="1" smtClean="0">
                <a:solidFill>
                  <a:srgbClr val="FF0000"/>
                </a:solidFill>
                <a:latin typeface="+mj-lt"/>
              </a:rPr>
              <a:t>emniyet</a:t>
            </a:r>
            <a:r>
              <a:rPr lang="en-US" altLang="tr-TR" sz="2400" dirty="0" smtClean="0">
                <a:solidFill>
                  <a:srgbClr val="FF0000"/>
                </a:solidFill>
                <a:latin typeface="+mj-lt"/>
              </a:rPr>
              <a:t> </a:t>
            </a:r>
            <a:r>
              <a:rPr lang="en-US" altLang="tr-TR" sz="2400" dirty="0" err="1" smtClean="0">
                <a:solidFill>
                  <a:srgbClr val="FF0000"/>
                </a:solidFill>
                <a:latin typeface="+mj-lt"/>
              </a:rPr>
              <a:t>kemeri</a:t>
            </a:r>
            <a:r>
              <a:rPr lang="en-US" altLang="tr-TR" sz="2400" dirty="0" smtClean="0">
                <a:solidFill>
                  <a:srgbClr val="FF0000"/>
                </a:solidFill>
                <a:latin typeface="+mj-lt"/>
              </a:rPr>
              <a:t> </a:t>
            </a:r>
            <a:r>
              <a:rPr lang="en-US" altLang="tr-TR" sz="2400" dirty="0" err="1" smtClean="0">
                <a:latin typeface="+mj-lt"/>
              </a:rPr>
              <a:t>takacaktır</a:t>
            </a:r>
            <a:r>
              <a:rPr lang="en-US" altLang="tr-TR" sz="2400" dirty="0" smtClean="0">
                <a:latin typeface="+mj-lt"/>
              </a:rPr>
              <a:t>. </a:t>
            </a:r>
            <a:r>
              <a:rPr lang="en-US" altLang="tr-TR" sz="2400" dirty="0" err="1" smtClean="0">
                <a:solidFill>
                  <a:srgbClr val="FF0000"/>
                </a:solidFill>
                <a:latin typeface="+mj-lt"/>
              </a:rPr>
              <a:t>Kurtarma</a:t>
            </a:r>
            <a:r>
              <a:rPr lang="en-US" altLang="tr-TR" sz="2400" dirty="0" smtClean="0">
                <a:solidFill>
                  <a:srgbClr val="FF0000"/>
                </a:solidFill>
                <a:latin typeface="+mj-lt"/>
              </a:rPr>
              <a:t> </a:t>
            </a:r>
            <a:r>
              <a:rPr lang="en-US" altLang="tr-TR" sz="2400" dirty="0" err="1" smtClean="0">
                <a:solidFill>
                  <a:srgbClr val="FF0000"/>
                </a:solidFill>
                <a:latin typeface="+mj-lt"/>
              </a:rPr>
              <a:t>vinci</a:t>
            </a:r>
            <a:r>
              <a:rPr lang="en-US" altLang="tr-TR" sz="2400" dirty="0" smtClean="0">
                <a:solidFill>
                  <a:srgbClr val="FF0000"/>
                </a:solidFill>
                <a:latin typeface="+mj-lt"/>
              </a:rPr>
              <a:t> </a:t>
            </a:r>
            <a:r>
              <a:rPr lang="en-US" altLang="tr-TR" sz="2400" dirty="0" err="1" smtClean="0">
                <a:latin typeface="+mj-lt"/>
              </a:rPr>
              <a:t>ve</a:t>
            </a:r>
            <a:r>
              <a:rPr lang="en-US" altLang="tr-TR" sz="2400" dirty="0" smtClean="0">
                <a:latin typeface="+mj-lt"/>
              </a:rPr>
              <a:t> 3 </a:t>
            </a:r>
            <a:r>
              <a:rPr lang="en-US" altLang="tr-TR" sz="2400" dirty="0" err="1" smtClean="0">
                <a:latin typeface="+mj-lt"/>
              </a:rPr>
              <a:t>ayaklı</a:t>
            </a:r>
            <a:r>
              <a:rPr lang="en-US" altLang="tr-TR" sz="2400" dirty="0" smtClean="0">
                <a:latin typeface="+mj-lt"/>
              </a:rPr>
              <a:t> </a:t>
            </a:r>
            <a:r>
              <a:rPr lang="en-US" altLang="tr-TR" sz="2400" dirty="0" err="1" smtClean="0">
                <a:latin typeface="+mj-lt"/>
              </a:rPr>
              <a:t>destek</a:t>
            </a:r>
            <a:r>
              <a:rPr lang="tr-TR" altLang="tr-TR" sz="2400" dirty="0" smtClean="0">
                <a:latin typeface="+mj-lt"/>
              </a:rPr>
              <a:t> </a:t>
            </a:r>
            <a:r>
              <a:rPr lang="tr-TR" altLang="tr-TR" sz="2400" dirty="0" smtClean="0">
                <a:solidFill>
                  <a:srgbClr val="FF0000"/>
                </a:solidFill>
                <a:latin typeface="+mj-lt"/>
              </a:rPr>
              <a:t>(</a:t>
            </a:r>
            <a:r>
              <a:rPr lang="tr-TR" altLang="tr-TR" sz="2400" dirty="0" err="1" smtClean="0">
                <a:solidFill>
                  <a:srgbClr val="FF0000"/>
                </a:solidFill>
                <a:latin typeface="+mj-lt"/>
              </a:rPr>
              <a:t>tripod</a:t>
            </a:r>
            <a:r>
              <a:rPr lang="tr-TR" altLang="tr-TR" sz="2400" dirty="0" smtClean="0">
                <a:solidFill>
                  <a:srgbClr val="FF0000"/>
                </a:solidFill>
                <a:latin typeface="+mj-lt"/>
              </a:rPr>
              <a:t>)</a:t>
            </a:r>
            <a:r>
              <a:rPr lang="en-US" altLang="tr-TR" sz="2400" dirty="0" smtClean="0">
                <a:solidFill>
                  <a:srgbClr val="FF0000"/>
                </a:solidFill>
                <a:latin typeface="+mj-lt"/>
              </a:rPr>
              <a:t> </a:t>
            </a:r>
            <a:r>
              <a:rPr lang="en-US" altLang="tr-TR" sz="2400" dirty="0" err="1" smtClean="0">
                <a:latin typeface="+mj-lt"/>
              </a:rPr>
              <a:t>sürekli</a:t>
            </a:r>
            <a:r>
              <a:rPr lang="en-US" altLang="tr-TR" sz="2400" dirty="0" smtClean="0">
                <a:latin typeface="+mj-lt"/>
              </a:rPr>
              <a:t> </a:t>
            </a:r>
            <a:r>
              <a:rPr lang="en-US" altLang="tr-TR" sz="2400" dirty="0" err="1" smtClean="0">
                <a:latin typeface="+mj-lt"/>
              </a:rPr>
              <a:t>olarak</a:t>
            </a:r>
            <a:r>
              <a:rPr lang="en-US" altLang="tr-TR" sz="2400" dirty="0" smtClean="0">
                <a:latin typeface="+mj-lt"/>
              </a:rPr>
              <a:t> </a:t>
            </a:r>
            <a:r>
              <a:rPr lang="en-US" altLang="tr-TR" sz="2400" dirty="0" err="1" smtClean="0">
                <a:latin typeface="+mj-lt"/>
              </a:rPr>
              <a:t>tankın</a:t>
            </a:r>
            <a:r>
              <a:rPr lang="en-US" altLang="tr-TR" sz="2400" dirty="0" smtClean="0">
                <a:latin typeface="+mj-lt"/>
              </a:rPr>
              <a:t> </a:t>
            </a:r>
            <a:r>
              <a:rPr lang="en-US" altLang="tr-TR" sz="2400" dirty="0" err="1" smtClean="0">
                <a:latin typeface="+mj-lt"/>
              </a:rPr>
              <a:t>üzerinde</a:t>
            </a:r>
            <a:r>
              <a:rPr lang="en-US" altLang="tr-TR" sz="2400" dirty="0" smtClean="0">
                <a:latin typeface="+mj-lt"/>
              </a:rPr>
              <a:t> </a:t>
            </a:r>
            <a:r>
              <a:rPr lang="en-US" altLang="tr-TR" sz="2400" dirty="0" err="1" smtClean="0">
                <a:latin typeface="+mj-lt"/>
              </a:rPr>
              <a:t>hazır</a:t>
            </a:r>
            <a:r>
              <a:rPr lang="en-US" altLang="tr-TR" sz="2400" dirty="0" smtClean="0">
                <a:latin typeface="+mj-lt"/>
              </a:rPr>
              <a:t> </a:t>
            </a:r>
            <a:r>
              <a:rPr lang="en-US" altLang="tr-TR" sz="2400" dirty="0" err="1" smtClean="0">
                <a:latin typeface="+mj-lt"/>
              </a:rPr>
              <a:t>tutulacaktır</a:t>
            </a:r>
            <a:r>
              <a:rPr lang="en-US" altLang="tr-TR" sz="2400" dirty="0" smtClean="0">
                <a:latin typeface="+mj-lt"/>
              </a:rPr>
              <a:t>.</a:t>
            </a:r>
          </a:p>
          <a:p>
            <a:pPr marL="0" indent="0" eaLnBrk="1" hangingPunct="1">
              <a:lnSpc>
                <a:spcPct val="120000"/>
              </a:lnSpc>
              <a:buFont typeface="Symbol" pitchFamily="18" charset="2"/>
              <a:buChar char="·"/>
            </a:pPr>
            <a:endParaRPr lang="en-US" altLang="tr-TR" sz="2400" dirty="0" smtClean="0">
              <a:latin typeface="+mj-lt"/>
            </a:endParaRPr>
          </a:p>
        </p:txBody>
      </p:sp>
    </p:spTree>
    <p:custDataLst>
      <p:tags r:id="rId1"/>
    </p:custDataLst>
    <p:extLst>
      <p:ext uri="{BB962C8B-B14F-4D97-AF65-F5344CB8AC3E}">
        <p14:creationId xmlns="" xmlns:p14="http://schemas.microsoft.com/office/powerpoint/2010/main" val="982447938"/>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subTitle" idx="4294967295"/>
          </p:nvPr>
        </p:nvSpPr>
        <p:spPr>
          <a:xfrm>
            <a:off x="0" y="188913"/>
            <a:ext cx="8831263" cy="6218237"/>
          </a:xfrm>
          <a:noFill/>
        </p:spPr>
        <p:txBody>
          <a:bodyPr lIns="92075" tIns="46038" rIns="92075" bIns="46038" anchor="ctr"/>
          <a:lstStyle/>
          <a:p>
            <a:pPr marL="0" indent="0" eaLnBrk="1" hangingPunct="1">
              <a:buFont typeface="Wingdings" pitchFamily="2" charset="2"/>
              <a:buNone/>
            </a:pPr>
            <a:r>
              <a:rPr lang="en-US" altLang="tr-TR" b="1" dirty="0" smtClean="0">
                <a:solidFill>
                  <a:srgbClr val="0070C0"/>
                </a:solidFill>
                <a:latin typeface="+mj-lt"/>
              </a:rPr>
              <a:t>ACİL KURTARMA GEREKSİNİMLERİ </a:t>
            </a:r>
            <a:endParaRPr lang="tr-TR" altLang="tr-TR" b="1" dirty="0" smtClean="0">
              <a:solidFill>
                <a:srgbClr val="0070C0"/>
              </a:solidFill>
              <a:latin typeface="+mj-lt"/>
            </a:endParaRPr>
          </a:p>
          <a:p>
            <a:pPr marL="0" indent="0" eaLnBrk="1" hangingPunct="1">
              <a:buFont typeface="Wingdings" pitchFamily="2" charset="2"/>
              <a:buNone/>
            </a:pPr>
            <a:endParaRPr lang="tr-TR" altLang="tr-TR" sz="2000" b="1" u="sng" dirty="0">
              <a:solidFill>
                <a:srgbClr val="0070C0"/>
              </a:solidFill>
              <a:latin typeface="+mj-lt"/>
            </a:endParaRPr>
          </a:p>
          <a:p>
            <a:pPr marL="0" indent="0" eaLnBrk="1" hangingPunct="1">
              <a:buFont typeface="Wingdings" pitchFamily="2" charset="2"/>
              <a:buNone/>
            </a:pPr>
            <a:endParaRPr lang="en-US" altLang="tr-TR" sz="2000" u="sng" dirty="0" smtClean="0">
              <a:latin typeface="+mj-lt"/>
            </a:endParaRPr>
          </a:p>
          <a:p>
            <a:pPr marL="0" indent="0" eaLnBrk="1" hangingPunct="1">
              <a:buFont typeface="Wingdings" pitchFamily="2" charset="2"/>
              <a:buNone/>
            </a:pPr>
            <a:r>
              <a:rPr lang="en-US" altLang="tr-TR" sz="2800" b="1" u="sng" dirty="0" err="1" smtClean="0">
                <a:solidFill>
                  <a:srgbClr val="FF0000"/>
                </a:solidFill>
                <a:latin typeface="+mj-lt"/>
              </a:rPr>
              <a:t>Kurtarma</a:t>
            </a:r>
            <a:r>
              <a:rPr lang="en-US" altLang="tr-TR" sz="2800" b="1" u="sng" dirty="0" smtClean="0">
                <a:solidFill>
                  <a:srgbClr val="FF0000"/>
                </a:solidFill>
                <a:latin typeface="+mj-lt"/>
              </a:rPr>
              <a:t> </a:t>
            </a:r>
            <a:r>
              <a:rPr lang="en-US" altLang="tr-TR" sz="2800" b="1" u="sng" dirty="0" err="1" smtClean="0">
                <a:solidFill>
                  <a:srgbClr val="FF0000"/>
                </a:solidFill>
                <a:latin typeface="+mj-lt"/>
              </a:rPr>
              <a:t>Zamanı</a:t>
            </a:r>
            <a:endParaRPr lang="en-US" altLang="tr-TR" sz="2800" b="1" u="sng" dirty="0" smtClean="0">
              <a:solidFill>
                <a:srgbClr val="FF0000"/>
              </a:solidFill>
              <a:latin typeface="+mj-lt"/>
            </a:endParaRPr>
          </a:p>
          <a:p>
            <a:pPr marL="0" indent="0" eaLnBrk="1" hangingPunct="1">
              <a:buFont typeface="Wingdings" pitchFamily="2" charset="2"/>
              <a:buNone/>
            </a:pPr>
            <a:r>
              <a:rPr lang="en-US" altLang="tr-TR" sz="2400" dirty="0" err="1" smtClean="0">
                <a:latin typeface="+mj-lt"/>
              </a:rPr>
              <a:t>Oksijenin</a:t>
            </a:r>
            <a:r>
              <a:rPr lang="en-US" altLang="tr-TR" sz="2400" dirty="0" smtClean="0">
                <a:latin typeface="+mj-lt"/>
              </a:rPr>
              <a:t> </a:t>
            </a:r>
            <a:r>
              <a:rPr lang="en-US" altLang="tr-TR" sz="2400" dirty="0" err="1" smtClean="0">
                <a:latin typeface="+mj-lt"/>
              </a:rPr>
              <a:t>yetersiz</a:t>
            </a:r>
            <a:r>
              <a:rPr lang="en-US" altLang="tr-TR" sz="2400" dirty="0" smtClean="0">
                <a:latin typeface="+mj-lt"/>
              </a:rPr>
              <a:t> </a:t>
            </a:r>
            <a:r>
              <a:rPr lang="en-US" altLang="tr-TR" sz="2400" dirty="0" err="1" smtClean="0">
                <a:latin typeface="+mj-lt"/>
              </a:rPr>
              <a:t>olduğu</a:t>
            </a:r>
            <a:r>
              <a:rPr lang="en-US" altLang="tr-TR" sz="2400" dirty="0" smtClean="0">
                <a:latin typeface="+mj-lt"/>
              </a:rPr>
              <a:t> </a:t>
            </a:r>
            <a:r>
              <a:rPr lang="en-US" altLang="tr-TR" sz="2400" dirty="0" err="1" smtClean="0">
                <a:latin typeface="+mj-lt"/>
              </a:rPr>
              <a:t>acil</a:t>
            </a:r>
            <a:r>
              <a:rPr lang="en-US" altLang="tr-TR" sz="2400" dirty="0" smtClean="0">
                <a:latin typeface="+mj-lt"/>
              </a:rPr>
              <a:t> </a:t>
            </a:r>
            <a:r>
              <a:rPr lang="en-US" altLang="tr-TR" sz="2400" dirty="0" err="1" smtClean="0">
                <a:latin typeface="+mj-lt"/>
              </a:rPr>
              <a:t>durumlarda</a:t>
            </a:r>
            <a:r>
              <a:rPr lang="en-US" altLang="tr-TR" sz="2400" dirty="0" smtClean="0">
                <a:latin typeface="+mj-lt"/>
              </a:rPr>
              <a:t> </a:t>
            </a:r>
            <a:r>
              <a:rPr lang="en-US" altLang="tr-TR" sz="2400" b="1" dirty="0" err="1" smtClean="0">
                <a:solidFill>
                  <a:srgbClr val="FF0000"/>
                </a:solidFill>
                <a:latin typeface="+mj-lt"/>
              </a:rPr>
              <a:t>gerekli</a:t>
            </a:r>
            <a:r>
              <a:rPr lang="en-US" altLang="tr-TR" sz="2400" b="1" dirty="0" smtClean="0">
                <a:solidFill>
                  <a:srgbClr val="FF0000"/>
                </a:solidFill>
                <a:latin typeface="+mj-lt"/>
              </a:rPr>
              <a:t> </a:t>
            </a:r>
            <a:r>
              <a:rPr lang="en-US" altLang="tr-TR" sz="2400" b="1" dirty="0" err="1" smtClean="0">
                <a:solidFill>
                  <a:srgbClr val="FF0000"/>
                </a:solidFill>
                <a:latin typeface="+mj-lt"/>
              </a:rPr>
              <a:t>oksijen</a:t>
            </a:r>
            <a:r>
              <a:rPr lang="en-US" altLang="tr-TR" sz="2400" b="1" dirty="0" smtClean="0">
                <a:solidFill>
                  <a:srgbClr val="FF0000"/>
                </a:solidFill>
                <a:latin typeface="+mj-lt"/>
              </a:rPr>
              <a:t> </a:t>
            </a:r>
            <a:endParaRPr lang="tr-TR" altLang="tr-TR" sz="2400" b="1" dirty="0" smtClean="0">
              <a:solidFill>
                <a:srgbClr val="FF0000"/>
              </a:solidFill>
              <a:latin typeface="+mj-lt"/>
            </a:endParaRPr>
          </a:p>
          <a:p>
            <a:pPr marL="0" indent="0" eaLnBrk="1" hangingPunct="1">
              <a:buFont typeface="Wingdings" pitchFamily="2" charset="2"/>
              <a:buNone/>
            </a:pPr>
            <a:r>
              <a:rPr lang="en-US" altLang="tr-TR" sz="2400" b="1" dirty="0" smtClean="0">
                <a:solidFill>
                  <a:srgbClr val="FF0000"/>
                </a:solidFill>
                <a:latin typeface="+mj-lt"/>
              </a:rPr>
              <a:t>3 </a:t>
            </a:r>
            <a:r>
              <a:rPr lang="en-US" altLang="tr-TR" sz="2400" b="1" dirty="0" err="1" smtClean="0">
                <a:solidFill>
                  <a:srgbClr val="FF0000"/>
                </a:solidFill>
                <a:latin typeface="+mj-lt"/>
              </a:rPr>
              <a:t>dakida</a:t>
            </a:r>
            <a:r>
              <a:rPr lang="en-US" altLang="tr-TR" sz="2400" b="1" dirty="0" smtClean="0">
                <a:solidFill>
                  <a:srgbClr val="FF0000"/>
                </a:solidFill>
                <a:latin typeface="+mj-lt"/>
              </a:rPr>
              <a:t> </a:t>
            </a:r>
            <a:r>
              <a:rPr lang="en-US" altLang="tr-TR" sz="2400" b="1" dirty="0" err="1" smtClean="0">
                <a:solidFill>
                  <a:srgbClr val="FF0000"/>
                </a:solidFill>
                <a:latin typeface="+mj-lt"/>
              </a:rPr>
              <a:t>içerisinde</a:t>
            </a:r>
            <a:r>
              <a:rPr lang="en-US" altLang="tr-TR" sz="2400" b="1" dirty="0" smtClean="0">
                <a:solidFill>
                  <a:srgbClr val="FF0000"/>
                </a:solidFill>
                <a:latin typeface="+mj-lt"/>
              </a:rPr>
              <a:t> </a:t>
            </a:r>
            <a:r>
              <a:rPr lang="en-US" altLang="tr-TR" sz="2400" dirty="0" err="1" smtClean="0">
                <a:latin typeface="+mj-lt"/>
              </a:rPr>
              <a:t>kazazedeye</a:t>
            </a:r>
            <a:r>
              <a:rPr lang="en-US" altLang="tr-TR" sz="2400" dirty="0" smtClean="0">
                <a:latin typeface="+mj-lt"/>
              </a:rPr>
              <a:t> </a:t>
            </a:r>
            <a:r>
              <a:rPr lang="en-US" altLang="tr-TR" sz="2400" dirty="0" err="1" smtClean="0">
                <a:latin typeface="+mj-lt"/>
              </a:rPr>
              <a:t>ulaştırılmalıdır</a:t>
            </a:r>
            <a:r>
              <a:rPr lang="en-US" altLang="tr-TR" sz="2400" dirty="0" smtClean="0">
                <a:latin typeface="+mj-lt"/>
              </a:rPr>
              <a:t>.</a:t>
            </a:r>
            <a:endParaRPr lang="tr-TR" altLang="tr-TR" sz="2400" dirty="0" smtClean="0">
              <a:latin typeface="+mj-lt"/>
            </a:endParaRPr>
          </a:p>
          <a:p>
            <a:pPr marL="0" indent="0" eaLnBrk="1" hangingPunct="1">
              <a:buFont typeface="Wingdings" pitchFamily="2" charset="2"/>
              <a:buNone/>
            </a:pPr>
            <a:endParaRPr lang="en-US" altLang="tr-TR" sz="2400" dirty="0" smtClean="0">
              <a:latin typeface="+mj-lt"/>
            </a:endParaRPr>
          </a:p>
          <a:p>
            <a:pPr marL="0" indent="0" eaLnBrk="1" hangingPunct="1">
              <a:buFont typeface="Wingdings" pitchFamily="2" charset="2"/>
              <a:buNone/>
            </a:pPr>
            <a:r>
              <a:rPr lang="en-US" altLang="tr-TR" sz="2800" b="1" u="sng" dirty="0" err="1" smtClean="0">
                <a:solidFill>
                  <a:srgbClr val="FF0000"/>
                </a:solidFill>
                <a:latin typeface="+mj-lt"/>
              </a:rPr>
              <a:t>Giriş</a:t>
            </a:r>
            <a:r>
              <a:rPr lang="en-US" altLang="tr-TR" sz="2800" b="1" u="sng" dirty="0" smtClean="0">
                <a:solidFill>
                  <a:srgbClr val="FF0000"/>
                </a:solidFill>
                <a:latin typeface="+mj-lt"/>
              </a:rPr>
              <a:t> </a:t>
            </a:r>
            <a:r>
              <a:rPr lang="en-US" altLang="tr-TR" sz="2800" b="1" u="sng" dirty="0" err="1" smtClean="0">
                <a:solidFill>
                  <a:srgbClr val="FF0000"/>
                </a:solidFill>
                <a:latin typeface="+mj-lt"/>
              </a:rPr>
              <a:t>için</a:t>
            </a:r>
            <a:r>
              <a:rPr lang="en-US" altLang="tr-TR" sz="2800" b="1" u="sng" dirty="0" smtClean="0">
                <a:solidFill>
                  <a:srgbClr val="FF0000"/>
                </a:solidFill>
                <a:latin typeface="+mj-lt"/>
              </a:rPr>
              <a:t> </a:t>
            </a:r>
            <a:r>
              <a:rPr lang="en-US" altLang="tr-TR" sz="2800" b="1" u="sng" dirty="0" err="1" smtClean="0">
                <a:solidFill>
                  <a:srgbClr val="FF0000"/>
                </a:solidFill>
                <a:latin typeface="+mj-lt"/>
              </a:rPr>
              <a:t>gerekli</a:t>
            </a:r>
            <a:r>
              <a:rPr lang="en-US" altLang="tr-TR" sz="2800" b="1" u="sng" dirty="0" smtClean="0">
                <a:solidFill>
                  <a:srgbClr val="FF0000"/>
                </a:solidFill>
                <a:latin typeface="+mj-lt"/>
              </a:rPr>
              <a:t> </a:t>
            </a:r>
            <a:r>
              <a:rPr lang="en-US" altLang="tr-TR" sz="2800" b="1" u="sng" dirty="0" err="1" smtClean="0">
                <a:solidFill>
                  <a:srgbClr val="FF0000"/>
                </a:solidFill>
                <a:latin typeface="+mj-lt"/>
              </a:rPr>
              <a:t>kurtarma</a:t>
            </a:r>
            <a:r>
              <a:rPr lang="en-US" altLang="tr-TR" sz="2800" b="1" u="sng" dirty="0" smtClean="0">
                <a:solidFill>
                  <a:srgbClr val="FF0000"/>
                </a:solidFill>
                <a:latin typeface="+mj-lt"/>
              </a:rPr>
              <a:t> </a:t>
            </a:r>
            <a:r>
              <a:rPr lang="en-US" altLang="tr-TR" sz="2800" b="1" u="sng" dirty="0" err="1" smtClean="0">
                <a:solidFill>
                  <a:srgbClr val="FF0000"/>
                </a:solidFill>
                <a:latin typeface="+mj-lt"/>
              </a:rPr>
              <a:t>ekipmanları</a:t>
            </a:r>
            <a:endParaRPr lang="en-US" altLang="tr-TR" sz="2800" u="sng" dirty="0" smtClean="0">
              <a:solidFill>
                <a:srgbClr val="FF0000"/>
              </a:solidFill>
              <a:latin typeface="+mj-lt"/>
            </a:endParaRPr>
          </a:p>
          <a:p>
            <a:pPr marL="0" indent="0" eaLnBrk="1" hangingPunct="1">
              <a:lnSpc>
                <a:spcPct val="110000"/>
              </a:lnSpc>
              <a:buFont typeface="Symbol" pitchFamily="18" charset="2"/>
              <a:buChar char="·"/>
            </a:pPr>
            <a:r>
              <a:rPr lang="en-US" altLang="tr-TR" sz="2400" dirty="0" smtClean="0">
                <a:solidFill>
                  <a:srgbClr val="0070C0"/>
                </a:solidFill>
                <a:latin typeface="+mj-lt"/>
              </a:rPr>
              <a:t>2 </a:t>
            </a:r>
            <a:r>
              <a:rPr lang="en-US" altLang="tr-TR" sz="2400" dirty="0" err="1" smtClean="0">
                <a:solidFill>
                  <a:srgbClr val="0070C0"/>
                </a:solidFill>
                <a:latin typeface="+mj-lt"/>
              </a:rPr>
              <a:t>adet</a:t>
            </a:r>
            <a:r>
              <a:rPr lang="en-US" altLang="tr-TR" sz="2400" dirty="0" smtClean="0">
                <a:solidFill>
                  <a:srgbClr val="0070C0"/>
                </a:solidFill>
                <a:latin typeface="+mj-lt"/>
              </a:rPr>
              <a:t> </a:t>
            </a:r>
            <a:r>
              <a:rPr lang="en-US" altLang="tr-TR" sz="2400" dirty="0" err="1" smtClean="0">
                <a:solidFill>
                  <a:srgbClr val="0070C0"/>
                </a:solidFill>
                <a:latin typeface="+mj-lt"/>
              </a:rPr>
              <a:t>paraşütçü</a:t>
            </a:r>
            <a:r>
              <a:rPr lang="en-US" altLang="tr-TR" sz="2400" dirty="0" smtClean="0">
                <a:solidFill>
                  <a:srgbClr val="0070C0"/>
                </a:solidFill>
                <a:latin typeface="+mj-lt"/>
              </a:rPr>
              <a:t> tipi </a:t>
            </a:r>
            <a:r>
              <a:rPr lang="en-US" altLang="tr-TR" sz="2400" dirty="0" err="1" smtClean="0">
                <a:solidFill>
                  <a:srgbClr val="0070C0"/>
                </a:solidFill>
                <a:latin typeface="+mj-lt"/>
              </a:rPr>
              <a:t>emniyet</a:t>
            </a:r>
            <a:r>
              <a:rPr lang="en-US" altLang="tr-TR" sz="2400" dirty="0" smtClean="0">
                <a:solidFill>
                  <a:srgbClr val="0070C0"/>
                </a:solidFill>
                <a:latin typeface="+mj-lt"/>
              </a:rPr>
              <a:t> </a:t>
            </a:r>
            <a:r>
              <a:rPr lang="en-US" altLang="tr-TR" sz="2400" dirty="0" err="1" smtClean="0">
                <a:solidFill>
                  <a:srgbClr val="0070C0"/>
                </a:solidFill>
                <a:latin typeface="+mj-lt"/>
              </a:rPr>
              <a:t>kemeri</a:t>
            </a:r>
            <a:r>
              <a:rPr lang="en-US" altLang="tr-TR" sz="2400" dirty="0" smtClean="0">
                <a:solidFill>
                  <a:srgbClr val="0070C0"/>
                </a:solidFill>
                <a:latin typeface="+mj-lt"/>
              </a:rPr>
              <a:t> </a:t>
            </a:r>
            <a:r>
              <a:rPr lang="en-US" altLang="tr-TR" sz="2400" dirty="0" smtClean="0">
                <a:latin typeface="+mj-lt"/>
              </a:rPr>
              <a:t>(</a:t>
            </a:r>
            <a:r>
              <a:rPr lang="en-US" altLang="tr-TR" sz="2400" b="1" dirty="0" err="1" smtClean="0">
                <a:latin typeface="+mj-lt"/>
              </a:rPr>
              <a:t>üstten</a:t>
            </a:r>
            <a:r>
              <a:rPr lang="en-US" altLang="tr-TR" sz="2400" b="1" dirty="0" smtClean="0">
                <a:latin typeface="+mj-lt"/>
              </a:rPr>
              <a:t> </a:t>
            </a:r>
            <a:r>
              <a:rPr lang="en-US" altLang="tr-TR" sz="2400" b="1" dirty="0" err="1" smtClean="0">
                <a:latin typeface="+mj-lt"/>
              </a:rPr>
              <a:t>girişlerde</a:t>
            </a:r>
            <a:r>
              <a:rPr lang="en-US" altLang="tr-TR" sz="2400" b="1" dirty="0" smtClean="0">
                <a:latin typeface="+mj-lt"/>
              </a:rPr>
              <a:t> </a:t>
            </a:r>
            <a:r>
              <a:rPr lang="en-US" altLang="tr-TR" sz="2400" b="1" dirty="0" err="1" smtClean="0">
                <a:latin typeface="+mj-lt"/>
              </a:rPr>
              <a:t>giren</a:t>
            </a:r>
            <a:r>
              <a:rPr lang="en-US" altLang="tr-TR" sz="2400" b="1" dirty="0" smtClean="0">
                <a:latin typeface="+mj-lt"/>
              </a:rPr>
              <a:t> </a:t>
            </a:r>
            <a:r>
              <a:rPr lang="en-US" altLang="tr-TR" sz="2400" b="1" dirty="0" err="1" smtClean="0">
                <a:latin typeface="+mj-lt"/>
              </a:rPr>
              <a:t>eleman</a:t>
            </a:r>
            <a:r>
              <a:rPr lang="en-US" altLang="tr-TR" sz="2400" b="1" dirty="0" smtClean="0">
                <a:latin typeface="+mj-lt"/>
              </a:rPr>
              <a:t> </a:t>
            </a:r>
            <a:r>
              <a:rPr lang="en-US" altLang="tr-TR" sz="2400" b="1" dirty="0" err="1" smtClean="0">
                <a:latin typeface="+mj-lt"/>
              </a:rPr>
              <a:t>ve</a:t>
            </a:r>
            <a:r>
              <a:rPr lang="en-US" altLang="tr-TR" sz="2400" b="1" dirty="0" smtClean="0">
                <a:latin typeface="+mj-lt"/>
              </a:rPr>
              <a:t> </a:t>
            </a:r>
            <a:r>
              <a:rPr lang="en-US" altLang="tr-TR" sz="2400" b="1" dirty="0" err="1" smtClean="0">
                <a:latin typeface="+mj-lt"/>
              </a:rPr>
              <a:t>gözlemci</a:t>
            </a:r>
            <a:r>
              <a:rPr lang="en-US" altLang="tr-TR" sz="2400" b="1" dirty="0" smtClean="0">
                <a:latin typeface="+mj-lt"/>
              </a:rPr>
              <a:t> </a:t>
            </a:r>
            <a:r>
              <a:rPr lang="en-US" altLang="tr-TR" sz="2400" b="1" dirty="0" err="1" smtClean="0">
                <a:latin typeface="+mj-lt"/>
              </a:rPr>
              <a:t>tarafından</a:t>
            </a:r>
            <a:r>
              <a:rPr lang="en-US" altLang="tr-TR" sz="2400" b="1" dirty="0" smtClean="0">
                <a:latin typeface="+mj-lt"/>
              </a:rPr>
              <a:t> </a:t>
            </a:r>
            <a:r>
              <a:rPr lang="en-US" altLang="tr-TR" sz="2400" b="1" dirty="0" err="1" smtClean="0">
                <a:latin typeface="+mj-lt"/>
              </a:rPr>
              <a:t>sürekli</a:t>
            </a:r>
            <a:r>
              <a:rPr lang="en-US" altLang="tr-TR" sz="2400" b="1" dirty="0" smtClean="0">
                <a:latin typeface="+mj-lt"/>
              </a:rPr>
              <a:t> </a:t>
            </a:r>
            <a:r>
              <a:rPr lang="en-US" altLang="tr-TR" sz="2400" b="1" dirty="0" err="1" smtClean="0">
                <a:latin typeface="+mj-lt"/>
              </a:rPr>
              <a:t>takılmalıdır</a:t>
            </a:r>
            <a:r>
              <a:rPr lang="en-US" altLang="tr-TR" sz="2400" dirty="0" smtClean="0">
                <a:latin typeface="+mj-lt"/>
              </a:rPr>
              <a:t>)</a:t>
            </a:r>
          </a:p>
          <a:p>
            <a:pPr marL="0" indent="0" eaLnBrk="1" hangingPunct="1">
              <a:lnSpc>
                <a:spcPct val="110000"/>
              </a:lnSpc>
              <a:buFont typeface="Symbol" pitchFamily="18" charset="2"/>
              <a:buChar char="·"/>
            </a:pPr>
            <a:r>
              <a:rPr lang="en-US" altLang="tr-TR" sz="2400" b="1" dirty="0" err="1" smtClean="0">
                <a:solidFill>
                  <a:srgbClr val="0070C0"/>
                </a:solidFill>
                <a:latin typeface="+mj-lt"/>
              </a:rPr>
              <a:t>Giriş</a:t>
            </a:r>
            <a:r>
              <a:rPr lang="en-US" altLang="tr-TR" sz="2400" b="1" dirty="0" smtClean="0">
                <a:solidFill>
                  <a:srgbClr val="0070C0"/>
                </a:solidFill>
                <a:latin typeface="+mj-lt"/>
              </a:rPr>
              <a:t> </a:t>
            </a:r>
            <a:r>
              <a:rPr lang="en-US" altLang="tr-TR" sz="2400" b="1" dirty="0" err="1" smtClean="0">
                <a:solidFill>
                  <a:srgbClr val="0070C0"/>
                </a:solidFill>
                <a:latin typeface="+mj-lt"/>
              </a:rPr>
              <a:t>yapacak</a:t>
            </a:r>
            <a:r>
              <a:rPr lang="en-US" altLang="tr-TR" sz="2400" b="1" dirty="0" smtClean="0">
                <a:solidFill>
                  <a:srgbClr val="0070C0"/>
                </a:solidFill>
                <a:latin typeface="+mj-lt"/>
              </a:rPr>
              <a:t> </a:t>
            </a:r>
            <a:r>
              <a:rPr lang="en-US" altLang="tr-TR" sz="2400" b="1" dirty="0" err="1" smtClean="0">
                <a:solidFill>
                  <a:srgbClr val="0070C0"/>
                </a:solidFill>
                <a:latin typeface="+mj-lt"/>
              </a:rPr>
              <a:t>eleman</a:t>
            </a:r>
            <a:r>
              <a:rPr lang="en-US" altLang="tr-TR" sz="2400" b="1" dirty="0" smtClean="0">
                <a:solidFill>
                  <a:srgbClr val="0070C0"/>
                </a:solidFill>
                <a:latin typeface="+mj-lt"/>
              </a:rPr>
              <a:t> </a:t>
            </a:r>
            <a:r>
              <a:rPr lang="en-US" altLang="tr-TR" sz="2400" b="1" dirty="0" err="1" smtClean="0">
                <a:solidFill>
                  <a:srgbClr val="0070C0"/>
                </a:solidFill>
                <a:latin typeface="+mj-lt"/>
              </a:rPr>
              <a:t>adedi</a:t>
            </a:r>
            <a:r>
              <a:rPr lang="en-US" altLang="tr-TR" sz="2400" b="1" dirty="0" smtClean="0">
                <a:solidFill>
                  <a:srgbClr val="0070C0"/>
                </a:solidFill>
                <a:latin typeface="+mj-lt"/>
              </a:rPr>
              <a:t> </a:t>
            </a:r>
            <a:r>
              <a:rPr lang="en-US" altLang="tr-TR" sz="2400" b="1" dirty="0" err="1" smtClean="0">
                <a:solidFill>
                  <a:srgbClr val="0070C0"/>
                </a:solidFill>
                <a:latin typeface="+mj-lt"/>
              </a:rPr>
              <a:t>kadar</a:t>
            </a:r>
            <a:r>
              <a:rPr lang="en-US" altLang="tr-TR" sz="2400" b="1" dirty="0" smtClean="0">
                <a:solidFill>
                  <a:srgbClr val="0070C0"/>
                </a:solidFill>
                <a:latin typeface="+mj-lt"/>
              </a:rPr>
              <a:t> </a:t>
            </a:r>
            <a:r>
              <a:rPr lang="en-US" altLang="tr-TR" sz="2400" b="1" dirty="0" smtClean="0">
                <a:solidFill>
                  <a:srgbClr val="FF0000"/>
                </a:solidFill>
                <a:latin typeface="+mj-lt"/>
              </a:rPr>
              <a:t>5 </a:t>
            </a:r>
            <a:r>
              <a:rPr lang="en-US" altLang="tr-TR" sz="2400" b="1" dirty="0" err="1" smtClean="0">
                <a:solidFill>
                  <a:srgbClr val="FF0000"/>
                </a:solidFill>
                <a:latin typeface="+mj-lt"/>
              </a:rPr>
              <a:t>dakikalık</a:t>
            </a:r>
            <a:r>
              <a:rPr lang="en-US" altLang="tr-TR" sz="2400" b="1" dirty="0" smtClean="0">
                <a:solidFill>
                  <a:srgbClr val="FF0000"/>
                </a:solidFill>
                <a:latin typeface="+mj-lt"/>
              </a:rPr>
              <a:t> </a:t>
            </a:r>
            <a:r>
              <a:rPr lang="en-US" altLang="tr-TR" sz="2400" b="1" dirty="0" err="1" smtClean="0">
                <a:solidFill>
                  <a:srgbClr val="0070C0"/>
                </a:solidFill>
                <a:latin typeface="+mj-lt"/>
              </a:rPr>
              <a:t>solunum</a:t>
            </a:r>
            <a:r>
              <a:rPr lang="en-US" altLang="tr-TR" sz="2400" b="1" dirty="0" smtClean="0">
                <a:solidFill>
                  <a:srgbClr val="0070C0"/>
                </a:solidFill>
                <a:latin typeface="+mj-lt"/>
              </a:rPr>
              <a:t> </a:t>
            </a:r>
            <a:r>
              <a:rPr lang="en-US" altLang="tr-TR" sz="2400" b="1" dirty="0" err="1" smtClean="0">
                <a:solidFill>
                  <a:srgbClr val="0070C0"/>
                </a:solidFill>
                <a:latin typeface="+mj-lt"/>
              </a:rPr>
              <a:t>cihazı</a:t>
            </a:r>
            <a:endParaRPr lang="en-US" altLang="tr-TR" sz="2400" b="1" dirty="0" smtClean="0">
              <a:solidFill>
                <a:srgbClr val="0070C0"/>
              </a:solidFill>
              <a:latin typeface="+mj-lt"/>
            </a:endParaRPr>
          </a:p>
          <a:p>
            <a:pPr marL="0" indent="0" eaLnBrk="1" hangingPunct="1">
              <a:lnSpc>
                <a:spcPct val="110000"/>
              </a:lnSpc>
              <a:buFont typeface="Symbol" pitchFamily="18" charset="2"/>
              <a:buChar char="·"/>
            </a:pPr>
            <a:r>
              <a:rPr lang="en-US" altLang="tr-TR" sz="2400" b="1" dirty="0" smtClean="0">
                <a:solidFill>
                  <a:srgbClr val="0070C0"/>
                </a:solidFill>
                <a:latin typeface="+mj-lt"/>
              </a:rPr>
              <a:t>2 </a:t>
            </a:r>
            <a:r>
              <a:rPr lang="en-US" altLang="tr-TR" sz="2400" b="1" dirty="0" err="1" smtClean="0">
                <a:solidFill>
                  <a:srgbClr val="0070C0"/>
                </a:solidFill>
                <a:latin typeface="+mj-lt"/>
              </a:rPr>
              <a:t>adet</a:t>
            </a:r>
            <a:r>
              <a:rPr lang="en-US" altLang="tr-TR" sz="2400" b="1" dirty="0" smtClean="0">
                <a:solidFill>
                  <a:srgbClr val="0070C0"/>
                </a:solidFill>
                <a:latin typeface="+mj-lt"/>
              </a:rPr>
              <a:t> </a:t>
            </a:r>
            <a:r>
              <a:rPr lang="en-US" altLang="tr-TR" sz="2400" b="1" dirty="0" smtClean="0">
                <a:solidFill>
                  <a:srgbClr val="FF0000"/>
                </a:solidFill>
                <a:latin typeface="+mj-lt"/>
              </a:rPr>
              <a:t>30 </a:t>
            </a:r>
            <a:r>
              <a:rPr lang="en-US" altLang="tr-TR" sz="2400" b="1" dirty="0" err="1" smtClean="0">
                <a:solidFill>
                  <a:srgbClr val="FF0000"/>
                </a:solidFill>
                <a:latin typeface="+mj-lt"/>
              </a:rPr>
              <a:t>dakikalık</a:t>
            </a:r>
            <a:r>
              <a:rPr lang="en-US" altLang="tr-TR" sz="2400" b="1" dirty="0" smtClean="0">
                <a:solidFill>
                  <a:srgbClr val="FF0000"/>
                </a:solidFill>
                <a:latin typeface="+mj-lt"/>
              </a:rPr>
              <a:t> </a:t>
            </a:r>
            <a:r>
              <a:rPr lang="en-US" altLang="tr-TR" sz="2400" b="1" dirty="0" err="1" smtClean="0">
                <a:solidFill>
                  <a:srgbClr val="0070C0"/>
                </a:solidFill>
                <a:latin typeface="+mj-lt"/>
              </a:rPr>
              <a:t>solunum</a:t>
            </a:r>
            <a:r>
              <a:rPr lang="en-US" altLang="tr-TR" sz="2400" b="1" dirty="0" smtClean="0">
                <a:solidFill>
                  <a:srgbClr val="0070C0"/>
                </a:solidFill>
                <a:latin typeface="+mj-lt"/>
              </a:rPr>
              <a:t> </a:t>
            </a:r>
            <a:r>
              <a:rPr lang="en-US" altLang="tr-TR" sz="2400" b="1" dirty="0" err="1" smtClean="0">
                <a:solidFill>
                  <a:srgbClr val="0070C0"/>
                </a:solidFill>
                <a:latin typeface="+mj-lt"/>
              </a:rPr>
              <a:t>cihazı</a:t>
            </a:r>
            <a:r>
              <a:rPr lang="tr-TR" altLang="tr-TR" sz="2400" b="1" dirty="0" smtClean="0">
                <a:solidFill>
                  <a:srgbClr val="0070C0"/>
                </a:solidFill>
                <a:latin typeface="+mj-lt"/>
              </a:rPr>
              <a:t> (müdahale edenler için)</a:t>
            </a:r>
            <a:endParaRPr lang="en-US" altLang="tr-TR" sz="2400" b="1" dirty="0" smtClean="0">
              <a:solidFill>
                <a:srgbClr val="0070C0"/>
              </a:solidFill>
              <a:latin typeface="+mj-lt"/>
            </a:endParaRPr>
          </a:p>
          <a:p>
            <a:pPr marL="0" indent="0" eaLnBrk="1" hangingPunct="1">
              <a:lnSpc>
                <a:spcPct val="110000"/>
              </a:lnSpc>
              <a:buFont typeface="Symbol" pitchFamily="18" charset="2"/>
              <a:buChar char="·"/>
            </a:pPr>
            <a:r>
              <a:rPr lang="en-US" altLang="tr-TR" sz="2400" dirty="0" err="1" smtClean="0">
                <a:latin typeface="+mj-lt"/>
              </a:rPr>
              <a:t>Acil</a:t>
            </a:r>
            <a:r>
              <a:rPr lang="en-US" altLang="tr-TR" sz="2400" dirty="0" smtClean="0">
                <a:latin typeface="+mj-lt"/>
              </a:rPr>
              <a:t> </a:t>
            </a:r>
            <a:r>
              <a:rPr lang="en-US" altLang="tr-TR" sz="2400" dirty="0" err="1" smtClean="0">
                <a:latin typeface="+mj-lt"/>
              </a:rPr>
              <a:t>durumda</a:t>
            </a:r>
            <a:r>
              <a:rPr lang="en-US" altLang="tr-TR" sz="2400" dirty="0" smtClean="0">
                <a:latin typeface="+mj-lt"/>
              </a:rPr>
              <a:t> </a:t>
            </a:r>
            <a:r>
              <a:rPr lang="en-US" altLang="tr-TR" sz="2400" dirty="0" err="1" smtClean="0">
                <a:latin typeface="+mj-lt"/>
              </a:rPr>
              <a:t>gözlemcinin</a:t>
            </a:r>
            <a:r>
              <a:rPr lang="en-US" altLang="tr-TR" sz="2400" dirty="0" smtClean="0">
                <a:latin typeface="+mj-lt"/>
              </a:rPr>
              <a:t> </a:t>
            </a:r>
            <a:r>
              <a:rPr lang="en-US" altLang="tr-TR" sz="2400" dirty="0" err="1" smtClean="0">
                <a:latin typeface="+mj-lt"/>
              </a:rPr>
              <a:t>yardım</a:t>
            </a:r>
            <a:r>
              <a:rPr lang="en-US" altLang="tr-TR" sz="2400" dirty="0" smtClean="0">
                <a:latin typeface="+mj-lt"/>
              </a:rPr>
              <a:t> </a:t>
            </a:r>
            <a:r>
              <a:rPr lang="en-US" altLang="tr-TR" sz="2400" dirty="0" err="1" smtClean="0">
                <a:latin typeface="+mj-lt"/>
              </a:rPr>
              <a:t>çağırabilmesi</a:t>
            </a:r>
            <a:r>
              <a:rPr lang="en-US" altLang="tr-TR" sz="2400" dirty="0" smtClean="0">
                <a:latin typeface="+mj-lt"/>
              </a:rPr>
              <a:t> </a:t>
            </a:r>
            <a:r>
              <a:rPr lang="en-US" altLang="tr-TR" sz="2400" dirty="0" err="1" smtClean="0">
                <a:latin typeface="+mj-lt"/>
              </a:rPr>
              <a:t>için</a:t>
            </a:r>
            <a:r>
              <a:rPr lang="en-US" altLang="tr-TR" sz="2400" dirty="0" smtClean="0">
                <a:latin typeface="+mj-lt"/>
              </a:rPr>
              <a:t> </a:t>
            </a:r>
            <a:r>
              <a:rPr lang="en-US" altLang="tr-TR" sz="2400" b="1" dirty="0" err="1" smtClean="0">
                <a:solidFill>
                  <a:srgbClr val="FF0000"/>
                </a:solidFill>
                <a:latin typeface="+mj-lt"/>
              </a:rPr>
              <a:t>telsiz</a:t>
            </a:r>
            <a:r>
              <a:rPr lang="en-US" altLang="tr-TR" sz="2400" b="1" dirty="0" smtClean="0">
                <a:solidFill>
                  <a:srgbClr val="FF0000"/>
                </a:solidFill>
                <a:latin typeface="+mj-lt"/>
              </a:rPr>
              <a:t>.</a:t>
            </a:r>
          </a:p>
        </p:txBody>
      </p:sp>
    </p:spTree>
    <p:custDataLst>
      <p:tags r:id="rId1"/>
    </p:custDataLst>
    <p:extLst>
      <p:ext uri="{BB962C8B-B14F-4D97-AF65-F5344CB8AC3E}">
        <p14:creationId xmlns="" xmlns:p14="http://schemas.microsoft.com/office/powerpoint/2010/main" val="713389678"/>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custDataLst>
              <p:tags r:id="rId1"/>
            </p:custDataLst>
          </p:nvPr>
        </p:nvPicPr>
        <p:blipFill>
          <a:blip r:embed="rId5" cstate="print">
            <a:extLst>
              <a:ext uri="{28A0092B-C50C-407E-A947-70E740481C1C}">
                <a14:useLocalDpi xmlns="" xmlns:a14="http://schemas.microsoft.com/office/drawing/2010/main" val="0"/>
              </a:ext>
            </a:extLst>
          </a:blip>
          <a:srcRect/>
          <a:stretch>
            <a:fillRect/>
          </a:stretch>
        </p:blipFill>
        <p:spPr bwMode="auto">
          <a:xfrm>
            <a:off x="447675" y="760413"/>
            <a:ext cx="2381250" cy="2381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683" name="Picture 3"/>
          <p:cNvPicPr>
            <a:picLocks noChangeAspect="1" noChangeArrowheads="1"/>
          </p:cNvPicPr>
          <p:nvPr>
            <p:custDataLst>
              <p:tags r:id="rId2"/>
            </p:custDataLst>
          </p:nvPr>
        </p:nvPicPr>
        <p:blipFill>
          <a:blip r:embed="rId6" cstate="print">
            <a:extLst>
              <a:ext uri="{28A0092B-C50C-407E-A947-70E740481C1C}">
                <a14:useLocalDpi xmlns="" xmlns:a14="http://schemas.microsoft.com/office/drawing/2010/main" val="0"/>
              </a:ext>
            </a:extLst>
          </a:blip>
          <a:srcRect/>
          <a:stretch>
            <a:fillRect/>
          </a:stretch>
        </p:blipFill>
        <p:spPr bwMode="auto">
          <a:xfrm>
            <a:off x="3419475" y="835025"/>
            <a:ext cx="5184775" cy="546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684" name="Picture 4"/>
          <p:cNvPicPr>
            <a:picLocks noChangeAspect="1" noChangeArrowheads="1"/>
          </p:cNvPicPr>
          <p:nvPr>
            <p:custDataLst>
              <p:tags r:id="rId3"/>
            </p:custDataLst>
          </p:nvPr>
        </p:nvPicPr>
        <p:blipFill>
          <a:blip r:embed="rId7" cstate="print">
            <a:extLst>
              <a:ext uri="{28A0092B-C50C-407E-A947-70E740481C1C}">
                <a14:useLocalDpi xmlns="" xmlns:a14="http://schemas.microsoft.com/office/drawing/2010/main" val="0"/>
              </a:ext>
            </a:extLst>
          </a:blip>
          <a:srcRect/>
          <a:stretch>
            <a:fillRect/>
          </a:stretch>
        </p:blipFill>
        <p:spPr bwMode="auto">
          <a:xfrm>
            <a:off x="323850" y="3789363"/>
            <a:ext cx="2628900" cy="2654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693000633"/>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1D39202B-1A9A-4BB5-99DB-E1B4440F7006}" type="slidenum">
              <a:rPr lang="tr-TR" smtClean="0"/>
              <a:pPr>
                <a:defRPr/>
              </a:pPr>
              <a:t>46</a:t>
            </a:fld>
            <a:endParaRPr lang="tr-TR"/>
          </a:p>
        </p:txBody>
      </p:sp>
      <p:pic>
        <p:nvPicPr>
          <p:cNvPr id="72707" name="Picture 15" descr="SERIES-70%20CONFINED%20SPAC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85763" y="657225"/>
            <a:ext cx="3806825" cy="5508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708" name="Picture 17" descr="http://www.artidanismanlik.com.tr/imaj/ds3917.jpg">
            <a:hlinkClick r:id="rId4"/>
          </p:cNvPr>
          <p:cNvPicPr>
            <a:picLocks noChangeAspect="1" noChangeArrowheads="1"/>
          </p:cNvPicPr>
          <p:nvPr>
            <p:custDataLst>
              <p:tags r:id="rId1"/>
            </p:custDataLst>
          </p:nvPr>
        </p:nvPicPr>
        <p:blipFill>
          <a:blip r:embed="rId5" cstate="print">
            <a:extLst>
              <a:ext uri="{28A0092B-C50C-407E-A947-70E740481C1C}">
                <a14:useLocalDpi xmlns="" xmlns:a14="http://schemas.microsoft.com/office/drawing/2010/main" val="0"/>
              </a:ext>
            </a:extLst>
          </a:blip>
          <a:srcRect/>
          <a:stretch>
            <a:fillRect/>
          </a:stretch>
        </p:blipFill>
        <p:spPr bwMode="auto">
          <a:xfrm>
            <a:off x="4427538" y="692150"/>
            <a:ext cx="4321175" cy="547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2899455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a:xfrm>
            <a:off x="1619672" y="188640"/>
            <a:ext cx="6248400" cy="557213"/>
          </a:xfrm>
        </p:spPr>
        <p:txBody>
          <a:bodyPr lIns="92075" tIns="46038" rIns="92075" bIns="46038"/>
          <a:lstStyle/>
          <a:p>
            <a:pPr eaLnBrk="1" hangingPunct="1">
              <a:defRPr/>
            </a:pPr>
            <a:r>
              <a:rPr lang="en-US" altLang="tr-TR" sz="2800" b="1" u="sng" dirty="0" smtClean="0">
                <a:solidFill>
                  <a:schemeClr val="tx1"/>
                </a:solidFill>
                <a:latin typeface="+mj-lt"/>
              </a:rPr>
              <a:t>ACİL KURTARMA PROSEDÜRÜ</a:t>
            </a:r>
          </a:p>
        </p:txBody>
      </p:sp>
      <p:graphicFrame>
        <p:nvGraphicFramePr>
          <p:cNvPr id="2050" name="Object 3"/>
          <p:cNvGraphicFramePr>
            <a:graphicFrameLocks/>
          </p:cNvGraphicFramePr>
          <p:nvPr>
            <p:extLst>
              <p:ext uri="{D42A27DB-BD31-4B8C-83A1-F6EECF244321}">
                <p14:modId xmlns="" xmlns:p14="http://schemas.microsoft.com/office/powerpoint/2010/main" val="1910937855"/>
              </p:ext>
            </p:extLst>
          </p:nvPr>
        </p:nvGraphicFramePr>
        <p:xfrm>
          <a:off x="107504" y="836712"/>
          <a:ext cx="7974013" cy="5707063"/>
        </p:xfrm>
        <a:graphic>
          <a:graphicData uri="http://schemas.openxmlformats.org/presentationml/2006/ole">
            <p:oleObj spid="_x0000_s2056" name="Document" r:id="rId5" imgW="8424742" imgH="6034519" progId="Word.Document.8">
              <p:embed/>
            </p:oleObj>
          </a:graphicData>
        </a:graphic>
      </p:graphicFrame>
    </p:spTree>
    <p:custDataLst>
      <p:tags r:id="rId2"/>
    </p:custDataLst>
    <p:extLst>
      <p:ext uri="{BB962C8B-B14F-4D97-AF65-F5344CB8AC3E}">
        <p14:creationId xmlns="" xmlns:p14="http://schemas.microsoft.com/office/powerpoint/2010/main" val="3467061003"/>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7C058280-2F02-47D1-A98C-54E413875CB1}" type="slidenum">
              <a:rPr lang="tr-TR" smtClean="0"/>
              <a:pPr>
                <a:defRPr/>
              </a:pPr>
              <a:t>48</a:t>
            </a:fld>
            <a:endParaRPr lang="tr-TR"/>
          </a:p>
        </p:txBody>
      </p:sp>
      <p:sp>
        <p:nvSpPr>
          <p:cNvPr id="44034" name="Rectangle 2"/>
          <p:cNvSpPr>
            <a:spLocks noGrp="1" noChangeArrowheads="1"/>
          </p:cNvSpPr>
          <p:nvPr>
            <p:ph type="body" idx="4294967295"/>
          </p:nvPr>
        </p:nvSpPr>
        <p:spPr>
          <a:xfrm>
            <a:off x="79375" y="0"/>
            <a:ext cx="9064625" cy="6381750"/>
          </a:xfrm>
        </p:spPr>
        <p:txBody>
          <a:bodyPr/>
          <a:lstStyle/>
          <a:p>
            <a:pPr eaLnBrk="1" hangingPunct="1">
              <a:lnSpc>
                <a:spcPct val="80000"/>
              </a:lnSpc>
              <a:buFont typeface="Arial" pitchFamily="34" charset="0"/>
              <a:buNone/>
              <a:defRPr/>
            </a:pPr>
            <a:r>
              <a:rPr lang="tr-TR" altLang="tr-TR" sz="4400" b="1" dirty="0" smtClean="0">
                <a:latin typeface="+mj-lt"/>
              </a:rPr>
              <a:t>Çalışma bittikten sonra…</a:t>
            </a:r>
          </a:p>
          <a:p>
            <a:pPr eaLnBrk="1" hangingPunct="1">
              <a:lnSpc>
                <a:spcPct val="130000"/>
              </a:lnSpc>
              <a:buClr>
                <a:srgbClr val="CC0000"/>
              </a:buClr>
              <a:buFont typeface="Wingdings 2" pitchFamily="18" charset="2"/>
              <a:buChar char="E"/>
              <a:defRPr/>
            </a:pPr>
            <a:r>
              <a:rPr lang="tr-TR" altLang="tr-TR" sz="2400" b="1" dirty="0" smtClean="0">
                <a:solidFill>
                  <a:srgbClr val="0070C0"/>
                </a:solidFill>
                <a:latin typeface="+mj-lt"/>
              </a:rPr>
              <a:t>Ortamdan </a:t>
            </a:r>
            <a:r>
              <a:rPr lang="tr-TR" altLang="tr-TR" sz="2400" b="1" dirty="0" smtClean="0">
                <a:latin typeface="+mj-lt"/>
              </a:rPr>
              <a:t>uzaklaştırın;</a:t>
            </a:r>
          </a:p>
          <a:p>
            <a:pPr lvl="1" eaLnBrk="1" hangingPunct="1">
              <a:lnSpc>
                <a:spcPct val="130000"/>
              </a:lnSpc>
              <a:buClr>
                <a:srgbClr val="000066"/>
              </a:buClr>
              <a:buFont typeface="Wingdings 2" pitchFamily="18" charset="2"/>
              <a:buChar char="E"/>
              <a:defRPr/>
            </a:pPr>
            <a:r>
              <a:rPr lang="tr-TR" altLang="tr-TR" sz="2400" b="1" dirty="0" smtClean="0">
                <a:latin typeface="+mj-lt"/>
              </a:rPr>
              <a:t>Tüm personeli</a:t>
            </a:r>
          </a:p>
          <a:p>
            <a:pPr lvl="1" eaLnBrk="1" hangingPunct="1">
              <a:lnSpc>
                <a:spcPct val="130000"/>
              </a:lnSpc>
              <a:buClr>
                <a:srgbClr val="000066"/>
              </a:buClr>
              <a:buFont typeface="Wingdings 2" pitchFamily="18" charset="2"/>
              <a:buChar char="E"/>
              <a:defRPr/>
            </a:pPr>
            <a:r>
              <a:rPr lang="tr-TR" altLang="tr-TR" sz="2400" b="1" dirty="0" smtClean="0">
                <a:latin typeface="+mj-lt"/>
              </a:rPr>
              <a:t>Alet /ekipmanı</a:t>
            </a:r>
            <a:r>
              <a:rPr lang="tr-TR" altLang="tr-TR" sz="2400" dirty="0" smtClean="0">
                <a:latin typeface="+mj-lt"/>
              </a:rPr>
              <a:t>  </a:t>
            </a:r>
          </a:p>
          <a:p>
            <a:pPr eaLnBrk="1" hangingPunct="1">
              <a:lnSpc>
                <a:spcPct val="130000"/>
              </a:lnSpc>
              <a:buClr>
                <a:srgbClr val="CC0000"/>
              </a:buClr>
              <a:buFont typeface="Wingdings 2" pitchFamily="18" charset="2"/>
              <a:buChar char="E"/>
              <a:defRPr/>
            </a:pPr>
            <a:endParaRPr lang="tr-TR" altLang="tr-TR" sz="2400" dirty="0" smtClean="0">
              <a:latin typeface="+mj-lt"/>
            </a:endParaRPr>
          </a:p>
          <a:p>
            <a:pPr eaLnBrk="1" hangingPunct="1">
              <a:lnSpc>
                <a:spcPct val="130000"/>
              </a:lnSpc>
              <a:buClr>
                <a:srgbClr val="CC0000"/>
              </a:buClr>
              <a:buFont typeface="Wingdings 2" pitchFamily="18" charset="2"/>
              <a:buChar char="E"/>
              <a:defRPr/>
            </a:pPr>
            <a:r>
              <a:rPr lang="tr-TR" altLang="tr-TR" sz="2400" b="1" dirty="0" smtClean="0">
                <a:solidFill>
                  <a:srgbClr val="FF0000"/>
                </a:solidFill>
                <a:latin typeface="+mj-lt"/>
              </a:rPr>
              <a:t>Çıkış dokümanını </a:t>
            </a:r>
            <a:r>
              <a:rPr lang="tr-TR" altLang="tr-TR" sz="2400" b="1" dirty="0" smtClean="0">
                <a:solidFill>
                  <a:srgbClr val="0070C0"/>
                </a:solidFill>
                <a:latin typeface="+mj-lt"/>
              </a:rPr>
              <a:t>doldurun.</a:t>
            </a:r>
          </a:p>
          <a:p>
            <a:pPr marL="0" indent="0" eaLnBrk="1" hangingPunct="1">
              <a:lnSpc>
                <a:spcPct val="130000"/>
              </a:lnSpc>
              <a:buClr>
                <a:srgbClr val="CC0000"/>
              </a:buClr>
              <a:buFont typeface="Arial" pitchFamily="34" charset="0"/>
              <a:buNone/>
              <a:defRPr/>
            </a:pPr>
            <a:endParaRPr lang="tr-TR" altLang="tr-TR" sz="2400" dirty="0" smtClean="0">
              <a:latin typeface="+mj-lt"/>
            </a:endParaRPr>
          </a:p>
          <a:p>
            <a:pPr eaLnBrk="1" hangingPunct="1">
              <a:lnSpc>
                <a:spcPct val="130000"/>
              </a:lnSpc>
              <a:buClr>
                <a:srgbClr val="CC0000"/>
              </a:buClr>
              <a:buFont typeface="Wingdings 2" pitchFamily="18" charset="2"/>
              <a:buChar char="E"/>
              <a:defRPr/>
            </a:pPr>
            <a:r>
              <a:rPr lang="tr-TR" altLang="tr-TR" sz="2400" b="1" dirty="0" smtClean="0">
                <a:solidFill>
                  <a:srgbClr val="0070C0"/>
                </a:solidFill>
                <a:latin typeface="+mj-lt"/>
              </a:rPr>
              <a:t>Alanı </a:t>
            </a:r>
            <a:r>
              <a:rPr lang="tr-TR" altLang="tr-TR" sz="2400" b="1" dirty="0" smtClean="0">
                <a:solidFill>
                  <a:srgbClr val="FF0000"/>
                </a:solidFill>
                <a:latin typeface="+mj-lt"/>
              </a:rPr>
              <a:t>kapatın.</a:t>
            </a:r>
            <a:endParaRPr lang="en-US" altLang="tr-TR" sz="2400" b="1" dirty="0" smtClean="0">
              <a:solidFill>
                <a:srgbClr val="FF0000"/>
              </a:solidFill>
              <a:latin typeface="+mj-lt"/>
            </a:endParaRPr>
          </a:p>
          <a:p>
            <a:pPr eaLnBrk="1" hangingPunct="1">
              <a:lnSpc>
                <a:spcPct val="130000"/>
              </a:lnSpc>
              <a:buClr>
                <a:srgbClr val="CC0000"/>
              </a:buClr>
              <a:buFont typeface="Wingdings 2" pitchFamily="18" charset="2"/>
              <a:buChar char="E"/>
              <a:defRPr/>
            </a:pPr>
            <a:r>
              <a:rPr lang="tr-TR" altLang="tr-TR" sz="2400" b="1" dirty="0" smtClean="0">
                <a:solidFill>
                  <a:srgbClr val="FF0000"/>
                </a:solidFill>
                <a:latin typeface="+mj-lt"/>
              </a:rPr>
              <a:t>İzni iptal edin.</a:t>
            </a:r>
          </a:p>
          <a:p>
            <a:pPr marL="0" indent="0" eaLnBrk="1" hangingPunct="1">
              <a:lnSpc>
                <a:spcPct val="130000"/>
              </a:lnSpc>
              <a:buClr>
                <a:srgbClr val="CC0000"/>
              </a:buClr>
              <a:buFont typeface="Arial" pitchFamily="34" charset="0"/>
              <a:buNone/>
              <a:defRPr/>
            </a:pPr>
            <a:endParaRPr lang="en-US" altLang="tr-TR" sz="2400" b="1" dirty="0" smtClean="0">
              <a:solidFill>
                <a:srgbClr val="0070C0"/>
              </a:solidFill>
              <a:latin typeface="+mj-lt"/>
            </a:endParaRPr>
          </a:p>
          <a:p>
            <a:pPr eaLnBrk="1" hangingPunct="1">
              <a:lnSpc>
                <a:spcPct val="130000"/>
              </a:lnSpc>
              <a:buClr>
                <a:srgbClr val="CC0000"/>
              </a:buClr>
              <a:buFont typeface="Wingdings 2" pitchFamily="18" charset="2"/>
              <a:buChar char="E"/>
              <a:defRPr/>
            </a:pPr>
            <a:r>
              <a:rPr lang="tr-TR" altLang="tr-TR" sz="2400" b="1" dirty="0" smtClean="0">
                <a:solidFill>
                  <a:srgbClr val="0070C0"/>
                </a:solidFill>
                <a:latin typeface="+mj-lt"/>
              </a:rPr>
              <a:t>Yapılan işi </a:t>
            </a:r>
            <a:r>
              <a:rPr lang="tr-TR" altLang="tr-TR" sz="2400" b="1" dirty="0" smtClean="0">
                <a:solidFill>
                  <a:srgbClr val="FF0000"/>
                </a:solidFill>
                <a:latin typeface="+mj-lt"/>
              </a:rPr>
              <a:t>gözden geçirin.</a:t>
            </a:r>
            <a:endParaRPr lang="en-US" altLang="tr-TR" sz="2400" b="1" dirty="0" smtClean="0">
              <a:solidFill>
                <a:srgbClr val="FF0000"/>
              </a:solidFill>
              <a:latin typeface="+mj-lt"/>
            </a:endParaRPr>
          </a:p>
        </p:txBody>
      </p:sp>
    </p:spTree>
    <p:extLst>
      <p:ext uri="{BB962C8B-B14F-4D97-AF65-F5344CB8AC3E}">
        <p14:creationId xmlns="" xmlns:p14="http://schemas.microsoft.com/office/powerpoint/2010/main" val="119658963"/>
      </p:ext>
    </p:extLst>
  </p:cSld>
  <p:clrMapOvr>
    <a:masterClrMapping/>
  </p:clrMapOvr>
  <p:transition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5365750" y="4005263"/>
            <a:ext cx="1871663"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spcBef>
                <a:spcPct val="50000"/>
              </a:spcBef>
            </a:pPr>
            <a:r>
              <a:rPr lang="tr-TR" altLang="tr-TR" sz="2000" b="1">
                <a:solidFill>
                  <a:srgbClr val="FF0000"/>
                </a:solidFill>
                <a:latin typeface="Verdana" pitchFamily="34" charset="0"/>
              </a:rPr>
              <a:t>Solunum yolu</a:t>
            </a:r>
          </a:p>
        </p:txBody>
      </p:sp>
      <p:sp>
        <p:nvSpPr>
          <p:cNvPr id="3076" name="Text Box 3"/>
          <p:cNvSpPr txBox="1">
            <a:spLocks noChangeArrowheads="1"/>
          </p:cNvSpPr>
          <p:nvPr/>
        </p:nvSpPr>
        <p:spPr bwMode="auto">
          <a:xfrm>
            <a:off x="1476375" y="3933825"/>
            <a:ext cx="180022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spcBef>
                <a:spcPct val="50000"/>
              </a:spcBef>
            </a:pPr>
            <a:r>
              <a:rPr lang="tr-TR" altLang="tr-TR" sz="2400" b="1">
                <a:solidFill>
                  <a:srgbClr val="FF0000"/>
                </a:solidFill>
                <a:latin typeface="Verdana" pitchFamily="34" charset="0"/>
              </a:rPr>
              <a:t>Deri</a:t>
            </a:r>
            <a:r>
              <a:rPr lang="tr-TR" altLang="tr-TR" sz="2400" b="1">
                <a:solidFill>
                  <a:srgbClr val="000066"/>
                </a:solidFill>
                <a:latin typeface="Verdana" pitchFamily="34" charset="0"/>
              </a:rPr>
              <a:t> </a:t>
            </a:r>
          </a:p>
        </p:txBody>
      </p:sp>
      <p:graphicFrame>
        <p:nvGraphicFramePr>
          <p:cNvPr id="3074" name="Object 4"/>
          <p:cNvGraphicFramePr>
            <a:graphicFrameLocks noChangeAspect="1"/>
          </p:cNvGraphicFramePr>
          <p:nvPr/>
        </p:nvGraphicFramePr>
        <p:xfrm>
          <a:off x="5127625" y="1509713"/>
          <a:ext cx="2246313" cy="2438400"/>
        </p:xfrm>
        <a:graphic>
          <a:graphicData uri="http://schemas.openxmlformats.org/presentationml/2006/ole">
            <p:oleObj spid="_x0000_s3079" name="Bit Eşlem Resmi" r:id="rId4" imgW="2133898" imgH="2657846" progId="PBrush">
              <p:embed/>
            </p:oleObj>
          </a:graphicData>
        </a:graphic>
      </p:graphicFrame>
      <p:pic>
        <p:nvPicPr>
          <p:cNvPr id="3077" name="Picture 5" descr="DERİ1"/>
          <p:cNvPicPr>
            <a:picLocks noChangeAspect="1" noChangeArrowheads="1"/>
          </p:cNvPicPr>
          <p:nvPr/>
        </p:nvPicPr>
        <p:blipFill>
          <a:blip r:embed="rId5" cstate="print">
            <a:lum bright="-12000"/>
            <a:extLst>
              <a:ext uri="{28A0092B-C50C-407E-A947-70E740481C1C}">
                <a14:useLocalDpi xmlns="" xmlns:a14="http://schemas.microsoft.com/office/drawing/2010/main" val="0"/>
              </a:ext>
            </a:extLst>
          </a:blip>
          <a:srcRect/>
          <a:stretch>
            <a:fillRect/>
          </a:stretch>
        </p:blipFill>
        <p:spPr bwMode="auto">
          <a:xfrm>
            <a:off x="1476375" y="1509713"/>
            <a:ext cx="2133600" cy="2424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078" name="Rectangle 6"/>
          <p:cNvSpPr>
            <a:spLocks noChangeArrowheads="1"/>
          </p:cNvSpPr>
          <p:nvPr/>
        </p:nvSpPr>
        <p:spPr bwMode="auto">
          <a:xfrm>
            <a:off x="323850" y="333375"/>
            <a:ext cx="9439275" cy="584200"/>
          </a:xfrm>
          <a:prstGeom prst="rect">
            <a:avLst/>
          </a:prstGeom>
          <a:noFill/>
          <a:ln w="9525">
            <a:solidFill>
              <a:schemeClr val="bg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3200" b="1" dirty="0">
                <a:latin typeface="Verdana" pitchFamily="34" charset="0"/>
              </a:rPr>
              <a:t>VÜCUDUMUZA NASIL GİRERLER?</a:t>
            </a:r>
          </a:p>
        </p:txBody>
      </p:sp>
      <p:sp>
        <p:nvSpPr>
          <p:cNvPr id="3079" name="Text Box 7"/>
          <p:cNvSpPr txBox="1">
            <a:spLocks noChangeArrowheads="1"/>
          </p:cNvSpPr>
          <p:nvPr/>
        </p:nvSpPr>
        <p:spPr bwMode="auto">
          <a:xfrm>
            <a:off x="1116013" y="4941888"/>
            <a:ext cx="3205162" cy="15875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80000"/>
              </a:lnSpc>
              <a:spcBef>
                <a:spcPct val="50000"/>
              </a:spcBef>
            </a:pPr>
            <a:r>
              <a:rPr lang="tr-TR" altLang="tr-TR" sz="2400" b="1">
                <a:solidFill>
                  <a:srgbClr val="000066"/>
                </a:solidFill>
                <a:latin typeface="Verdana" pitchFamily="34" charset="0"/>
              </a:rPr>
              <a:t>Temasla;</a:t>
            </a:r>
          </a:p>
          <a:p>
            <a:pPr eaLnBrk="1" hangingPunct="1">
              <a:lnSpc>
                <a:spcPct val="80000"/>
              </a:lnSpc>
              <a:spcBef>
                <a:spcPct val="50000"/>
              </a:spcBef>
              <a:buClr>
                <a:srgbClr val="CC0000"/>
              </a:buClr>
              <a:buFont typeface="Wingdings 2" pitchFamily="18" charset="2"/>
              <a:buChar char="E"/>
            </a:pPr>
            <a:r>
              <a:rPr lang="tr-TR" altLang="tr-TR" sz="2000" b="1">
                <a:latin typeface="Verdana" pitchFamily="34" charset="0"/>
              </a:rPr>
              <a:t>Tahriş</a:t>
            </a:r>
          </a:p>
          <a:p>
            <a:pPr eaLnBrk="1" hangingPunct="1">
              <a:lnSpc>
                <a:spcPct val="80000"/>
              </a:lnSpc>
              <a:spcBef>
                <a:spcPct val="50000"/>
              </a:spcBef>
              <a:buClr>
                <a:srgbClr val="CC0000"/>
              </a:buClr>
              <a:buFont typeface="Wingdings 2" pitchFamily="18" charset="2"/>
              <a:buChar char="E"/>
            </a:pPr>
            <a:r>
              <a:rPr lang="tr-TR" altLang="tr-TR" sz="2000" b="1">
                <a:latin typeface="Verdana" pitchFamily="34" charset="0"/>
              </a:rPr>
              <a:t>Kaşınma </a:t>
            </a:r>
          </a:p>
          <a:p>
            <a:pPr eaLnBrk="1" hangingPunct="1">
              <a:lnSpc>
                <a:spcPct val="80000"/>
              </a:lnSpc>
              <a:spcBef>
                <a:spcPct val="50000"/>
              </a:spcBef>
              <a:buClr>
                <a:srgbClr val="CC0000"/>
              </a:buClr>
              <a:buFont typeface="Wingdings 2" pitchFamily="18" charset="2"/>
              <a:buChar char="E"/>
            </a:pPr>
            <a:r>
              <a:rPr lang="tr-TR" altLang="tr-TR" sz="2000" b="1">
                <a:latin typeface="Verdana" pitchFamily="34" charset="0"/>
              </a:rPr>
              <a:t>Yara</a:t>
            </a:r>
          </a:p>
        </p:txBody>
      </p:sp>
      <p:sp>
        <p:nvSpPr>
          <p:cNvPr id="3080" name="Text Box 8"/>
          <p:cNvSpPr txBox="1">
            <a:spLocks noChangeArrowheads="1"/>
          </p:cNvSpPr>
          <p:nvPr/>
        </p:nvSpPr>
        <p:spPr bwMode="auto">
          <a:xfrm>
            <a:off x="4632325" y="4941888"/>
            <a:ext cx="3097213" cy="13843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2400" b="1">
                <a:solidFill>
                  <a:srgbClr val="000066"/>
                </a:solidFill>
                <a:latin typeface="Verdana" pitchFamily="34" charset="0"/>
              </a:rPr>
              <a:t>Kana karışarak;</a:t>
            </a:r>
          </a:p>
          <a:p>
            <a:pPr eaLnBrk="1" hangingPunct="1">
              <a:spcBef>
                <a:spcPct val="50000"/>
              </a:spcBef>
              <a:buClr>
                <a:srgbClr val="CC0000"/>
              </a:buClr>
              <a:buFont typeface="Wingdings 2" pitchFamily="18" charset="2"/>
              <a:buChar char="E"/>
            </a:pPr>
            <a:r>
              <a:rPr lang="tr-TR" altLang="tr-TR" sz="2000" b="1">
                <a:latin typeface="Verdana" pitchFamily="34" charset="0"/>
              </a:rPr>
              <a:t>Çeşitli hastalıklar</a:t>
            </a:r>
          </a:p>
          <a:p>
            <a:pPr eaLnBrk="1" hangingPunct="1">
              <a:spcBef>
                <a:spcPct val="50000"/>
              </a:spcBef>
              <a:buClr>
                <a:srgbClr val="CC0000"/>
              </a:buClr>
              <a:buFont typeface="Wingdings 2" pitchFamily="18" charset="2"/>
              <a:buChar char="E"/>
            </a:pPr>
            <a:r>
              <a:rPr lang="tr-TR" altLang="tr-TR" sz="2000" b="1">
                <a:latin typeface="Verdana" pitchFamily="34" charset="0"/>
              </a:rPr>
              <a:t>Zehirlenmeler</a:t>
            </a:r>
          </a:p>
        </p:txBody>
      </p:sp>
      <p:sp>
        <p:nvSpPr>
          <p:cNvPr id="2" name="Slayt Numarası Yer Tutucusu 1"/>
          <p:cNvSpPr>
            <a:spLocks noGrp="1"/>
          </p:cNvSpPr>
          <p:nvPr>
            <p:ph type="sldNum" sz="quarter" idx="12"/>
          </p:nvPr>
        </p:nvSpPr>
        <p:spPr/>
        <p:txBody>
          <a:bodyPr/>
          <a:lstStyle/>
          <a:p>
            <a:pPr>
              <a:defRPr/>
            </a:pPr>
            <a:fld id="{3F50282A-F4D4-433B-B458-8C3966265393}" type="slidenum">
              <a:rPr lang="tr-TR" smtClean="0"/>
              <a:pPr>
                <a:defRPr/>
              </a:pPr>
              <a:t>49</a:t>
            </a:fld>
            <a:endParaRPr lang="tr-TR"/>
          </a:p>
        </p:txBody>
      </p:sp>
    </p:spTree>
    <p:extLst>
      <p:ext uri="{BB962C8B-B14F-4D97-AF65-F5344CB8AC3E}">
        <p14:creationId xmlns="" xmlns:p14="http://schemas.microsoft.com/office/powerpoint/2010/main" val="900351606"/>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323850" y="41275"/>
            <a:ext cx="8064500" cy="706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4000" b="1" dirty="0">
                <a:latin typeface="Verdana" pitchFamily="34" charset="0"/>
              </a:rPr>
              <a:t>KORUNMA ÖNLEMLERİ</a:t>
            </a:r>
          </a:p>
        </p:txBody>
      </p:sp>
      <p:sp>
        <p:nvSpPr>
          <p:cNvPr id="74755" name="Rectangle 3"/>
          <p:cNvSpPr>
            <a:spLocks noChangeArrowheads="1"/>
          </p:cNvSpPr>
          <p:nvPr/>
        </p:nvSpPr>
        <p:spPr bwMode="auto">
          <a:xfrm>
            <a:off x="69850" y="747713"/>
            <a:ext cx="9074150" cy="5854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eaLnBrk="0" hangingPunct="0">
              <a:defRPr sz="1600">
                <a:solidFill>
                  <a:schemeClr val="tx1"/>
                </a:solidFill>
                <a:latin typeface="Arial" pitchFamily="34" charset="0"/>
                <a:cs typeface="Arial" pitchFamily="34" charset="0"/>
              </a:defRPr>
            </a:lvl2pPr>
            <a:lvl3pPr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eaLnBrk="0" hangingPunct="0">
              <a:defRPr sz="1600">
                <a:solidFill>
                  <a:schemeClr val="tx1"/>
                </a:solidFill>
                <a:latin typeface="Arial" pitchFamily="34" charset="0"/>
                <a:cs typeface="Arial" pitchFamily="34" charset="0"/>
              </a:defRPr>
            </a:lvl5pPr>
            <a:lvl6pPr eaLnBrk="0" fontAlgn="base" hangingPunct="0">
              <a:spcBef>
                <a:spcPct val="0"/>
              </a:spcBef>
              <a:spcAft>
                <a:spcPct val="0"/>
              </a:spcAft>
              <a:defRPr sz="1600">
                <a:solidFill>
                  <a:schemeClr val="tx1"/>
                </a:solidFill>
                <a:latin typeface="Arial" pitchFamily="34" charset="0"/>
                <a:cs typeface="Arial" pitchFamily="34" charset="0"/>
              </a:defRPr>
            </a:lvl6pPr>
            <a:lvl7pPr eaLnBrk="0" fontAlgn="base" hangingPunct="0">
              <a:spcBef>
                <a:spcPct val="0"/>
              </a:spcBef>
              <a:spcAft>
                <a:spcPct val="0"/>
              </a:spcAft>
              <a:defRPr sz="1600">
                <a:solidFill>
                  <a:schemeClr val="tx1"/>
                </a:solidFill>
                <a:latin typeface="Arial" pitchFamily="34" charset="0"/>
                <a:cs typeface="Arial" pitchFamily="34" charset="0"/>
              </a:defRPr>
            </a:lvl7pPr>
            <a:lvl8pPr eaLnBrk="0" fontAlgn="base" hangingPunct="0">
              <a:spcBef>
                <a:spcPct val="0"/>
              </a:spcBef>
              <a:spcAft>
                <a:spcPct val="0"/>
              </a:spcAft>
              <a:defRPr sz="1600">
                <a:solidFill>
                  <a:schemeClr val="tx1"/>
                </a:solidFill>
                <a:latin typeface="Arial" pitchFamily="34" charset="0"/>
                <a:cs typeface="Arial" pitchFamily="34" charset="0"/>
              </a:defRPr>
            </a:lvl8pPr>
            <a:lvl9pPr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30000"/>
              </a:lnSpc>
              <a:buClr>
                <a:srgbClr val="CC0000"/>
              </a:buClr>
              <a:buFont typeface="Wingdings 2" pitchFamily="18" charset="2"/>
              <a:buChar char="E"/>
            </a:pPr>
            <a:r>
              <a:rPr lang="tr-TR" altLang="tr-TR" sz="2400" b="1" dirty="0">
                <a:latin typeface="Verdana" pitchFamily="34" charset="0"/>
              </a:rPr>
              <a:t>Yeterli havalandırma</a:t>
            </a:r>
          </a:p>
          <a:p>
            <a:pPr eaLnBrk="1" hangingPunct="1">
              <a:lnSpc>
                <a:spcPct val="130000"/>
              </a:lnSpc>
              <a:buClr>
                <a:srgbClr val="CC0000"/>
              </a:buClr>
              <a:buFont typeface="Wingdings 2" pitchFamily="18" charset="2"/>
              <a:buChar char="E"/>
            </a:pPr>
            <a:r>
              <a:rPr lang="tr-TR" altLang="tr-TR" sz="2400" b="1" dirty="0">
                <a:latin typeface="Verdana" pitchFamily="34" charset="0"/>
              </a:rPr>
              <a:t>Ortam havasında zararlı gazların ölçümü</a:t>
            </a:r>
          </a:p>
          <a:p>
            <a:pPr eaLnBrk="1" hangingPunct="1">
              <a:lnSpc>
                <a:spcPct val="130000"/>
              </a:lnSpc>
              <a:buClr>
                <a:srgbClr val="CC0000"/>
              </a:buClr>
              <a:buFont typeface="Arial" pitchFamily="34" charset="0"/>
              <a:buNone/>
            </a:pPr>
            <a:r>
              <a:rPr lang="tr-TR" altLang="tr-TR" sz="2400" b="1" dirty="0">
                <a:latin typeface="Verdana" pitchFamily="34" charset="0"/>
              </a:rPr>
              <a:t>     - </a:t>
            </a:r>
            <a:r>
              <a:rPr lang="tr-TR" altLang="tr-TR" sz="2400" dirty="0">
                <a:latin typeface="Verdana" pitchFamily="34" charset="0"/>
              </a:rPr>
              <a:t>Gaz </a:t>
            </a:r>
            <a:r>
              <a:rPr lang="tr-TR" altLang="tr-TR" sz="2400" dirty="0" err="1">
                <a:latin typeface="Verdana" pitchFamily="34" charset="0"/>
              </a:rPr>
              <a:t>dedektörleri</a:t>
            </a:r>
            <a:endParaRPr lang="tr-TR" altLang="tr-TR" sz="2400" dirty="0">
              <a:latin typeface="Verdana" pitchFamily="34" charset="0"/>
            </a:endParaRPr>
          </a:p>
          <a:p>
            <a:pPr lvl="1" eaLnBrk="1" hangingPunct="1">
              <a:lnSpc>
                <a:spcPct val="130000"/>
              </a:lnSpc>
              <a:buClr>
                <a:srgbClr val="000066"/>
              </a:buClr>
              <a:buFont typeface="Arial" pitchFamily="34" charset="0"/>
              <a:buNone/>
            </a:pPr>
            <a:r>
              <a:rPr lang="tr-TR" altLang="tr-TR" sz="2400" dirty="0">
                <a:latin typeface="Verdana" pitchFamily="34" charset="0"/>
              </a:rPr>
              <a:t> - Alarm cihazları</a:t>
            </a:r>
            <a:r>
              <a:rPr lang="tr-TR" altLang="tr-TR" sz="2400" b="1" dirty="0">
                <a:latin typeface="Verdana" pitchFamily="34" charset="0"/>
              </a:rPr>
              <a:t> </a:t>
            </a:r>
          </a:p>
          <a:p>
            <a:pPr eaLnBrk="1" hangingPunct="1">
              <a:lnSpc>
                <a:spcPct val="130000"/>
              </a:lnSpc>
              <a:buClr>
                <a:srgbClr val="CC0000"/>
              </a:buClr>
              <a:buFont typeface="Wingdings 2" pitchFamily="18" charset="2"/>
              <a:buChar char="E"/>
            </a:pPr>
            <a:r>
              <a:rPr lang="tr-TR" altLang="tr-TR" sz="2400" b="1" dirty="0">
                <a:latin typeface="Verdana" pitchFamily="34" charset="0"/>
              </a:rPr>
              <a:t>Uygun </a:t>
            </a:r>
            <a:r>
              <a:rPr lang="tr-TR" altLang="tr-TR" sz="2400" b="1" dirty="0">
                <a:solidFill>
                  <a:srgbClr val="FF0000"/>
                </a:solidFill>
                <a:latin typeface="Verdana" pitchFamily="34" charset="0"/>
              </a:rPr>
              <a:t>aydınlatma</a:t>
            </a:r>
          </a:p>
          <a:p>
            <a:pPr eaLnBrk="1" hangingPunct="1">
              <a:lnSpc>
                <a:spcPct val="130000"/>
              </a:lnSpc>
              <a:buClr>
                <a:srgbClr val="CC0000"/>
              </a:buClr>
              <a:buFont typeface="Wingdings 2" pitchFamily="18" charset="2"/>
              <a:buChar char="E"/>
            </a:pPr>
            <a:r>
              <a:rPr lang="tr-TR" altLang="tr-TR" sz="2400" b="1" dirty="0">
                <a:latin typeface="Verdana" pitchFamily="34" charset="0"/>
              </a:rPr>
              <a:t>Kapalı alanlarda </a:t>
            </a:r>
            <a:r>
              <a:rPr lang="tr-TR" altLang="tr-TR" sz="2400" b="1" dirty="0">
                <a:solidFill>
                  <a:srgbClr val="FF0000"/>
                </a:solidFill>
                <a:latin typeface="Verdana" pitchFamily="34" charset="0"/>
              </a:rPr>
              <a:t>asla yalnız çalışılmamalıdır</a:t>
            </a:r>
          </a:p>
          <a:p>
            <a:pPr lvl="1" eaLnBrk="1" hangingPunct="1">
              <a:lnSpc>
                <a:spcPct val="130000"/>
              </a:lnSpc>
              <a:buClr>
                <a:srgbClr val="000066"/>
              </a:buClr>
              <a:buFont typeface="Wingdings 2" pitchFamily="18" charset="2"/>
              <a:buChar char="E"/>
            </a:pPr>
            <a:r>
              <a:rPr lang="tr-TR" altLang="tr-TR" sz="2400" dirty="0">
                <a:latin typeface="Verdana" pitchFamily="34" charset="0"/>
              </a:rPr>
              <a:t>En az 1 kişi dışarıda kalmalıdır</a:t>
            </a:r>
          </a:p>
          <a:p>
            <a:pPr eaLnBrk="1" hangingPunct="1">
              <a:lnSpc>
                <a:spcPct val="130000"/>
              </a:lnSpc>
              <a:buClr>
                <a:srgbClr val="CC0000"/>
              </a:buClr>
              <a:buFont typeface="Wingdings 2" pitchFamily="18" charset="2"/>
              <a:buChar char="E"/>
            </a:pPr>
            <a:r>
              <a:rPr lang="tr-TR" altLang="tr-TR" sz="2400" b="1" dirty="0">
                <a:latin typeface="Verdana" pitchFamily="34" charset="0"/>
              </a:rPr>
              <a:t>Tehlikeli gaz olabileceği </a:t>
            </a:r>
            <a:r>
              <a:rPr lang="tr-TR" altLang="tr-TR" sz="2400" b="1" dirty="0">
                <a:solidFill>
                  <a:srgbClr val="FF0000"/>
                </a:solidFill>
                <a:latin typeface="Verdana" pitchFamily="34" charset="0"/>
              </a:rPr>
              <a:t>asla unutulmamalıdır</a:t>
            </a:r>
          </a:p>
          <a:p>
            <a:pPr eaLnBrk="1" hangingPunct="1">
              <a:lnSpc>
                <a:spcPct val="130000"/>
              </a:lnSpc>
              <a:buClr>
                <a:srgbClr val="CC0000"/>
              </a:buClr>
              <a:buFont typeface="Wingdings 2" pitchFamily="18" charset="2"/>
              <a:buChar char="E"/>
            </a:pPr>
            <a:r>
              <a:rPr lang="tr-TR" altLang="tr-TR" sz="2400" b="1" dirty="0">
                <a:latin typeface="Verdana" pitchFamily="34" charset="0"/>
              </a:rPr>
              <a:t>Uygun kişisel </a:t>
            </a:r>
            <a:r>
              <a:rPr lang="tr-TR" altLang="tr-TR" sz="2400" b="1" dirty="0">
                <a:solidFill>
                  <a:srgbClr val="FF0000"/>
                </a:solidFill>
                <a:latin typeface="Verdana" pitchFamily="34" charset="0"/>
              </a:rPr>
              <a:t>koruyucu donanım </a:t>
            </a:r>
            <a:r>
              <a:rPr lang="tr-TR" altLang="tr-TR" sz="2400" b="1" dirty="0">
                <a:latin typeface="Verdana" pitchFamily="34" charset="0"/>
              </a:rPr>
              <a:t>olmalıdır	</a:t>
            </a:r>
          </a:p>
          <a:p>
            <a:pPr lvl="2" eaLnBrk="1" hangingPunct="1">
              <a:lnSpc>
                <a:spcPct val="130000"/>
              </a:lnSpc>
              <a:buClr>
                <a:srgbClr val="CC0000"/>
              </a:buClr>
              <a:buFont typeface="Wingdings 2" pitchFamily="18" charset="2"/>
              <a:buNone/>
            </a:pPr>
            <a:r>
              <a:rPr lang="tr-TR" altLang="tr-TR" sz="2400" b="1" dirty="0">
                <a:latin typeface="Verdana" pitchFamily="34" charset="0"/>
              </a:rPr>
              <a:t>	- </a:t>
            </a:r>
            <a:r>
              <a:rPr lang="tr-TR" altLang="tr-TR" sz="2400" dirty="0">
                <a:latin typeface="Verdana" pitchFamily="34" charset="0"/>
              </a:rPr>
              <a:t>İş giysileri</a:t>
            </a:r>
          </a:p>
          <a:p>
            <a:pPr lvl="2" eaLnBrk="1" hangingPunct="1">
              <a:lnSpc>
                <a:spcPct val="130000"/>
              </a:lnSpc>
              <a:buClr>
                <a:srgbClr val="000066"/>
              </a:buClr>
              <a:buFont typeface="Wingdings 2" pitchFamily="18" charset="2"/>
              <a:buNone/>
            </a:pPr>
            <a:r>
              <a:rPr lang="tr-TR" altLang="tr-TR" sz="2400" dirty="0">
                <a:latin typeface="Verdana" pitchFamily="34" charset="0"/>
              </a:rPr>
              <a:t>	- Solunum koruyucuları</a:t>
            </a:r>
          </a:p>
          <a:p>
            <a:pPr lvl="4" eaLnBrk="1" hangingPunct="1">
              <a:lnSpc>
                <a:spcPct val="130000"/>
              </a:lnSpc>
              <a:buClr>
                <a:srgbClr val="000066"/>
              </a:buClr>
              <a:buFont typeface="Wingdings 2" pitchFamily="18" charset="2"/>
              <a:buNone/>
            </a:pPr>
            <a:r>
              <a:rPr lang="tr-TR" altLang="tr-TR" sz="2400" dirty="0">
                <a:latin typeface="Verdana" pitchFamily="34" charset="0"/>
              </a:rPr>
              <a:t>- Güvenlik kemeri – Sinyal ipi </a:t>
            </a:r>
          </a:p>
        </p:txBody>
      </p:sp>
      <p:sp>
        <p:nvSpPr>
          <p:cNvPr id="2" name="Slayt Numarası Yer Tutucusu 1"/>
          <p:cNvSpPr>
            <a:spLocks noGrp="1"/>
          </p:cNvSpPr>
          <p:nvPr>
            <p:ph type="sldNum" sz="quarter" idx="12"/>
          </p:nvPr>
        </p:nvSpPr>
        <p:spPr/>
        <p:txBody>
          <a:bodyPr/>
          <a:lstStyle/>
          <a:p>
            <a:pPr>
              <a:defRPr/>
            </a:pPr>
            <a:fld id="{0D72300B-4EEC-48DD-A0BC-D91CC5B00FE1}" type="slidenum">
              <a:rPr lang="tr-TR" smtClean="0"/>
              <a:pPr>
                <a:defRPr/>
              </a:pPr>
              <a:t>50</a:t>
            </a:fld>
            <a:endParaRPr lang="tr-TR"/>
          </a:p>
        </p:txBody>
      </p:sp>
    </p:spTree>
    <p:extLst>
      <p:ext uri="{BB962C8B-B14F-4D97-AF65-F5344CB8AC3E}">
        <p14:creationId xmlns="" xmlns:p14="http://schemas.microsoft.com/office/powerpoint/2010/main" val="30288947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33338" y="274638"/>
            <a:ext cx="8893175" cy="5816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3600" b="1">
                <a:solidFill>
                  <a:srgbClr val="000066"/>
                </a:solidFill>
                <a:latin typeface="Verdana" pitchFamily="34" charset="0"/>
              </a:rPr>
              <a:t>Kapalı alanlarda havalandırma</a:t>
            </a:r>
            <a:endParaRPr lang="tr-TR" altLang="tr-TR" sz="4000" b="1">
              <a:solidFill>
                <a:srgbClr val="000066"/>
              </a:solidFill>
              <a:latin typeface="Verdana" pitchFamily="34" charset="0"/>
            </a:endParaRPr>
          </a:p>
          <a:p>
            <a:pPr eaLnBrk="1" hangingPunct="1">
              <a:spcBef>
                <a:spcPct val="50000"/>
              </a:spcBef>
              <a:buClr>
                <a:srgbClr val="CC0000"/>
              </a:buClr>
              <a:buFont typeface="Wingdings 2" pitchFamily="18" charset="2"/>
              <a:buChar char="E"/>
            </a:pPr>
            <a:r>
              <a:rPr lang="tr-TR" altLang="tr-TR" sz="2800" b="1">
                <a:latin typeface="Verdana" pitchFamily="34" charset="0"/>
              </a:rPr>
              <a:t>Zehirli</a:t>
            </a:r>
            <a:r>
              <a:rPr lang="tr-TR" altLang="tr-TR" sz="2800">
                <a:latin typeface="Verdana" pitchFamily="34" charset="0"/>
              </a:rPr>
              <a:t> maddelerin birikmemesi</a:t>
            </a:r>
          </a:p>
          <a:p>
            <a:pPr eaLnBrk="1" hangingPunct="1">
              <a:spcBef>
                <a:spcPct val="50000"/>
              </a:spcBef>
              <a:buClr>
                <a:srgbClr val="CC0000"/>
              </a:buClr>
              <a:buFont typeface="Wingdings 2" pitchFamily="18" charset="2"/>
              <a:buChar char="E"/>
            </a:pPr>
            <a:endParaRPr lang="tr-TR" altLang="tr-TR" sz="2800">
              <a:latin typeface="Verdana" pitchFamily="34" charset="0"/>
            </a:endParaRPr>
          </a:p>
          <a:p>
            <a:pPr eaLnBrk="1" hangingPunct="1">
              <a:spcBef>
                <a:spcPct val="50000"/>
              </a:spcBef>
              <a:buClr>
                <a:srgbClr val="CC0000"/>
              </a:buClr>
              <a:buFont typeface="Wingdings 2" pitchFamily="18" charset="2"/>
              <a:buChar char="E"/>
            </a:pPr>
            <a:r>
              <a:rPr lang="tr-TR" altLang="tr-TR" sz="2800" b="1">
                <a:latin typeface="Verdana" pitchFamily="34" charset="0"/>
              </a:rPr>
              <a:t>Yanıcı</a:t>
            </a:r>
            <a:r>
              <a:rPr lang="tr-TR" altLang="tr-TR" sz="2800">
                <a:latin typeface="Verdana" pitchFamily="34" charset="0"/>
              </a:rPr>
              <a:t> gazların birikmemesi</a:t>
            </a:r>
          </a:p>
          <a:p>
            <a:pPr eaLnBrk="1" hangingPunct="1">
              <a:spcBef>
                <a:spcPct val="50000"/>
              </a:spcBef>
              <a:buClr>
                <a:srgbClr val="CC0000"/>
              </a:buClr>
              <a:buFont typeface="Wingdings 2" pitchFamily="18" charset="2"/>
              <a:buChar char="E"/>
            </a:pPr>
            <a:endParaRPr lang="tr-TR" altLang="tr-TR" sz="2800">
              <a:latin typeface="Verdana" pitchFamily="34" charset="0"/>
            </a:endParaRPr>
          </a:p>
          <a:p>
            <a:pPr eaLnBrk="1" hangingPunct="1">
              <a:spcBef>
                <a:spcPct val="50000"/>
              </a:spcBef>
              <a:buClr>
                <a:srgbClr val="CC0000"/>
              </a:buClr>
              <a:buFont typeface="Wingdings 2" pitchFamily="18" charset="2"/>
              <a:buChar char="E"/>
            </a:pPr>
            <a:r>
              <a:rPr lang="tr-TR" altLang="tr-TR" sz="2800" b="1">
                <a:latin typeface="Verdana" pitchFamily="34" charset="0"/>
              </a:rPr>
              <a:t>Oksijenin</a:t>
            </a:r>
            <a:r>
              <a:rPr lang="tr-TR" altLang="tr-TR" sz="2800">
                <a:latin typeface="Verdana" pitchFamily="34" charset="0"/>
              </a:rPr>
              <a:t> azalmaması için </a:t>
            </a:r>
          </a:p>
          <a:p>
            <a:pPr lvl="1" eaLnBrk="1" hangingPunct="1">
              <a:spcBef>
                <a:spcPct val="50000"/>
              </a:spcBef>
              <a:buClr>
                <a:srgbClr val="000066"/>
              </a:buClr>
              <a:buFont typeface="Arial" pitchFamily="34" charset="0"/>
              <a:buNone/>
            </a:pPr>
            <a:r>
              <a:rPr lang="tr-TR" altLang="tr-TR" sz="2800">
                <a:latin typeface="Verdana" pitchFamily="34" charset="0"/>
              </a:rPr>
              <a:t>- </a:t>
            </a:r>
            <a:r>
              <a:rPr lang="tr-TR" altLang="tr-TR" sz="2800" b="1">
                <a:solidFill>
                  <a:srgbClr val="FF0000"/>
                </a:solidFill>
                <a:latin typeface="Verdana" pitchFamily="34" charset="0"/>
              </a:rPr>
              <a:t>Duman emme sistemleri </a:t>
            </a:r>
          </a:p>
          <a:p>
            <a:pPr lvl="1" eaLnBrk="1" hangingPunct="1">
              <a:spcBef>
                <a:spcPct val="50000"/>
              </a:spcBef>
              <a:buClr>
                <a:srgbClr val="000066"/>
              </a:buClr>
              <a:buFont typeface="Arial" pitchFamily="34" charset="0"/>
              <a:buNone/>
            </a:pPr>
            <a:r>
              <a:rPr lang="tr-TR" altLang="tr-TR" sz="2800" b="1">
                <a:latin typeface="Verdana" pitchFamily="34" charset="0"/>
              </a:rPr>
              <a:t>- </a:t>
            </a:r>
            <a:r>
              <a:rPr lang="tr-TR" altLang="tr-TR" sz="2800" b="1">
                <a:solidFill>
                  <a:srgbClr val="FF0000"/>
                </a:solidFill>
                <a:latin typeface="Verdana" pitchFamily="34" charset="0"/>
              </a:rPr>
              <a:t>Yapay havalandırma yöntemleri</a:t>
            </a:r>
          </a:p>
          <a:p>
            <a:pPr lvl="1" eaLnBrk="1" hangingPunct="1">
              <a:spcBef>
                <a:spcPct val="50000"/>
              </a:spcBef>
              <a:buClr>
                <a:srgbClr val="000066"/>
              </a:buClr>
              <a:buFont typeface="Arial" pitchFamily="34" charset="0"/>
              <a:buNone/>
            </a:pPr>
            <a:r>
              <a:rPr lang="tr-TR" altLang="tr-TR" sz="2800">
                <a:latin typeface="Verdana" pitchFamily="34" charset="0"/>
              </a:rPr>
              <a:t>                                           kullanılmalıdır</a:t>
            </a:r>
          </a:p>
        </p:txBody>
      </p:sp>
      <p:sp>
        <p:nvSpPr>
          <p:cNvPr id="2" name="Slayt Numarası Yer Tutucusu 1"/>
          <p:cNvSpPr>
            <a:spLocks noGrp="1"/>
          </p:cNvSpPr>
          <p:nvPr>
            <p:ph type="sldNum" sz="quarter" idx="12"/>
          </p:nvPr>
        </p:nvSpPr>
        <p:spPr/>
        <p:txBody>
          <a:bodyPr/>
          <a:lstStyle/>
          <a:p>
            <a:pPr>
              <a:defRPr/>
            </a:pPr>
            <a:fld id="{26A18C88-8CAF-48A2-9D35-F512B51B35C3}" type="slidenum">
              <a:rPr lang="tr-TR" smtClean="0"/>
              <a:pPr>
                <a:defRPr/>
              </a:pPr>
              <a:t>51</a:t>
            </a:fld>
            <a:endParaRPr lang="tr-TR"/>
          </a:p>
        </p:txBody>
      </p:sp>
    </p:spTree>
    <p:extLst>
      <p:ext uri="{BB962C8B-B14F-4D97-AF65-F5344CB8AC3E}">
        <p14:creationId xmlns="" xmlns:p14="http://schemas.microsoft.com/office/powerpoint/2010/main" val="15063353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118477D2-CB07-42AA-8D22-20F178438482}" type="slidenum">
              <a:rPr lang="tr-TR" smtClean="0"/>
              <a:pPr>
                <a:defRPr/>
              </a:pPr>
              <a:t>52</a:t>
            </a:fld>
            <a:endParaRPr lang="tr-TR"/>
          </a:p>
        </p:txBody>
      </p:sp>
      <p:sp>
        <p:nvSpPr>
          <p:cNvPr id="3" name="Dikdörtgen 2"/>
          <p:cNvSpPr/>
          <p:nvPr/>
        </p:nvSpPr>
        <p:spPr>
          <a:xfrm>
            <a:off x="0" y="260350"/>
            <a:ext cx="8460432" cy="5262979"/>
          </a:xfrm>
          <a:prstGeom prst="rect">
            <a:avLst/>
          </a:prstGeom>
        </p:spPr>
        <p:txBody>
          <a:bodyPr wrap="square">
            <a:spAutoFit/>
          </a:bodyPr>
          <a:lstStyle/>
          <a:p>
            <a:pPr>
              <a:spcBef>
                <a:spcPct val="50000"/>
              </a:spcBef>
              <a:defRPr/>
            </a:pPr>
            <a:r>
              <a:rPr lang="tr-TR" altLang="tr-TR" sz="4000" b="1" dirty="0">
                <a:solidFill>
                  <a:srgbClr val="000066"/>
                </a:solidFill>
                <a:latin typeface="Verdana" pitchFamily="34" charset="0"/>
              </a:rPr>
              <a:t>Havalandırma yapılamıyorsa</a:t>
            </a:r>
            <a:r>
              <a:rPr lang="tr-TR" altLang="tr-TR" sz="4000" b="1" dirty="0" smtClean="0">
                <a:solidFill>
                  <a:srgbClr val="000066"/>
                </a:solidFill>
                <a:latin typeface="Verdana" pitchFamily="34" charset="0"/>
              </a:rPr>
              <a:t>;</a:t>
            </a:r>
            <a:endParaRPr lang="tr-TR" altLang="tr-TR" sz="2800" b="1" dirty="0">
              <a:latin typeface="Verdana" pitchFamily="34" charset="0"/>
            </a:endParaRPr>
          </a:p>
          <a:p>
            <a:pPr>
              <a:spcBef>
                <a:spcPct val="50000"/>
              </a:spcBef>
              <a:buClr>
                <a:srgbClr val="CC0000"/>
              </a:buClr>
              <a:buFontTx/>
              <a:buChar char="-"/>
              <a:defRPr/>
            </a:pPr>
            <a:r>
              <a:rPr lang="tr-TR" altLang="tr-TR" sz="3200" dirty="0" smtClean="0">
                <a:solidFill>
                  <a:srgbClr val="FF0000"/>
                </a:solidFill>
                <a:latin typeface="Verdana" pitchFamily="34" charset="0"/>
              </a:rPr>
              <a:t>Solunum </a:t>
            </a:r>
            <a:r>
              <a:rPr lang="tr-TR" altLang="tr-TR" sz="3200" dirty="0">
                <a:solidFill>
                  <a:srgbClr val="FF0000"/>
                </a:solidFill>
                <a:latin typeface="Verdana" pitchFamily="34" charset="0"/>
              </a:rPr>
              <a:t>ekipmanları </a:t>
            </a:r>
            <a:r>
              <a:rPr lang="tr-TR" altLang="tr-TR" sz="3200" dirty="0">
                <a:solidFill>
                  <a:srgbClr val="0070C0"/>
                </a:solidFill>
                <a:latin typeface="Verdana" pitchFamily="34" charset="0"/>
              </a:rPr>
              <a:t>kullanılmalıdır.</a:t>
            </a:r>
          </a:p>
          <a:p>
            <a:pPr marL="355600" indent="-355600">
              <a:spcBef>
                <a:spcPct val="50000"/>
              </a:spcBef>
              <a:defRPr/>
            </a:pPr>
            <a:r>
              <a:rPr lang="tr-TR" altLang="tr-TR" sz="3200" dirty="0" smtClean="0">
                <a:solidFill>
                  <a:srgbClr val="FF0000"/>
                </a:solidFill>
                <a:latin typeface="Verdana" pitchFamily="34" charset="0"/>
              </a:rPr>
              <a:t>-</a:t>
            </a:r>
            <a:r>
              <a:rPr lang="tr-TR" altLang="tr-TR" sz="3200" dirty="0" err="1" smtClean="0">
                <a:solidFill>
                  <a:srgbClr val="FF0000"/>
                </a:solidFill>
                <a:latin typeface="Verdana" pitchFamily="34" charset="0"/>
              </a:rPr>
              <a:t>Oksi</a:t>
            </a:r>
            <a:r>
              <a:rPr lang="tr-TR" altLang="tr-TR" sz="3200" dirty="0" smtClean="0">
                <a:solidFill>
                  <a:srgbClr val="FF0000"/>
                </a:solidFill>
                <a:latin typeface="Verdana" pitchFamily="34" charset="0"/>
              </a:rPr>
              <a:t>-gaz </a:t>
            </a:r>
            <a:r>
              <a:rPr lang="tr-TR" altLang="tr-TR" sz="3200" dirty="0">
                <a:solidFill>
                  <a:srgbClr val="FF0000"/>
                </a:solidFill>
                <a:latin typeface="Verdana" pitchFamily="34" charset="0"/>
              </a:rPr>
              <a:t>kaynağı</a:t>
            </a:r>
            <a:r>
              <a:rPr lang="tr-TR" altLang="tr-TR" sz="3200" dirty="0">
                <a:solidFill>
                  <a:srgbClr val="0070C0"/>
                </a:solidFill>
                <a:latin typeface="Verdana" pitchFamily="34" charset="0"/>
              </a:rPr>
              <a:t>, alevle kesme ve ısıtma işlemleri yaparken </a:t>
            </a:r>
            <a:r>
              <a:rPr lang="tr-TR" altLang="tr-TR" sz="3200" dirty="0">
                <a:solidFill>
                  <a:srgbClr val="FF0000"/>
                </a:solidFill>
                <a:latin typeface="Verdana" pitchFamily="34" charset="0"/>
              </a:rPr>
              <a:t>havalandırmaya özel önem</a:t>
            </a:r>
            <a:r>
              <a:rPr lang="tr-TR" altLang="tr-TR" sz="3200" dirty="0">
                <a:solidFill>
                  <a:srgbClr val="0070C0"/>
                </a:solidFill>
                <a:latin typeface="Verdana" pitchFamily="34" charset="0"/>
              </a:rPr>
              <a:t> atfedilmelidir !  Aksi takdirde, </a:t>
            </a:r>
            <a:r>
              <a:rPr lang="tr-TR" altLang="tr-TR" sz="3200" dirty="0">
                <a:solidFill>
                  <a:srgbClr val="FF0000"/>
                </a:solidFill>
                <a:latin typeface="Verdana" pitchFamily="34" charset="0"/>
              </a:rPr>
              <a:t>nitrik-oksit değerleri </a:t>
            </a:r>
            <a:r>
              <a:rPr lang="tr-TR" altLang="tr-TR" sz="3200" dirty="0">
                <a:solidFill>
                  <a:srgbClr val="0070C0"/>
                </a:solidFill>
                <a:latin typeface="Verdana" pitchFamily="34" charset="0"/>
              </a:rPr>
              <a:t>müsaade edilen limitleri aşabilir.</a:t>
            </a:r>
          </a:p>
        </p:txBody>
      </p:sp>
    </p:spTree>
    <p:extLst>
      <p:ext uri="{BB962C8B-B14F-4D97-AF65-F5344CB8AC3E}">
        <p14:creationId xmlns="" xmlns:p14="http://schemas.microsoft.com/office/powerpoint/2010/main" val="24767341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1" y="115888"/>
            <a:ext cx="8460432" cy="4825280"/>
          </a:xfrm>
          <a:prstGeom prst="rect">
            <a:avLst/>
          </a:prstGeom>
          <a:noFill/>
          <a:ln>
            <a:noFill/>
          </a:ln>
          <a:extLst/>
        </p:spPr>
        <p:txBody>
          <a:bodyPr wrap="squar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spcBef>
                <a:spcPct val="50000"/>
              </a:spcBef>
              <a:buFontTx/>
              <a:buNone/>
              <a:defRPr/>
            </a:pPr>
            <a:r>
              <a:rPr lang="tr-TR" altLang="tr-TR" sz="3600" b="1" dirty="0" smtClean="0">
                <a:latin typeface="Verdana" pitchFamily="34" charset="0"/>
              </a:rPr>
              <a:t>Havalandırma için;</a:t>
            </a:r>
            <a:r>
              <a:rPr lang="tr-TR" altLang="tr-TR" sz="3600" dirty="0" smtClean="0">
                <a:latin typeface="Verdana" pitchFamily="34" charset="0"/>
              </a:rPr>
              <a:t> </a:t>
            </a:r>
          </a:p>
          <a:p>
            <a:pPr marL="355600" indent="-355600" eaLnBrk="1" hangingPunct="1">
              <a:spcBef>
                <a:spcPct val="50000"/>
              </a:spcBef>
              <a:buClr>
                <a:srgbClr val="CC0000"/>
              </a:buClr>
              <a:buFont typeface="Wingdings 2" pitchFamily="18" charset="2"/>
              <a:buChar char="E"/>
              <a:defRPr/>
            </a:pPr>
            <a:r>
              <a:rPr lang="tr-TR" altLang="tr-TR" sz="2400" b="1" dirty="0" smtClean="0">
                <a:latin typeface="Verdana" pitchFamily="34" charset="0"/>
              </a:rPr>
              <a:t>Kaynak </a:t>
            </a:r>
            <a:r>
              <a:rPr lang="tr-TR" altLang="tr-TR" sz="2400" b="1" dirty="0" err="1" smtClean="0">
                <a:latin typeface="Verdana" pitchFamily="34" charset="0"/>
              </a:rPr>
              <a:t>torcundan</a:t>
            </a:r>
            <a:r>
              <a:rPr lang="tr-TR" altLang="tr-TR" sz="2400" b="1" dirty="0" smtClean="0">
                <a:latin typeface="Verdana" pitchFamily="34" charset="0"/>
              </a:rPr>
              <a:t>, kaynak maskesinden veya </a:t>
            </a:r>
          </a:p>
          <a:p>
            <a:pPr marL="355600" indent="-355600" eaLnBrk="1" hangingPunct="1">
              <a:spcBef>
                <a:spcPct val="50000"/>
              </a:spcBef>
              <a:buClr>
                <a:srgbClr val="CC0000"/>
              </a:buClr>
              <a:buFont typeface="Wingdings 2" pitchFamily="18" charset="2"/>
              <a:buNone/>
              <a:defRPr/>
            </a:pPr>
            <a:r>
              <a:rPr lang="tr-TR" altLang="tr-TR" sz="2400" b="1" dirty="0" smtClean="0">
                <a:latin typeface="Verdana" pitchFamily="34" charset="0"/>
              </a:rPr>
              <a:t>   baş maskesinden duman emme sistemi,</a:t>
            </a:r>
          </a:p>
          <a:p>
            <a:pPr marL="355600" indent="-355600" eaLnBrk="1" hangingPunct="1">
              <a:spcBef>
                <a:spcPct val="50000"/>
              </a:spcBef>
              <a:buClr>
                <a:srgbClr val="CC0000"/>
              </a:buClr>
              <a:buFont typeface="Wingdings 2" pitchFamily="18" charset="2"/>
              <a:buChar char="E"/>
              <a:defRPr/>
            </a:pPr>
            <a:endParaRPr lang="tr-TR" altLang="tr-TR" sz="2400" b="1" dirty="0" smtClean="0">
              <a:latin typeface="Verdana" pitchFamily="34" charset="0"/>
            </a:endParaRPr>
          </a:p>
          <a:p>
            <a:pPr marL="355600" indent="-355600" eaLnBrk="1" hangingPunct="1">
              <a:spcBef>
                <a:spcPct val="50000"/>
              </a:spcBef>
              <a:buClr>
                <a:srgbClr val="CC0000"/>
              </a:buClr>
              <a:buFont typeface="Wingdings 2" pitchFamily="18" charset="2"/>
              <a:buChar char="E"/>
              <a:defRPr/>
            </a:pPr>
            <a:r>
              <a:rPr lang="tr-TR" altLang="tr-TR" sz="2400" b="1" dirty="0" smtClean="0">
                <a:solidFill>
                  <a:srgbClr val="FF0000"/>
                </a:solidFill>
                <a:latin typeface="Verdana" pitchFamily="34" charset="0"/>
              </a:rPr>
              <a:t>Taşınabilen </a:t>
            </a:r>
            <a:r>
              <a:rPr lang="tr-TR" altLang="tr-TR" sz="2400" b="1" dirty="0" smtClean="0">
                <a:latin typeface="Verdana" pitchFamily="34" charset="0"/>
              </a:rPr>
              <a:t>duman emme sistemleri, </a:t>
            </a:r>
          </a:p>
          <a:p>
            <a:pPr marL="355600" indent="-355600" eaLnBrk="1" hangingPunct="1">
              <a:spcBef>
                <a:spcPct val="50000"/>
              </a:spcBef>
              <a:buClr>
                <a:srgbClr val="CC0000"/>
              </a:buClr>
              <a:buFont typeface="Wingdings 2" pitchFamily="18" charset="2"/>
              <a:buChar char="E"/>
              <a:defRPr/>
            </a:pPr>
            <a:endParaRPr lang="tr-TR" altLang="tr-TR" sz="2400" b="1" dirty="0" smtClean="0">
              <a:latin typeface="Verdana" pitchFamily="34" charset="0"/>
            </a:endParaRPr>
          </a:p>
          <a:p>
            <a:pPr marL="271463" indent="-271463" eaLnBrk="1" hangingPunct="1">
              <a:spcBef>
                <a:spcPct val="50000"/>
              </a:spcBef>
              <a:buClr>
                <a:srgbClr val="CC0000"/>
              </a:buClr>
              <a:buFont typeface="Wingdings 2" pitchFamily="18" charset="2"/>
              <a:buChar char="E"/>
              <a:defRPr/>
            </a:pPr>
            <a:r>
              <a:rPr lang="tr-TR" altLang="tr-TR" sz="2400" b="1" dirty="0" smtClean="0">
                <a:latin typeface="Verdana" pitchFamily="34" charset="0"/>
              </a:rPr>
              <a:t>İş parçasına veya çalışma bölgesine yaklaştırılabilen ve monte edilebilen duman emme bacaları kullanılır.</a:t>
            </a:r>
            <a:r>
              <a:rPr lang="tr-TR" altLang="tr-TR" sz="2400" dirty="0" smtClean="0">
                <a:latin typeface="Verdana" pitchFamily="34" charset="0"/>
              </a:rPr>
              <a:t>                                                                 </a:t>
            </a:r>
          </a:p>
        </p:txBody>
      </p:sp>
      <p:sp>
        <p:nvSpPr>
          <p:cNvPr id="77827" name="Rectangle 3"/>
          <p:cNvSpPr>
            <a:spLocks noChangeArrowheads="1"/>
          </p:cNvSpPr>
          <p:nvPr/>
        </p:nvSpPr>
        <p:spPr bwMode="auto">
          <a:xfrm>
            <a:off x="17464" y="5300662"/>
            <a:ext cx="844297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r>
              <a:rPr lang="tr-TR" altLang="tr-TR" sz="2400" b="1" dirty="0">
                <a:solidFill>
                  <a:srgbClr val="CC0000"/>
                </a:solidFill>
                <a:latin typeface="Verdana" pitchFamily="34" charset="0"/>
              </a:rPr>
              <a:t>Dikkat ! </a:t>
            </a:r>
            <a:r>
              <a:rPr lang="tr-TR" altLang="tr-TR" sz="2400" b="1" dirty="0">
                <a:solidFill>
                  <a:srgbClr val="FF0000"/>
                </a:solidFill>
                <a:latin typeface="Verdana" pitchFamily="34" charset="0"/>
              </a:rPr>
              <a:t>Yanma</a:t>
            </a:r>
            <a:r>
              <a:rPr lang="tr-TR" altLang="tr-TR" sz="2400" b="1" dirty="0">
                <a:solidFill>
                  <a:srgbClr val="0070C0"/>
                </a:solidFill>
                <a:latin typeface="Verdana" pitchFamily="34" charset="0"/>
              </a:rPr>
              <a:t> nedeniyle ciddi kazalara neden olacağı için kapalı alanlarda </a:t>
            </a:r>
            <a:r>
              <a:rPr lang="tr-TR" altLang="tr-TR" sz="2400" b="1" dirty="0">
                <a:solidFill>
                  <a:srgbClr val="FF0000"/>
                </a:solidFill>
                <a:latin typeface="Verdana" pitchFamily="34" charset="0"/>
              </a:rPr>
              <a:t>sırf oksijen kullanılarak havalandırma yapılmasına izin verilmez</a:t>
            </a:r>
          </a:p>
        </p:txBody>
      </p:sp>
      <p:sp>
        <p:nvSpPr>
          <p:cNvPr id="2" name="Slayt Numarası Yer Tutucusu 1"/>
          <p:cNvSpPr>
            <a:spLocks noGrp="1"/>
          </p:cNvSpPr>
          <p:nvPr>
            <p:ph type="sldNum" sz="quarter" idx="12"/>
          </p:nvPr>
        </p:nvSpPr>
        <p:spPr/>
        <p:txBody>
          <a:bodyPr/>
          <a:lstStyle/>
          <a:p>
            <a:pPr>
              <a:defRPr/>
            </a:pPr>
            <a:fld id="{13CEC3E2-C607-41D3-8258-F676A2F2F096}" type="slidenum">
              <a:rPr lang="tr-TR" smtClean="0"/>
              <a:pPr>
                <a:defRPr/>
              </a:pPr>
              <a:t>53</a:t>
            </a:fld>
            <a:endParaRPr lang="tr-TR"/>
          </a:p>
        </p:txBody>
      </p:sp>
    </p:spTree>
    <p:extLst>
      <p:ext uri="{BB962C8B-B14F-4D97-AF65-F5344CB8AC3E}">
        <p14:creationId xmlns="" xmlns:p14="http://schemas.microsoft.com/office/powerpoint/2010/main" val="360538557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87313" y="1588"/>
            <a:ext cx="8301111" cy="57554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r>
              <a:rPr kumimoji="1" lang="tr-TR" altLang="tr-TR" sz="2800" b="1" dirty="0">
                <a:latin typeface="Verdana" pitchFamily="34" charset="0"/>
              </a:rPr>
              <a:t>Açık Alanda Kaynak Yapıldığında  Alınacak Önlemler </a:t>
            </a:r>
            <a:r>
              <a:rPr kumimoji="1" lang="tr-TR" altLang="tr-TR" sz="2400" dirty="0">
                <a:latin typeface="Verdana" pitchFamily="34" charset="0"/>
              </a:rPr>
              <a:t>:</a:t>
            </a:r>
          </a:p>
          <a:p>
            <a:pPr eaLnBrk="1" hangingPunct="1"/>
            <a:endParaRPr kumimoji="1" lang="tr-TR" altLang="tr-TR" sz="2400" dirty="0">
              <a:solidFill>
                <a:srgbClr val="FF0000"/>
              </a:solidFill>
              <a:latin typeface="Verdana" pitchFamily="34" charset="0"/>
            </a:endParaRPr>
          </a:p>
          <a:p>
            <a:pPr eaLnBrk="1" hangingPunct="1"/>
            <a:r>
              <a:rPr kumimoji="1" lang="tr-TR" altLang="tr-TR" sz="2400" dirty="0">
                <a:latin typeface="Verdana" pitchFamily="34" charset="0"/>
              </a:rPr>
              <a:t>-Kaynak  yapılacak bölgenin </a:t>
            </a:r>
            <a:r>
              <a:rPr kumimoji="1" lang="tr-TR" altLang="tr-TR" sz="2400" b="1" dirty="0">
                <a:latin typeface="Verdana" pitchFamily="34" charset="0"/>
              </a:rPr>
              <a:t>11 m. yakınında </a:t>
            </a:r>
            <a:r>
              <a:rPr kumimoji="1" lang="tr-TR" altLang="tr-TR" sz="2400" dirty="0">
                <a:latin typeface="Verdana" pitchFamily="34" charset="0"/>
              </a:rPr>
              <a:t>yanıcı gaz, yanıcı gaz yayan sıvı (benzin, </a:t>
            </a:r>
            <a:r>
              <a:rPr kumimoji="1" lang="tr-TR" altLang="tr-TR" sz="2400" dirty="0" err="1">
                <a:latin typeface="Verdana" pitchFamily="34" charset="0"/>
              </a:rPr>
              <a:t>solvent</a:t>
            </a:r>
            <a:r>
              <a:rPr kumimoji="1" lang="tr-TR" altLang="tr-TR" sz="2400" dirty="0">
                <a:latin typeface="Verdana" pitchFamily="34" charset="0"/>
              </a:rPr>
              <a:t> vb.) ve kolay tutuşucu (kağıt, pamuk, saman vb.) maddeler </a:t>
            </a:r>
            <a:r>
              <a:rPr kumimoji="1" lang="tr-TR" altLang="tr-TR" sz="2400" b="1" dirty="0">
                <a:solidFill>
                  <a:srgbClr val="FF0000"/>
                </a:solidFill>
                <a:latin typeface="Verdana" pitchFamily="34" charset="0"/>
              </a:rPr>
              <a:t>bulunmamalıdır. </a:t>
            </a:r>
          </a:p>
          <a:p>
            <a:pPr eaLnBrk="1" hangingPunct="1"/>
            <a:endParaRPr kumimoji="1" lang="tr-TR" altLang="tr-TR" sz="2400" dirty="0">
              <a:latin typeface="Verdana" pitchFamily="34" charset="0"/>
            </a:endParaRPr>
          </a:p>
          <a:p>
            <a:pPr eaLnBrk="1" hangingPunct="1"/>
            <a:endParaRPr kumimoji="1" lang="tr-TR" altLang="tr-TR" sz="2400" dirty="0">
              <a:latin typeface="Verdana" pitchFamily="34" charset="0"/>
            </a:endParaRPr>
          </a:p>
          <a:p>
            <a:pPr eaLnBrk="1" hangingPunct="1"/>
            <a:r>
              <a:rPr kumimoji="1" lang="tr-TR" altLang="tr-TR" sz="2400" dirty="0">
                <a:latin typeface="Verdana" pitchFamily="34" charset="0"/>
              </a:rPr>
              <a:t>-</a:t>
            </a:r>
            <a:r>
              <a:rPr kumimoji="1" lang="tr-TR" altLang="tr-TR" sz="2400" b="1" dirty="0">
                <a:solidFill>
                  <a:srgbClr val="FF0000"/>
                </a:solidFill>
                <a:latin typeface="Verdana" pitchFamily="34" charset="0"/>
              </a:rPr>
              <a:t>Yanıcı maddelere yakın yerlerde kaynak yapmak gerektiğinde </a:t>
            </a:r>
            <a:r>
              <a:rPr kumimoji="1" lang="tr-TR" altLang="tr-TR" sz="2400" dirty="0">
                <a:latin typeface="Verdana" pitchFamily="34" charset="0"/>
              </a:rPr>
              <a:t>ise, önce bölge </a:t>
            </a:r>
            <a:r>
              <a:rPr kumimoji="1" lang="tr-TR" altLang="tr-TR" sz="2400" b="1" dirty="0">
                <a:solidFill>
                  <a:srgbClr val="0070C0"/>
                </a:solidFill>
                <a:latin typeface="Verdana" pitchFamily="34" charset="0"/>
              </a:rPr>
              <a:t>iyice havalandırılmalı, yanıcı maddelerin üzeri örtülmeli, kaynak kıvılcım ve çapaklarının  düşeceği yerler ıslatılmalı, yangın söndürme  araçları</a:t>
            </a:r>
            <a:r>
              <a:rPr kumimoji="1" lang="tr-TR" altLang="tr-TR" sz="2400" dirty="0">
                <a:latin typeface="Verdana" pitchFamily="34" charset="0"/>
              </a:rPr>
              <a:t> kullanıma hazır halde bulundurulmalıdır.</a:t>
            </a:r>
          </a:p>
        </p:txBody>
      </p:sp>
      <p:sp>
        <p:nvSpPr>
          <p:cNvPr id="2" name="Slayt Numarası Yer Tutucusu 1"/>
          <p:cNvSpPr>
            <a:spLocks noGrp="1"/>
          </p:cNvSpPr>
          <p:nvPr>
            <p:ph type="sldNum" sz="quarter" idx="12"/>
          </p:nvPr>
        </p:nvSpPr>
        <p:spPr/>
        <p:txBody>
          <a:bodyPr/>
          <a:lstStyle/>
          <a:p>
            <a:pPr>
              <a:defRPr/>
            </a:pPr>
            <a:fld id="{193C8C6F-65EF-49F5-A602-70615AC3F3A7}" type="slidenum">
              <a:rPr lang="tr-TR" smtClean="0"/>
              <a:pPr>
                <a:defRPr/>
              </a:pPr>
              <a:t>54</a:t>
            </a:fld>
            <a:endParaRPr lang="tr-TR"/>
          </a:p>
        </p:txBody>
      </p:sp>
    </p:spTree>
    <p:extLst>
      <p:ext uri="{BB962C8B-B14F-4D97-AF65-F5344CB8AC3E}">
        <p14:creationId xmlns="" xmlns:p14="http://schemas.microsoft.com/office/powerpoint/2010/main" val="195050021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179512" y="836712"/>
            <a:ext cx="8280920" cy="53285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r>
              <a:rPr kumimoji="1" lang="tr-TR" altLang="tr-TR" sz="2800" b="1" dirty="0">
                <a:latin typeface="Verdana" pitchFamily="34" charset="0"/>
              </a:rPr>
              <a:t>Kapalı Alanlarda Kaynak Yapılırken Alınacak  Önlemler </a:t>
            </a:r>
            <a:r>
              <a:rPr kumimoji="1" lang="tr-TR" altLang="tr-TR" sz="2400" dirty="0">
                <a:latin typeface="Verdana" pitchFamily="34" charset="0"/>
              </a:rPr>
              <a:t>:</a:t>
            </a:r>
          </a:p>
          <a:p>
            <a:pPr eaLnBrk="1" hangingPunct="1"/>
            <a:endParaRPr kumimoji="1" lang="tr-TR" altLang="tr-TR" sz="2000" b="1" dirty="0">
              <a:latin typeface="Verdana" pitchFamily="34" charset="0"/>
            </a:endParaRPr>
          </a:p>
          <a:p>
            <a:pPr eaLnBrk="1" hangingPunct="1"/>
            <a:r>
              <a:rPr kumimoji="1" lang="tr-TR" altLang="tr-TR" sz="2000" b="1" dirty="0">
                <a:latin typeface="Verdana" pitchFamily="34" charset="0"/>
              </a:rPr>
              <a:t>Kaynağa başlamadan önce ortam iyice </a:t>
            </a:r>
            <a:r>
              <a:rPr kumimoji="1" lang="tr-TR" altLang="tr-TR" sz="2000" b="1" dirty="0">
                <a:solidFill>
                  <a:srgbClr val="FF0000"/>
                </a:solidFill>
                <a:latin typeface="Verdana" pitchFamily="34" charset="0"/>
              </a:rPr>
              <a:t>havalandırılmalı, </a:t>
            </a:r>
            <a:endParaRPr kumimoji="1" lang="tr-TR" altLang="tr-TR" sz="2000" b="1" dirty="0">
              <a:latin typeface="Verdana" pitchFamily="34" charset="0"/>
            </a:endParaRPr>
          </a:p>
          <a:p>
            <a:pPr eaLnBrk="1" hangingPunct="1"/>
            <a:r>
              <a:rPr kumimoji="1" lang="tr-TR" altLang="tr-TR" sz="2000" b="1" dirty="0">
                <a:solidFill>
                  <a:srgbClr val="FF0000"/>
                </a:solidFill>
                <a:latin typeface="Verdana" pitchFamily="34" charset="0"/>
              </a:rPr>
              <a:t>Gaz boşaltma</a:t>
            </a:r>
            <a:r>
              <a:rPr kumimoji="1" lang="tr-TR" altLang="tr-TR" sz="2000" b="1" dirty="0">
                <a:latin typeface="Verdana" pitchFamily="34" charset="0"/>
              </a:rPr>
              <a:t> işlemi yapılmalı, </a:t>
            </a:r>
          </a:p>
          <a:p>
            <a:pPr eaLnBrk="1" hangingPunct="1"/>
            <a:r>
              <a:rPr kumimoji="1" lang="tr-TR" altLang="tr-TR" sz="2000" b="1" dirty="0">
                <a:latin typeface="Verdana" pitchFamily="34" charset="0"/>
              </a:rPr>
              <a:t>Kaynak yapılacak yüzey pis  ise </a:t>
            </a:r>
            <a:r>
              <a:rPr kumimoji="1" lang="tr-TR" altLang="tr-TR" sz="2000" b="1" dirty="0">
                <a:solidFill>
                  <a:srgbClr val="FF0000"/>
                </a:solidFill>
                <a:latin typeface="Verdana" pitchFamily="34" charset="0"/>
              </a:rPr>
              <a:t>yıkanıp temizlenmeli</a:t>
            </a:r>
            <a:r>
              <a:rPr kumimoji="1" lang="tr-TR" altLang="tr-TR" sz="2000" b="1" dirty="0" smtClean="0">
                <a:latin typeface="Verdana" pitchFamily="34" charset="0"/>
              </a:rPr>
              <a:t>,</a:t>
            </a:r>
            <a:endParaRPr kumimoji="1" lang="tr-TR" altLang="tr-TR" sz="2000" b="1" dirty="0">
              <a:latin typeface="Verdana" pitchFamily="34" charset="0"/>
            </a:endParaRPr>
          </a:p>
          <a:p>
            <a:pPr>
              <a:spcBef>
                <a:spcPct val="20000"/>
              </a:spcBef>
              <a:buFont typeface="Arial" pitchFamily="34" charset="0"/>
              <a:buChar char="•"/>
            </a:pPr>
            <a:r>
              <a:rPr kumimoji="1" lang="tr-TR" altLang="tr-TR" sz="2000" b="1" dirty="0">
                <a:latin typeface="Verdana" pitchFamily="34" charset="0"/>
              </a:rPr>
              <a:t>Kaynak yapacak kişi gerekli </a:t>
            </a:r>
            <a:r>
              <a:rPr kumimoji="1" lang="tr-TR" altLang="tr-TR" sz="2000" b="1" dirty="0">
                <a:solidFill>
                  <a:srgbClr val="FF0000"/>
                </a:solidFill>
                <a:latin typeface="Verdana" pitchFamily="34" charset="0"/>
              </a:rPr>
              <a:t>kişisel koruyucularını</a:t>
            </a:r>
            <a:r>
              <a:rPr kumimoji="1" lang="tr-TR" altLang="tr-TR" sz="2000" b="1" dirty="0">
                <a:latin typeface="Verdana" pitchFamily="34" charset="0"/>
              </a:rPr>
              <a:t> taktıktan sonra içeri girmeli,</a:t>
            </a:r>
            <a:r>
              <a:rPr kumimoji="1" lang="tr-TR" altLang="tr-TR" sz="2000" dirty="0">
                <a:latin typeface="Verdana" pitchFamily="34" charset="0"/>
              </a:rPr>
              <a:t> </a:t>
            </a:r>
            <a:endParaRPr kumimoji="1" lang="tr-TR" altLang="tr-TR" sz="2000" b="1" dirty="0">
              <a:latin typeface="Verdana" pitchFamily="34" charset="0"/>
            </a:endParaRPr>
          </a:p>
          <a:p>
            <a:pPr>
              <a:spcBef>
                <a:spcPct val="20000"/>
              </a:spcBef>
              <a:buFont typeface="Arial" pitchFamily="34" charset="0"/>
              <a:buChar char="•"/>
            </a:pPr>
            <a:r>
              <a:rPr kumimoji="1" lang="tr-TR" altLang="tr-TR" sz="2000" b="1" dirty="0">
                <a:solidFill>
                  <a:srgbClr val="FF0000"/>
                </a:solidFill>
                <a:latin typeface="Verdana" pitchFamily="34" charset="0"/>
              </a:rPr>
              <a:t>Kaynak yapımı süresince dışarıdan içeriye temiz hava </a:t>
            </a:r>
            <a:r>
              <a:rPr kumimoji="1" lang="tr-TR" altLang="tr-TR" sz="2000" b="1" dirty="0">
                <a:latin typeface="Verdana" pitchFamily="34" charset="0"/>
              </a:rPr>
              <a:t>verilmeli, dar ve kapalı yerde kaynak yapılırken en az iki kişi bulunmalı ve bunlardan </a:t>
            </a:r>
            <a:r>
              <a:rPr kumimoji="1" lang="tr-TR" altLang="tr-TR" sz="2000" b="1" dirty="0">
                <a:solidFill>
                  <a:srgbClr val="FF0000"/>
                </a:solidFill>
                <a:latin typeface="Verdana" pitchFamily="34" charset="0"/>
              </a:rPr>
              <a:t>birisi gözlemci </a:t>
            </a:r>
            <a:r>
              <a:rPr kumimoji="1" lang="tr-TR" altLang="tr-TR" sz="2000" b="1" dirty="0">
                <a:latin typeface="Verdana" pitchFamily="34" charset="0"/>
              </a:rPr>
              <a:t>olmalıdır. Kaynak işi bittikten sonra kaynak yapılan </a:t>
            </a:r>
            <a:r>
              <a:rPr kumimoji="1" lang="tr-TR" altLang="tr-TR" sz="2000" b="1" dirty="0">
                <a:solidFill>
                  <a:srgbClr val="FF0000"/>
                </a:solidFill>
                <a:latin typeface="Verdana" pitchFamily="34" charset="0"/>
              </a:rPr>
              <a:t>bölge soğutulmalıdır</a:t>
            </a:r>
            <a:r>
              <a:rPr kumimoji="1" lang="tr-TR" altLang="tr-TR" sz="2000" b="1" dirty="0">
                <a:latin typeface="Verdana" pitchFamily="34" charset="0"/>
              </a:rPr>
              <a:t>. </a:t>
            </a:r>
          </a:p>
          <a:p>
            <a:pPr>
              <a:spcBef>
                <a:spcPct val="20000"/>
              </a:spcBef>
              <a:buFont typeface="Arial" pitchFamily="34" charset="0"/>
              <a:buChar char="•"/>
            </a:pPr>
            <a:r>
              <a:rPr kumimoji="1" lang="tr-TR" altLang="tr-TR" sz="2000" b="1" dirty="0">
                <a:latin typeface="Verdana" pitchFamily="34" charset="0"/>
              </a:rPr>
              <a:t>Yanıcı gazlara karşı </a:t>
            </a:r>
            <a:r>
              <a:rPr kumimoji="1" lang="tr-TR" altLang="tr-TR" sz="2000" b="1" dirty="0" err="1">
                <a:solidFill>
                  <a:srgbClr val="FF0000"/>
                </a:solidFill>
                <a:latin typeface="Verdana" pitchFamily="34" charset="0"/>
              </a:rPr>
              <a:t>exproof</a:t>
            </a:r>
            <a:r>
              <a:rPr kumimoji="1" lang="tr-TR" altLang="tr-TR" sz="2000" b="1" dirty="0">
                <a:latin typeface="Verdana" pitchFamily="34" charset="0"/>
              </a:rPr>
              <a:t> malzeme  </a:t>
            </a:r>
            <a:r>
              <a:rPr kumimoji="1" lang="tr-TR" altLang="tr-TR" sz="2000" b="1" dirty="0" smtClean="0">
                <a:latin typeface="Verdana" pitchFamily="34" charset="0"/>
              </a:rPr>
              <a:t>kullanılmalıdır</a:t>
            </a:r>
            <a:r>
              <a:rPr kumimoji="1" lang="tr-TR" altLang="tr-TR" sz="2000" b="1" dirty="0">
                <a:latin typeface="Verdana" pitchFamily="34" charset="0"/>
              </a:rPr>
              <a:t>.</a:t>
            </a:r>
          </a:p>
          <a:p>
            <a:pPr eaLnBrk="1" hangingPunct="1"/>
            <a:endParaRPr kumimoji="1" lang="tr-TR" altLang="tr-TR" sz="2000" b="1" dirty="0">
              <a:latin typeface="Verdana" pitchFamily="34" charset="0"/>
            </a:endParaRPr>
          </a:p>
        </p:txBody>
      </p:sp>
      <p:sp>
        <p:nvSpPr>
          <p:cNvPr id="2" name="Slayt Numarası Yer Tutucusu 1"/>
          <p:cNvSpPr>
            <a:spLocks noGrp="1"/>
          </p:cNvSpPr>
          <p:nvPr>
            <p:ph type="sldNum" sz="quarter" idx="12"/>
          </p:nvPr>
        </p:nvSpPr>
        <p:spPr/>
        <p:txBody>
          <a:bodyPr/>
          <a:lstStyle/>
          <a:p>
            <a:pPr>
              <a:defRPr/>
            </a:pPr>
            <a:fld id="{E0137BC6-2372-4151-AAF1-6BB88E158BD7}" type="slidenum">
              <a:rPr lang="tr-TR" smtClean="0"/>
              <a:pPr>
                <a:defRPr/>
              </a:pPr>
              <a:t>55</a:t>
            </a:fld>
            <a:endParaRPr lang="tr-TR"/>
          </a:p>
        </p:txBody>
      </p:sp>
    </p:spTree>
    <p:extLst>
      <p:ext uri="{BB962C8B-B14F-4D97-AF65-F5344CB8AC3E}">
        <p14:creationId xmlns="" xmlns:p14="http://schemas.microsoft.com/office/powerpoint/2010/main" val="38286759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ChangeArrowheads="1"/>
          </p:cNvSpPr>
          <p:nvPr/>
        </p:nvSpPr>
        <p:spPr bwMode="auto">
          <a:xfrm>
            <a:off x="250825" y="548680"/>
            <a:ext cx="8137599" cy="48320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nchor="ctr">
            <a:spAutoFit/>
          </a:bodyPr>
          <a:lstStyle>
            <a:lvl1pPr eaLnBrk="0" hangingPunct="0">
              <a:tabLst>
                <a:tab pos="85725" algn="l"/>
                <a:tab pos="357188" algn="l"/>
                <a:tab pos="457200" algn="l"/>
                <a:tab pos="714375" algn="l"/>
              </a:tabLst>
              <a:defRPr sz="1600">
                <a:solidFill>
                  <a:schemeClr val="tx1"/>
                </a:solidFill>
                <a:latin typeface="Arial" pitchFamily="34" charset="0"/>
                <a:cs typeface="Arial" pitchFamily="34" charset="0"/>
              </a:defRPr>
            </a:lvl1pPr>
            <a:lvl2pPr marL="742950" indent="-285750" eaLnBrk="0" hangingPunct="0">
              <a:tabLst>
                <a:tab pos="85725" algn="l"/>
                <a:tab pos="357188" algn="l"/>
                <a:tab pos="457200" algn="l"/>
                <a:tab pos="714375" algn="l"/>
              </a:tabLst>
              <a:defRPr sz="1600">
                <a:solidFill>
                  <a:schemeClr val="tx1"/>
                </a:solidFill>
                <a:latin typeface="Arial" pitchFamily="34" charset="0"/>
                <a:cs typeface="Arial" pitchFamily="34" charset="0"/>
              </a:defRPr>
            </a:lvl2pPr>
            <a:lvl3pPr marL="1143000" indent="-228600" eaLnBrk="0" hangingPunct="0">
              <a:tabLst>
                <a:tab pos="85725" algn="l"/>
                <a:tab pos="357188" algn="l"/>
                <a:tab pos="457200" algn="l"/>
                <a:tab pos="714375" algn="l"/>
              </a:tabLst>
              <a:defRPr sz="1600">
                <a:solidFill>
                  <a:schemeClr val="tx1"/>
                </a:solidFill>
                <a:latin typeface="Arial" pitchFamily="34" charset="0"/>
                <a:cs typeface="Arial" pitchFamily="34" charset="0"/>
              </a:defRPr>
            </a:lvl3pPr>
            <a:lvl4pPr marL="1600200" indent="-228600" eaLnBrk="0" hangingPunct="0">
              <a:tabLst>
                <a:tab pos="85725" algn="l"/>
                <a:tab pos="357188" algn="l"/>
                <a:tab pos="457200" algn="l"/>
                <a:tab pos="714375" algn="l"/>
              </a:tabLst>
              <a:defRPr sz="1600">
                <a:solidFill>
                  <a:schemeClr val="tx1"/>
                </a:solidFill>
                <a:latin typeface="Arial" pitchFamily="34" charset="0"/>
                <a:cs typeface="Arial" pitchFamily="34" charset="0"/>
              </a:defRPr>
            </a:lvl4pPr>
            <a:lvl5pPr marL="2057400" indent="-228600" eaLnBrk="0" hangingPunct="0">
              <a:tabLst>
                <a:tab pos="85725" algn="l"/>
                <a:tab pos="357188" algn="l"/>
                <a:tab pos="457200" algn="l"/>
                <a:tab pos="714375" algn="l"/>
              </a:tabLst>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85725" algn="l"/>
                <a:tab pos="357188" algn="l"/>
                <a:tab pos="457200" algn="l"/>
                <a:tab pos="714375" algn="l"/>
              </a:tabLs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85725" algn="l"/>
                <a:tab pos="357188" algn="l"/>
                <a:tab pos="457200" algn="l"/>
                <a:tab pos="714375" algn="l"/>
              </a:tabLs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85725" algn="l"/>
                <a:tab pos="357188" algn="l"/>
                <a:tab pos="457200" algn="l"/>
                <a:tab pos="714375" algn="l"/>
              </a:tabLs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85725" algn="l"/>
                <a:tab pos="357188" algn="l"/>
                <a:tab pos="457200" algn="l"/>
                <a:tab pos="714375" algn="l"/>
              </a:tabLst>
              <a:defRPr sz="1600">
                <a:solidFill>
                  <a:schemeClr val="tx1"/>
                </a:solidFill>
                <a:latin typeface="Arial" pitchFamily="34" charset="0"/>
                <a:cs typeface="Arial" pitchFamily="34" charset="0"/>
              </a:defRPr>
            </a:lvl9pPr>
          </a:lstStyle>
          <a:p>
            <a:pPr algn="ctr"/>
            <a:r>
              <a:rPr lang="tr-TR" altLang="tr-TR" sz="2400" b="1" dirty="0"/>
              <a:t>KAPALI VE DAR ALANLARDA YAPILACAK KAYNAK İŞLERİNDE ALINACAK DİĞER GÜVENLİK TEDBİRLERİ</a:t>
            </a:r>
          </a:p>
          <a:p>
            <a:pPr algn="ctr"/>
            <a:r>
              <a:rPr lang="tr-TR" altLang="tr-TR" sz="2000" b="1" dirty="0"/>
              <a:t> </a:t>
            </a:r>
          </a:p>
          <a:p>
            <a:pPr>
              <a:buFont typeface="Wingdings" pitchFamily="2" charset="2"/>
              <a:buChar char="ü"/>
            </a:pPr>
            <a:r>
              <a:rPr lang="tr-TR" altLang="tr-TR" sz="2000" b="1" dirty="0">
                <a:latin typeface="Arial Black" pitchFamily="34" charset="0"/>
              </a:rPr>
              <a:t>Acil durum planı </a:t>
            </a:r>
            <a:r>
              <a:rPr lang="tr-TR" altLang="tr-TR" sz="2000" b="1" dirty="0"/>
              <a:t>hazırlanmalıdır.</a:t>
            </a:r>
          </a:p>
          <a:p>
            <a:pPr>
              <a:buFont typeface="Wingdings" pitchFamily="2" charset="2"/>
              <a:buChar char="ü"/>
            </a:pPr>
            <a:endParaRPr lang="tr-TR" altLang="tr-TR" sz="2000" b="1" dirty="0"/>
          </a:p>
          <a:p>
            <a:pPr>
              <a:buFont typeface="Wingdings" pitchFamily="2" charset="2"/>
              <a:buChar char="ü"/>
            </a:pPr>
            <a:r>
              <a:rPr lang="tr-TR" altLang="tr-TR" sz="2000" b="1" dirty="0"/>
              <a:t>Bütün </a:t>
            </a:r>
            <a:r>
              <a:rPr lang="tr-TR" altLang="tr-TR" sz="2000" b="1" dirty="0">
                <a:latin typeface="Arial Black" pitchFamily="34" charset="0"/>
              </a:rPr>
              <a:t>kapaklar açık </a:t>
            </a:r>
            <a:r>
              <a:rPr lang="tr-TR" altLang="tr-TR" sz="2000" b="1" dirty="0"/>
              <a:t>tutulmalıdır.</a:t>
            </a:r>
          </a:p>
          <a:p>
            <a:pPr>
              <a:buFont typeface="Wingdings" pitchFamily="2" charset="2"/>
              <a:buChar char="ü"/>
            </a:pPr>
            <a:endParaRPr lang="tr-TR" altLang="tr-TR" sz="2000" b="1" dirty="0"/>
          </a:p>
          <a:p>
            <a:pPr>
              <a:buFont typeface="Wingdings" pitchFamily="2" charset="2"/>
              <a:buChar char="ü"/>
            </a:pPr>
            <a:r>
              <a:rPr lang="tr-TR" altLang="tr-TR" sz="2000" b="1" dirty="0"/>
              <a:t>İhtiyaç duyulmayan tüm </a:t>
            </a:r>
            <a:r>
              <a:rPr lang="tr-TR" altLang="tr-TR" sz="2000" b="1" dirty="0">
                <a:latin typeface="Arial Black" pitchFamily="34" charset="0"/>
              </a:rPr>
              <a:t>sistemler durdurulmalıdır.</a:t>
            </a:r>
          </a:p>
          <a:p>
            <a:pPr>
              <a:buFont typeface="Wingdings" pitchFamily="2" charset="2"/>
              <a:buChar char="ü"/>
            </a:pPr>
            <a:endParaRPr lang="tr-TR" altLang="tr-TR" sz="2000" b="1" dirty="0"/>
          </a:p>
          <a:p>
            <a:pPr>
              <a:buFont typeface="Wingdings" pitchFamily="2" charset="2"/>
              <a:buChar char="ü"/>
            </a:pPr>
            <a:r>
              <a:rPr lang="tr-TR" altLang="tr-TR" sz="2000" b="1" dirty="0"/>
              <a:t>Yardım ve müdahale için yeterli donanıma sahip kişilerin gözetimi olmaksızın kapalı ve dar alanlara girilmemelidir.</a:t>
            </a:r>
          </a:p>
          <a:p>
            <a:pPr>
              <a:buFont typeface="Wingdings" pitchFamily="2" charset="2"/>
              <a:buChar char="ü"/>
            </a:pPr>
            <a:endParaRPr lang="tr-TR" altLang="tr-TR" sz="2000" b="1" dirty="0"/>
          </a:p>
          <a:p>
            <a:pPr>
              <a:buFont typeface="Wingdings" pitchFamily="2" charset="2"/>
              <a:buChar char="ü"/>
            </a:pPr>
            <a:endParaRPr lang="tr-TR" altLang="tr-TR" sz="2000" b="1" dirty="0"/>
          </a:p>
          <a:p>
            <a:pPr>
              <a:buFont typeface="Wingdings" pitchFamily="2" charset="2"/>
              <a:buChar char="ü"/>
            </a:pPr>
            <a:r>
              <a:rPr lang="tr-TR" altLang="tr-TR" sz="2000" b="1" dirty="0">
                <a:latin typeface="Arial Black" pitchFamily="34" charset="0"/>
              </a:rPr>
              <a:t>Dışarıdan hava beslemeli başı tamamen örten kaynakçı başlıkları </a:t>
            </a:r>
            <a:r>
              <a:rPr lang="tr-TR" altLang="tr-TR" sz="2000" b="1" dirty="0"/>
              <a:t>kullanılmalıdır.</a:t>
            </a:r>
          </a:p>
        </p:txBody>
      </p:sp>
    </p:spTree>
    <p:extLst>
      <p:ext uri="{BB962C8B-B14F-4D97-AF65-F5344CB8AC3E}">
        <p14:creationId xmlns="" xmlns:p14="http://schemas.microsoft.com/office/powerpoint/2010/main" val="3840088878"/>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ChangeArrowheads="1"/>
          </p:cNvSpPr>
          <p:nvPr/>
        </p:nvSpPr>
        <p:spPr bwMode="auto">
          <a:xfrm>
            <a:off x="251520" y="692696"/>
            <a:ext cx="8207375" cy="5262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buFont typeface="Wingdings" pitchFamily="2" charset="2"/>
              <a:buChar char="ü"/>
            </a:pPr>
            <a:r>
              <a:rPr lang="tr-TR" altLang="tr-TR" sz="2400" b="1" dirty="0" smtClean="0"/>
              <a:t>Kapalı ortamdaki kirli havayı emerek atılmasını sağlayacak </a:t>
            </a:r>
            <a:r>
              <a:rPr lang="tr-TR" altLang="tr-TR" sz="2400" b="1" dirty="0" smtClean="0">
                <a:latin typeface="Arial Black" pitchFamily="34" charset="0"/>
              </a:rPr>
              <a:t>lokal havalandırma </a:t>
            </a:r>
            <a:r>
              <a:rPr lang="tr-TR" altLang="tr-TR" sz="2400" b="1" dirty="0" smtClean="0"/>
              <a:t>sistemi kurulmalıdır.</a:t>
            </a:r>
          </a:p>
          <a:p>
            <a:pPr>
              <a:buFont typeface="Wingdings" pitchFamily="2" charset="2"/>
              <a:buChar char="ü"/>
            </a:pPr>
            <a:endParaRPr lang="tr-TR" altLang="tr-TR" sz="2400" b="1" dirty="0"/>
          </a:p>
          <a:p>
            <a:pPr>
              <a:buFont typeface="Wingdings" pitchFamily="2" charset="2"/>
              <a:buChar char="ü"/>
            </a:pPr>
            <a:r>
              <a:rPr lang="tr-TR" altLang="tr-TR" sz="2400" b="1" dirty="0"/>
              <a:t>Kapalı ve dar alanlardan </a:t>
            </a:r>
            <a:r>
              <a:rPr lang="tr-TR" altLang="tr-TR" sz="2400" b="1" dirty="0">
                <a:latin typeface="Arial Black" pitchFamily="34" charset="0"/>
              </a:rPr>
              <a:t>kaynakçı başına 900-1500 m³/ h kirli hava emilmelidir</a:t>
            </a:r>
            <a:r>
              <a:rPr lang="tr-TR" altLang="tr-TR" sz="2400" b="1" dirty="0"/>
              <a:t> ve bu alanlara temiz hava beslenmelidir.</a:t>
            </a:r>
          </a:p>
          <a:p>
            <a:pPr>
              <a:buFont typeface="Wingdings" pitchFamily="2" charset="2"/>
              <a:buChar char="ü"/>
            </a:pPr>
            <a:endParaRPr lang="tr-TR" altLang="tr-TR" sz="2400" b="1" dirty="0"/>
          </a:p>
          <a:p>
            <a:pPr>
              <a:buFont typeface="Wingdings" pitchFamily="2" charset="2"/>
              <a:buChar char="ü"/>
            </a:pPr>
            <a:r>
              <a:rPr lang="tr-TR" altLang="tr-TR" sz="2400" b="1" dirty="0">
                <a:latin typeface="Arial Black" pitchFamily="34" charset="0"/>
              </a:rPr>
              <a:t>Kapalı ve dar alanlarda </a:t>
            </a:r>
            <a:r>
              <a:rPr lang="tr-TR" altLang="tr-TR" sz="2400" b="1" dirty="0">
                <a:solidFill>
                  <a:srgbClr val="FF0000"/>
                </a:solidFill>
                <a:latin typeface="Arial Black" pitchFamily="34" charset="0"/>
              </a:rPr>
              <a:t>oksijen</a:t>
            </a:r>
            <a:r>
              <a:rPr lang="tr-TR" altLang="tr-TR" sz="2400" b="1" dirty="0">
                <a:latin typeface="Arial Black" pitchFamily="34" charset="0"/>
              </a:rPr>
              <a:t> kullanılarak havalandırma yapılmamalıdır.</a:t>
            </a:r>
          </a:p>
          <a:p>
            <a:pPr>
              <a:buFont typeface="Wingdings" pitchFamily="2" charset="2"/>
              <a:buChar char="ü"/>
            </a:pPr>
            <a:endParaRPr lang="tr-TR" altLang="tr-TR" sz="2400" b="1" dirty="0"/>
          </a:p>
          <a:p>
            <a:pPr>
              <a:buFont typeface="Wingdings" pitchFamily="2" charset="2"/>
              <a:buChar char="ü"/>
            </a:pPr>
            <a:endParaRPr lang="tr-TR" altLang="tr-TR" sz="2400" b="1" dirty="0"/>
          </a:p>
          <a:p>
            <a:pPr>
              <a:buFont typeface="Wingdings" pitchFamily="2" charset="2"/>
              <a:buChar char="ü"/>
            </a:pPr>
            <a:r>
              <a:rPr lang="tr-TR" altLang="tr-TR" sz="2400" b="1" dirty="0"/>
              <a:t>Kazanlar gibi dar ve kapalı hacimlerle aynı zamanda nemli yerlerdeki kaynak çalışmalarında, </a:t>
            </a:r>
            <a:r>
              <a:rPr lang="tr-TR" altLang="tr-TR" sz="2400" b="1" dirty="0">
                <a:latin typeface="Arial Black" pitchFamily="34" charset="0"/>
              </a:rPr>
              <a:t>sadece doğru akım kullanılmalıdır.</a:t>
            </a:r>
          </a:p>
        </p:txBody>
      </p:sp>
    </p:spTree>
    <p:extLst>
      <p:ext uri="{BB962C8B-B14F-4D97-AF65-F5344CB8AC3E}">
        <p14:creationId xmlns="" xmlns:p14="http://schemas.microsoft.com/office/powerpoint/2010/main" val="1350477017"/>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0" y="188913"/>
            <a:ext cx="8316416" cy="65556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algn="ctr" eaLnBrk="1" hangingPunct="1"/>
            <a:r>
              <a:rPr kumimoji="1" lang="tr-TR" altLang="tr-TR" sz="2800" b="1" dirty="0">
                <a:latin typeface="Verdana" pitchFamily="34" charset="0"/>
              </a:rPr>
              <a:t>İçinde Ne Olduğu Bilinmeyen Kaplara Kaynak Yapılacağında Alınacak Önlemler : </a:t>
            </a:r>
          </a:p>
          <a:p>
            <a:pPr eaLnBrk="1" hangingPunct="1"/>
            <a:endParaRPr kumimoji="1" lang="tr-TR" altLang="tr-TR" sz="2400" dirty="0">
              <a:latin typeface="Verdana" pitchFamily="34" charset="0"/>
            </a:endParaRPr>
          </a:p>
          <a:p>
            <a:pPr eaLnBrk="1" hangingPunct="1"/>
            <a:r>
              <a:rPr kumimoji="1" lang="tr-TR" altLang="tr-TR" sz="2400" dirty="0">
                <a:latin typeface="Verdana" pitchFamily="34" charset="0"/>
              </a:rPr>
              <a:t>İçlerinde ne olduğu bilinmeyen varil, tüp ve benzeri kapalı kaplar üzerinde kaynak yapılmadan önce,</a:t>
            </a:r>
          </a:p>
          <a:p>
            <a:pPr eaLnBrk="1" hangingPunct="1"/>
            <a:r>
              <a:rPr kumimoji="1" lang="tr-TR" altLang="tr-TR" sz="2400" dirty="0">
                <a:latin typeface="Verdana" pitchFamily="34" charset="0"/>
              </a:rPr>
              <a:t> </a:t>
            </a:r>
          </a:p>
          <a:p>
            <a:pPr eaLnBrk="1" hangingPunct="1"/>
            <a:r>
              <a:rPr kumimoji="1" lang="tr-TR" altLang="tr-TR" sz="2400" dirty="0">
                <a:latin typeface="Verdana" pitchFamily="34" charset="0"/>
              </a:rPr>
              <a:t>Kabın kapağı açılıp </a:t>
            </a:r>
            <a:r>
              <a:rPr kumimoji="1" lang="tr-TR" altLang="tr-TR" sz="2400" dirty="0">
                <a:solidFill>
                  <a:srgbClr val="FF0000"/>
                </a:solidFill>
                <a:latin typeface="Verdana" pitchFamily="34" charset="0"/>
              </a:rPr>
              <a:t>kontrol</a:t>
            </a:r>
            <a:r>
              <a:rPr kumimoji="1" lang="tr-TR" altLang="tr-TR" sz="2400" dirty="0">
                <a:latin typeface="Verdana" pitchFamily="34" charset="0"/>
              </a:rPr>
              <a:t> edilmeli, </a:t>
            </a:r>
          </a:p>
          <a:p>
            <a:pPr eaLnBrk="1" hangingPunct="1"/>
            <a:r>
              <a:rPr kumimoji="1" lang="tr-TR" altLang="tr-TR" sz="2400" dirty="0">
                <a:latin typeface="Verdana" pitchFamily="34" charset="0"/>
              </a:rPr>
              <a:t>İçleri </a:t>
            </a:r>
            <a:r>
              <a:rPr kumimoji="1" lang="tr-TR" altLang="tr-TR" sz="2400" dirty="0">
                <a:solidFill>
                  <a:srgbClr val="FF0000"/>
                </a:solidFill>
                <a:latin typeface="Verdana" pitchFamily="34" charset="0"/>
              </a:rPr>
              <a:t>su doldurularak temizlenmeli</a:t>
            </a:r>
            <a:r>
              <a:rPr kumimoji="1" lang="tr-TR" altLang="tr-TR" sz="2400" dirty="0">
                <a:latin typeface="Verdana" pitchFamily="34" charset="0"/>
              </a:rPr>
              <a:t>, </a:t>
            </a:r>
          </a:p>
          <a:p>
            <a:pPr eaLnBrk="1" hangingPunct="1"/>
            <a:endParaRPr kumimoji="1" lang="tr-TR" altLang="tr-TR" sz="2400" dirty="0">
              <a:latin typeface="Verdana" pitchFamily="34" charset="0"/>
            </a:endParaRPr>
          </a:p>
          <a:p>
            <a:pPr eaLnBrk="1" hangingPunct="1"/>
            <a:r>
              <a:rPr kumimoji="1" lang="tr-TR" altLang="tr-TR" sz="2400" dirty="0">
                <a:latin typeface="Verdana" pitchFamily="34" charset="0"/>
              </a:rPr>
              <a:t>İçinde yanıcı, parlayıcı ve zehirli atık ve buhar kalmadığından </a:t>
            </a:r>
            <a:r>
              <a:rPr kumimoji="1" lang="tr-TR" altLang="tr-TR" sz="2400" dirty="0">
                <a:solidFill>
                  <a:srgbClr val="FF0000"/>
                </a:solidFill>
                <a:latin typeface="Verdana" pitchFamily="34" charset="0"/>
              </a:rPr>
              <a:t>emin olunduktan sonra ve ağızları açık halde iken </a:t>
            </a:r>
            <a:r>
              <a:rPr kumimoji="1" lang="tr-TR" altLang="tr-TR" sz="2400" dirty="0">
                <a:latin typeface="Verdana" pitchFamily="34" charset="0"/>
              </a:rPr>
              <a:t>kaynak veya kesme işlemi yapılmalıdır. </a:t>
            </a:r>
          </a:p>
          <a:p>
            <a:pPr eaLnBrk="1" hangingPunct="1"/>
            <a:endParaRPr kumimoji="1" lang="tr-TR" altLang="tr-TR" sz="2400" dirty="0">
              <a:latin typeface="Verdana" pitchFamily="34" charset="0"/>
            </a:endParaRPr>
          </a:p>
          <a:p>
            <a:pPr eaLnBrk="1" hangingPunct="1"/>
            <a:r>
              <a:rPr kumimoji="1" lang="tr-TR" altLang="tr-TR" sz="2400" dirty="0">
                <a:latin typeface="Verdana" pitchFamily="34" charset="0"/>
              </a:rPr>
              <a:t>Gerekli kontroller yapılmadan kesinlikle kaynak yapılmamalıdır.</a:t>
            </a:r>
          </a:p>
        </p:txBody>
      </p:sp>
      <p:sp>
        <p:nvSpPr>
          <p:cNvPr id="2" name="Slayt Numarası Yer Tutucusu 1"/>
          <p:cNvSpPr>
            <a:spLocks noGrp="1"/>
          </p:cNvSpPr>
          <p:nvPr>
            <p:ph type="sldNum" sz="quarter" idx="12"/>
          </p:nvPr>
        </p:nvSpPr>
        <p:spPr/>
        <p:txBody>
          <a:bodyPr/>
          <a:lstStyle/>
          <a:p>
            <a:pPr>
              <a:defRPr/>
            </a:pPr>
            <a:fld id="{876F7B5E-EF4F-4243-BF7E-73BA8639DC6A}" type="slidenum">
              <a:rPr lang="tr-TR" smtClean="0"/>
              <a:pPr>
                <a:defRPr/>
              </a:pPr>
              <a:t>58</a:t>
            </a:fld>
            <a:endParaRPr lang="tr-TR"/>
          </a:p>
        </p:txBody>
      </p:sp>
    </p:spTree>
    <p:extLst>
      <p:ext uri="{BB962C8B-B14F-4D97-AF65-F5344CB8AC3E}">
        <p14:creationId xmlns="" xmlns:p14="http://schemas.microsoft.com/office/powerpoint/2010/main" val="894243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26988" y="39688"/>
            <a:ext cx="8487420" cy="6586418"/>
          </a:xfrm>
          <a:prstGeom prst="rect">
            <a:avLst/>
          </a:prstGeom>
          <a:noFill/>
          <a:ln>
            <a:noFill/>
          </a:ln>
          <a:extLst/>
        </p:spPr>
        <p:txBody>
          <a:bodyPr wrap="squar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spcBef>
                <a:spcPct val="0"/>
              </a:spcBef>
              <a:buFontTx/>
              <a:buNone/>
              <a:defRPr/>
            </a:pPr>
            <a:r>
              <a:rPr kumimoji="1" lang="tr-TR" altLang="tr-TR" sz="2400" b="1" dirty="0" smtClean="0">
                <a:latin typeface="Arial Black" panose="020B0A04020102020204" pitchFamily="34" charset="0"/>
              </a:rPr>
              <a:t>Yakıt Tankı, Tanker Ve Yakıt Depolarında Kaynak Yapılacağı Durumlarda Alınacak  Önlemler :</a:t>
            </a:r>
          </a:p>
          <a:p>
            <a:pPr eaLnBrk="1" hangingPunct="1">
              <a:spcBef>
                <a:spcPct val="0"/>
              </a:spcBef>
              <a:buFontTx/>
              <a:buNone/>
              <a:defRPr/>
            </a:pPr>
            <a:endParaRPr kumimoji="1" lang="tr-TR" altLang="tr-TR" sz="2200" dirty="0" smtClean="0">
              <a:solidFill>
                <a:srgbClr val="0070C0"/>
              </a:solidFill>
              <a:latin typeface="Verdana" pitchFamily="34" charset="0"/>
            </a:endParaRPr>
          </a:p>
          <a:p>
            <a:pPr eaLnBrk="1" hangingPunct="1">
              <a:spcBef>
                <a:spcPct val="0"/>
              </a:spcBef>
              <a:buFontTx/>
              <a:buNone/>
              <a:defRPr/>
            </a:pPr>
            <a:r>
              <a:rPr kumimoji="1" lang="tr-TR" altLang="tr-TR" sz="2200" dirty="0" smtClean="0">
                <a:solidFill>
                  <a:srgbClr val="0070C0"/>
                </a:solidFill>
                <a:latin typeface="Verdana" pitchFamily="34" charset="0"/>
              </a:rPr>
              <a:t>Araç üzerindeki yakıt depolarına</a:t>
            </a:r>
            <a:r>
              <a:rPr kumimoji="1" lang="tr-TR" altLang="tr-TR" sz="2200" dirty="0" smtClean="0">
                <a:latin typeface="Verdana" pitchFamily="34" charset="0"/>
              </a:rPr>
              <a:t>, içleri boş veya dolu olsun, bakılmaksızın </a:t>
            </a:r>
            <a:r>
              <a:rPr kumimoji="1" lang="tr-TR" altLang="tr-TR" sz="2200" b="1" dirty="0" smtClean="0">
                <a:solidFill>
                  <a:srgbClr val="0070C0"/>
                </a:solidFill>
                <a:latin typeface="Verdana" pitchFamily="34" charset="0"/>
              </a:rPr>
              <a:t>kesinlikle kaynak yapılmamalıdır.</a:t>
            </a:r>
          </a:p>
          <a:p>
            <a:pPr eaLnBrk="1" hangingPunct="1">
              <a:spcBef>
                <a:spcPct val="0"/>
              </a:spcBef>
              <a:buFontTx/>
              <a:buNone/>
              <a:defRPr/>
            </a:pPr>
            <a:endParaRPr kumimoji="1" lang="tr-TR" altLang="tr-TR" sz="2200" dirty="0" smtClean="0">
              <a:latin typeface="Verdana" pitchFamily="34" charset="0"/>
            </a:endParaRPr>
          </a:p>
          <a:p>
            <a:pPr eaLnBrk="1" hangingPunct="1">
              <a:spcBef>
                <a:spcPct val="0"/>
              </a:spcBef>
              <a:buFontTx/>
              <a:buNone/>
              <a:defRPr/>
            </a:pPr>
            <a:r>
              <a:rPr kumimoji="1" lang="tr-TR" altLang="tr-TR" sz="2200" b="1" dirty="0" smtClean="0">
                <a:solidFill>
                  <a:srgbClr val="0070C0"/>
                </a:solidFill>
                <a:latin typeface="Verdana" pitchFamily="34" charset="0"/>
              </a:rPr>
              <a:t>Daha önceden içinde benzin veya başka yanıcı sıvı madde depolanmış olan</a:t>
            </a:r>
            <a:r>
              <a:rPr kumimoji="1" lang="tr-TR" altLang="tr-TR" sz="2200" dirty="0" smtClean="0">
                <a:latin typeface="Verdana" pitchFamily="34" charset="0"/>
              </a:rPr>
              <a:t>, yakıt tankı, tanker vb. kaplar üzerinde kaynak  yapmak gerektiği durumlarda; </a:t>
            </a:r>
          </a:p>
          <a:p>
            <a:pPr marL="439738" indent="-439738" eaLnBrk="1" hangingPunct="1">
              <a:spcBef>
                <a:spcPct val="0"/>
              </a:spcBef>
              <a:buFontTx/>
              <a:buNone/>
              <a:defRPr/>
            </a:pPr>
            <a:r>
              <a:rPr kumimoji="1" lang="tr-TR" altLang="tr-TR" sz="2200" dirty="0" smtClean="0">
                <a:latin typeface="Verdana" pitchFamily="34" charset="0"/>
              </a:rPr>
              <a:t>-  </a:t>
            </a:r>
            <a:r>
              <a:rPr kumimoji="1" lang="tr-TR" altLang="tr-TR" sz="2200" dirty="0" smtClean="0">
                <a:solidFill>
                  <a:srgbClr val="FF0000"/>
                </a:solidFill>
                <a:latin typeface="Verdana" pitchFamily="34" charset="0"/>
              </a:rPr>
              <a:t>önce kapağı açılmalı, içi  su ile doldurularak</a:t>
            </a:r>
            <a:r>
              <a:rPr kumimoji="1" lang="tr-TR" altLang="tr-TR" sz="2200" dirty="0" smtClean="0">
                <a:latin typeface="Verdana" pitchFamily="34" charset="0"/>
              </a:rPr>
              <a:t>, içinde birikmiş </a:t>
            </a:r>
            <a:r>
              <a:rPr kumimoji="1" lang="tr-TR" altLang="tr-TR" sz="2200" dirty="0" smtClean="0">
                <a:solidFill>
                  <a:srgbClr val="FF0000"/>
                </a:solidFill>
                <a:latin typeface="Verdana" pitchFamily="34" charset="0"/>
              </a:rPr>
              <a:t>yanıcı gaz ve buharların dışarıya çıkması sağlanmalı, </a:t>
            </a:r>
          </a:p>
          <a:p>
            <a:pPr marL="439738" indent="-439738" eaLnBrk="1" hangingPunct="1">
              <a:spcBef>
                <a:spcPct val="0"/>
              </a:spcBef>
              <a:buFontTx/>
              <a:buNone/>
              <a:defRPr/>
            </a:pPr>
            <a:endParaRPr kumimoji="1" lang="tr-TR" altLang="tr-TR" sz="2200" dirty="0" smtClean="0">
              <a:latin typeface="Verdana" pitchFamily="34" charset="0"/>
            </a:endParaRPr>
          </a:p>
          <a:p>
            <a:pPr marL="355600" eaLnBrk="1" hangingPunct="1">
              <a:spcBef>
                <a:spcPct val="0"/>
              </a:spcBef>
              <a:buFontTx/>
              <a:buNone/>
              <a:defRPr/>
            </a:pPr>
            <a:r>
              <a:rPr kumimoji="1" lang="tr-TR" altLang="tr-TR" sz="2200" dirty="0" smtClean="0">
                <a:latin typeface="Verdana" pitchFamily="34" charset="0"/>
              </a:rPr>
              <a:t>yıkama işlemi tamamlandıktan sonra, </a:t>
            </a:r>
            <a:r>
              <a:rPr kumimoji="1" lang="tr-TR" altLang="tr-TR" sz="2200" dirty="0" smtClean="0">
                <a:solidFill>
                  <a:srgbClr val="FF0000"/>
                </a:solidFill>
                <a:latin typeface="Verdana" pitchFamily="34" charset="0"/>
              </a:rPr>
              <a:t>kaynak yapılacak bölgeye kadar içi su dolu ve kapağı açık halde</a:t>
            </a:r>
            <a:r>
              <a:rPr kumimoji="1" lang="tr-TR" altLang="tr-TR" sz="2200" dirty="0" smtClean="0">
                <a:latin typeface="Verdana" pitchFamily="34" charset="0"/>
              </a:rPr>
              <a:t> kaynak  yapılmalıdır.</a:t>
            </a:r>
          </a:p>
          <a:p>
            <a:pPr marL="355600" eaLnBrk="1" hangingPunct="1">
              <a:spcBef>
                <a:spcPct val="0"/>
              </a:spcBef>
              <a:buFontTx/>
              <a:buNone/>
              <a:defRPr/>
            </a:pPr>
            <a:endParaRPr kumimoji="1" lang="tr-TR" altLang="tr-TR" sz="2200" dirty="0" smtClean="0">
              <a:latin typeface="Verdana" pitchFamily="34" charset="0"/>
            </a:endParaRPr>
          </a:p>
          <a:p>
            <a:pPr marL="355600" eaLnBrk="1" hangingPunct="1">
              <a:spcBef>
                <a:spcPct val="0"/>
              </a:spcBef>
              <a:buFontTx/>
              <a:buNone/>
              <a:defRPr/>
            </a:pPr>
            <a:r>
              <a:rPr kumimoji="1" lang="tr-TR" altLang="tr-TR" sz="2200" dirty="0" smtClean="0">
                <a:latin typeface="Verdana" pitchFamily="34" charset="0"/>
              </a:rPr>
              <a:t>Kaynak yapacak kişi kaynakla ilgili gerekli </a:t>
            </a:r>
            <a:r>
              <a:rPr kumimoji="1" lang="tr-TR" altLang="tr-TR" sz="2200" dirty="0" smtClean="0">
                <a:solidFill>
                  <a:srgbClr val="FF0000"/>
                </a:solidFill>
                <a:latin typeface="Verdana" pitchFamily="34" charset="0"/>
              </a:rPr>
              <a:t>kişisel koruyucularını</a:t>
            </a:r>
            <a:r>
              <a:rPr kumimoji="1" lang="tr-TR" altLang="tr-TR" sz="2200" dirty="0" smtClean="0">
                <a:latin typeface="Verdana" pitchFamily="34" charset="0"/>
              </a:rPr>
              <a:t> kullanmalı.</a:t>
            </a:r>
          </a:p>
        </p:txBody>
      </p:sp>
      <p:sp>
        <p:nvSpPr>
          <p:cNvPr id="2" name="Slayt Numarası Yer Tutucusu 1"/>
          <p:cNvSpPr>
            <a:spLocks noGrp="1"/>
          </p:cNvSpPr>
          <p:nvPr>
            <p:ph type="sldNum" sz="quarter" idx="12"/>
          </p:nvPr>
        </p:nvSpPr>
        <p:spPr/>
        <p:txBody>
          <a:bodyPr/>
          <a:lstStyle/>
          <a:p>
            <a:pPr>
              <a:defRPr/>
            </a:pPr>
            <a:fld id="{260DDE5E-91FE-4440-A80B-A59121FB8E76}" type="slidenum">
              <a:rPr lang="tr-TR" smtClean="0"/>
              <a:pPr>
                <a:defRPr/>
              </a:pPr>
              <a:t>59</a:t>
            </a:fld>
            <a:endParaRPr lang="tr-TR"/>
          </a:p>
        </p:txBody>
      </p:sp>
    </p:spTree>
    <p:extLst>
      <p:ext uri="{BB962C8B-B14F-4D97-AF65-F5344CB8AC3E}">
        <p14:creationId xmlns="" xmlns:p14="http://schemas.microsoft.com/office/powerpoint/2010/main" val="327965097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139700" y="188913"/>
            <a:ext cx="8248724" cy="69095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3600" b="1" dirty="0">
                <a:latin typeface="Verdana" pitchFamily="34" charset="0"/>
              </a:rPr>
              <a:t>MAK Değerleri</a:t>
            </a:r>
          </a:p>
          <a:p>
            <a:pPr eaLnBrk="1" hangingPunct="1">
              <a:spcBef>
                <a:spcPct val="50000"/>
              </a:spcBef>
            </a:pPr>
            <a:r>
              <a:rPr lang="tr-TR" altLang="tr-TR" sz="2000" dirty="0">
                <a:latin typeface="Verdana" pitchFamily="34" charset="0"/>
              </a:rPr>
              <a:t>Çeşitli kimyasal maddelerin çalışma ortamında bulunması ile ilgili olarak , ülkelere göre her madde için değişebilen değerler söz konusudur. </a:t>
            </a:r>
          </a:p>
          <a:p>
            <a:pPr eaLnBrk="1" hangingPunct="1">
              <a:spcBef>
                <a:spcPct val="50000"/>
              </a:spcBef>
            </a:pPr>
            <a:r>
              <a:rPr lang="tr-TR" altLang="tr-TR" sz="2600" dirty="0">
                <a:solidFill>
                  <a:srgbClr val="0070C0"/>
                </a:solidFill>
                <a:latin typeface="Arial Black" pitchFamily="34" charset="0"/>
              </a:rPr>
              <a:t>Kanserojen (kanser yapan) maddelerin MAK değeri yoktur.</a:t>
            </a:r>
          </a:p>
          <a:p>
            <a:pPr eaLnBrk="1" hangingPunct="1">
              <a:spcBef>
                <a:spcPct val="50000"/>
              </a:spcBef>
            </a:pPr>
            <a:r>
              <a:rPr lang="tr-TR" altLang="tr-TR" sz="2400" dirty="0">
                <a:latin typeface="Arial Black" pitchFamily="34" charset="0"/>
              </a:rPr>
              <a:t>MAC = MAK (</a:t>
            </a:r>
            <a:r>
              <a:rPr lang="tr-TR" altLang="tr-TR" sz="2400" dirty="0">
                <a:solidFill>
                  <a:srgbClr val="FF0000"/>
                </a:solidFill>
                <a:latin typeface="Arial Black" pitchFamily="34" charset="0"/>
              </a:rPr>
              <a:t>Müsaade edilen Azami Konsantrasyon</a:t>
            </a:r>
            <a:r>
              <a:rPr lang="tr-TR" altLang="tr-TR" sz="2400" dirty="0">
                <a:latin typeface="Arial Black" pitchFamily="34" charset="0"/>
              </a:rPr>
              <a:t>)</a:t>
            </a:r>
          </a:p>
          <a:p>
            <a:pPr eaLnBrk="1" hangingPunct="1">
              <a:spcBef>
                <a:spcPct val="50000"/>
              </a:spcBef>
            </a:pPr>
            <a:r>
              <a:rPr lang="tr-TR" altLang="tr-TR" sz="2200" b="1" dirty="0">
                <a:solidFill>
                  <a:srgbClr val="0070C0"/>
                </a:solidFill>
                <a:latin typeface="Arial Black" pitchFamily="34" charset="0"/>
              </a:rPr>
              <a:t>Günde 8 saat ve haftada 40 saatlik çalışma  süresi için ortamda bulunmasına izin verilen ve çalışanların sağlıklarını bozmayacağı kabul edilen maksimum konsantrasyondur.</a:t>
            </a:r>
          </a:p>
          <a:p>
            <a:pPr eaLnBrk="1" hangingPunct="1">
              <a:spcBef>
                <a:spcPct val="50000"/>
              </a:spcBef>
            </a:pPr>
            <a:r>
              <a:rPr lang="tr-TR" altLang="tr-TR" sz="2000" dirty="0">
                <a:latin typeface="Verdana" pitchFamily="34" charset="0"/>
              </a:rPr>
              <a:t>	</a:t>
            </a:r>
            <a:r>
              <a:rPr lang="tr-TR" altLang="tr-TR" sz="2400" b="1" dirty="0">
                <a:solidFill>
                  <a:srgbClr val="FF0000"/>
                </a:solidFill>
                <a:latin typeface="Verdana" pitchFamily="34" charset="0"/>
              </a:rPr>
              <a:t>Hacim birimi:  cm</a:t>
            </a:r>
            <a:r>
              <a:rPr lang="tr-TR" altLang="tr-TR" sz="2400" b="1" baseline="30000" dirty="0">
                <a:solidFill>
                  <a:srgbClr val="FF0000"/>
                </a:solidFill>
                <a:latin typeface="Verdana" pitchFamily="34" charset="0"/>
              </a:rPr>
              <a:t>3</a:t>
            </a:r>
            <a:r>
              <a:rPr lang="tr-TR" altLang="tr-TR" sz="2400" b="1" dirty="0">
                <a:solidFill>
                  <a:srgbClr val="FF0000"/>
                </a:solidFill>
                <a:latin typeface="Verdana" pitchFamily="34" charset="0"/>
              </a:rPr>
              <a:t>/m</a:t>
            </a:r>
            <a:r>
              <a:rPr lang="tr-TR" altLang="tr-TR" sz="2400" b="1" baseline="30000" dirty="0">
                <a:solidFill>
                  <a:srgbClr val="FF0000"/>
                </a:solidFill>
                <a:latin typeface="Verdana" pitchFamily="34" charset="0"/>
              </a:rPr>
              <a:t>3</a:t>
            </a:r>
            <a:r>
              <a:rPr lang="tr-TR" altLang="tr-TR" sz="2400" b="1" dirty="0">
                <a:solidFill>
                  <a:srgbClr val="FF0000"/>
                </a:solidFill>
                <a:latin typeface="Verdana" pitchFamily="34" charset="0"/>
              </a:rPr>
              <a:t>, </a:t>
            </a:r>
          </a:p>
          <a:p>
            <a:pPr lvl="2" eaLnBrk="1" hangingPunct="1">
              <a:spcBef>
                <a:spcPct val="50000"/>
              </a:spcBef>
              <a:buClr>
                <a:srgbClr val="FF9900"/>
              </a:buClr>
              <a:buSzPct val="135000"/>
              <a:buFont typeface="Wingdings" pitchFamily="2" charset="2"/>
              <a:buNone/>
            </a:pPr>
            <a:r>
              <a:rPr lang="tr-TR" altLang="tr-TR" sz="2400" b="1" dirty="0">
                <a:solidFill>
                  <a:srgbClr val="FF0000"/>
                </a:solidFill>
                <a:latin typeface="Verdana" pitchFamily="34" charset="0"/>
              </a:rPr>
              <a:t>Ağırlık birimi:  mg/m</a:t>
            </a:r>
            <a:r>
              <a:rPr lang="tr-TR" altLang="tr-TR" sz="2400" b="1" baseline="30000" dirty="0">
                <a:solidFill>
                  <a:srgbClr val="FF0000"/>
                </a:solidFill>
                <a:latin typeface="Verdana" pitchFamily="34" charset="0"/>
              </a:rPr>
              <a:t>3</a:t>
            </a:r>
            <a:r>
              <a:rPr lang="tr-TR" altLang="tr-TR" sz="2400" b="1" dirty="0">
                <a:solidFill>
                  <a:srgbClr val="FF0000"/>
                </a:solidFill>
                <a:latin typeface="Verdana" pitchFamily="34" charset="0"/>
              </a:rPr>
              <a:t> ve </a:t>
            </a:r>
          </a:p>
          <a:p>
            <a:pPr lvl="2" eaLnBrk="1" hangingPunct="1">
              <a:spcBef>
                <a:spcPct val="50000"/>
              </a:spcBef>
              <a:buClr>
                <a:srgbClr val="FF9900"/>
              </a:buClr>
              <a:buSzPct val="135000"/>
              <a:buFont typeface="Wingdings" pitchFamily="2" charset="2"/>
              <a:buNone/>
            </a:pPr>
            <a:r>
              <a:rPr lang="tr-TR" altLang="tr-TR" sz="2400" b="1" dirty="0">
                <a:solidFill>
                  <a:srgbClr val="FF0000"/>
                </a:solidFill>
                <a:latin typeface="Verdana" pitchFamily="34" charset="0"/>
              </a:rPr>
              <a:t>Parçacık birimi:  </a:t>
            </a:r>
            <a:r>
              <a:rPr lang="tr-TR" altLang="tr-TR" sz="2400" b="1" dirty="0" err="1">
                <a:solidFill>
                  <a:srgbClr val="FF0000"/>
                </a:solidFill>
                <a:latin typeface="Verdana" pitchFamily="34" charset="0"/>
              </a:rPr>
              <a:t>ppm</a:t>
            </a:r>
            <a:r>
              <a:rPr lang="tr-TR" altLang="tr-TR" sz="2400" b="1" dirty="0">
                <a:solidFill>
                  <a:srgbClr val="FF0000"/>
                </a:solidFill>
                <a:latin typeface="Verdana" pitchFamily="34" charset="0"/>
              </a:rPr>
              <a:t>/m</a:t>
            </a:r>
            <a:r>
              <a:rPr lang="tr-TR" altLang="tr-TR" sz="2400" b="1" baseline="30000" dirty="0">
                <a:solidFill>
                  <a:srgbClr val="FF0000"/>
                </a:solidFill>
                <a:latin typeface="Verdana" pitchFamily="34" charset="0"/>
              </a:rPr>
              <a:t>3</a:t>
            </a:r>
            <a:r>
              <a:rPr lang="tr-TR" altLang="tr-TR" sz="2400" b="1" dirty="0">
                <a:solidFill>
                  <a:srgbClr val="FF0000"/>
                </a:solidFill>
                <a:latin typeface="Verdana" pitchFamily="34" charset="0"/>
              </a:rPr>
              <a:t> tür. </a:t>
            </a:r>
          </a:p>
        </p:txBody>
      </p:sp>
      <p:sp>
        <p:nvSpPr>
          <p:cNvPr id="2" name="Slayt Numarası Yer Tutucusu 1"/>
          <p:cNvSpPr>
            <a:spLocks noGrp="1"/>
          </p:cNvSpPr>
          <p:nvPr>
            <p:ph type="sldNum" sz="quarter" idx="12"/>
          </p:nvPr>
        </p:nvSpPr>
        <p:spPr/>
        <p:txBody>
          <a:bodyPr/>
          <a:lstStyle/>
          <a:p>
            <a:pPr>
              <a:defRPr/>
            </a:pPr>
            <a:fld id="{6A09A248-1808-4B1F-9DE0-E0BE25CBB89E}" type="slidenum">
              <a:rPr lang="tr-TR" smtClean="0"/>
              <a:pPr>
                <a:defRPr/>
              </a:pPr>
              <a:t>60</a:t>
            </a:fld>
            <a:endParaRPr lang="tr-TR"/>
          </a:p>
        </p:txBody>
      </p:sp>
    </p:spTree>
    <p:extLst>
      <p:ext uri="{BB962C8B-B14F-4D97-AF65-F5344CB8AC3E}">
        <p14:creationId xmlns="" xmlns:p14="http://schemas.microsoft.com/office/powerpoint/2010/main" val="289119636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79388" y="260350"/>
            <a:ext cx="8137028" cy="6500241"/>
          </a:xfrm>
          <a:prstGeom prst="rect">
            <a:avLst/>
          </a:prstGeom>
          <a:noFill/>
          <a:ln>
            <a:noFill/>
          </a:ln>
          <a:extLst/>
        </p:spPr>
        <p:txBody>
          <a:bodyPr wrap="square">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lnSpc>
                <a:spcPct val="110000"/>
              </a:lnSpc>
              <a:spcBef>
                <a:spcPct val="50000"/>
              </a:spcBef>
              <a:buFontTx/>
              <a:buNone/>
              <a:defRPr/>
            </a:pPr>
            <a:r>
              <a:rPr lang="tr-TR" altLang="tr-TR" sz="2800" b="1" dirty="0" smtClean="0">
                <a:latin typeface="Verdana" pitchFamily="34" charset="0"/>
              </a:rPr>
              <a:t>TLV = ESD </a:t>
            </a:r>
            <a:r>
              <a:rPr lang="tr-TR" altLang="tr-TR" sz="2400" b="1" dirty="0" smtClean="0">
                <a:latin typeface="Verdana" pitchFamily="34" charset="0"/>
              </a:rPr>
              <a:t>(Eşik Sınır Değer)</a:t>
            </a:r>
          </a:p>
          <a:p>
            <a:pPr eaLnBrk="1" hangingPunct="1">
              <a:lnSpc>
                <a:spcPct val="110000"/>
              </a:lnSpc>
              <a:spcBef>
                <a:spcPct val="50000"/>
              </a:spcBef>
              <a:buFontTx/>
              <a:buNone/>
              <a:defRPr/>
            </a:pPr>
            <a:r>
              <a:rPr lang="tr-TR" altLang="tr-TR" sz="2400" dirty="0" smtClean="0">
                <a:latin typeface="Verdana" pitchFamily="34" charset="0"/>
              </a:rPr>
              <a:t>Kimyasalların havada bulunmasına izin verilen ve </a:t>
            </a:r>
            <a:r>
              <a:rPr lang="tr-TR" altLang="tr-TR" sz="2400" b="1" dirty="0" smtClean="0">
                <a:solidFill>
                  <a:srgbClr val="0070C0"/>
                </a:solidFill>
                <a:latin typeface="Verdana" pitchFamily="34" charset="0"/>
              </a:rPr>
              <a:t>uzun süreli, tekrarlanan </a:t>
            </a:r>
            <a:r>
              <a:rPr lang="tr-TR" altLang="tr-TR" sz="2400" b="1" dirty="0" err="1" smtClean="0">
                <a:solidFill>
                  <a:srgbClr val="0070C0"/>
                </a:solidFill>
                <a:latin typeface="Verdana" pitchFamily="34" charset="0"/>
              </a:rPr>
              <a:t>maruziyetlerde</a:t>
            </a:r>
            <a:r>
              <a:rPr lang="tr-TR" altLang="tr-TR" sz="2400" b="1" dirty="0" smtClean="0">
                <a:solidFill>
                  <a:srgbClr val="0070C0"/>
                </a:solidFill>
                <a:latin typeface="Verdana" pitchFamily="34" charset="0"/>
              </a:rPr>
              <a:t> çalışanın sağlığı üzerine herhangi bir olumsuz etkiye yol açmadığı kabul edilen</a:t>
            </a:r>
            <a:r>
              <a:rPr lang="tr-TR" altLang="tr-TR" sz="2400" dirty="0" smtClean="0">
                <a:latin typeface="Verdana" pitchFamily="34" charset="0"/>
              </a:rPr>
              <a:t> konsantrasyonları.</a:t>
            </a:r>
            <a:endParaRPr lang="tr-TR" altLang="tr-TR" sz="2000" dirty="0" smtClean="0">
              <a:latin typeface="Verdana" pitchFamily="34" charset="0"/>
            </a:endParaRPr>
          </a:p>
          <a:p>
            <a:pPr marL="4216400" indent="-4216400" eaLnBrk="1" hangingPunct="1">
              <a:lnSpc>
                <a:spcPct val="110000"/>
              </a:lnSpc>
              <a:spcBef>
                <a:spcPct val="50000"/>
              </a:spcBef>
              <a:buFontTx/>
              <a:buNone/>
              <a:defRPr/>
            </a:pPr>
            <a:r>
              <a:rPr lang="tr-TR" altLang="tr-TR" sz="2800" b="1" dirty="0" smtClean="0">
                <a:solidFill>
                  <a:srgbClr val="FF0000"/>
                </a:solidFill>
                <a:latin typeface="Verdana" pitchFamily="34" charset="0"/>
              </a:rPr>
              <a:t>TLV-TWA =ESD-ZAO</a:t>
            </a:r>
            <a:r>
              <a:rPr lang="tr-TR" altLang="tr-TR" sz="2800" dirty="0" smtClean="0">
                <a:latin typeface="Verdana" pitchFamily="34" charset="0"/>
              </a:rPr>
              <a:t> </a:t>
            </a:r>
            <a:r>
              <a:rPr lang="tr-TR" altLang="tr-TR" sz="2400" b="1" dirty="0" smtClean="0">
                <a:latin typeface="Verdana" pitchFamily="34" charset="0"/>
              </a:rPr>
              <a:t>(Eşik Sınır Değer -zaman Ağırlıklı Ortalaması)   </a:t>
            </a:r>
          </a:p>
          <a:p>
            <a:pPr eaLnBrk="1" hangingPunct="1">
              <a:lnSpc>
                <a:spcPct val="110000"/>
              </a:lnSpc>
              <a:spcBef>
                <a:spcPct val="50000"/>
              </a:spcBef>
              <a:buFontTx/>
              <a:buNone/>
              <a:defRPr/>
            </a:pPr>
            <a:r>
              <a:rPr lang="tr-TR" altLang="tr-TR" sz="2400" b="1" dirty="0" smtClean="0">
                <a:solidFill>
                  <a:srgbClr val="0070C0"/>
                </a:solidFill>
                <a:latin typeface="Verdana" pitchFamily="34" charset="0"/>
              </a:rPr>
              <a:t>Günde 8, haftada 40 saat </a:t>
            </a:r>
            <a:r>
              <a:rPr lang="tr-TR" altLang="tr-TR" sz="2400" dirty="0" smtClean="0">
                <a:latin typeface="Verdana" pitchFamily="34" charset="0"/>
              </a:rPr>
              <a:t>çalışan bir kişinin, bir kimyasala </a:t>
            </a:r>
            <a:r>
              <a:rPr lang="tr-TR" altLang="tr-TR" sz="2400" b="1" dirty="0" smtClean="0">
                <a:solidFill>
                  <a:srgbClr val="0070C0"/>
                </a:solidFill>
                <a:latin typeface="Verdana" pitchFamily="34" charset="0"/>
              </a:rPr>
              <a:t>uzun süreli, tekrarlanan </a:t>
            </a:r>
            <a:r>
              <a:rPr lang="tr-TR" altLang="tr-TR" sz="2400" b="1" dirty="0" err="1" smtClean="0">
                <a:solidFill>
                  <a:srgbClr val="0070C0"/>
                </a:solidFill>
                <a:latin typeface="Verdana" pitchFamily="34" charset="0"/>
              </a:rPr>
              <a:t>maruziyetlerinde</a:t>
            </a:r>
            <a:r>
              <a:rPr lang="tr-TR" altLang="tr-TR" sz="2400" b="1" dirty="0" smtClean="0">
                <a:solidFill>
                  <a:srgbClr val="0070C0"/>
                </a:solidFill>
                <a:latin typeface="Verdana" pitchFamily="34" charset="0"/>
              </a:rPr>
              <a:t>, </a:t>
            </a:r>
            <a:r>
              <a:rPr lang="tr-TR" altLang="tr-TR" sz="2400" dirty="0" smtClean="0">
                <a:latin typeface="Verdana" pitchFamily="34" charset="0"/>
              </a:rPr>
              <a:t>sağlığının zarar görmeyeceği kabul edilen </a:t>
            </a:r>
            <a:r>
              <a:rPr lang="tr-TR" altLang="tr-TR" sz="2400" b="1" dirty="0" smtClean="0">
                <a:solidFill>
                  <a:srgbClr val="0070C0"/>
                </a:solidFill>
                <a:latin typeface="Verdana" pitchFamily="34" charset="0"/>
              </a:rPr>
              <a:t>zaman ağırlıklı ortalama konsantrasyonu.</a:t>
            </a:r>
          </a:p>
        </p:txBody>
      </p:sp>
      <p:sp>
        <p:nvSpPr>
          <p:cNvPr id="2" name="Slayt Numarası Yer Tutucusu 1"/>
          <p:cNvSpPr>
            <a:spLocks noGrp="1"/>
          </p:cNvSpPr>
          <p:nvPr>
            <p:ph type="sldNum" sz="quarter" idx="12"/>
          </p:nvPr>
        </p:nvSpPr>
        <p:spPr/>
        <p:txBody>
          <a:bodyPr/>
          <a:lstStyle/>
          <a:p>
            <a:pPr>
              <a:defRPr/>
            </a:pPr>
            <a:fld id="{CEA7361E-3C18-4118-A390-863549F489CC}" type="slidenum">
              <a:rPr lang="tr-TR" smtClean="0"/>
              <a:pPr>
                <a:defRPr/>
              </a:pPr>
              <a:t>61</a:t>
            </a:fld>
            <a:endParaRPr lang="tr-TR"/>
          </a:p>
        </p:txBody>
      </p:sp>
    </p:spTree>
    <p:extLst>
      <p:ext uri="{BB962C8B-B14F-4D97-AF65-F5344CB8AC3E}">
        <p14:creationId xmlns="" xmlns:p14="http://schemas.microsoft.com/office/powerpoint/2010/main" val="33107448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107950" y="260350"/>
            <a:ext cx="8280474" cy="611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lnSpc>
                <a:spcPct val="130000"/>
              </a:lnSpc>
              <a:spcBef>
                <a:spcPct val="50000"/>
              </a:spcBef>
            </a:pPr>
            <a:r>
              <a:rPr lang="tr-TR" altLang="tr-TR" sz="2800" b="1" dirty="0">
                <a:latin typeface="Verdana" pitchFamily="34" charset="0"/>
              </a:rPr>
              <a:t>TLV-STEL =ESD-KSMS </a:t>
            </a:r>
            <a:r>
              <a:rPr lang="tr-TR" altLang="tr-TR" sz="2000" b="1" dirty="0">
                <a:latin typeface="Verdana" pitchFamily="34" charset="0"/>
              </a:rPr>
              <a:t>(Eşik Sınır Değer-Kısa Süreli </a:t>
            </a:r>
            <a:r>
              <a:rPr lang="tr-TR" altLang="tr-TR" sz="2000" b="1" dirty="0" err="1">
                <a:latin typeface="Verdana" pitchFamily="34" charset="0"/>
              </a:rPr>
              <a:t>Maruziyet</a:t>
            </a:r>
            <a:r>
              <a:rPr lang="tr-TR" altLang="tr-TR" sz="2000" b="1" dirty="0">
                <a:latin typeface="Verdana" pitchFamily="34" charset="0"/>
              </a:rPr>
              <a:t> Sınırı)</a:t>
            </a:r>
          </a:p>
          <a:p>
            <a:pPr eaLnBrk="1" hangingPunct="1">
              <a:lnSpc>
                <a:spcPct val="130000"/>
              </a:lnSpc>
              <a:spcBef>
                <a:spcPct val="50000"/>
              </a:spcBef>
            </a:pPr>
            <a:r>
              <a:rPr lang="tr-TR" altLang="tr-TR" sz="2400" dirty="0">
                <a:latin typeface="Verdana" pitchFamily="34" charset="0"/>
              </a:rPr>
              <a:t>Bu değer, </a:t>
            </a:r>
            <a:r>
              <a:rPr lang="tr-TR" altLang="tr-TR" sz="2400" u="sng" dirty="0">
                <a:latin typeface="Verdana" pitchFamily="34" charset="0"/>
              </a:rPr>
              <a:t>çalışma günü boyunca </a:t>
            </a:r>
            <a:r>
              <a:rPr lang="tr-TR" altLang="tr-TR" sz="2400" dirty="0">
                <a:latin typeface="Verdana" pitchFamily="34" charset="0"/>
              </a:rPr>
              <a:t>asla aşılmaması gereken ve </a:t>
            </a:r>
            <a:r>
              <a:rPr lang="tr-TR" altLang="tr-TR" sz="2400" b="1" u="sng" dirty="0">
                <a:solidFill>
                  <a:srgbClr val="0070C0"/>
                </a:solidFill>
                <a:latin typeface="Verdana" pitchFamily="34" charset="0"/>
              </a:rPr>
              <a:t>15 dakikalık </a:t>
            </a:r>
            <a:r>
              <a:rPr lang="tr-TR" altLang="tr-TR" sz="2400" b="1" u="sng" dirty="0" err="1">
                <a:solidFill>
                  <a:srgbClr val="0070C0"/>
                </a:solidFill>
                <a:latin typeface="Verdana" pitchFamily="34" charset="0"/>
              </a:rPr>
              <a:t>maruziyet</a:t>
            </a:r>
            <a:r>
              <a:rPr lang="tr-TR" altLang="tr-TR" sz="2400" b="1" u="sng" dirty="0">
                <a:solidFill>
                  <a:srgbClr val="0070C0"/>
                </a:solidFill>
                <a:latin typeface="Verdana" pitchFamily="34" charset="0"/>
              </a:rPr>
              <a:t> temelinde </a:t>
            </a:r>
            <a:r>
              <a:rPr lang="tr-TR" altLang="tr-TR" sz="2400" b="1" dirty="0">
                <a:solidFill>
                  <a:srgbClr val="0070C0"/>
                </a:solidFill>
                <a:latin typeface="Verdana" pitchFamily="34" charset="0"/>
              </a:rPr>
              <a:t>belirlenmiş </a:t>
            </a:r>
            <a:r>
              <a:rPr lang="tr-TR" altLang="tr-TR" sz="2400" b="1" u="sng" dirty="0">
                <a:solidFill>
                  <a:srgbClr val="0070C0"/>
                </a:solidFill>
                <a:latin typeface="Verdana" pitchFamily="34" charset="0"/>
              </a:rPr>
              <a:t>zaman ağırlıklı ortalama sınır değerdir. </a:t>
            </a:r>
          </a:p>
          <a:p>
            <a:pPr eaLnBrk="1" hangingPunct="1">
              <a:lnSpc>
                <a:spcPct val="130000"/>
              </a:lnSpc>
              <a:spcBef>
                <a:spcPct val="50000"/>
              </a:spcBef>
            </a:pPr>
            <a:r>
              <a:rPr lang="tr-TR" altLang="tr-TR" sz="2400" dirty="0" smtClean="0">
                <a:latin typeface="Verdana" pitchFamily="34" charset="0"/>
              </a:rPr>
              <a:t>Bu </a:t>
            </a:r>
            <a:r>
              <a:rPr lang="tr-TR" altLang="tr-TR" sz="2400" dirty="0">
                <a:latin typeface="Verdana" pitchFamily="34" charset="0"/>
              </a:rPr>
              <a:t>konsantrasyonlara </a:t>
            </a:r>
            <a:r>
              <a:rPr lang="tr-TR" altLang="tr-TR" sz="2400" b="1" dirty="0">
                <a:solidFill>
                  <a:srgbClr val="0070C0"/>
                </a:solidFill>
                <a:latin typeface="Verdana" pitchFamily="34" charset="0"/>
              </a:rPr>
              <a:t>beher </a:t>
            </a:r>
            <a:r>
              <a:rPr lang="tr-TR" altLang="tr-TR" sz="2400" b="1" dirty="0" err="1">
                <a:solidFill>
                  <a:srgbClr val="0070C0"/>
                </a:solidFill>
                <a:latin typeface="Verdana" pitchFamily="34" charset="0"/>
              </a:rPr>
              <a:t>maruziyet</a:t>
            </a:r>
            <a:r>
              <a:rPr lang="tr-TR" altLang="tr-TR" sz="2400" b="1" dirty="0">
                <a:solidFill>
                  <a:srgbClr val="0070C0"/>
                </a:solidFill>
                <a:latin typeface="Verdana" pitchFamily="34" charset="0"/>
              </a:rPr>
              <a:t> 15 dakikayı aşmamalı,</a:t>
            </a:r>
          </a:p>
          <a:p>
            <a:pPr eaLnBrk="1" hangingPunct="1">
              <a:lnSpc>
                <a:spcPct val="130000"/>
              </a:lnSpc>
              <a:spcBef>
                <a:spcPct val="50000"/>
              </a:spcBef>
            </a:pPr>
            <a:r>
              <a:rPr lang="tr-TR" altLang="tr-TR" sz="2400" b="1" dirty="0">
                <a:solidFill>
                  <a:srgbClr val="FF0000"/>
                </a:solidFill>
                <a:latin typeface="Verdana" pitchFamily="34" charset="0"/>
              </a:rPr>
              <a:t>günde 4 defadan fazla yinelenmemeli </a:t>
            </a:r>
            <a:r>
              <a:rPr lang="tr-TR" altLang="tr-TR" sz="2400" dirty="0">
                <a:latin typeface="Verdana" pitchFamily="34" charset="0"/>
              </a:rPr>
              <a:t>ve</a:t>
            </a:r>
          </a:p>
          <a:p>
            <a:pPr eaLnBrk="1" hangingPunct="1">
              <a:lnSpc>
                <a:spcPct val="130000"/>
              </a:lnSpc>
              <a:spcBef>
                <a:spcPct val="50000"/>
              </a:spcBef>
            </a:pPr>
            <a:r>
              <a:rPr lang="tr-TR" altLang="tr-TR" sz="2400" b="1" dirty="0">
                <a:solidFill>
                  <a:srgbClr val="0070C0"/>
                </a:solidFill>
                <a:latin typeface="Verdana" pitchFamily="34" charset="0"/>
              </a:rPr>
              <a:t>2 </a:t>
            </a:r>
            <a:r>
              <a:rPr lang="tr-TR" altLang="tr-TR" sz="2400" b="1" dirty="0" err="1">
                <a:solidFill>
                  <a:srgbClr val="0070C0"/>
                </a:solidFill>
                <a:latin typeface="Verdana" pitchFamily="34" charset="0"/>
              </a:rPr>
              <a:t>maruziyet</a:t>
            </a:r>
            <a:r>
              <a:rPr lang="tr-TR" altLang="tr-TR" sz="2400" b="1" dirty="0">
                <a:solidFill>
                  <a:srgbClr val="0070C0"/>
                </a:solidFill>
                <a:latin typeface="Verdana" pitchFamily="34" charset="0"/>
              </a:rPr>
              <a:t> arasındaki  süre 60 dakikadan kısa </a:t>
            </a:r>
            <a:r>
              <a:rPr lang="tr-TR" altLang="tr-TR" sz="2400" dirty="0">
                <a:latin typeface="Verdana" pitchFamily="34" charset="0"/>
              </a:rPr>
              <a:t>olmamalıdır.</a:t>
            </a:r>
          </a:p>
        </p:txBody>
      </p:sp>
      <p:sp>
        <p:nvSpPr>
          <p:cNvPr id="2" name="Slayt Numarası Yer Tutucusu 1"/>
          <p:cNvSpPr>
            <a:spLocks noGrp="1"/>
          </p:cNvSpPr>
          <p:nvPr>
            <p:ph type="sldNum" sz="quarter" idx="12"/>
          </p:nvPr>
        </p:nvSpPr>
        <p:spPr/>
        <p:txBody>
          <a:bodyPr/>
          <a:lstStyle/>
          <a:p>
            <a:pPr>
              <a:defRPr/>
            </a:pPr>
            <a:fld id="{D03C5273-4B32-4000-A2A4-F6647D28ACCA}" type="slidenum">
              <a:rPr lang="tr-TR" smtClean="0"/>
              <a:pPr>
                <a:defRPr/>
              </a:pPr>
              <a:t>62</a:t>
            </a:fld>
            <a:endParaRPr lang="tr-TR"/>
          </a:p>
        </p:txBody>
      </p:sp>
    </p:spTree>
    <p:extLst>
      <p:ext uri="{BB962C8B-B14F-4D97-AF65-F5344CB8AC3E}">
        <p14:creationId xmlns="" xmlns:p14="http://schemas.microsoft.com/office/powerpoint/2010/main" val="66367738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p:cNvSpPr>
            <a:spLocks noGrp="1"/>
          </p:cNvSpPr>
          <p:nvPr>
            <p:ph type="sldNum" sz="quarter" idx="12"/>
          </p:nvPr>
        </p:nvSpPr>
        <p:spPr/>
        <p:txBody>
          <a:bodyPr/>
          <a:lstStyle/>
          <a:p>
            <a:pPr>
              <a:defRPr/>
            </a:pPr>
            <a:fld id="{6C3F208F-94A3-45AF-B670-92278129B1CC}" type="slidenum">
              <a:rPr lang="tr-TR" smtClean="0"/>
              <a:pPr>
                <a:defRPr/>
              </a:pPr>
              <a:t>63</a:t>
            </a:fld>
            <a:endParaRPr lang="tr-TR"/>
          </a:p>
        </p:txBody>
      </p:sp>
      <p:sp>
        <p:nvSpPr>
          <p:cNvPr id="90115" name="Dikdörtgen 2"/>
          <p:cNvSpPr>
            <a:spLocks noChangeArrowheads="1"/>
          </p:cNvSpPr>
          <p:nvPr/>
        </p:nvSpPr>
        <p:spPr bwMode="auto">
          <a:xfrm>
            <a:off x="328034" y="2060848"/>
            <a:ext cx="8424863" cy="3440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itchFamily="34" charset="0"/>
                <a:cs typeface="Arial" pitchFamily="34" charset="0"/>
              </a:defRPr>
            </a:lvl1pPr>
            <a:lvl2pPr marL="742950" indent="-285750" eaLnBrk="0" hangingPunct="0">
              <a:defRPr sz="1600">
                <a:solidFill>
                  <a:schemeClr val="tx1"/>
                </a:solidFill>
                <a:latin typeface="Arial" pitchFamily="34" charset="0"/>
                <a:cs typeface="Arial" pitchFamily="34" charset="0"/>
              </a:defRPr>
            </a:lvl2pPr>
            <a:lvl3pPr marL="1143000" indent="-228600" eaLnBrk="0" hangingPunct="0">
              <a:defRPr sz="1600">
                <a:solidFill>
                  <a:schemeClr val="tx1"/>
                </a:solidFill>
                <a:latin typeface="Arial" pitchFamily="34" charset="0"/>
                <a:cs typeface="Arial" pitchFamily="34" charset="0"/>
              </a:defRPr>
            </a:lvl3pPr>
            <a:lvl4pPr marL="1600200" indent="-228600" eaLnBrk="0" hangingPunct="0">
              <a:defRPr sz="1600">
                <a:solidFill>
                  <a:schemeClr val="tx1"/>
                </a:solidFill>
                <a:latin typeface="Arial" pitchFamily="34" charset="0"/>
                <a:cs typeface="Arial" pitchFamily="34" charset="0"/>
              </a:defRPr>
            </a:lvl4pPr>
            <a:lvl5pPr marL="2057400" indent="-228600" eaLnBrk="0" hangingPunct="0">
              <a:defRPr sz="16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6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6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6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600">
                <a:solidFill>
                  <a:schemeClr val="tx1"/>
                </a:solidFill>
                <a:latin typeface="Arial" pitchFamily="34" charset="0"/>
                <a:cs typeface="Arial" pitchFamily="34" charset="0"/>
              </a:defRPr>
            </a:lvl9pPr>
          </a:lstStyle>
          <a:p>
            <a:pPr eaLnBrk="1" hangingPunct="1">
              <a:spcBef>
                <a:spcPct val="50000"/>
              </a:spcBef>
            </a:pPr>
            <a:r>
              <a:rPr lang="tr-TR" altLang="tr-TR" sz="3600" b="1" dirty="0">
                <a:solidFill>
                  <a:srgbClr val="FF0000"/>
                </a:solidFill>
                <a:latin typeface="Verdana" pitchFamily="34" charset="0"/>
              </a:rPr>
              <a:t>TLV-CV=ESD-TD </a:t>
            </a:r>
            <a:r>
              <a:rPr lang="tr-TR" altLang="tr-TR" sz="2800" b="1" dirty="0">
                <a:latin typeface="Verdana" pitchFamily="34" charset="0"/>
              </a:rPr>
              <a:t>(Eşik Sınır Değeri-Tavan Değeri)</a:t>
            </a:r>
          </a:p>
          <a:p>
            <a:pPr eaLnBrk="1" hangingPunct="1">
              <a:spcBef>
                <a:spcPct val="50000"/>
              </a:spcBef>
            </a:pPr>
            <a:endParaRPr lang="tr-TR" altLang="tr-TR" sz="2800" b="1" dirty="0">
              <a:latin typeface="Verdana" pitchFamily="34" charset="0"/>
            </a:endParaRPr>
          </a:p>
          <a:p>
            <a:pPr eaLnBrk="1" hangingPunct="1">
              <a:lnSpc>
                <a:spcPct val="130000"/>
              </a:lnSpc>
              <a:spcBef>
                <a:spcPct val="50000"/>
              </a:spcBef>
            </a:pPr>
            <a:r>
              <a:rPr lang="tr-TR" altLang="tr-TR" sz="3600" b="1" dirty="0">
                <a:solidFill>
                  <a:srgbClr val="0070C0"/>
                </a:solidFill>
                <a:latin typeface="Verdana" pitchFamily="34" charset="0"/>
              </a:rPr>
              <a:t>İşgünü boyunca hiçbir şekilde aşılmaması gereken değerdir.</a:t>
            </a:r>
          </a:p>
        </p:txBody>
      </p:sp>
    </p:spTree>
    <p:extLst>
      <p:ext uri="{BB962C8B-B14F-4D97-AF65-F5344CB8AC3E}">
        <p14:creationId xmlns="" xmlns:p14="http://schemas.microsoft.com/office/powerpoint/2010/main" val="217872610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SUBSTITUTION_ID" val="{ED56A56A-AA04-40E1-9D72-F8FE6C0C9A7A}"/>
</p:tagLst>
</file>

<file path=ppt/tags/tag2.xml><?xml version="1.0" encoding="utf-8"?>
<p:tagLst xmlns:a="http://schemas.openxmlformats.org/drawingml/2006/main" xmlns:r="http://schemas.openxmlformats.org/officeDocument/2006/relationships" xmlns:p="http://schemas.openxmlformats.org/presentationml/2006/main">
  <p:tag name="PPSNARRATION" val="10,317710367,C:\Users\hakancan\Desktop\Kapalı Alanlarda Çalışmalarda Güvenlik\Media.ppcx"/>
</p:tagLst>
</file>

<file path=ppt/tags/tag3.xml><?xml version="1.0" encoding="utf-8"?>
<p:tagLst xmlns:a="http://schemas.openxmlformats.org/drawingml/2006/main" xmlns:r="http://schemas.openxmlformats.org/officeDocument/2006/relationships" xmlns:p="http://schemas.openxmlformats.org/presentationml/2006/main">
  <p:tag name="MMPROD_SUBSTITUTION_ID" val="{77310E4C-D9AD-46B2-BF2E-1180A96055DB}"/>
</p:tagLst>
</file>

<file path=ppt/tags/tag4.xml><?xml version="1.0" encoding="utf-8"?>
<p:tagLst xmlns:a="http://schemas.openxmlformats.org/drawingml/2006/main" xmlns:r="http://schemas.openxmlformats.org/officeDocument/2006/relationships" xmlns:p="http://schemas.openxmlformats.org/presentationml/2006/main">
  <p:tag name="PPSNARRATION" val="19,317710367,C:\Users\hakancan\Desktop\Kapalı Alanlarda Çalışmalarda Güvenlik\Media.ppcx"/>
</p:tagLst>
</file>

<file path=ppt/tags/tag5.xml><?xml version="1.0" encoding="utf-8"?>
<p:tagLst xmlns:a="http://schemas.openxmlformats.org/drawingml/2006/main" xmlns:r="http://schemas.openxmlformats.org/officeDocument/2006/relationships" xmlns:p="http://schemas.openxmlformats.org/presentationml/2006/main">
  <p:tag name="PPSNARRATION" val="20,317710367,C:\Users\hakancan\Desktop\Kapalı Alanlarda Çalışmalarda Güvenlik\Media.ppcx"/>
</p:tagLst>
</file>

<file path=ppt/tags/tag6.xml><?xml version="1.0" encoding="utf-8"?>
<p:tagLst xmlns:a="http://schemas.openxmlformats.org/drawingml/2006/main" xmlns:r="http://schemas.openxmlformats.org/officeDocument/2006/relationships" xmlns:p="http://schemas.openxmlformats.org/presentationml/2006/main">
  <p:tag name="MMPROD_SUBSTITUTION_ID" val="{9A9B9EB3-004F-44F5-94A6-C53634FB7975}"/>
</p:tagLst>
</file>

<file path=ppt/tags/tag7.xml><?xml version="1.0" encoding="utf-8"?>
<p:tagLst xmlns:a="http://schemas.openxmlformats.org/drawingml/2006/main" xmlns:r="http://schemas.openxmlformats.org/officeDocument/2006/relationships" xmlns:p="http://schemas.openxmlformats.org/presentationml/2006/main">
  <p:tag name="MMPROD_SUBSTITUTION_ID" val="{04CA2F5B-4976-4583-AC9D-3EF33A5E0BC7}"/>
</p:tagLst>
</file>

<file path=ppt/tags/tag8.xml><?xml version="1.0" encoding="utf-8"?>
<p:tagLst xmlns:a="http://schemas.openxmlformats.org/drawingml/2006/main" xmlns:r="http://schemas.openxmlformats.org/officeDocument/2006/relationships" xmlns:p="http://schemas.openxmlformats.org/presentationml/2006/main">
  <p:tag name="PPSNARRATION" val="16,317710367,C:\Users\hakancan\Desktop\Kapalı Alanlarda Çalışmalarda Güvenlik\Media.ppcx"/>
</p:tagLst>
</file>

<file path=ppt/tags/tag9.xml><?xml version="1.0" encoding="utf-8"?>
<p:tagLst xmlns:a="http://schemas.openxmlformats.org/drawingml/2006/main" xmlns:r="http://schemas.openxmlformats.org/officeDocument/2006/relationships" xmlns:p="http://schemas.openxmlformats.org/presentationml/2006/main">
  <p:tag name="PPSNARRATION" val="17,317710367,C:\Users\hakancan\Desktop\Kapalı Alanlarda Çalışmalarda Güvenlik\Media.ppcx"/>
</p:tagLst>
</file>

<file path=ppt/tags/tag10.xml><?xml version="1.0" encoding="utf-8"?>
<p:tagLst xmlns:a="http://schemas.openxmlformats.org/drawingml/2006/main" xmlns:r="http://schemas.openxmlformats.org/officeDocument/2006/relationships" xmlns:p="http://schemas.openxmlformats.org/presentationml/2006/main">
  <p:tag name="PPSNARRATION" val="21,317710367,C:\Users\hakancan\Desktop\Kapalı Alanlarda Çalışmalarda Güvenlik\Media.ppcx"/>
</p:tagLst>
</file>

<file path=ppt/tags/tag11.xml><?xml version="1.0" encoding="utf-8"?>
<p:tagLst xmlns:a="http://schemas.openxmlformats.org/drawingml/2006/main" xmlns:r="http://schemas.openxmlformats.org/officeDocument/2006/relationships" xmlns:p="http://schemas.openxmlformats.org/presentationml/2006/main">
  <p:tag name="PPSNARRATION" val="22,317710367,C:\Users\hakancan\Desktop\Kapalı Alanlarda Çalışmalarda Güvenlik\Media.ppcx"/>
</p:tagLst>
</file>

<file path=ppt/tags/tag12.xml><?xml version="1.0" encoding="utf-8"?>
<p:tagLst xmlns:a="http://schemas.openxmlformats.org/drawingml/2006/main" xmlns:r="http://schemas.openxmlformats.org/officeDocument/2006/relationships" xmlns:p="http://schemas.openxmlformats.org/presentationml/2006/main">
  <p:tag name="MMPROD_SUBSTITUTION_ID" val="{6CCCB8AD-DC49-4BBE-8FCC-3BDC68A98F3B}"/>
</p:tagLst>
</file>

<file path=ppt/tags/tag13.xml><?xml version="1.0" encoding="utf-8"?>
<p:tagLst xmlns:a="http://schemas.openxmlformats.org/drawingml/2006/main" xmlns:r="http://schemas.openxmlformats.org/officeDocument/2006/relationships" xmlns:p="http://schemas.openxmlformats.org/presentationml/2006/main">
  <p:tag name="MMPROD_SUBSTITUTION_ID" val="{34A9B08A-2147-4A25-921E-9ADBFCBED5CB}"/>
</p:tagLst>
</file>

<file path=ppt/tags/tag14.xml><?xml version="1.0" encoding="utf-8"?>
<p:tagLst xmlns:a="http://schemas.openxmlformats.org/drawingml/2006/main" xmlns:r="http://schemas.openxmlformats.org/officeDocument/2006/relationships" xmlns:p="http://schemas.openxmlformats.org/presentationml/2006/main">
  <p:tag name="MMPROD_SUBSTITUTION_ID" val="{AE6746F8-67F3-48B2-AC37-623D20E751C8}"/>
</p:tagLst>
</file>

<file path=ppt/tags/tag15.xml><?xml version="1.0" encoding="utf-8"?>
<p:tagLst xmlns:a="http://schemas.openxmlformats.org/drawingml/2006/main" xmlns:r="http://schemas.openxmlformats.org/officeDocument/2006/relationships" xmlns:p="http://schemas.openxmlformats.org/presentationml/2006/main">
  <p:tag name="MMPROD_SUBSTITUTION_ID" val="{B9AB0CF9-A7DF-42B1-B757-1355F4EE388A}"/>
</p:tagLst>
</file>

<file path=ppt/tags/tag16.xml><?xml version="1.0" encoding="utf-8"?>
<p:tagLst xmlns:a="http://schemas.openxmlformats.org/drawingml/2006/main" xmlns:r="http://schemas.openxmlformats.org/officeDocument/2006/relationships" xmlns:p="http://schemas.openxmlformats.org/presentationml/2006/main">
  <p:tag name="PPSNARRATION" val="24,317710367,C:\Users\hakancan\Desktop\Kapalı Alanlarda Çalışmalarda Güvenlik\Media.ppcx"/>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itişiklik">
  <a:themeElements>
    <a:clrScheme name="Bitişiklik">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i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tişiklik">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6248</TotalTime>
  <Words>2714</Words>
  <Application>Microsoft Office PowerPoint</Application>
  <PresentationFormat>Ekran Gösterisi (4:3)</PresentationFormat>
  <Paragraphs>575</Paragraphs>
  <Slides>63</Slides>
  <Notes>52</Notes>
  <HiddenSlides>0</HiddenSlides>
  <MMClips>0</MMClips>
  <ScaleCrop>false</ScaleCrop>
  <HeadingPairs>
    <vt:vector size="6" baseType="variant">
      <vt:variant>
        <vt:lpstr>Tema</vt:lpstr>
      </vt:variant>
      <vt:variant>
        <vt:i4>1</vt:i4>
      </vt:variant>
      <vt:variant>
        <vt:lpstr>Katıştırılmış OLE Hizmet Programları</vt:lpstr>
      </vt:variant>
      <vt:variant>
        <vt:i4>3</vt:i4>
      </vt:variant>
      <vt:variant>
        <vt:lpstr>Slayt Başlıkları</vt:lpstr>
      </vt:variant>
      <vt:variant>
        <vt:i4>63</vt:i4>
      </vt:variant>
    </vt:vector>
  </HeadingPairs>
  <TitlesOfParts>
    <vt:vector size="67" baseType="lpstr">
      <vt:lpstr>Bitişiklik</vt:lpstr>
      <vt:lpstr>Bitmap Image</vt:lpstr>
      <vt:lpstr>Document</vt:lpstr>
      <vt:lpstr>Bit Eşlem Resmi</vt:lpstr>
      <vt:lpstr>Kapalı Alanlarda Çalışmalarda  İş Sağlığı ve Güvenliği</vt:lpstr>
      <vt:lpstr>KİMYASAL MADDELERLE ÇALIŞMALARDA SAĞLIK  ve GÜV. ÖNLEMLERİ  HK. YÖNETMELİK Resmi Gzt.: 12.08.2013 /28733  MADEN İŞYERLERİNDE İŞ SAĞLIĞI VE GÜVENLİĞİ YÖNETMELİĞİ  Resmi Gzt.: 19.09.2013/28770  YAPI İŞLERİNDE İŞ SAĞLIĞI VE GÜVENLİĞİ YÖNETMELİĞİ  Resmi Gzt.:05.10.2013/28786  TOZLA MÜCADELE YÖNETMELİĞİ Resmi Gzt.: 05.11.2013 /28812  </vt:lpstr>
      <vt:lpstr>Slayt 3</vt:lpstr>
      <vt:lpstr>Slayt 4</vt:lpstr>
      <vt:lpstr>Slayt 5</vt:lpstr>
      <vt:lpstr>Slayt 6</vt:lpstr>
      <vt:lpstr>Slayt 7</vt:lpstr>
      <vt:lpstr>Slayt 8</vt:lpstr>
      <vt:lpstr>Slayt 9</vt:lpstr>
      <vt:lpstr>Slayt 10</vt:lpstr>
      <vt:lpstr>Slayt 11</vt:lpstr>
      <vt:lpstr>Slayt 12</vt:lpstr>
      <vt:lpstr>Slayt 13</vt:lpstr>
      <vt:lpstr>Slayt 14</vt:lpstr>
      <vt:lpstr>Slayt 15</vt:lpstr>
      <vt:lpstr>Slayt 16</vt:lpstr>
      <vt:lpstr>Slayt 17</vt:lpstr>
      <vt:lpstr>Slayt 18</vt:lpstr>
      <vt:lpstr>Slayt 19</vt:lpstr>
      <vt:lpstr>Slayt 20</vt:lpstr>
      <vt:lpstr>Gözlemci ve kapalı alanda çalışan işçi</vt:lpstr>
      <vt:lpstr>Slayt 22</vt:lpstr>
      <vt:lpstr>Slayt 23</vt:lpstr>
      <vt:lpstr>Slayt 24</vt:lpstr>
      <vt:lpstr>Slayt 25</vt:lpstr>
      <vt:lpstr>Slayt 26</vt:lpstr>
      <vt:lpstr>Slayt 27</vt:lpstr>
      <vt:lpstr>Slayt 28</vt:lpstr>
      <vt:lpstr>Slayt 29</vt:lpstr>
      <vt:lpstr>Slayt 30</vt:lpstr>
      <vt:lpstr>Slayt 31</vt:lpstr>
      <vt:lpstr>Yardımcı donanım ve ekipmanlar</vt:lpstr>
      <vt:lpstr>Giriş izin formu</vt:lpstr>
      <vt:lpstr>Slayt 34</vt:lpstr>
      <vt:lpstr>Slayt 35</vt:lpstr>
      <vt:lpstr>Slayt 36</vt:lpstr>
      <vt:lpstr>Slayt 37</vt:lpstr>
      <vt:lpstr>Slayt 38</vt:lpstr>
      <vt:lpstr>Slayt 39</vt:lpstr>
      <vt:lpstr>Slayt 40</vt:lpstr>
      <vt:lpstr>Slayt 41</vt:lpstr>
      <vt:lpstr>Slayt 42</vt:lpstr>
      <vt:lpstr>Slayt 43</vt:lpstr>
      <vt:lpstr>Slayt 44</vt:lpstr>
      <vt:lpstr>Slayt 45</vt:lpstr>
      <vt:lpstr>Slayt 46</vt:lpstr>
      <vt:lpstr>ACİL KURTARMA PROSEDÜRÜ</vt:lpstr>
      <vt:lpstr>Slayt 48</vt:lpstr>
      <vt:lpstr>Slayt 49</vt:lpstr>
      <vt:lpstr>Slayt 50</vt:lpstr>
      <vt:lpstr>Slayt 51</vt:lpstr>
      <vt:lpstr>Slayt 52</vt:lpstr>
      <vt:lpstr>Slayt 53</vt:lpstr>
      <vt:lpstr>Slayt 54</vt:lpstr>
      <vt:lpstr>Slayt 55</vt:lpstr>
      <vt:lpstr>Slayt 56</vt:lpstr>
      <vt:lpstr>Slayt 57</vt:lpstr>
      <vt:lpstr>Slayt 58</vt:lpstr>
      <vt:lpstr>Slayt 59</vt:lpstr>
      <vt:lpstr>Slayt 60</vt:lpstr>
      <vt:lpstr>Slayt 61</vt:lpstr>
      <vt:lpstr>Slayt 62</vt:lpstr>
      <vt:lpstr>Slayt 63</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Toshiba</cp:lastModifiedBy>
  <cp:revision>684</cp:revision>
  <dcterms:created xsi:type="dcterms:W3CDTF">2010-05-23T14:28:12Z</dcterms:created>
  <dcterms:modified xsi:type="dcterms:W3CDTF">2019-10-17T14:55:50Z</dcterms:modified>
</cp:coreProperties>
</file>