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1"/>
  </p:notesMasterIdLst>
  <p:sldIdLst>
    <p:sldId id="256" r:id="rId2"/>
    <p:sldId id="327" r:id="rId3"/>
    <p:sldId id="328" r:id="rId4"/>
    <p:sldId id="329" r:id="rId5"/>
    <p:sldId id="330" r:id="rId6"/>
    <p:sldId id="331" r:id="rId7"/>
    <p:sldId id="332" r:id="rId8"/>
    <p:sldId id="333" r:id="rId9"/>
    <p:sldId id="334" r:id="rId10"/>
    <p:sldId id="335" r:id="rId11"/>
    <p:sldId id="336" r:id="rId12"/>
    <p:sldId id="337" r:id="rId13"/>
    <p:sldId id="338" r:id="rId14"/>
    <p:sldId id="339" r:id="rId15"/>
    <p:sldId id="340" r:id="rId16"/>
    <p:sldId id="341" r:id="rId17"/>
    <p:sldId id="342" r:id="rId18"/>
    <p:sldId id="343" r:id="rId19"/>
    <p:sldId id="344" r:id="rId20"/>
    <p:sldId id="345" r:id="rId21"/>
    <p:sldId id="346" r:id="rId22"/>
    <p:sldId id="347" r:id="rId23"/>
    <p:sldId id="348" r:id="rId24"/>
    <p:sldId id="349" r:id="rId25"/>
    <p:sldId id="350" r:id="rId26"/>
    <p:sldId id="351" r:id="rId27"/>
    <p:sldId id="352" r:id="rId28"/>
    <p:sldId id="353" r:id="rId29"/>
    <p:sldId id="354" r:id="rId30"/>
    <p:sldId id="356" r:id="rId31"/>
    <p:sldId id="357" r:id="rId32"/>
    <p:sldId id="358" r:id="rId33"/>
    <p:sldId id="359" r:id="rId34"/>
    <p:sldId id="360" r:id="rId35"/>
    <p:sldId id="361" r:id="rId36"/>
    <p:sldId id="363" r:id="rId37"/>
    <p:sldId id="364" r:id="rId38"/>
    <p:sldId id="367" r:id="rId39"/>
    <p:sldId id="368" r:id="rId40"/>
    <p:sldId id="372" r:id="rId41"/>
    <p:sldId id="373" r:id="rId42"/>
    <p:sldId id="374" r:id="rId43"/>
    <p:sldId id="375" r:id="rId44"/>
    <p:sldId id="376" r:id="rId45"/>
    <p:sldId id="377" r:id="rId46"/>
    <p:sldId id="378" r:id="rId47"/>
    <p:sldId id="380" r:id="rId48"/>
    <p:sldId id="381" r:id="rId49"/>
    <p:sldId id="383" r:id="rId50"/>
    <p:sldId id="384" r:id="rId51"/>
    <p:sldId id="385" r:id="rId52"/>
    <p:sldId id="386" r:id="rId53"/>
    <p:sldId id="387" r:id="rId54"/>
    <p:sldId id="388" r:id="rId55"/>
    <p:sldId id="389" r:id="rId56"/>
    <p:sldId id="390" r:id="rId57"/>
    <p:sldId id="391" r:id="rId58"/>
    <p:sldId id="392" r:id="rId59"/>
    <p:sldId id="393" r:id="rId60"/>
  </p:sldIdLst>
  <p:sldSz cx="9144000" cy="6858000" type="screen4x3"/>
  <p:notesSz cx="6858000" cy="9144000"/>
  <p:defaultTextStyle>
    <a:defPPr>
      <a:defRPr lang="es-E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422C16"/>
    <a:srgbClr val="0C788E"/>
    <a:srgbClr val="025198"/>
    <a:srgbClr val="000099"/>
    <a:srgbClr val="1C1C1C"/>
    <a:srgbClr val="3366FF"/>
    <a:srgbClr val="990000"/>
    <a:srgbClr val="00339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323" autoAdjust="0"/>
    <p:restoredTop sz="94669" autoAdjust="0"/>
  </p:normalViewPr>
  <p:slideViewPr>
    <p:cSldViewPr>
      <p:cViewPr>
        <p:scale>
          <a:sx n="78" d="100"/>
          <a:sy n="78" d="100"/>
        </p:scale>
        <p:origin x="-954" y="0"/>
      </p:cViewPr>
      <p:guideLst>
        <p:guide orient="horz" pos="2160"/>
        <p:guide pos="2880"/>
      </p:guideLst>
    </p:cSldViewPr>
  </p:slideViewPr>
  <p:outlineViewPr>
    <p:cViewPr>
      <p:scale>
        <a:sx n="33" d="100"/>
        <a:sy n="33" d="100"/>
      </p:scale>
      <p:origin x="0" y="43494"/>
    </p:cViewPr>
  </p:outlineViewPr>
  <p:notesTextViewPr>
    <p:cViewPr>
      <p:scale>
        <a:sx n="100" d="100"/>
        <a:sy n="100" d="100"/>
      </p:scale>
      <p:origin x="0" y="0"/>
    </p:cViewPr>
  </p:notesTextViewPr>
  <p:sorterViewPr>
    <p:cViewPr>
      <p:scale>
        <a:sx n="100" d="100"/>
        <a:sy n="100"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9AD0935-25B5-4E1D-BB3F-213E10897BDF}" type="datetimeFigureOut">
              <a:rPr lang="tr-TR" smtClean="0"/>
              <a:pPr/>
              <a:t>17.10.2018</a:t>
            </a:fld>
            <a:endParaRPr lang="tr-TR"/>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711B0CC-053C-4EE5-9259-30C74642B01C}" type="slidenum">
              <a:rPr lang="tr-TR" smtClean="0"/>
              <a:pPr/>
              <a:t>‹#›</a:t>
            </a:fld>
            <a:endParaRPr lang="tr-TR"/>
          </a:p>
        </p:txBody>
      </p:sp>
    </p:spTree>
    <p:extLst>
      <p:ext uri="{BB962C8B-B14F-4D97-AF65-F5344CB8AC3E}">
        <p14:creationId xmlns:p14="http://schemas.microsoft.com/office/powerpoint/2010/main" xmlns="" val="2632345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b"/>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eaLnBrk="1" hangingPunct="1"/>
            <a:fld id="{D851F983-63A4-4AAB-9926-45E767A0C6D6}" type="slidenum">
              <a:rPr lang="tr-TR" altLang="tr-TR" sz="1200"/>
              <a:pPr algn="r" eaLnBrk="1" hangingPunct="1"/>
              <a:t>7</a:t>
            </a:fld>
            <a:endParaRPr lang="tr-TR" altLang="tr-TR" sz="1200"/>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tr-TR" smtClean="0">
              <a:latin typeface="Arial" pitchFamily="34" charset="0"/>
              <a:cs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Rot="1" noChangeAspect="1" noChangeArrowheads="1" noTextEdit="1"/>
          </p:cNvSpPr>
          <p:nvPr>
            <p:ph type="sldImg"/>
          </p:nvPr>
        </p:nvSpPr>
        <p:spPr>
          <a:ln/>
        </p:spPr>
      </p:sp>
      <p:sp>
        <p:nvSpPr>
          <p:cNvPr id="16486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tr-TR" smtClean="0">
              <a:latin typeface="Arial" pitchFamily="34" charset="0"/>
              <a:cs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b"/>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eaLnBrk="1" hangingPunct="1"/>
            <a:fld id="{45EDE3E1-72AE-4CDD-8E94-1AC6E5D64BDF}" type="slidenum">
              <a:rPr lang="tr-TR" altLang="tr-TR" sz="1200"/>
              <a:pPr algn="r" eaLnBrk="1" hangingPunct="1"/>
              <a:t>13</a:t>
            </a:fld>
            <a:endParaRPr lang="tr-TR" altLang="tr-TR" sz="1200"/>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tr-TR" smtClean="0">
              <a:latin typeface="Arial" pitchFamily="34" charset="0"/>
              <a:cs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b"/>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eaLnBrk="1" hangingPunct="1"/>
            <a:fld id="{45E32C3C-4122-4CBF-AD03-49E1828C637C}" type="slidenum">
              <a:rPr lang="tr-TR" altLang="tr-TR" sz="1200"/>
              <a:pPr algn="r" eaLnBrk="1" hangingPunct="1"/>
              <a:t>38</a:t>
            </a:fld>
            <a:endParaRPr lang="tr-TR" altLang="tr-TR" sz="1200"/>
          </a:p>
        </p:txBody>
      </p:sp>
      <p:sp>
        <p:nvSpPr>
          <p:cNvPr id="166915"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tr-TR" smtClean="0">
              <a:latin typeface="Arial" pitchFamily="34" charset="0"/>
              <a:cs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201ECEB7-45D1-4559-83EC-1A83B7274DAB}" type="slidenum">
              <a:rPr lang="tr-TR" altLang="tr-TR" smtClean="0">
                <a:solidFill>
                  <a:srgbClr val="000000"/>
                </a:solidFill>
              </a:rPr>
              <a:pPr eaLnBrk="1" hangingPunct="1"/>
              <a:t>58</a:t>
            </a:fld>
            <a:endParaRPr lang="tr-TR" altLang="tr-TR" smtClean="0">
              <a:solidFill>
                <a:srgbClr val="000000"/>
              </a:solidFill>
            </a:endParaRPr>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tr-TR" smtClean="0">
              <a:latin typeface="Arial" pitchFamily="34" charset="0"/>
              <a:cs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E8058C2B-EC2E-4196-A7C6-F35D3EA778F5}" type="slidenum">
              <a:rPr lang="tr-TR" altLang="tr-TR" smtClean="0">
                <a:solidFill>
                  <a:srgbClr val="000000"/>
                </a:solidFill>
              </a:rPr>
              <a:pPr eaLnBrk="1" hangingPunct="1"/>
              <a:t>59</a:t>
            </a:fld>
            <a:endParaRPr lang="tr-TR" altLang="tr-TR" smtClean="0">
              <a:solidFill>
                <a:srgbClr val="000000"/>
              </a:solidFill>
            </a:endParaRPr>
          </a:p>
        </p:txBody>
      </p:sp>
      <p:sp>
        <p:nvSpPr>
          <p:cNvPr id="168963" name="Rectangle 2"/>
          <p:cNvSpPr>
            <a:spLocks noGrp="1" noRot="1" noChangeAspect="1" noChangeArrowheads="1" noTextEdit="1"/>
          </p:cNvSpPr>
          <p:nvPr>
            <p:ph type="sldImg"/>
          </p:nvPr>
        </p:nvSpPr>
        <p:spPr>
          <a:ln/>
        </p:spPr>
      </p:sp>
      <p:sp>
        <p:nvSpPr>
          <p:cNvPr id="16896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tr-TR" smtClean="0">
              <a:latin typeface="Arial" pitchFamily="34" charset="0"/>
              <a:cs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tr-TR" smtClean="0"/>
              <a:t>Asıl başlık stili için tıklatın</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3404C349-0293-4C5B-BD61-8968F696ECA6}" type="slidenum">
              <a:rPr lang="es-ES" smtClean="0"/>
              <a:pPr>
                <a:defRPr/>
              </a:pPr>
              <a:t>‹#›</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Content Placeholder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7289ED51-3D18-45F8-86FC-FD8561268021}" type="slidenum">
              <a:rPr lang="es-ES" smtClean="0"/>
              <a:pPr>
                <a:defRPr/>
              </a:pPr>
              <a:t>‹#›</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tr-TR" smtClean="0"/>
              <a:t>Asıl başlık stili için tıklatın</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B1E30559-BAA3-4562-8020-B6DCEE6D0E3E}" type="slidenum">
              <a:rPr lang="es-ES" smtClean="0"/>
              <a:pPr>
                <a:defRPr/>
              </a:pPr>
              <a:t>‹#›</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Date Placeholder 4"/>
          <p:cNvSpPr>
            <a:spLocks noGrp="1"/>
          </p:cNvSpPr>
          <p:nvPr>
            <p:ph type="dt" sz="half" idx="10"/>
          </p:nvPr>
        </p:nvSpPr>
        <p:spPr/>
        <p:txBody>
          <a:bodyPr/>
          <a:lstStyle/>
          <a:p>
            <a:pPr>
              <a:defRPr/>
            </a:pPr>
            <a:endParaRPr lang="es-ES"/>
          </a:p>
        </p:txBody>
      </p:sp>
      <p:sp>
        <p:nvSpPr>
          <p:cNvPr id="6" name="Footer Placeholder 5"/>
          <p:cNvSpPr>
            <a:spLocks noGrp="1"/>
          </p:cNvSpPr>
          <p:nvPr>
            <p:ph type="ftr" sz="quarter" idx="11"/>
          </p:nvPr>
        </p:nvSpPr>
        <p:spPr/>
        <p:txBody>
          <a:bodyPr/>
          <a:lstStyle/>
          <a:p>
            <a:pPr>
              <a:defRPr/>
            </a:pPr>
            <a:endParaRPr lang="es-ES"/>
          </a:p>
        </p:txBody>
      </p:sp>
      <p:sp>
        <p:nvSpPr>
          <p:cNvPr id="7" name="Slide Number Placeholder 6"/>
          <p:cNvSpPr>
            <a:spLocks noGrp="1"/>
          </p:cNvSpPr>
          <p:nvPr>
            <p:ph type="sldNum" sz="quarter" idx="12"/>
          </p:nvPr>
        </p:nvSpPr>
        <p:spPr/>
        <p:txBody>
          <a:bodyPr/>
          <a:lstStyle/>
          <a:p>
            <a:pPr>
              <a:defRPr/>
            </a:pPr>
            <a:fld id="{8D37490C-9C1B-4AC9-A719-5CB7A5E923CD}" type="slidenum">
              <a:rPr lang="es-ES" smtClean="0"/>
              <a:pPr>
                <a:defRPr/>
              </a:pPr>
              <a:t>‹#›</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smtClean="0"/>
              <a:t>Asıl başlık stili için tıklatın</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7" name="Date Placeholder 6"/>
          <p:cNvSpPr>
            <a:spLocks noGrp="1"/>
          </p:cNvSpPr>
          <p:nvPr>
            <p:ph type="dt" sz="half" idx="10"/>
          </p:nvPr>
        </p:nvSpPr>
        <p:spPr/>
        <p:txBody>
          <a:bodyPr/>
          <a:lstStyle/>
          <a:p>
            <a:pPr>
              <a:defRPr/>
            </a:pPr>
            <a:endParaRPr lang="es-ES"/>
          </a:p>
        </p:txBody>
      </p:sp>
      <p:sp>
        <p:nvSpPr>
          <p:cNvPr id="8" name="Footer Placeholder 7"/>
          <p:cNvSpPr>
            <a:spLocks noGrp="1"/>
          </p:cNvSpPr>
          <p:nvPr>
            <p:ph type="ftr" sz="quarter" idx="11"/>
          </p:nvPr>
        </p:nvSpPr>
        <p:spPr/>
        <p:txBody>
          <a:bodyPr/>
          <a:lstStyle/>
          <a:p>
            <a:pPr>
              <a:defRPr/>
            </a:pPr>
            <a:endParaRPr lang="es-ES"/>
          </a:p>
        </p:txBody>
      </p:sp>
      <p:sp>
        <p:nvSpPr>
          <p:cNvPr id="9" name="Slide Number Placeholder 8"/>
          <p:cNvSpPr>
            <a:spLocks noGrp="1"/>
          </p:cNvSpPr>
          <p:nvPr>
            <p:ph type="sldNum" sz="quarter" idx="12"/>
          </p:nvPr>
        </p:nvSpPr>
        <p:spPr/>
        <p:txBody>
          <a:bodyPr/>
          <a:lstStyle/>
          <a:p>
            <a:pPr>
              <a:defRPr/>
            </a:pPr>
            <a:fld id="{52C19F1E-C2C4-43B8-BE68-DBAC4ECF8BE2}" type="slidenum">
              <a:rPr lang="es-ES" smtClean="0"/>
              <a:pPr>
                <a:defRPr/>
              </a:pPr>
              <a:t>‹#›</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Date Placeholder 2"/>
          <p:cNvSpPr>
            <a:spLocks noGrp="1"/>
          </p:cNvSpPr>
          <p:nvPr>
            <p:ph type="dt" sz="half" idx="10"/>
          </p:nvPr>
        </p:nvSpPr>
        <p:spPr/>
        <p:txBody>
          <a:bodyPr/>
          <a:lstStyle/>
          <a:p>
            <a:pPr>
              <a:defRPr/>
            </a:pPr>
            <a:endParaRPr lang="es-ES"/>
          </a:p>
        </p:txBody>
      </p:sp>
      <p:sp>
        <p:nvSpPr>
          <p:cNvPr id="4" name="Footer Placeholder 3"/>
          <p:cNvSpPr>
            <a:spLocks noGrp="1"/>
          </p:cNvSpPr>
          <p:nvPr>
            <p:ph type="ftr" sz="quarter" idx="11"/>
          </p:nvPr>
        </p:nvSpPr>
        <p:spPr/>
        <p:txBody>
          <a:bodyPr/>
          <a:lstStyle/>
          <a:p>
            <a:pPr>
              <a:defRPr/>
            </a:pPr>
            <a:endParaRPr lang="es-ES"/>
          </a:p>
        </p:txBody>
      </p:sp>
      <p:sp>
        <p:nvSpPr>
          <p:cNvPr id="5" name="Slide Number Placeholder 4"/>
          <p:cNvSpPr>
            <a:spLocks noGrp="1"/>
          </p:cNvSpPr>
          <p:nvPr>
            <p:ph type="sldNum" sz="quarter" idx="12"/>
          </p:nvPr>
        </p:nvSpPr>
        <p:spPr/>
        <p:txBody>
          <a:bodyPr/>
          <a:lstStyle/>
          <a:p>
            <a:pPr>
              <a:defRPr/>
            </a:pPr>
            <a:fld id="{E68FA1EF-296B-40C1-B636-00A926A74512}" type="slidenum">
              <a:rPr lang="es-ES" smtClean="0"/>
              <a:pPr>
                <a:defRPr/>
              </a:pPr>
              <a:t>‹#›</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s-ES"/>
          </a:p>
        </p:txBody>
      </p:sp>
      <p:sp>
        <p:nvSpPr>
          <p:cNvPr id="3" name="Footer Placeholder 2"/>
          <p:cNvSpPr>
            <a:spLocks noGrp="1"/>
          </p:cNvSpPr>
          <p:nvPr>
            <p:ph type="ftr" sz="quarter" idx="11"/>
          </p:nvPr>
        </p:nvSpPr>
        <p:spPr/>
        <p:txBody>
          <a:bodyPr/>
          <a:lstStyle/>
          <a:p>
            <a:pPr>
              <a:defRPr/>
            </a:pPr>
            <a:endParaRPr lang="es-ES"/>
          </a:p>
        </p:txBody>
      </p:sp>
      <p:sp>
        <p:nvSpPr>
          <p:cNvPr id="4" name="Slide Number Placeholder 3"/>
          <p:cNvSpPr>
            <a:spLocks noGrp="1"/>
          </p:cNvSpPr>
          <p:nvPr>
            <p:ph type="sldNum" sz="quarter" idx="12"/>
          </p:nvPr>
        </p:nvSpPr>
        <p:spPr/>
        <p:txBody>
          <a:bodyPr/>
          <a:lstStyle/>
          <a:p>
            <a:pPr>
              <a:defRPr/>
            </a:pPr>
            <a:fld id="{3C5D3AC1-5A64-441E-A1A8-9FAE71C6AF66}" type="slidenum">
              <a:rPr lang="es-ES" smtClean="0"/>
              <a:pPr>
                <a:defRPr/>
              </a:pPr>
              <a:t>‹#›</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tr-TR" smtClean="0"/>
              <a:t>Asıl başlık stili için tıklatın</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pPr>
              <a:defRPr/>
            </a:pPr>
            <a:endParaRPr lang="es-ES"/>
          </a:p>
        </p:txBody>
      </p:sp>
      <p:sp>
        <p:nvSpPr>
          <p:cNvPr id="6" name="Footer Placeholder 5"/>
          <p:cNvSpPr>
            <a:spLocks noGrp="1"/>
          </p:cNvSpPr>
          <p:nvPr>
            <p:ph type="ftr" sz="quarter" idx="11"/>
          </p:nvPr>
        </p:nvSpPr>
        <p:spPr/>
        <p:txBody>
          <a:bodyPr/>
          <a:lstStyle/>
          <a:p>
            <a:pPr>
              <a:defRPr/>
            </a:pPr>
            <a:endParaRPr lang="es-ES"/>
          </a:p>
        </p:txBody>
      </p:sp>
      <p:sp>
        <p:nvSpPr>
          <p:cNvPr id="7" name="Slide Number Placeholder 6"/>
          <p:cNvSpPr>
            <a:spLocks noGrp="1"/>
          </p:cNvSpPr>
          <p:nvPr>
            <p:ph type="sldNum" sz="quarter" idx="12"/>
          </p:nvPr>
        </p:nvSpPr>
        <p:spPr/>
        <p:txBody>
          <a:bodyPr/>
          <a:lstStyle/>
          <a:p>
            <a:pPr>
              <a:defRPr/>
            </a:pPr>
            <a:fld id="{9D65BA48-3AB7-42AA-A309-B1E404C47DBD}" type="slidenum">
              <a:rPr lang="es-ES" smtClean="0"/>
              <a:pPr>
                <a:defRPr/>
              </a:pPr>
              <a:t>‹#›</a:t>
            </a:fld>
            <a:endParaRPr lang="es-ES"/>
          </a:p>
        </p:txBody>
      </p:sp>
      <p:sp>
        <p:nvSpPr>
          <p:cNvPr id="9" name="Content Placeholder 8"/>
          <p:cNvSpPr>
            <a:spLocks noGrp="1"/>
          </p:cNvSpPr>
          <p:nvPr>
            <p:ph sz="quarter" idx="13"/>
          </p:nvPr>
        </p:nvSpPr>
        <p:spPr>
          <a:xfrm>
            <a:off x="304800" y="381000"/>
            <a:ext cx="7772400" cy="494284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tr-TR" smtClean="0"/>
              <a:t>Asıl başlık stili için tıklatın</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8" name="Date Placeholder 7"/>
          <p:cNvSpPr>
            <a:spLocks noGrp="1"/>
          </p:cNvSpPr>
          <p:nvPr>
            <p:ph type="dt" sz="half" idx="10"/>
          </p:nvPr>
        </p:nvSpPr>
        <p:spPr/>
        <p:txBody>
          <a:bodyPr/>
          <a:lstStyle/>
          <a:p>
            <a:pPr>
              <a:defRPr/>
            </a:pPr>
            <a:endParaRPr lang="es-ES"/>
          </a:p>
        </p:txBody>
      </p:sp>
      <p:sp>
        <p:nvSpPr>
          <p:cNvPr id="9" name="Slide Number Placeholder 8"/>
          <p:cNvSpPr>
            <a:spLocks noGrp="1"/>
          </p:cNvSpPr>
          <p:nvPr>
            <p:ph type="sldNum" sz="quarter" idx="11"/>
          </p:nvPr>
        </p:nvSpPr>
        <p:spPr/>
        <p:txBody>
          <a:bodyPr/>
          <a:lstStyle/>
          <a:p>
            <a:pPr>
              <a:defRPr/>
            </a:pPr>
            <a:fld id="{D731D35F-B073-4216-8697-E08C0989EA53}" type="slidenum">
              <a:rPr lang="es-ES" smtClean="0"/>
              <a:pPr>
                <a:defRPr/>
              </a:pPr>
              <a:t>‹#›</a:t>
            </a:fld>
            <a:endParaRPr lang="es-ES"/>
          </a:p>
        </p:txBody>
      </p:sp>
      <p:sp>
        <p:nvSpPr>
          <p:cNvPr id="10" name="Footer Placeholder 9"/>
          <p:cNvSpPr>
            <a:spLocks noGrp="1"/>
          </p:cNvSpPr>
          <p:nvPr>
            <p:ph type="ftr" sz="quarter" idx="12"/>
          </p:nvPr>
        </p:nvSpPr>
        <p:spPr/>
        <p:txBody>
          <a:bodyPr/>
          <a:lstStyle/>
          <a:p>
            <a:pPr>
              <a:defRPr/>
            </a:pPr>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Vertical Text Placeholder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FB694EDE-81EF-4BAB-96DB-6066A9EED78C}" type="slidenum">
              <a:rPr lang="es-ES" smtClean="0"/>
              <a:pPr>
                <a:defRPr/>
              </a:pPr>
              <a:t>‹#›</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D900CEFE-2B5D-4039-8D04-AC77E9226A17}" type="slidenum">
              <a:rPr lang="es-ES" smtClean="0"/>
              <a:pPr>
                <a:defRPr/>
              </a:pPr>
              <a:t>‹#›</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tr-TR" smtClean="0"/>
              <a:t>Asıl başlık stili için tıklatın</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pPr>
              <a:defRPr/>
            </a:pPr>
            <a:fld id="{8752DBB7-8610-4E58-9205-33D206425DAC}" type="slidenum">
              <a:rPr lang="es-ES" smtClean="0"/>
              <a:pPr>
                <a:defRPr/>
              </a:pPr>
              <a:t>‹#›</a:t>
            </a:fld>
            <a:endParaRPr lang="es-E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pPr>
              <a:defRPr/>
            </a:pPr>
            <a:endParaRPr lang="es-E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pPr>
              <a:defRPr/>
            </a:pPr>
            <a:endParaRPr lang="es-E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tr.wikipedia.org/wiki/Oksijen" TargetMode="External"/><Relationship Id="rId2" Type="http://schemas.openxmlformats.org/officeDocument/2006/relationships/hyperlink" Target="http://tr.wikipedia.org/wiki/Azot" TargetMode="External"/><Relationship Id="rId1" Type="http://schemas.openxmlformats.org/officeDocument/2006/relationships/slideLayout" Target="../slideLayouts/slideLayout2.xml"/><Relationship Id="rId5" Type="http://schemas.openxmlformats.org/officeDocument/2006/relationships/hyperlink" Target="http://tr.wikipedia.org/wiki/Karbondioksit" TargetMode="External"/><Relationship Id="rId4" Type="http://schemas.openxmlformats.org/officeDocument/2006/relationships/hyperlink" Target="http://tr.wikipedia.org/wiki/Argon"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image" Target="../media/image8.jpeg"/></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tr.wikipedia.org/wiki/Buhar" TargetMode="External"/><Relationship Id="rId2" Type="http://schemas.openxmlformats.org/officeDocument/2006/relationships/hyperlink" Target="http://tr.wikipedia.org/wiki/Hava" TargetMode="External"/><Relationship Id="rId1" Type="http://schemas.openxmlformats.org/officeDocument/2006/relationships/slideLayout" Target="../slideLayouts/slideLayout2.xml"/><Relationship Id="rId6" Type="http://schemas.openxmlformats.org/officeDocument/2006/relationships/hyperlink" Target="http://tr.wikipedia.org/wiki/Mutlak_nem" TargetMode="External"/><Relationship Id="rId5" Type="http://schemas.openxmlformats.org/officeDocument/2006/relationships/hyperlink" Target="http://tr.wikipedia.org/wiki/Su_buhar%C4%B1" TargetMode="External"/><Relationship Id="rId4" Type="http://schemas.openxmlformats.org/officeDocument/2006/relationships/hyperlink" Target="http://tr.wikipedia.org/wiki/Gram"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http://ozdenosgb.com/blog/termal-konfor-nedir-nasil-saglanir/"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jpeg"/><Relationship Id="rId1" Type="http://schemas.openxmlformats.org/officeDocument/2006/relationships/slideLayout" Target="../slideLayouts/slideLayout2.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sp>
        <p:nvSpPr>
          <p:cNvPr id="2050" name="Rectangle 110"/>
          <p:cNvSpPr>
            <a:spLocks noGrp="1" noChangeArrowheads="1"/>
          </p:cNvSpPr>
          <p:nvPr>
            <p:ph type="ctrTitle"/>
          </p:nvPr>
        </p:nvSpPr>
        <p:spPr>
          <a:xfrm>
            <a:off x="4139952" y="2060849"/>
            <a:ext cx="4391595" cy="3250030"/>
          </a:xfrm>
          <a:noFill/>
        </p:spPr>
        <p:txBody>
          <a:bodyPr/>
          <a:lstStyle/>
          <a:p>
            <a:pPr eaLnBrk="1" hangingPunct="1"/>
            <a:r>
              <a:rPr lang="tr-TR" altLang="tr-TR" sz="3200" b="1" dirty="0" smtClean="0">
                <a:ea typeface="Batang" pitchFamily="18" charset="-127"/>
              </a:rPr>
              <a:t>HAVALANDIRMA </a:t>
            </a:r>
            <a:r>
              <a:rPr lang="tr-TR" altLang="tr-TR" sz="3200" b="1" dirty="0">
                <a:ea typeface="Batang" pitchFamily="18" charset="-127"/>
              </a:rPr>
              <a:t/>
            </a:r>
            <a:br>
              <a:rPr lang="tr-TR" altLang="tr-TR" sz="3200" b="1" dirty="0">
                <a:ea typeface="Batang" pitchFamily="18" charset="-127"/>
              </a:rPr>
            </a:br>
            <a:r>
              <a:rPr lang="tr-TR" altLang="tr-TR" sz="3200" b="1" dirty="0">
                <a:ea typeface="Batang" pitchFamily="18" charset="-127"/>
              </a:rPr>
              <a:t>ve </a:t>
            </a:r>
            <a:br>
              <a:rPr lang="tr-TR" altLang="tr-TR" sz="3200" b="1" dirty="0">
                <a:ea typeface="Batang" pitchFamily="18" charset="-127"/>
              </a:rPr>
            </a:br>
            <a:r>
              <a:rPr lang="tr-TR" altLang="tr-TR" sz="3200" b="1" dirty="0">
                <a:ea typeface="Batang" pitchFamily="18" charset="-127"/>
              </a:rPr>
              <a:t>İKLİMLENDİRME</a:t>
            </a:r>
            <a:br>
              <a:rPr lang="tr-TR" altLang="tr-TR" sz="3200" b="1" dirty="0">
                <a:ea typeface="Batang" pitchFamily="18" charset="-127"/>
              </a:rPr>
            </a:br>
            <a:r>
              <a:rPr lang="tr-TR" altLang="tr-TR" sz="3200" b="1" dirty="0" smtClean="0">
                <a:ea typeface="Batang" pitchFamily="18" charset="-127"/>
              </a:rPr>
              <a:t>Prensipleri</a:t>
            </a:r>
            <a:r>
              <a:rPr lang="tr-TR" altLang="tr-TR" sz="3200" b="1" dirty="0" smtClean="0"/>
              <a:t>                                                        </a:t>
            </a:r>
            <a:endParaRPr lang="en-US" altLang="tr-TR" sz="3200" b="1" dirty="0"/>
          </a:p>
        </p:txBody>
      </p:sp>
      <p:sp>
        <p:nvSpPr>
          <p:cNvPr id="2052" name="Rectangle 110"/>
          <p:cNvSpPr txBox="1">
            <a:spLocks noChangeArrowheads="1"/>
          </p:cNvSpPr>
          <p:nvPr/>
        </p:nvSpPr>
        <p:spPr bwMode="auto">
          <a:xfrm>
            <a:off x="4437063" y="4229100"/>
            <a:ext cx="4319587" cy="544513"/>
          </a:xfrm>
          <a:prstGeom prst="rect">
            <a:avLst/>
          </a:prstGeom>
          <a:noFill/>
          <a:ln w="9525">
            <a:noFill/>
            <a:miter lim="800000"/>
            <a:headEnd/>
            <a:tailEnd/>
          </a:ln>
          <a:effectLst/>
        </p:spPr>
        <p:txBody>
          <a:bodyPr anchor="ctr"/>
          <a:lstStyle/>
          <a:p>
            <a:pPr algn="r"/>
            <a:endParaRPr lang="es-ES" sz="3600" b="1" dirty="0"/>
          </a:p>
        </p:txBody>
      </p:sp>
      <p:sp>
        <p:nvSpPr>
          <p:cNvPr id="6" name="Metin kutusu 5"/>
          <p:cNvSpPr txBox="1"/>
          <p:nvPr/>
        </p:nvSpPr>
        <p:spPr>
          <a:xfrm>
            <a:off x="539552" y="476672"/>
            <a:ext cx="3168352" cy="720080"/>
          </a:xfrm>
          <a:prstGeom prst="rect">
            <a:avLst/>
          </a:prstGeom>
          <a:solidFill>
            <a:schemeClr val="bg1">
              <a:lumMod val="95000"/>
            </a:schemeClr>
          </a:solidFill>
        </p:spPr>
        <p:txBody>
          <a:bodyPr wrap="square" rtlCol="0">
            <a:spAutoFit/>
          </a:bodyPr>
          <a:lstStyle/>
          <a:p>
            <a:endParaRPr lang="tr-T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2"/>
          <p:cNvSpPr>
            <a:spLocks noGrp="1" noChangeArrowheads="1"/>
          </p:cNvSpPr>
          <p:nvPr>
            <p:ph type="title"/>
          </p:nvPr>
        </p:nvSpPr>
        <p:spPr>
          <a:xfrm>
            <a:off x="179388" y="260350"/>
            <a:ext cx="8229600" cy="1143000"/>
          </a:xfrm>
        </p:spPr>
        <p:txBody>
          <a:bodyPr/>
          <a:lstStyle/>
          <a:p>
            <a:pPr eaLnBrk="1" hangingPunct="1"/>
            <a:r>
              <a:rPr lang="tr-TR" altLang="tr-TR" b="1" dirty="0" smtClean="0">
                <a:solidFill>
                  <a:schemeClr val="tx1"/>
                </a:solidFill>
                <a:latin typeface="+mj-lt"/>
              </a:rPr>
              <a:t>HAVALANDIRMA</a:t>
            </a:r>
            <a:endParaRPr lang="en-US" altLang="tr-TR" b="1" dirty="0" smtClean="0">
              <a:solidFill>
                <a:schemeClr val="tx1"/>
              </a:solidFill>
              <a:latin typeface="+mj-lt"/>
            </a:endParaRPr>
          </a:p>
        </p:txBody>
      </p:sp>
      <p:sp>
        <p:nvSpPr>
          <p:cNvPr id="94212" name="Rectangle 3"/>
          <p:cNvSpPr>
            <a:spLocks noGrp="1" noChangeArrowheads="1"/>
          </p:cNvSpPr>
          <p:nvPr>
            <p:ph idx="1"/>
          </p:nvPr>
        </p:nvSpPr>
        <p:spPr>
          <a:xfrm>
            <a:off x="457200" y="1268413"/>
            <a:ext cx="7859216" cy="4857750"/>
          </a:xfrm>
        </p:spPr>
        <p:txBody>
          <a:bodyPr/>
          <a:lstStyle/>
          <a:p>
            <a:pPr eaLnBrk="1" hangingPunct="1">
              <a:lnSpc>
                <a:spcPct val="90000"/>
              </a:lnSpc>
            </a:pPr>
            <a:r>
              <a:rPr lang="en-US" altLang="tr-TR" sz="2800" dirty="0" err="1" smtClean="0">
                <a:latin typeface="+mj-lt"/>
              </a:rPr>
              <a:t>Kapalı</a:t>
            </a:r>
            <a:r>
              <a:rPr lang="en-US" altLang="tr-TR" sz="2800" dirty="0" smtClean="0">
                <a:latin typeface="+mj-lt"/>
              </a:rPr>
              <a:t> </a:t>
            </a:r>
            <a:r>
              <a:rPr lang="en-US" altLang="tr-TR" sz="2800" dirty="0" err="1" smtClean="0">
                <a:latin typeface="+mj-lt"/>
              </a:rPr>
              <a:t>bir</a:t>
            </a:r>
            <a:r>
              <a:rPr lang="en-US" altLang="tr-TR" sz="2800" dirty="0" smtClean="0">
                <a:latin typeface="+mj-lt"/>
              </a:rPr>
              <a:t> </a:t>
            </a:r>
            <a:r>
              <a:rPr lang="en-US" altLang="tr-TR" sz="2800" dirty="0" err="1" smtClean="0">
                <a:latin typeface="+mj-lt"/>
              </a:rPr>
              <a:t>ortamın</a:t>
            </a:r>
            <a:r>
              <a:rPr lang="en-US" altLang="tr-TR" sz="2800" dirty="0" smtClean="0">
                <a:latin typeface="+mj-lt"/>
              </a:rPr>
              <a:t> </a:t>
            </a:r>
            <a:r>
              <a:rPr lang="en-US" altLang="tr-TR" sz="2800" dirty="0" err="1" smtClean="0">
                <a:latin typeface="+mj-lt"/>
              </a:rPr>
              <a:t>havasını</a:t>
            </a:r>
            <a:r>
              <a:rPr lang="en-US" altLang="tr-TR" sz="2800" dirty="0" smtClean="0">
                <a:latin typeface="+mj-lt"/>
              </a:rPr>
              <a:t> </a:t>
            </a:r>
            <a:r>
              <a:rPr lang="en-US" altLang="tr-TR" sz="2800" dirty="0" err="1" smtClean="0">
                <a:latin typeface="+mj-lt"/>
              </a:rPr>
              <a:t>değiştirmek</a:t>
            </a:r>
            <a:r>
              <a:rPr lang="en-US" altLang="tr-TR" sz="2800" dirty="0" smtClean="0">
                <a:latin typeface="+mj-lt"/>
              </a:rPr>
              <a:t> </a:t>
            </a:r>
            <a:r>
              <a:rPr lang="en-US" altLang="tr-TR" sz="2800" dirty="0" err="1" smtClean="0">
                <a:latin typeface="+mj-lt"/>
              </a:rPr>
              <a:t>maksadıyla</a:t>
            </a:r>
            <a:r>
              <a:rPr lang="en-US" altLang="tr-TR" sz="2800" dirty="0" smtClean="0">
                <a:latin typeface="+mj-lt"/>
              </a:rPr>
              <a:t> </a:t>
            </a:r>
            <a:r>
              <a:rPr lang="en-US" altLang="tr-TR" sz="2800" dirty="0" err="1" smtClean="0">
                <a:latin typeface="+mj-lt"/>
              </a:rPr>
              <a:t>farklı</a:t>
            </a:r>
            <a:r>
              <a:rPr lang="en-US" altLang="tr-TR" sz="2800" dirty="0" smtClean="0">
                <a:latin typeface="+mj-lt"/>
              </a:rPr>
              <a:t> </a:t>
            </a:r>
            <a:r>
              <a:rPr lang="en-US" altLang="tr-TR" sz="2800" dirty="0" err="1" smtClean="0">
                <a:latin typeface="+mj-lt"/>
              </a:rPr>
              <a:t>yöntemlerle</a:t>
            </a:r>
            <a:r>
              <a:rPr lang="tr-TR" altLang="tr-TR" sz="2800" dirty="0" smtClean="0">
                <a:latin typeface="+mj-lt"/>
              </a:rPr>
              <a:t> ve</a:t>
            </a:r>
            <a:r>
              <a:rPr lang="en-US" altLang="tr-TR" sz="2800" dirty="0" smtClean="0">
                <a:latin typeface="+mj-lt"/>
              </a:rPr>
              <a:t> </a:t>
            </a:r>
            <a:r>
              <a:rPr lang="en-US" altLang="tr-TR" sz="2800" dirty="0" err="1" smtClean="0">
                <a:latin typeface="+mj-lt"/>
              </a:rPr>
              <a:t>çeşitli</a:t>
            </a:r>
            <a:r>
              <a:rPr lang="en-US" altLang="tr-TR" sz="2800" dirty="0" smtClean="0">
                <a:latin typeface="+mj-lt"/>
              </a:rPr>
              <a:t> </a:t>
            </a:r>
            <a:r>
              <a:rPr lang="en-US" altLang="tr-TR" sz="2800" dirty="0" err="1" smtClean="0">
                <a:latin typeface="+mj-lt"/>
              </a:rPr>
              <a:t>araçlar</a:t>
            </a:r>
            <a:r>
              <a:rPr lang="en-US" altLang="tr-TR" sz="2800" dirty="0" smtClean="0">
                <a:latin typeface="+mj-lt"/>
              </a:rPr>
              <a:t> </a:t>
            </a:r>
            <a:r>
              <a:rPr lang="en-US" altLang="tr-TR" sz="2800" dirty="0" err="1" smtClean="0">
                <a:latin typeface="+mj-lt"/>
              </a:rPr>
              <a:t>kullanarak</a:t>
            </a:r>
            <a:r>
              <a:rPr lang="en-US" altLang="tr-TR" sz="2800" dirty="0" smtClean="0">
                <a:latin typeface="+mj-lt"/>
              </a:rPr>
              <a:t> </a:t>
            </a:r>
            <a:r>
              <a:rPr lang="tr-TR" altLang="tr-TR" sz="2800" dirty="0" smtClean="0">
                <a:solidFill>
                  <a:srgbClr val="000099"/>
                </a:solidFill>
                <a:latin typeface="+mj-lt"/>
              </a:rPr>
              <a:t>ortamdaki kirli havanın dışarıya atılması ve </a:t>
            </a:r>
            <a:r>
              <a:rPr lang="en-US" altLang="tr-TR" sz="2800" dirty="0" err="1" smtClean="0">
                <a:solidFill>
                  <a:srgbClr val="000099"/>
                </a:solidFill>
                <a:latin typeface="+mj-lt"/>
              </a:rPr>
              <a:t>dışarıdan</a:t>
            </a:r>
            <a:r>
              <a:rPr lang="en-US" altLang="tr-TR" sz="2800" dirty="0" smtClean="0">
                <a:solidFill>
                  <a:srgbClr val="000099"/>
                </a:solidFill>
                <a:latin typeface="+mj-lt"/>
              </a:rPr>
              <a:t> </a:t>
            </a:r>
            <a:r>
              <a:rPr lang="en-US" altLang="tr-TR" sz="2800" dirty="0" err="1" smtClean="0">
                <a:solidFill>
                  <a:srgbClr val="000099"/>
                </a:solidFill>
                <a:latin typeface="+mj-lt"/>
              </a:rPr>
              <a:t>temiz</a:t>
            </a:r>
            <a:r>
              <a:rPr lang="en-US" altLang="tr-TR" sz="2800" dirty="0" smtClean="0">
                <a:solidFill>
                  <a:srgbClr val="000099"/>
                </a:solidFill>
                <a:latin typeface="+mj-lt"/>
              </a:rPr>
              <a:t> </a:t>
            </a:r>
            <a:r>
              <a:rPr lang="en-US" altLang="tr-TR" sz="2800" dirty="0" err="1" smtClean="0">
                <a:solidFill>
                  <a:srgbClr val="000099"/>
                </a:solidFill>
                <a:latin typeface="+mj-lt"/>
              </a:rPr>
              <a:t>hava</a:t>
            </a:r>
            <a:r>
              <a:rPr lang="en-US" altLang="tr-TR" sz="2800" dirty="0" smtClean="0">
                <a:solidFill>
                  <a:srgbClr val="000099"/>
                </a:solidFill>
                <a:latin typeface="+mj-lt"/>
              </a:rPr>
              <a:t> </a:t>
            </a:r>
            <a:r>
              <a:rPr lang="en-US" altLang="tr-TR" sz="2800" dirty="0" err="1" smtClean="0">
                <a:solidFill>
                  <a:srgbClr val="000099"/>
                </a:solidFill>
                <a:latin typeface="+mj-lt"/>
              </a:rPr>
              <a:t>akımının</a:t>
            </a:r>
            <a:r>
              <a:rPr lang="en-US" altLang="tr-TR" sz="2800" dirty="0" smtClean="0">
                <a:solidFill>
                  <a:srgbClr val="000099"/>
                </a:solidFill>
                <a:latin typeface="+mj-lt"/>
              </a:rPr>
              <a:t> </a:t>
            </a:r>
            <a:r>
              <a:rPr lang="en-US" altLang="tr-TR" sz="2800" dirty="0" err="1" smtClean="0">
                <a:solidFill>
                  <a:srgbClr val="000099"/>
                </a:solidFill>
                <a:latin typeface="+mj-lt"/>
              </a:rPr>
              <a:t>içeriye</a:t>
            </a:r>
            <a:r>
              <a:rPr lang="en-US" altLang="tr-TR" sz="2800" dirty="0" smtClean="0">
                <a:solidFill>
                  <a:srgbClr val="000099"/>
                </a:solidFill>
                <a:latin typeface="+mj-lt"/>
              </a:rPr>
              <a:t> </a:t>
            </a:r>
            <a:r>
              <a:rPr lang="en-US" altLang="tr-TR" sz="2800" dirty="0" err="1" smtClean="0">
                <a:solidFill>
                  <a:srgbClr val="000099"/>
                </a:solidFill>
                <a:latin typeface="+mj-lt"/>
              </a:rPr>
              <a:t>alınması</a:t>
            </a:r>
            <a:r>
              <a:rPr lang="en-US" altLang="tr-TR" sz="2800" dirty="0" smtClean="0">
                <a:solidFill>
                  <a:srgbClr val="000099"/>
                </a:solidFill>
                <a:latin typeface="+mj-lt"/>
              </a:rPr>
              <a:t> </a:t>
            </a:r>
            <a:r>
              <a:rPr lang="en-US" altLang="tr-TR" sz="2800" dirty="0" err="1" smtClean="0">
                <a:latin typeface="+mj-lt"/>
              </a:rPr>
              <a:t>işlemine</a:t>
            </a:r>
            <a:r>
              <a:rPr lang="en-US" altLang="tr-TR" sz="2800" dirty="0" smtClean="0">
                <a:latin typeface="+mj-lt"/>
              </a:rPr>
              <a:t> </a:t>
            </a:r>
            <a:r>
              <a:rPr lang="en-US" altLang="tr-TR" sz="2800" b="1" dirty="0" err="1" smtClean="0">
                <a:solidFill>
                  <a:srgbClr val="FF0000"/>
                </a:solidFill>
                <a:latin typeface="+mj-lt"/>
              </a:rPr>
              <a:t>havalandırma</a:t>
            </a:r>
            <a:r>
              <a:rPr lang="en-US" altLang="tr-TR" sz="2800" dirty="0" smtClean="0">
                <a:solidFill>
                  <a:srgbClr val="FF3300"/>
                </a:solidFill>
                <a:latin typeface="+mj-lt"/>
              </a:rPr>
              <a:t> </a:t>
            </a:r>
            <a:r>
              <a:rPr lang="en-US" altLang="tr-TR" sz="2800" dirty="0" smtClean="0">
                <a:latin typeface="+mj-lt"/>
              </a:rPr>
              <a:t>de</a:t>
            </a:r>
            <a:r>
              <a:rPr lang="tr-TR" altLang="tr-TR" sz="2800" dirty="0" err="1" smtClean="0">
                <a:latin typeface="+mj-lt"/>
              </a:rPr>
              <a:t>nir</a:t>
            </a:r>
            <a:r>
              <a:rPr lang="en-US" altLang="tr-TR" sz="2800" dirty="0" smtClean="0">
                <a:latin typeface="+mj-lt"/>
              </a:rPr>
              <a:t>. </a:t>
            </a:r>
            <a:endParaRPr lang="tr-TR" altLang="tr-TR" sz="2800" dirty="0" smtClean="0">
              <a:latin typeface="+mj-lt"/>
            </a:endParaRPr>
          </a:p>
          <a:p>
            <a:pPr eaLnBrk="1" hangingPunct="1">
              <a:lnSpc>
                <a:spcPct val="90000"/>
              </a:lnSpc>
            </a:pPr>
            <a:endParaRPr lang="tr-TR" altLang="tr-TR" dirty="0" smtClean="0">
              <a:latin typeface="+mj-lt"/>
            </a:endParaRPr>
          </a:p>
          <a:p>
            <a:pPr eaLnBrk="1" hangingPunct="1">
              <a:lnSpc>
                <a:spcPct val="90000"/>
              </a:lnSpc>
            </a:pPr>
            <a:r>
              <a:rPr lang="tr-TR" altLang="tr-TR" sz="3200" dirty="0" smtClean="0">
                <a:latin typeface="+mj-lt"/>
              </a:rPr>
              <a:t>Araştırmalar, </a:t>
            </a:r>
            <a:r>
              <a:rPr lang="tr-TR" altLang="tr-TR" sz="3200" dirty="0" smtClean="0">
                <a:solidFill>
                  <a:srgbClr val="003399"/>
                </a:solidFill>
                <a:latin typeface="+mj-lt"/>
              </a:rPr>
              <a:t>hava kirliliğinin %52’sinin havalandırma yetersizliğinden </a:t>
            </a:r>
            <a:r>
              <a:rPr lang="tr-TR" altLang="tr-TR" sz="3200" dirty="0" smtClean="0">
                <a:latin typeface="+mj-lt"/>
              </a:rPr>
              <a:t>kaynaklandığını göstermektedir.</a:t>
            </a:r>
          </a:p>
          <a:p>
            <a:pPr eaLnBrk="1" hangingPunct="1">
              <a:lnSpc>
                <a:spcPct val="90000"/>
              </a:lnSpc>
            </a:pPr>
            <a:endParaRPr lang="en-US" altLang="tr-TR" sz="2800" dirty="0" smtClean="0">
              <a:latin typeface="+mj-lt"/>
            </a:endParaRPr>
          </a:p>
        </p:txBody>
      </p:sp>
      <p:sp>
        <p:nvSpPr>
          <p:cNvPr id="94210" name="Slayt Numarası Yer Tutucusu 5"/>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40A22F65-5252-4AA3-9B4E-B9611E201EA8}" type="slidenum">
              <a:rPr lang="en-US" altLang="tr-TR" smtClean="0"/>
              <a:pPr eaLnBrk="1" hangingPunct="1"/>
              <a:t>2</a:t>
            </a:fld>
            <a:endParaRPr lang="en-US" altLang="tr-TR" smtClean="0"/>
          </a:p>
        </p:txBody>
      </p:sp>
    </p:spTree>
    <p:extLst>
      <p:ext uri="{BB962C8B-B14F-4D97-AF65-F5344CB8AC3E}">
        <p14:creationId xmlns:p14="http://schemas.microsoft.com/office/powerpoint/2010/main" xmlns="" val="22819464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Başlık 1"/>
          <p:cNvSpPr>
            <a:spLocks noGrp="1"/>
          </p:cNvSpPr>
          <p:nvPr>
            <p:ph type="title"/>
          </p:nvPr>
        </p:nvSpPr>
        <p:spPr>
          <a:xfrm>
            <a:off x="250825" y="274638"/>
            <a:ext cx="8435975" cy="1143000"/>
          </a:xfrm>
        </p:spPr>
        <p:txBody>
          <a:bodyPr/>
          <a:lstStyle/>
          <a:p>
            <a:r>
              <a:rPr lang="tr-TR" altLang="tr-TR" smtClean="0">
                <a:latin typeface="+mj-lt"/>
              </a:rPr>
              <a:t>Havanın bileşimi</a:t>
            </a:r>
          </a:p>
        </p:txBody>
      </p:sp>
      <p:graphicFrame>
        <p:nvGraphicFramePr>
          <p:cNvPr id="5" name="İçerik Yer Tutucusu 4"/>
          <p:cNvGraphicFramePr>
            <a:graphicFrameLocks noGrp="1"/>
          </p:cNvGraphicFramePr>
          <p:nvPr>
            <p:ph idx="1"/>
            <p:extLst>
              <p:ext uri="{D42A27DB-BD31-4B8C-83A1-F6EECF244321}">
                <p14:modId xmlns:p14="http://schemas.microsoft.com/office/powerpoint/2010/main" xmlns="" val="1969073054"/>
              </p:ext>
            </p:extLst>
          </p:nvPr>
        </p:nvGraphicFramePr>
        <p:xfrm>
          <a:off x="395288" y="1844675"/>
          <a:ext cx="7921128" cy="3017838"/>
        </p:xfrm>
        <a:graphic>
          <a:graphicData uri="http://schemas.openxmlformats.org/drawingml/2006/table">
            <a:tbl>
              <a:tblPr/>
              <a:tblGrid>
                <a:gridCol w="2640376"/>
                <a:gridCol w="2640376"/>
                <a:gridCol w="2640376"/>
              </a:tblGrid>
              <a:tr h="701114">
                <a:tc>
                  <a:txBody>
                    <a:bodyPr/>
                    <a:lstStyle/>
                    <a:p>
                      <a:r>
                        <a:rPr lang="tr-TR" sz="4000" dirty="0"/>
                        <a:t>Gaz</a:t>
                      </a:r>
                    </a:p>
                  </a:txBody>
                  <a:tcPr marT="45725" marB="45725" anchor="ctr">
                    <a:lnL>
                      <a:noFill/>
                    </a:lnL>
                    <a:lnR>
                      <a:noFill/>
                    </a:lnR>
                    <a:lnT>
                      <a:noFill/>
                    </a:lnT>
                    <a:lnB>
                      <a:noFill/>
                    </a:lnB>
                    <a:solidFill>
                      <a:srgbClr val="B3B7FF"/>
                    </a:solidFill>
                  </a:tcPr>
                </a:tc>
                <a:tc>
                  <a:txBody>
                    <a:bodyPr/>
                    <a:lstStyle/>
                    <a:p>
                      <a:r>
                        <a:rPr lang="tr-TR" sz="4000" dirty="0" smtClean="0"/>
                        <a:t>  Formül</a:t>
                      </a:r>
                      <a:endParaRPr lang="tr-TR" sz="4000" dirty="0"/>
                    </a:p>
                  </a:txBody>
                  <a:tcPr marT="45725" marB="45725" anchor="ctr">
                    <a:lnL>
                      <a:noFill/>
                    </a:lnL>
                    <a:lnR>
                      <a:noFill/>
                    </a:lnR>
                    <a:lnT>
                      <a:noFill/>
                    </a:lnT>
                    <a:lnB>
                      <a:noFill/>
                    </a:lnB>
                    <a:solidFill>
                      <a:srgbClr val="B3B7FF"/>
                    </a:solidFill>
                  </a:tcPr>
                </a:tc>
                <a:tc>
                  <a:txBody>
                    <a:bodyPr/>
                    <a:lstStyle/>
                    <a:p>
                      <a:r>
                        <a:rPr lang="tr-TR" sz="4000" dirty="0" smtClean="0"/>
                        <a:t>   Oran </a:t>
                      </a:r>
                      <a:r>
                        <a:rPr lang="tr-TR" sz="4000" dirty="0"/>
                        <a:t>(%)</a:t>
                      </a:r>
                    </a:p>
                  </a:txBody>
                  <a:tcPr marT="45725" marB="45725" anchor="ctr">
                    <a:lnL>
                      <a:noFill/>
                    </a:lnL>
                    <a:lnR>
                      <a:noFill/>
                    </a:lnR>
                    <a:lnT>
                      <a:noFill/>
                    </a:lnT>
                    <a:lnB>
                      <a:noFill/>
                    </a:lnB>
                    <a:solidFill>
                      <a:srgbClr val="B3B7FF"/>
                    </a:solidFill>
                  </a:tcPr>
                </a:tc>
              </a:tr>
              <a:tr h="579181">
                <a:tc>
                  <a:txBody>
                    <a:bodyPr/>
                    <a:lstStyle/>
                    <a:p>
                      <a:r>
                        <a:rPr lang="tr-TR" sz="3200" u="none" strike="noStrike" dirty="0">
                          <a:solidFill>
                            <a:srgbClr val="0B0080"/>
                          </a:solidFill>
                          <a:effectLst/>
                          <a:hlinkClick r:id="rId2" tooltip="Azot"/>
                        </a:rPr>
                        <a:t>Azot</a:t>
                      </a:r>
                      <a:endParaRPr lang="tr-TR" sz="3200" dirty="0"/>
                    </a:p>
                  </a:txBody>
                  <a:tcPr marT="45725" marB="45725" anchor="ctr">
                    <a:lnL>
                      <a:noFill/>
                    </a:lnL>
                    <a:lnR>
                      <a:noFill/>
                    </a:lnR>
                    <a:lnT>
                      <a:noFill/>
                    </a:lnT>
                    <a:lnB>
                      <a:noFill/>
                    </a:lnB>
                    <a:solidFill>
                      <a:srgbClr val="FFFFFF"/>
                    </a:solidFill>
                  </a:tcPr>
                </a:tc>
                <a:tc>
                  <a:txBody>
                    <a:bodyPr/>
                    <a:lstStyle/>
                    <a:p>
                      <a:r>
                        <a:rPr lang="tr-TR" sz="3200" dirty="0" smtClean="0"/>
                        <a:t>      N</a:t>
                      </a:r>
                      <a:r>
                        <a:rPr lang="tr-TR" sz="3200" baseline="-25000" dirty="0" smtClean="0">
                          <a:effectLst/>
                        </a:rPr>
                        <a:t>2</a:t>
                      </a:r>
                      <a:endParaRPr lang="tr-TR" sz="3200" dirty="0"/>
                    </a:p>
                  </a:txBody>
                  <a:tcPr marT="45725" marB="45725" anchor="ctr">
                    <a:lnL>
                      <a:noFill/>
                    </a:lnL>
                    <a:lnR>
                      <a:noFill/>
                    </a:lnR>
                    <a:lnT>
                      <a:noFill/>
                    </a:lnT>
                    <a:lnB>
                      <a:noFill/>
                    </a:lnB>
                    <a:solidFill>
                      <a:srgbClr val="FFFFFF"/>
                    </a:solidFill>
                  </a:tcPr>
                </a:tc>
                <a:tc>
                  <a:txBody>
                    <a:bodyPr/>
                    <a:lstStyle/>
                    <a:p>
                      <a:pPr algn="r"/>
                      <a:r>
                        <a:rPr lang="tr-TR" sz="3200"/>
                        <a:t>78.084</a:t>
                      </a:r>
                    </a:p>
                  </a:txBody>
                  <a:tcPr marT="45725" marB="45725" anchor="ctr">
                    <a:lnL>
                      <a:noFill/>
                    </a:lnL>
                    <a:lnR>
                      <a:noFill/>
                    </a:lnR>
                    <a:lnT>
                      <a:noFill/>
                    </a:lnT>
                    <a:lnB>
                      <a:noFill/>
                    </a:lnB>
                    <a:solidFill>
                      <a:srgbClr val="FFFFFF"/>
                    </a:solidFill>
                  </a:tcPr>
                </a:tc>
              </a:tr>
              <a:tr h="579181">
                <a:tc>
                  <a:txBody>
                    <a:bodyPr/>
                    <a:lstStyle/>
                    <a:p>
                      <a:r>
                        <a:rPr lang="tr-TR" sz="3200" u="none" strike="noStrike" dirty="0" smtClean="0">
                          <a:solidFill>
                            <a:srgbClr val="0B0080"/>
                          </a:solidFill>
                          <a:effectLst/>
                          <a:hlinkClick r:id="rId3" tooltip="Oksijen"/>
                        </a:rPr>
                        <a:t>Oksijen</a:t>
                      </a:r>
                      <a:r>
                        <a:rPr lang="tr-TR" sz="3200" u="none" strike="noStrike" dirty="0" smtClean="0">
                          <a:solidFill>
                            <a:srgbClr val="0B0080"/>
                          </a:solidFill>
                          <a:effectLst/>
                        </a:rPr>
                        <a:t> (%21)</a:t>
                      </a:r>
                      <a:endParaRPr lang="tr-TR" sz="3200" dirty="0"/>
                    </a:p>
                  </a:txBody>
                  <a:tcPr marT="45725" marB="45725" anchor="ctr">
                    <a:lnL>
                      <a:noFill/>
                    </a:lnL>
                    <a:lnR>
                      <a:noFill/>
                    </a:lnR>
                    <a:lnT>
                      <a:noFill/>
                    </a:lnT>
                    <a:lnB>
                      <a:noFill/>
                    </a:lnB>
                    <a:solidFill>
                      <a:srgbClr val="FFFFFF"/>
                    </a:solidFill>
                  </a:tcPr>
                </a:tc>
                <a:tc>
                  <a:txBody>
                    <a:bodyPr/>
                    <a:lstStyle/>
                    <a:p>
                      <a:r>
                        <a:rPr lang="tr-TR" sz="3200" dirty="0" smtClean="0"/>
                        <a:t>      O</a:t>
                      </a:r>
                      <a:r>
                        <a:rPr lang="tr-TR" sz="3200" baseline="-25000" dirty="0" smtClean="0">
                          <a:effectLst/>
                        </a:rPr>
                        <a:t>2</a:t>
                      </a:r>
                      <a:endParaRPr lang="tr-TR" sz="3200" dirty="0"/>
                    </a:p>
                  </a:txBody>
                  <a:tcPr marT="45725" marB="45725" anchor="ctr">
                    <a:lnL>
                      <a:noFill/>
                    </a:lnL>
                    <a:lnR>
                      <a:noFill/>
                    </a:lnR>
                    <a:lnT>
                      <a:noFill/>
                    </a:lnT>
                    <a:lnB>
                      <a:noFill/>
                    </a:lnB>
                    <a:solidFill>
                      <a:srgbClr val="FFFFFF"/>
                    </a:solidFill>
                  </a:tcPr>
                </a:tc>
                <a:tc>
                  <a:txBody>
                    <a:bodyPr/>
                    <a:lstStyle/>
                    <a:p>
                      <a:pPr algn="r"/>
                      <a:r>
                        <a:rPr lang="tr-TR" sz="3200" dirty="0">
                          <a:solidFill>
                            <a:srgbClr val="FF0000"/>
                          </a:solidFill>
                        </a:rPr>
                        <a:t>20.946</a:t>
                      </a:r>
                    </a:p>
                  </a:txBody>
                  <a:tcPr marT="45725" marB="45725" anchor="ctr">
                    <a:lnL>
                      <a:noFill/>
                    </a:lnL>
                    <a:lnR>
                      <a:noFill/>
                    </a:lnR>
                    <a:lnT>
                      <a:noFill/>
                    </a:lnT>
                    <a:lnB>
                      <a:noFill/>
                    </a:lnB>
                    <a:solidFill>
                      <a:srgbClr val="FFFFFF"/>
                    </a:solidFill>
                  </a:tcPr>
                </a:tc>
              </a:tr>
              <a:tr h="579181">
                <a:tc>
                  <a:txBody>
                    <a:bodyPr/>
                    <a:lstStyle/>
                    <a:p>
                      <a:r>
                        <a:rPr lang="tr-TR" sz="3200" u="none" strike="noStrike">
                          <a:solidFill>
                            <a:srgbClr val="0B0080"/>
                          </a:solidFill>
                          <a:effectLst/>
                          <a:hlinkClick r:id="rId4" tooltip="Argon"/>
                        </a:rPr>
                        <a:t>Argon</a:t>
                      </a:r>
                      <a:endParaRPr lang="tr-TR" sz="3200"/>
                    </a:p>
                  </a:txBody>
                  <a:tcPr marT="45725" marB="45725" anchor="ctr">
                    <a:lnL>
                      <a:noFill/>
                    </a:lnL>
                    <a:lnR>
                      <a:noFill/>
                    </a:lnR>
                    <a:lnT>
                      <a:noFill/>
                    </a:lnT>
                    <a:lnB>
                      <a:noFill/>
                    </a:lnB>
                    <a:solidFill>
                      <a:srgbClr val="FFFFFF"/>
                    </a:solidFill>
                  </a:tcPr>
                </a:tc>
                <a:tc>
                  <a:txBody>
                    <a:bodyPr/>
                    <a:lstStyle/>
                    <a:p>
                      <a:r>
                        <a:rPr lang="tr-TR" sz="3200" dirty="0" smtClean="0"/>
                        <a:t>      Ar</a:t>
                      </a:r>
                      <a:endParaRPr lang="tr-TR" sz="3200" dirty="0"/>
                    </a:p>
                  </a:txBody>
                  <a:tcPr marT="45725" marB="45725" anchor="ctr">
                    <a:lnL>
                      <a:noFill/>
                    </a:lnL>
                    <a:lnR>
                      <a:noFill/>
                    </a:lnR>
                    <a:lnT>
                      <a:noFill/>
                    </a:lnT>
                    <a:lnB>
                      <a:noFill/>
                    </a:lnB>
                    <a:solidFill>
                      <a:srgbClr val="FFFFFF"/>
                    </a:solidFill>
                  </a:tcPr>
                </a:tc>
                <a:tc>
                  <a:txBody>
                    <a:bodyPr/>
                    <a:lstStyle/>
                    <a:p>
                      <a:pPr algn="r"/>
                      <a:r>
                        <a:rPr lang="tr-TR" sz="3200"/>
                        <a:t>0.930</a:t>
                      </a:r>
                    </a:p>
                  </a:txBody>
                  <a:tcPr marT="45725" marB="45725" anchor="ctr">
                    <a:lnL>
                      <a:noFill/>
                    </a:lnL>
                    <a:lnR>
                      <a:noFill/>
                    </a:lnR>
                    <a:lnT>
                      <a:noFill/>
                    </a:lnT>
                    <a:lnB>
                      <a:noFill/>
                    </a:lnB>
                    <a:solidFill>
                      <a:srgbClr val="FFFFFF"/>
                    </a:solidFill>
                  </a:tcPr>
                </a:tc>
              </a:tr>
              <a:tr h="579181">
                <a:tc>
                  <a:txBody>
                    <a:bodyPr/>
                    <a:lstStyle/>
                    <a:p>
                      <a:r>
                        <a:rPr lang="tr-TR" sz="3200" u="none" strike="noStrike" dirty="0">
                          <a:solidFill>
                            <a:srgbClr val="0B0080"/>
                          </a:solidFill>
                          <a:effectLst/>
                          <a:hlinkClick r:id="rId5" tooltip="Karbondioksit"/>
                        </a:rPr>
                        <a:t>Karbondioksit</a:t>
                      </a:r>
                      <a:endParaRPr lang="tr-TR" sz="3200" dirty="0"/>
                    </a:p>
                  </a:txBody>
                  <a:tcPr marT="45725" marB="45725" anchor="ctr">
                    <a:lnL>
                      <a:noFill/>
                    </a:lnL>
                    <a:lnR>
                      <a:noFill/>
                    </a:lnR>
                    <a:lnT>
                      <a:noFill/>
                    </a:lnT>
                    <a:lnB>
                      <a:noFill/>
                    </a:lnB>
                    <a:solidFill>
                      <a:srgbClr val="FFFFFF"/>
                    </a:solidFill>
                  </a:tcPr>
                </a:tc>
                <a:tc>
                  <a:txBody>
                    <a:bodyPr/>
                    <a:lstStyle/>
                    <a:p>
                      <a:r>
                        <a:rPr lang="tr-TR" sz="3200" dirty="0" smtClean="0"/>
                        <a:t>      CO</a:t>
                      </a:r>
                      <a:r>
                        <a:rPr lang="tr-TR" sz="3200" baseline="-25000" dirty="0" smtClean="0">
                          <a:effectLst/>
                        </a:rPr>
                        <a:t>2</a:t>
                      </a:r>
                      <a:endParaRPr lang="tr-TR" sz="3200" dirty="0"/>
                    </a:p>
                  </a:txBody>
                  <a:tcPr marT="45725" marB="45725" anchor="ctr">
                    <a:lnL>
                      <a:noFill/>
                    </a:lnL>
                    <a:lnR>
                      <a:noFill/>
                    </a:lnR>
                    <a:lnT>
                      <a:noFill/>
                    </a:lnT>
                    <a:lnB>
                      <a:noFill/>
                    </a:lnB>
                    <a:solidFill>
                      <a:srgbClr val="FFFFFF"/>
                    </a:solidFill>
                  </a:tcPr>
                </a:tc>
                <a:tc>
                  <a:txBody>
                    <a:bodyPr/>
                    <a:lstStyle/>
                    <a:p>
                      <a:pPr algn="r"/>
                      <a:r>
                        <a:rPr lang="tr-TR" sz="3200" dirty="0">
                          <a:solidFill>
                            <a:srgbClr val="FF0000"/>
                          </a:solidFill>
                        </a:rPr>
                        <a:t>0.034</a:t>
                      </a:r>
                    </a:p>
                  </a:txBody>
                  <a:tcPr marT="45725" marB="45725" anchor="ctr">
                    <a:lnL>
                      <a:noFill/>
                    </a:lnL>
                    <a:lnR>
                      <a:noFill/>
                    </a:lnR>
                    <a:lnT>
                      <a:noFill/>
                    </a:lnT>
                    <a:lnB>
                      <a:noFill/>
                    </a:lnB>
                    <a:solidFill>
                      <a:srgbClr val="FFFFFF"/>
                    </a:solidFill>
                  </a:tcPr>
                </a:tc>
              </a:tr>
            </a:tbl>
          </a:graphicData>
        </a:graphic>
      </p:graphicFrame>
      <p:sp>
        <p:nvSpPr>
          <p:cNvPr id="95251" name="Slayt Numarası Yer Tutucusu 3"/>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2ACDBA39-FCF5-4B13-8B0C-F78A3B4314C2}" type="slidenum">
              <a:rPr lang="en-US" altLang="tr-TR" smtClean="0"/>
              <a:pPr eaLnBrk="1" hangingPunct="1"/>
              <a:t>3</a:t>
            </a:fld>
            <a:endParaRPr lang="en-US" altLang="tr-TR" smtClean="0"/>
          </a:p>
        </p:txBody>
      </p:sp>
    </p:spTree>
    <p:extLst>
      <p:ext uri="{BB962C8B-B14F-4D97-AF65-F5344CB8AC3E}">
        <p14:creationId xmlns:p14="http://schemas.microsoft.com/office/powerpoint/2010/main" xmlns="" val="851388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457200" y="260350"/>
            <a:ext cx="8229600" cy="1187450"/>
          </a:xfrm>
        </p:spPr>
        <p:txBody>
          <a:bodyPr/>
          <a:lstStyle/>
          <a:p>
            <a:pPr eaLnBrk="1" hangingPunct="1"/>
            <a:r>
              <a:rPr lang="tr-TR" altLang="zh-CN" sz="4000" b="1" dirty="0" smtClean="0">
                <a:solidFill>
                  <a:schemeClr val="tx1"/>
                </a:solidFill>
                <a:latin typeface="+mj-lt"/>
              </a:rPr>
              <a:t>TEMİZ</a:t>
            </a:r>
            <a:r>
              <a:rPr lang="tr-TR" altLang="zh-CN" sz="4000" b="1" dirty="0" smtClean="0">
                <a:solidFill>
                  <a:srgbClr val="FF0000"/>
                </a:solidFill>
                <a:latin typeface="+mj-lt"/>
              </a:rPr>
              <a:t> </a:t>
            </a:r>
            <a:r>
              <a:rPr lang="tr-TR" altLang="zh-CN" sz="4000" b="1" dirty="0" smtClean="0">
                <a:solidFill>
                  <a:schemeClr val="tx1"/>
                </a:solidFill>
                <a:latin typeface="+mj-lt"/>
              </a:rPr>
              <a:t>HAVA</a:t>
            </a:r>
            <a:endParaRPr lang="tr-TR" altLang="tr-TR" b="1" dirty="0" smtClean="0">
              <a:solidFill>
                <a:schemeClr val="tx1"/>
              </a:solidFill>
              <a:latin typeface="+mj-lt"/>
            </a:endParaRPr>
          </a:p>
        </p:txBody>
      </p:sp>
      <p:sp>
        <p:nvSpPr>
          <p:cNvPr id="108547" name="Rectangle 3"/>
          <p:cNvSpPr>
            <a:spLocks noGrp="1" noChangeArrowheads="1"/>
          </p:cNvSpPr>
          <p:nvPr>
            <p:ph idx="1"/>
          </p:nvPr>
        </p:nvSpPr>
        <p:spPr>
          <a:xfrm>
            <a:off x="179388" y="1412875"/>
            <a:ext cx="8281044" cy="4103688"/>
          </a:xfrm>
        </p:spPr>
        <p:txBody>
          <a:bodyPr>
            <a:normAutofit/>
          </a:bodyPr>
          <a:lstStyle/>
          <a:p>
            <a:pPr eaLnBrk="1" hangingPunct="1">
              <a:defRPr/>
            </a:pPr>
            <a:r>
              <a:rPr lang="tr-TR" altLang="zh-CN" sz="2800" dirty="0" smtClean="0">
                <a:latin typeface="+mj-lt"/>
              </a:rPr>
              <a:t>Normal şartlarda (büro ortamında), </a:t>
            </a:r>
            <a:r>
              <a:rPr lang="tr-TR" altLang="zh-CN" sz="2800" dirty="0" smtClean="0">
                <a:solidFill>
                  <a:srgbClr val="FF0000"/>
                </a:solidFill>
                <a:latin typeface="+mj-lt"/>
              </a:rPr>
              <a:t>Karbondioksit</a:t>
            </a:r>
            <a:r>
              <a:rPr lang="tr-TR" altLang="zh-CN" sz="2800" dirty="0" smtClean="0">
                <a:latin typeface="+mj-lt"/>
              </a:rPr>
              <a:t>  oranı </a:t>
            </a:r>
            <a:r>
              <a:rPr lang="tr-TR" altLang="zh-CN" sz="2800" b="1" dirty="0" smtClean="0">
                <a:solidFill>
                  <a:srgbClr val="FF0000"/>
                </a:solidFill>
                <a:latin typeface="+mj-lt"/>
              </a:rPr>
              <a:t>binde birin altında </a:t>
            </a:r>
            <a:r>
              <a:rPr lang="tr-TR" altLang="zh-CN" sz="2800" dirty="0" smtClean="0">
                <a:latin typeface="+mj-lt"/>
              </a:rPr>
              <a:t>olan  havaya </a:t>
            </a:r>
            <a:r>
              <a:rPr lang="tr-TR" altLang="zh-CN" sz="2800" dirty="0" smtClean="0">
                <a:solidFill>
                  <a:srgbClr val="FF0000"/>
                </a:solidFill>
                <a:latin typeface="+mj-lt"/>
              </a:rPr>
              <a:t>temiz hava </a:t>
            </a:r>
            <a:r>
              <a:rPr lang="tr-TR" altLang="zh-CN" sz="2800" dirty="0" smtClean="0">
                <a:latin typeface="+mj-lt"/>
              </a:rPr>
              <a:t>denir.</a:t>
            </a:r>
          </a:p>
          <a:p>
            <a:pPr marL="0" indent="0" eaLnBrk="1" hangingPunct="1">
              <a:buFont typeface="Arial" pitchFamily="34" charset="0"/>
              <a:buNone/>
              <a:defRPr/>
            </a:pPr>
            <a:endParaRPr lang="tr-TR" altLang="zh-CN" sz="2800" dirty="0" smtClean="0">
              <a:latin typeface="+mj-lt"/>
            </a:endParaRPr>
          </a:p>
          <a:p>
            <a:pPr eaLnBrk="1" hangingPunct="1">
              <a:defRPr/>
            </a:pPr>
            <a:r>
              <a:rPr lang="tr-TR" altLang="zh-CN" sz="2800" dirty="0" smtClean="0">
                <a:latin typeface="+mj-lt"/>
              </a:rPr>
              <a:t>İşyeri ortamında bulunan </a:t>
            </a:r>
            <a:r>
              <a:rPr lang="tr-TR" altLang="zh-CN" sz="2800" dirty="0" smtClean="0">
                <a:solidFill>
                  <a:srgbClr val="0033CC"/>
                </a:solidFill>
                <a:latin typeface="+mj-lt"/>
              </a:rPr>
              <a:t>gaz, toz ve kokunun</a:t>
            </a:r>
            <a:r>
              <a:rPr lang="tr-TR" altLang="zh-CN" sz="2800" dirty="0" smtClean="0">
                <a:latin typeface="+mj-lt"/>
              </a:rPr>
              <a:t> da kabul edilebilir sınırların altında olması gereklidir.</a:t>
            </a:r>
            <a:endParaRPr lang="tr-TR" altLang="tr-TR" sz="2800" dirty="0" smtClean="0">
              <a:latin typeface="+mj-lt"/>
            </a:endParaRPr>
          </a:p>
        </p:txBody>
      </p:sp>
      <p:sp>
        <p:nvSpPr>
          <p:cNvPr id="96260" name="4 Slayt Numarası Yer Tutucusu"/>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7EA0801D-D9D4-4293-BADC-7B073161692D}" type="slidenum">
              <a:rPr lang="tr-TR" altLang="tr-TR" smtClean="0">
                <a:solidFill>
                  <a:srgbClr val="898989"/>
                </a:solidFill>
              </a:rPr>
              <a:pPr eaLnBrk="1" hangingPunct="1"/>
              <a:t>4</a:t>
            </a:fld>
            <a:endParaRPr lang="tr-TR" altLang="tr-TR" smtClean="0">
              <a:solidFill>
                <a:srgbClr val="898989"/>
              </a:solidFill>
            </a:endParaRPr>
          </a:p>
        </p:txBody>
      </p:sp>
    </p:spTree>
    <p:extLst>
      <p:ext uri="{BB962C8B-B14F-4D97-AF65-F5344CB8AC3E}">
        <p14:creationId xmlns:p14="http://schemas.microsoft.com/office/powerpoint/2010/main" xmlns="" val="17702188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2"/>
          <p:cNvSpPr>
            <a:spLocks noGrp="1" noChangeArrowheads="1"/>
          </p:cNvSpPr>
          <p:nvPr>
            <p:ph type="title"/>
          </p:nvPr>
        </p:nvSpPr>
        <p:spPr>
          <a:xfrm>
            <a:off x="107950" y="-242888"/>
            <a:ext cx="8372475" cy="936626"/>
          </a:xfrm>
        </p:spPr>
        <p:txBody>
          <a:bodyPr/>
          <a:lstStyle/>
          <a:p>
            <a:pPr eaLnBrk="1" hangingPunct="1"/>
            <a:r>
              <a:rPr lang="tr-TR" altLang="tr-TR" sz="3200" b="1" smtClean="0">
                <a:solidFill>
                  <a:srgbClr val="000099"/>
                </a:solidFill>
                <a:latin typeface="+mj-lt"/>
              </a:rPr>
              <a:t>Havalandırmanın amaçları ?</a:t>
            </a:r>
            <a:endParaRPr lang="en-US" altLang="tr-TR" sz="3200" b="1" smtClean="0">
              <a:solidFill>
                <a:srgbClr val="000099"/>
              </a:solidFill>
              <a:latin typeface="+mj-lt"/>
            </a:endParaRPr>
          </a:p>
        </p:txBody>
      </p:sp>
      <p:sp>
        <p:nvSpPr>
          <p:cNvPr id="160772" name="Rectangle 3"/>
          <p:cNvSpPr>
            <a:spLocks noGrp="1" noChangeArrowheads="1"/>
          </p:cNvSpPr>
          <p:nvPr>
            <p:ph idx="1"/>
          </p:nvPr>
        </p:nvSpPr>
        <p:spPr>
          <a:xfrm>
            <a:off x="1588" y="549275"/>
            <a:ext cx="8386836" cy="6120085"/>
          </a:xfrm>
        </p:spPr>
        <p:txBody>
          <a:bodyPr>
            <a:normAutofit lnSpcReduction="10000"/>
          </a:bodyPr>
          <a:lstStyle/>
          <a:p>
            <a:pPr eaLnBrk="1" hangingPunct="1">
              <a:lnSpc>
                <a:spcPct val="80000"/>
              </a:lnSpc>
              <a:defRPr/>
            </a:pPr>
            <a:r>
              <a:rPr lang="en-US" sz="2400" dirty="0" err="1" smtClean="0">
                <a:latin typeface="+mj-lt"/>
              </a:rPr>
              <a:t>Ortamdaki</a:t>
            </a:r>
            <a:r>
              <a:rPr lang="en-US" sz="2400" dirty="0" smtClean="0">
                <a:latin typeface="+mj-lt"/>
              </a:rPr>
              <a:t> </a:t>
            </a:r>
            <a:r>
              <a:rPr lang="en-US" sz="2400" dirty="0" err="1" smtClean="0">
                <a:latin typeface="+mj-lt"/>
              </a:rPr>
              <a:t>havanın</a:t>
            </a:r>
            <a:r>
              <a:rPr lang="en-US" sz="2400" dirty="0" smtClean="0">
                <a:latin typeface="+mj-lt"/>
              </a:rPr>
              <a:t> </a:t>
            </a:r>
            <a:r>
              <a:rPr lang="en-US" sz="2400" dirty="0" err="1" smtClean="0">
                <a:solidFill>
                  <a:schemeClr val="accent1">
                    <a:lumMod val="25000"/>
                  </a:schemeClr>
                </a:solidFill>
                <a:latin typeface="+mj-lt"/>
              </a:rPr>
              <a:t>oksijen</a:t>
            </a:r>
            <a:r>
              <a:rPr lang="en-US" sz="2400" dirty="0" smtClean="0">
                <a:latin typeface="+mj-lt"/>
              </a:rPr>
              <a:t> </a:t>
            </a:r>
            <a:r>
              <a:rPr lang="tr-TR" sz="2400" dirty="0" smtClean="0">
                <a:latin typeface="+mj-lt"/>
              </a:rPr>
              <a:t>miktarının </a:t>
            </a:r>
            <a:r>
              <a:rPr lang="en-US" sz="2400" dirty="0" err="1" smtClean="0">
                <a:latin typeface="+mj-lt"/>
              </a:rPr>
              <a:t>azalmas</a:t>
            </a:r>
            <a:r>
              <a:rPr lang="tr-TR" sz="2400" dirty="0" smtClean="0">
                <a:latin typeface="+mj-lt"/>
              </a:rPr>
              <a:t>ı</a:t>
            </a:r>
            <a:r>
              <a:rPr lang="en-US" sz="2400" dirty="0" err="1" smtClean="0">
                <a:latin typeface="+mj-lt"/>
              </a:rPr>
              <a:t>nı</a:t>
            </a:r>
            <a:r>
              <a:rPr lang="tr-TR" sz="2400" dirty="0">
                <a:solidFill>
                  <a:schemeClr val="accent1">
                    <a:lumMod val="25000"/>
                  </a:schemeClr>
                </a:solidFill>
                <a:latin typeface="+mj-lt"/>
              </a:rPr>
              <a:t>,</a:t>
            </a:r>
            <a:r>
              <a:rPr lang="en-US" sz="2400" dirty="0" smtClean="0">
                <a:solidFill>
                  <a:schemeClr val="accent1">
                    <a:lumMod val="25000"/>
                  </a:schemeClr>
                </a:solidFill>
                <a:latin typeface="+mj-lt"/>
              </a:rPr>
              <a:t> </a:t>
            </a:r>
            <a:r>
              <a:rPr lang="en-US" sz="2400" dirty="0" err="1" smtClean="0">
                <a:solidFill>
                  <a:schemeClr val="accent1">
                    <a:lumMod val="25000"/>
                  </a:schemeClr>
                </a:solidFill>
                <a:latin typeface="+mj-lt"/>
              </a:rPr>
              <a:t>karbondioksit</a:t>
            </a:r>
            <a:r>
              <a:rPr lang="en-US" sz="2400" dirty="0" smtClean="0">
                <a:solidFill>
                  <a:schemeClr val="accent1">
                    <a:lumMod val="25000"/>
                  </a:schemeClr>
                </a:solidFill>
                <a:latin typeface="+mj-lt"/>
              </a:rPr>
              <a:t> </a:t>
            </a:r>
            <a:r>
              <a:rPr lang="en-US" sz="2400" dirty="0" err="1" smtClean="0">
                <a:solidFill>
                  <a:schemeClr val="accent1">
                    <a:lumMod val="25000"/>
                  </a:schemeClr>
                </a:solidFill>
                <a:latin typeface="+mj-lt"/>
              </a:rPr>
              <a:t>gazı</a:t>
            </a:r>
            <a:r>
              <a:rPr lang="en-US" sz="2400" dirty="0" smtClean="0">
                <a:solidFill>
                  <a:schemeClr val="accent1">
                    <a:lumMod val="25000"/>
                  </a:schemeClr>
                </a:solidFill>
                <a:latin typeface="+mj-lt"/>
              </a:rPr>
              <a:t>, </a:t>
            </a:r>
            <a:r>
              <a:rPr lang="en-US" sz="2400" dirty="0" err="1" smtClean="0">
                <a:solidFill>
                  <a:schemeClr val="accent1">
                    <a:lumMod val="25000"/>
                  </a:schemeClr>
                </a:solidFill>
                <a:latin typeface="+mj-lt"/>
              </a:rPr>
              <a:t>vücut</a:t>
            </a:r>
            <a:r>
              <a:rPr lang="en-US" sz="2400" dirty="0" smtClean="0">
                <a:solidFill>
                  <a:schemeClr val="accent1">
                    <a:lumMod val="25000"/>
                  </a:schemeClr>
                </a:solidFill>
                <a:latin typeface="+mj-lt"/>
              </a:rPr>
              <a:t> </a:t>
            </a:r>
            <a:r>
              <a:rPr lang="en-US" sz="2400" dirty="0" err="1" smtClean="0">
                <a:solidFill>
                  <a:schemeClr val="accent1">
                    <a:lumMod val="25000"/>
                  </a:schemeClr>
                </a:solidFill>
                <a:latin typeface="+mj-lt"/>
              </a:rPr>
              <a:t>kokuları</a:t>
            </a:r>
            <a:r>
              <a:rPr lang="tr-TR" sz="2400" dirty="0">
                <a:solidFill>
                  <a:schemeClr val="accent1">
                    <a:lumMod val="25000"/>
                  </a:schemeClr>
                </a:solidFill>
                <a:latin typeface="+mj-lt"/>
              </a:rPr>
              <a:t> </a:t>
            </a:r>
            <a:r>
              <a:rPr lang="tr-TR" sz="2400" dirty="0" smtClean="0">
                <a:solidFill>
                  <a:schemeClr val="accent1">
                    <a:lumMod val="25000"/>
                  </a:schemeClr>
                </a:solidFill>
                <a:latin typeface="+mj-lt"/>
              </a:rPr>
              <a:t>vs.</a:t>
            </a:r>
            <a:r>
              <a:rPr lang="en-US" sz="2400" dirty="0" smtClean="0">
                <a:solidFill>
                  <a:schemeClr val="accent1">
                    <a:lumMod val="25000"/>
                  </a:schemeClr>
                </a:solidFill>
                <a:latin typeface="+mj-lt"/>
              </a:rPr>
              <a:t> </a:t>
            </a:r>
            <a:r>
              <a:rPr lang="en-US" sz="2400" dirty="0" err="1" smtClean="0">
                <a:latin typeface="+mj-lt"/>
              </a:rPr>
              <a:t>yükselişini</a:t>
            </a:r>
            <a:r>
              <a:rPr lang="en-US" sz="2400" dirty="0" smtClean="0">
                <a:latin typeface="+mj-lt"/>
              </a:rPr>
              <a:t> </a:t>
            </a:r>
            <a:r>
              <a:rPr lang="en-US" sz="2400" dirty="0" err="1" smtClean="0">
                <a:latin typeface="+mj-lt"/>
              </a:rPr>
              <a:t>ön</a:t>
            </a:r>
            <a:r>
              <a:rPr lang="tr-TR" sz="2400" dirty="0" err="1" smtClean="0">
                <a:latin typeface="+mj-lt"/>
              </a:rPr>
              <a:t>lemek</a:t>
            </a:r>
            <a:r>
              <a:rPr lang="tr-TR" sz="2400" dirty="0" smtClean="0">
                <a:latin typeface="+mj-lt"/>
              </a:rPr>
              <a:t>,</a:t>
            </a:r>
            <a:r>
              <a:rPr lang="en-US" sz="2400" dirty="0" smtClean="0">
                <a:latin typeface="+mj-lt"/>
              </a:rPr>
              <a:t> </a:t>
            </a:r>
            <a:endParaRPr lang="tr-TR" sz="2400" dirty="0" smtClean="0">
              <a:latin typeface="+mj-lt"/>
            </a:endParaRPr>
          </a:p>
          <a:p>
            <a:pPr eaLnBrk="1" hangingPunct="1">
              <a:lnSpc>
                <a:spcPct val="80000"/>
              </a:lnSpc>
              <a:defRPr/>
            </a:pPr>
            <a:endParaRPr lang="en-US" sz="2400" dirty="0" smtClean="0">
              <a:latin typeface="+mj-lt"/>
            </a:endParaRPr>
          </a:p>
          <a:p>
            <a:pPr eaLnBrk="1" hangingPunct="1">
              <a:lnSpc>
                <a:spcPct val="80000"/>
              </a:lnSpc>
              <a:defRPr/>
            </a:pPr>
            <a:r>
              <a:rPr lang="en-US" sz="2400" dirty="0" err="1" smtClean="0">
                <a:latin typeface="+mj-lt"/>
              </a:rPr>
              <a:t>Ortamda</a:t>
            </a:r>
            <a:r>
              <a:rPr lang="en-US" sz="2400" dirty="0" smtClean="0">
                <a:latin typeface="+mj-lt"/>
              </a:rPr>
              <a:t> </a:t>
            </a:r>
            <a:r>
              <a:rPr lang="en-US" sz="2400" dirty="0" err="1" smtClean="0">
                <a:latin typeface="+mj-lt"/>
              </a:rPr>
              <a:t>bulunan</a:t>
            </a:r>
            <a:r>
              <a:rPr lang="en-US" sz="2400" dirty="0" smtClean="0">
                <a:latin typeface="+mj-lt"/>
              </a:rPr>
              <a:t> </a:t>
            </a:r>
            <a:r>
              <a:rPr lang="en-US" sz="2400" dirty="0" err="1" smtClean="0">
                <a:latin typeface="+mj-lt"/>
              </a:rPr>
              <a:t>makinalardan</a:t>
            </a:r>
            <a:r>
              <a:rPr lang="tr-TR" sz="2400" dirty="0" smtClean="0">
                <a:latin typeface="+mj-lt"/>
              </a:rPr>
              <a:t>,</a:t>
            </a:r>
            <a:r>
              <a:rPr lang="en-US" sz="2400" dirty="0" smtClean="0">
                <a:latin typeface="+mj-lt"/>
              </a:rPr>
              <a:t> </a:t>
            </a:r>
            <a:r>
              <a:rPr lang="en-US" sz="2400" dirty="0" err="1" smtClean="0">
                <a:latin typeface="+mj-lt"/>
              </a:rPr>
              <a:t>insanlardan</a:t>
            </a:r>
            <a:r>
              <a:rPr lang="en-US" sz="2400" dirty="0" smtClean="0">
                <a:latin typeface="+mj-lt"/>
              </a:rPr>
              <a:t> </a:t>
            </a:r>
            <a:r>
              <a:rPr lang="en-US" sz="2400" dirty="0" err="1" smtClean="0">
                <a:latin typeface="+mj-lt"/>
              </a:rPr>
              <a:t>ve</a:t>
            </a:r>
            <a:r>
              <a:rPr lang="en-US" sz="2400" dirty="0" smtClean="0">
                <a:latin typeface="+mj-lt"/>
              </a:rPr>
              <a:t> </a:t>
            </a:r>
            <a:r>
              <a:rPr lang="en-US" sz="2400" dirty="0" err="1" smtClean="0">
                <a:latin typeface="+mj-lt"/>
              </a:rPr>
              <a:t>aydınlatmalardan</a:t>
            </a:r>
            <a:r>
              <a:rPr lang="en-US" sz="2400" dirty="0" smtClean="0">
                <a:latin typeface="+mj-lt"/>
              </a:rPr>
              <a:t> </a:t>
            </a:r>
            <a:r>
              <a:rPr lang="en-US" sz="2400" dirty="0" err="1" smtClean="0">
                <a:latin typeface="+mj-lt"/>
              </a:rPr>
              <a:t>kaynakl</a:t>
            </a:r>
            <a:r>
              <a:rPr lang="tr-TR" sz="2400" dirty="0" smtClean="0">
                <a:latin typeface="+mj-lt"/>
              </a:rPr>
              <a:t>anan </a:t>
            </a:r>
            <a:r>
              <a:rPr lang="tr-TR" sz="2400" dirty="0" smtClean="0">
                <a:solidFill>
                  <a:srgbClr val="FF0000"/>
                </a:solidFill>
                <a:latin typeface="+mj-lt"/>
              </a:rPr>
              <a:t>ısı artışını</a:t>
            </a:r>
            <a:r>
              <a:rPr lang="tr-TR" sz="2400" dirty="0" smtClean="0">
                <a:latin typeface="+mj-lt"/>
              </a:rPr>
              <a:t> sınırlandırmak,</a:t>
            </a:r>
          </a:p>
          <a:p>
            <a:pPr eaLnBrk="1" hangingPunct="1">
              <a:lnSpc>
                <a:spcPct val="80000"/>
              </a:lnSpc>
              <a:defRPr/>
            </a:pPr>
            <a:endParaRPr lang="tr-TR" sz="2400" dirty="0" smtClean="0">
              <a:latin typeface="+mj-lt"/>
            </a:endParaRPr>
          </a:p>
          <a:p>
            <a:pPr eaLnBrk="1" hangingPunct="1">
              <a:lnSpc>
                <a:spcPct val="80000"/>
              </a:lnSpc>
              <a:defRPr/>
            </a:pPr>
            <a:r>
              <a:rPr lang="en-US" sz="2400" dirty="0" smtClean="0">
                <a:latin typeface="+mj-lt"/>
              </a:rPr>
              <a:t> </a:t>
            </a:r>
            <a:r>
              <a:rPr lang="tr-TR" sz="2400" dirty="0" smtClean="0">
                <a:solidFill>
                  <a:srgbClr val="FF0000"/>
                </a:solidFill>
                <a:latin typeface="+mj-lt"/>
              </a:rPr>
              <a:t>Sıcaklık, nem ve hava akım hızını </a:t>
            </a:r>
            <a:r>
              <a:rPr lang="tr-TR" sz="2400" dirty="0" smtClean="0">
                <a:latin typeface="+mj-lt"/>
              </a:rPr>
              <a:t>konfor seviyesinde tutmak,</a:t>
            </a:r>
          </a:p>
          <a:p>
            <a:pPr eaLnBrk="1" hangingPunct="1">
              <a:lnSpc>
                <a:spcPct val="80000"/>
              </a:lnSpc>
              <a:defRPr/>
            </a:pPr>
            <a:endParaRPr lang="en-US" sz="2400" dirty="0" smtClean="0">
              <a:latin typeface="+mj-lt"/>
            </a:endParaRPr>
          </a:p>
          <a:p>
            <a:pPr eaLnBrk="1" hangingPunct="1">
              <a:lnSpc>
                <a:spcPct val="80000"/>
              </a:lnSpc>
              <a:defRPr/>
            </a:pPr>
            <a:r>
              <a:rPr lang="en-US" sz="2400" dirty="0" err="1" smtClean="0">
                <a:solidFill>
                  <a:srgbClr val="FF0000"/>
                </a:solidFill>
                <a:latin typeface="+mj-lt"/>
              </a:rPr>
              <a:t>Toz</a:t>
            </a:r>
            <a:r>
              <a:rPr lang="en-US" sz="2400" dirty="0" smtClean="0">
                <a:solidFill>
                  <a:srgbClr val="FF0000"/>
                </a:solidFill>
                <a:latin typeface="+mj-lt"/>
              </a:rPr>
              <a:t> </a:t>
            </a:r>
            <a:r>
              <a:rPr lang="en-US" sz="2400" dirty="0" err="1" smtClean="0">
                <a:solidFill>
                  <a:srgbClr val="FF0000"/>
                </a:solidFill>
                <a:latin typeface="+mj-lt"/>
              </a:rPr>
              <a:t>ve</a:t>
            </a:r>
            <a:r>
              <a:rPr lang="en-US" sz="2400" dirty="0" smtClean="0">
                <a:solidFill>
                  <a:srgbClr val="FF0000"/>
                </a:solidFill>
                <a:latin typeface="+mj-lt"/>
              </a:rPr>
              <a:t> </a:t>
            </a:r>
            <a:r>
              <a:rPr lang="en-US" sz="2400" dirty="0" err="1" smtClean="0">
                <a:solidFill>
                  <a:srgbClr val="FF0000"/>
                </a:solidFill>
                <a:latin typeface="+mj-lt"/>
              </a:rPr>
              <a:t>zehirli</a:t>
            </a:r>
            <a:r>
              <a:rPr lang="en-US" sz="2400" dirty="0" smtClean="0">
                <a:solidFill>
                  <a:srgbClr val="FF0000"/>
                </a:solidFill>
                <a:latin typeface="+mj-lt"/>
              </a:rPr>
              <a:t> </a:t>
            </a:r>
            <a:r>
              <a:rPr lang="en-US" sz="2400" dirty="0" err="1" smtClean="0">
                <a:solidFill>
                  <a:srgbClr val="FF0000"/>
                </a:solidFill>
                <a:latin typeface="+mj-lt"/>
              </a:rPr>
              <a:t>gazları</a:t>
            </a:r>
            <a:r>
              <a:rPr lang="en-US" sz="2400" dirty="0" smtClean="0">
                <a:latin typeface="+mj-lt"/>
              </a:rPr>
              <a:t> </a:t>
            </a:r>
            <a:r>
              <a:rPr lang="en-US" sz="2400" dirty="0" err="1" smtClean="0">
                <a:latin typeface="+mj-lt"/>
              </a:rPr>
              <a:t>ortamdan</a:t>
            </a:r>
            <a:r>
              <a:rPr lang="en-US" sz="2400" dirty="0" smtClean="0">
                <a:latin typeface="+mj-lt"/>
              </a:rPr>
              <a:t> </a:t>
            </a:r>
            <a:r>
              <a:rPr lang="en-US" sz="2400" dirty="0" err="1" smtClean="0">
                <a:latin typeface="+mj-lt"/>
              </a:rPr>
              <a:t>uzaklaştırmak</a:t>
            </a:r>
            <a:r>
              <a:rPr lang="tr-TR" sz="2400" dirty="0" smtClean="0">
                <a:latin typeface="+mj-lt"/>
              </a:rPr>
              <a:t>,</a:t>
            </a:r>
            <a:r>
              <a:rPr lang="en-US" sz="2400" dirty="0" smtClean="0">
                <a:latin typeface="+mj-lt"/>
              </a:rPr>
              <a:t> </a:t>
            </a:r>
            <a:endParaRPr lang="tr-TR" sz="2400" dirty="0" smtClean="0">
              <a:latin typeface="+mj-lt"/>
            </a:endParaRPr>
          </a:p>
          <a:p>
            <a:pPr eaLnBrk="1" hangingPunct="1">
              <a:lnSpc>
                <a:spcPct val="80000"/>
              </a:lnSpc>
              <a:defRPr/>
            </a:pPr>
            <a:endParaRPr lang="en-US" sz="2400" dirty="0" smtClean="0">
              <a:latin typeface="+mj-lt"/>
            </a:endParaRPr>
          </a:p>
          <a:p>
            <a:pPr>
              <a:defRPr/>
            </a:pPr>
            <a:r>
              <a:rPr lang="en-US" sz="2400" dirty="0" err="1" smtClean="0">
                <a:latin typeface="+mj-lt"/>
              </a:rPr>
              <a:t>Zararlı</a:t>
            </a:r>
            <a:r>
              <a:rPr lang="en-US" sz="2400" dirty="0" smtClean="0">
                <a:latin typeface="+mj-lt"/>
              </a:rPr>
              <a:t> </a:t>
            </a:r>
            <a:r>
              <a:rPr lang="en-US" sz="2400" dirty="0" err="1" smtClean="0">
                <a:solidFill>
                  <a:srgbClr val="FF0000"/>
                </a:solidFill>
                <a:latin typeface="+mj-lt"/>
              </a:rPr>
              <a:t>mikro</a:t>
            </a:r>
            <a:r>
              <a:rPr lang="en-US" sz="2400" dirty="0" smtClean="0">
                <a:solidFill>
                  <a:srgbClr val="FF0000"/>
                </a:solidFill>
                <a:latin typeface="+mj-lt"/>
              </a:rPr>
              <a:t> </a:t>
            </a:r>
            <a:r>
              <a:rPr lang="en-US" sz="2400" dirty="0" err="1" smtClean="0">
                <a:solidFill>
                  <a:srgbClr val="FF0000"/>
                </a:solidFill>
                <a:latin typeface="+mj-lt"/>
              </a:rPr>
              <a:t>organizma</a:t>
            </a:r>
            <a:r>
              <a:rPr lang="tr-TR" sz="2400" dirty="0" err="1" smtClean="0">
                <a:solidFill>
                  <a:srgbClr val="FF0000"/>
                </a:solidFill>
                <a:latin typeface="+mj-lt"/>
              </a:rPr>
              <a:t>ların</a:t>
            </a:r>
            <a:r>
              <a:rPr lang="en-US" sz="2400" dirty="0" smtClean="0">
                <a:latin typeface="+mj-lt"/>
              </a:rPr>
              <a:t> </a:t>
            </a:r>
            <a:r>
              <a:rPr lang="en-US" sz="2400" dirty="0" err="1" smtClean="0">
                <a:latin typeface="+mj-lt"/>
              </a:rPr>
              <a:t>çoğalmasını</a:t>
            </a:r>
            <a:r>
              <a:rPr lang="en-US" sz="2400" dirty="0" smtClean="0">
                <a:latin typeface="+mj-lt"/>
              </a:rPr>
              <a:t> </a:t>
            </a:r>
            <a:r>
              <a:rPr lang="en-US" sz="2400" dirty="0" err="1" smtClean="0">
                <a:latin typeface="+mj-lt"/>
              </a:rPr>
              <a:t>engellemek</a:t>
            </a:r>
            <a:r>
              <a:rPr lang="en-US" sz="2400" dirty="0" smtClean="0">
                <a:latin typeface="+mj-lt"/>
              </a:rPr>
              <a:t>. </a:t>
            </a:r>
            <a:endParaRPr lang="tr-TR" sz="2400" dirty="0" smtClean="0">
              <a:latin typeface="+mj-lt"/>
            </a:endParaRPr>
          </a:p>
          <a:p>
            <a:pPr marL="0" indent="0">
              <a:buFontTx/>
              <a:buNone/>
              <a:defRPr/>
            </a:pPr>
            <a:endParaRPr lang="tr-TR" sz="2400" dirty="0" smtClean="0">
              <a:latin typeface="+mj-lt"/>
            </a:endParaRPr>
          </a:p>
          <a:p>
            <a:pPr>
              <a:defRPr/>
            </a:pPr>
            <a:r>
              <a:rPr lang="tr-TR" sz="2400" dirty="0" smtClean="0">
                <a:latin typeface="+mj-lt"/>
              </a:rPr>
              <a:t> </a:t>
            </a:r>
            <a:r>
              <a:rPr lang="tr-TR" sz="2400" dirty="0" smtClean="0">
                <a:solidFill>
                  <a:srgbClr val="FF0000"/>
                </a:solidFill>
                <a:latin typeface="+mj-lt"/>
              </a:rPr>
              <a:t>Yangın ve patlama </a:t>
            </a:r>
            <a:r>
              <a:rPr lang="tr-TR" sz="2400" dirty="0" smtClean="0">
                <a:latin typeface="+mj-lt"/>
              </a:rPr>
              <a:t>risklerini azaltılmak,</a:t>
            </a:r>
          </a:p>
          <a:p>
            <a:pPr>
              <a:defRPr/>
            </a:pPr>
            <a:endParaRPr lang="tr-TR" sz="2400" dirty="0" smtClean="0">
              <a:latin typeface="+mj-lt"/>
            </a:endParaRPr>
          </a:p>
          <a:p>
            <a:pPr>
              <a:defRPr/>
            </a:pPr>
            <a:r>
              <a:rPr lang="tr-TR" sz="2400" dirty="0" smtClean="0">
                <a:latin typeface="+mj-lt"/>
              </a:rPr>
              <a:t> Ortamda </a:t>
            </a:r>
            <a:r>
              <a:rPr lang="tr-TR" sz="2400" dirty="0" smtClean="0">
                <a:solidFill>
                  <a:srgbClr val="FF0000"/>
                </a:solidFill>
                <a:latin typeface="+mj-lt"/>
              </a:rPr>
              <a:t>istenmeyen hava akımlarının </a:t>
            </a:r>
            <a:r>
              <a:rPr lang="tr-TR" sz="2400" dirty="0" smtClean="0">
                <a:latin typeface="+mj-lt"/>
              </a:rPr>
              <a:t>oluşmasının engellemek.</a:t>
            </a:r>
          </a:p>
          <a:p>
            <a:pPr eaLnBrk="1" hangingPunct="1">
              <a:lnSpc>
                <a:spcPct val="80000"/>
              </a:lnSpc>
              <a:defRPr/>
            </a:pPr>
            <a:endParaRPr lang="tr-TR" sz="2400" dirty="0" smtClean="0">
              <a:latin typeface="+mj-lt"/>
            </a:endParaRPr>
          </a:p>
          <a:p>
            <a:pPr eaLnBrk="1" hangingPunct="1">
              <a:lnSpc>
                <a:spcPct val="80000"/>
              </a:lnSpc>
              <a:defRPr/>
            </a:pPr>
            <a:endParaRPr lang="en-US" sz="2400" dirty="0" smtClean="0">
              <a:latin typeface="+mj-lt"/>
            </a:endParaRPr>
          </a:p>
        </p:txBody>
      </p:sp>
      <p:sp>
        <p:nvSpPr>
          <p:cNvPr id="97282" name="Slayt Numarası Yer Tutucusu 5"/>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153CE0AC-3BB3-43A7-8FA5-1E521DF3FED0}" type="slidenum">
              <a:rPr lang="en-US" altLang="tr-TR" smtClean="0"/>
              <a:pPr eaLnBrk="1" hangingPunct="1"/>
              <a:t>5</a:t>
            </a:fld>
            <a:endParaRPr lang="en-US" altLang="tr-TR" smtClean="0"/>
          </a:p>
        </p:txBody>
      </p:sp>
    </p:spTree>
    <p:extLst>
      <p:ext uri="{BB962C8B-B14F-4D97-AF65-F5344CB8AC3E}">
        <p14:creationId xmlns:p14="http://schemas.microsoft.com/office/powerpoint/2010/main" xmlns="" val="20791325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1 Dikdörtgen"/>
          <p:cNvSpPr>
            <a:spLocks noChangeArrowheads="1"/>
          </p:cNvSpPr>
          <p:nvPr/>
        </p:nvSpPr>
        <p:spPr bwMode="auto">
          <a:xfrm>
            <a:off x="185141" y="-99392"/>
            <a:ext cx="8203284" cy="53245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tr-TR" altLang="tr-TR" sz="2000" b="1" dirty="0">
              <a:solidFill>
                <a:srgbClr val="000099"/>
              </a:solidFill>
            </a:endParaRPr>
          </a:p>
          <a:p>
            <a:pPr eaLnBrk="1" hangingPunct="1"/>
            <a:endParaRPr lang="tr-TR" altLang="tr-TR" sz="2000" b="1" dirty="0"/>
          </a:p>
          <a:p>
            <a:pPr eaLnBrk="1" hangingPunct="1"/>
            <a:endParaRPr lang="tr-TR" altLang="tr-TR" sz="2400" b="1" dirty="0">
              <a:solidFill>
                <a:srgbClr val="FF0000"/>
              </a:solidFill>
            </a:endParaRPr>
          </a:p>
          <a:p>
            <a:pPr eaLnBrk="1" hangingPunct="1"/>
            <a:r>
              <a:rPr lang="tr-TR" altLang="tr-TR" sz="2400" b="1" dirty="0">
                <a:solidFill>
                  <a:srgbClr val="FF0000"/>
                </a:solidFill>
              </a:rPr>
              <a:t>Ortam Hava Kalitesini Etkileyen Faktörler</a:t>
            </a:r>
          </a:p>
          <a:p>
            <a:pPr eaLnBrk="1" hangingPunct="1"/>
            <a:r>
              <a:rPr lang="tr-TR" altLang="tr-TR" sz="2400" dirty="0"/>
              <a:t>Havanın </a:t>
            </a:r>
            <a:r>
              <a:rPr lang="tr-TR" altLang="tr-TR" sz="2400" dirty="0">
                <a:solidFill>
                  <a:srgbClr val="000099"/>
                </a:solidFill>
              </a:rPr>
              <a:t>sıcaklığı,</a:t>
            </a:r>
            <a:r>
              <a:rPr lang="tr-TR" altLang="tr-TR" sz="2400" dirty="0"/>
              <a:t> Havanın </a:t>
            </a:r>
            <a:r>
              <a:rPr lang="tr-TR" altLang="tr-TR" sz="2400" dirty="0">
                <a:solidFill>
                  <a:srgbClr val="000099"/>
                </a:solidFill>
              </a:rPr>
              <a:t>nemi</a:t>
            </a:r>
            <a:r>
              <a:rPr lang="tr-TR" altLang="tr-TR" sz="2400" dirty="0"/>
              <a:t>, Hava </a:t>
            </a:r>
            <a:r>
              <a:rPr lang="tr-TR" altLang="tr-TR" sz="2400" dirty="0">
                <a:solidFill>
                  <a:srgbClr val="000099"/>
                </a:solidFill>
              </a:rPr>
              <a:t>akım hızı</a:t>
            </a:r>
            <a:r>
              <a:rPr lang="tr-TR" altLang="tr-TR" sz="2400" dirty="0"/>
              <a:t>, Havada bulunan </a:t>
            </a:r>
            <a:r>
              <a:rPr lang="tr-TR" altLang="tr-TR" sz="2400" dirty="0">
                <a:solidFill>
                  <a:srgbClr val="000099"/>
                </a:solidFill>
              </a:rPr>
              <a:t>fiziksel, biyolojik ve kimyasal  kirletici unsurlar.</a:t>
            </a:r>
          </a:p>
          <a:p>
            <a:pPr eaLnBrk="1" hangingPunct="1"/>
            <a:endParaRPr lang="tr-TR" altLang="tr-TR" sz="2400" dirty="0">
              <a:solidFill>
                <a:srgbClr val="000099"/>
              </a:solidFill>
            </a:endParaRPr>
          </a:p>
          <a:p>
            <a:pPr eaLnBrk="1" hangingPunct="1"/>
            <a:endParaRPr lang="tr-TR" altLang="tr-TR" sz="2400" b="1" dirty="0"/>
          </a:p>
          <a:p>
            <a:pPr eaLnBrk="1" hangingPunct="1"/>
            <a:r>
              <a:rPr lang="tr-TR" altLang="tr-TR" sz="2400" b="1" dirty="0">
                <a:solidFill>
                  <a:srgbClr val="FF0000"/>
                </a:solidFill>
              </a:rPr>
              <a:t>Çalışma ortamı ısısının artmasına neden olan kaynaklar </a:t>
            </a:r>
          </a:p>
          <a:p>
            <a:pPr eaLnBrk="1" hangingPunct="1"/>
            <a:r>
              <a:rPr lang="tr-TR" altLang="tr-TR" sz="2400" dirty="0"/>
              <a:t>işyerinde </a:t>
            </a:r>
            <a:r>
              <a:rPr lang="tr-TR" altLang="tr-TR" sz="2400" dirty="0">
                <a:solidFill>
                  <a:srgbClr val="000099"/>
                </a:solidFill>
              </a:rPr>
              <a:t>yapılan işler, dış etkenler, çalışanlar, çalışma ortam havasındaki kirlenme.</a:t>
            </a:r>
          </a:p>
          <a:p>
            <a:pPr eaLnBrk="1" hangingPunct="1"/>
            <a:endParaRPr lang="tr-TR" altLang="tr-TR" sz="2000" dirty="0"/>
          </a:p>
          <a:p>
            <a:pPr eaLnBrk="1" hangingPunct="1"/>
            <a:r>
              <a:rPr lang="tr-TR" altLang="tr-TR" sz="2000" dirty="0"/>
              <a:t>                                                           </a:t>
            </a:r>
          </a:p>
          <a:p>
            <a:pPr eaLnBrk="1" hangingPunct="1"/>
            <a:r>
              <a:rPr lang="tr-TR" altLang="tr-TR" sz="2000" dirty="0"/>
              <a:t>                                                                 </a:t>
            </a:r>
          </a:p>
        </p:txBody>
      </p:sp>
      <p:sp>
        <p:nvSpPr>
          <p:cNvPr id="98307" name="Slayt Numarası Yer Tutucusu 3"/>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CEF4A029-91EE-4E52-B6C5-94E6C29A3A16}" type="slidenum">
              <a:rPr lang="tr-TR" altLang="tr-TR" smtClean="0"/>
              <a:pPr eaLnBrk="1" hangingPunct="1"/>
              <a:t>6</a:t>
            </a:fld>
            <a:endParaRPr lang="tr-TR" altLang="tr-TR" smtClean="0"/>
          </a:p>
        </p:txBody>
      </p:sp>
    </p:spTree>
    <p:extLst>
      <p:ext uri="{BB962C8B-B14F-4D97-AF65-F5344CB8AC3E}">
        <p14:creationId xmlns:p14="http://schemas.microsoft.com/office/powerpoint/2010/main" xmlns="" val="35930955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ayt Numarası Yer Tutucusu 3"/>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AB415C4C-82E6-4724-A421-6052D1B1DF9A}" type="slidenum">
              <a:rPr lang="en-US" altLang="tr-TR" smtClean="0"/>
              <a:pPr eaLnBrk="1" hangingPunct="1"/>
              <a:t>7</a:t>
            </a:fld>
            <a:endParaRPr lang="en-US" altLang="tr-TR" smtClean="0"/>
          </a:p>
        </p:txBody>
      </p:sp>
      <p:sp>
        <p:nvSpPr>
          <p:cNvPr id="162819" name="Rectangle 3"/>
          <p:cNvSpPr>
            <a:spLocks noGrp="1" noChangeArrowheads="1"/>
          </p:cNvSpPr>
          <p:nvPr>
            <p:ph type="body" idx="4294967295"/>
          </p:nvPr>
        </p:nvSpPr>
        <p:spPr>
          <a:xfrm>
            <a:off x="5360" y="980728"/>
            <a:ext cx="8351838" cy="4525963"/>
          </a:xfrm>
        </p:spPr>
        <p:txBody>
          <a:bodyPr/>
          <a:lstStyle/>
          <a:p>
            <a:pPr marL="0" indent="0" eaLnBrk="1" hangingPunct="1">
              <a:buFontTx/>
              <a:buNone/>
              <a:defRPr/>
            </a:pPr>
            <a:r>
              <a:rPr lang="tr-TR" sz="3200" b="1" dirty="0" smtClean="0">
                <a:solidFill>
                  <a:srgbClr val="FF0000"/>
                </a:solidFill>
                <a:latin typeface="+mj-lt"/>
              </a:rPr>
              <a:t>Çalışanların sağlığı için gerekli temel koşullar: </a:t>
            </a:r>
          </a:p>
          <a:p>
            <a:pPr marL="0" indent="0" eaLnBrk="1" hangingPunct="1">
              <a:buFontTx/>
              <a:buNone/>
              <a:defRPr/>
            </a:pPr>
            <a:endParaRPr lang="tr-TR" sz="2600" dirty="0" smtClean="0">
              <a:latin typeface="+mj-lt"/>
            </a:endParaRPr>
          </a:p>
          <a:p>
            <a:pPr marL="0" indent="0" eaLnBrk="1" hangingPunct="1">
              <a:buFontTx/>
              <a:buNone/>
              <a:defRPr/>
            </a:pPr>
            <a:endParaRPr lang="tr-TR" sz="2600" dirty="0" smtClean="0">
              <a:latin typeface="+mj-lt"/>
            </a:endParaRPr>
          </a:p>
          <a:p>
            <a:pPr eaLnBrk="1" hangingPunct="1">
              <a:buNone/>
              <a:defRPr/>
            </a:pPr>
            <a:r>
              <a:rPr lang="tr-TR" sz="3000" dirty="0" smtClean="0">
                <a:solidFill>
                  <a:srgbClr val="FF0000"/>
                </a:solidFill>
                <a:latin typeface="+mj-lt"/>
              </a:rPr>
              <a:t>1-vücut sıcaklığının </a:t>
            </a:r>
            <a:r>
              <a:rPr lang="tr-TR" sz="3000" dirty="0" smtClean="0">
                <a:solidFill>
                  <a:srgbClr val="000099"/>
                </a:solidFill>
                <a:latin typeface="+mj-lt"/>
              </a:rPr>
              <a:t>normal düzeyde tutulması</a:t>
            </a:r>
          </a:p>
          <a:p>
            <a:pPr eaLnBrk="1" hangingPunct="1">
              <a:defRPr/>
            </a:pPr>
            <a:endParaRPr lang="tr-TR" sz="3000" dirty="0" smtClean="0">
              <a:solidFill>
                <a:srgbClr val="000099"/>
              </a:solidFill>
              <a:latin typeface="+mj-lt"/>
            </a:endParaRPr>
          </a:p>
          <a:p>
            <a:pPr marL="0" indent="0" eaLnBrk="1" hangingPunct="1">
              <a:buFontTx/>
              <a:buNone/>
              <a:defRPr/>
            </a:pPr>
            <a:r>
              <a:rPr lang="tr-TR" sz="3000" dirty="0" smtClean="0">
                <a:solidFill>
                  <a:srgbClr val="000099"/>
                </a:solidFill>
                <a:latin typeface="+mj-lt"/>
              </a:rPr>
              <a:t> </a:t>
            </a:r>
            <a:r>
              <a:rPr lang="tr-TR" sz="3000" dirty="0" smtClean="0">
                <a:solidFill>
                  <a:srgbClr val="FF0000"/>
                </a:solidFill>
                <a:latin typeface="+mj-lt"/>
              </a:rPr>
              <a:t>2-kirletici unsurların </a:t>
            </a:r>
            <a:r>
              <a:rPr lang="tr-TR" sz="3000" dirty="0" smtClean="0">
                <a:solidFill>
                  <a:srgbClr val="000099"/>
                </a:solidFill>
                <a:latin typeface="+mj-lt"/>
              </a:rPr>
              <a:t>ortamdan uzaklaştırılması</a:t>
            </a:r>
            <a:r>
              <a:rPr lang="tr-TR" sz="3000" dirty="0" smtClean="0">
                <a:latin typeface="+mj-lt"/>
              </a:rPr>
              <a:t> </a:t>
            </a:r>
          </a:p>
        </p:txBody>
      </p:sp>
    </p:spTree>
    <p:extLst>
      <p:ext uri="{BB962C8B-B14F-4D97-AF65-F5344CB8AC3E}">
        <p14:creationId xmlns:p14="http://schemas.microsoft.com/office/powerpoint/2010/main" xmlns="" val="28175436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Dikdörtgen"/>
          <p:cNvSpPr/>
          <p:nvPr/>
        </p:nvSpPr>
        <p:spPr>
          <a:xfrm>
            <a:off x="179389" y="188912"/>
            <a:ext cx="8137027" cy="6777240"/>
          </a:xfrm>
          <a:prstGeom prst="rect">
            <a:avLst/>
          </a:prstGeom>
        </p:spPr>
        <p:txBody>
          <a:bodyPr wrap="square">
            <a:spAutoFit/>
          </a:bodyPr>
          <a:lstStyle/>
          <a:p>
            <a:pPr>
              <a:defRPr/>
            </a:pPr>
            <a:r>
              <a:rPr lang="tr-TR" sz="2800" b="1" dirty="0" smtClean="0">
                <a:solidFill>
                  <a:schemeClr val="accent1">
                    <a:lumMod val="25000"/>
                  </a:schemeClr>
                </a:solidFill>
                <a:latin typeface="Arial" charset="0"/>
                <a:cs typeface="Arial" charset="0"/>
              </a:rPr>
              <a:t>Hava </a:t>
            </a:r>
            <a:r>
              <a:rPr lang="tr-TR" sz="2800" b="1" dirty="0">
                <a:solidFill>
                  <a:schemeClr val="accent1">
                    <a:lumMod val="25000"/>
                  </a:schemeClr>
                </a:solidFill>
                <a:latin typeface="Arial" charset="0"/>
                <a:cs typeface="Arial" charset="0"/>
              </a:rPr>
              <a:t>akım hızı</a:t>
            </a:r>
          </a:p>
          <a:p>
            <a:pPr>
              <a:defRPr/>
            </a:pPr>
            <a:r>
              <a:rPr lang="tr-TR" sz="2400" dirty="0"/>
              <a:t>İşyerinde oluşan kirli havanın dışarı atılması, yerine temiz havanın alınması için, ortamda, </a:t>
            </a:r>
            <a:r>
              <a:rPr lang="tr-TR" sz="2400" dirty="0">
                <a:solidFill>
                  <a:srgbClr val="FF0000"/>
                </a:solidFill>
              </a:rPr>
              <a:t>uygun bir havalandırmanın olması</a:t>
            </a:r>
            <a:r>
              <a:rPr lang="tr-TR" sz="2400" dirty="0"/>
              <a:t>, dolayısıyla </a:t>
            </a:r>
            <a:r>
              <a:rPr lang="tr-TR" sz="2400" dirty="0">
                <a:solidFill>
                  <a:srgbClr val="FF0000"/>
                </a:solidFill>
              </a:rPr>
              <a:t>uygun bir hava akımının olması zorunludur. </a:t>
            </a:r>
          </a:p>
          <a:p>
            <a:pPr>
              <a:defRPr/>
            </a:pPr>
            <a:endParaRPr lang="tr-TR" sz="2400" dirty="0"/>
          </a:p>
          <a:p>
            <a:pPr>
              <a:lnSpc>
                <a:spcPct val="90000"/>
              </a:lnSpc>
              <a:defRPr/>
            </a:pPr>
            <a:r>
              <a:rPr lang="tr-TR" sz="2400" dirty="0"/>
              <a:t>Ancak bu hava akımının hızının  </a:t>
            </a:r>
            <a:r>
              <a:rPr lang="tr-TR" sz="2400" b="1" dirty="0">
                <a:solidFill>
                  <a:srgbClr val="FF0000"/>
                </a:solidFill>
                <a:latin typeface="Arial Black" panose="020B0A04020102020204" pitchFamily="34" charset="0"/>
              </a:rPr>
              <a:t>0,5 metre/saniye</a:t>
            </a:r>
            <a:r>
              <a:rPr lang="tr-TR" sz="2400" dirty="0">
                <a:latin typeface="Arial Black" panose="020B0A04020102020204" pitchFamily="34" charset="0"/>
              </a:rPr>
              <a:t>yi</a:t>
            </a:r>
            <a:r>
              <a:rPr lang="tr-TR" sz="2400" b="1" dirty="0">
                <a:solidFill>
                  <a:srgbClr val="FF0000"/>
                </a:solidFill>
                <a:latin typeface="Arial Black" panose="020B0A04020102020204" pitchFamily="34" charset="0"/>
              </a:rPr>
              <a:t> </a:t>
            </a:r>
            <a:r>
              <a:rPr lang="tr-TR" sz="2400" dirty="0">
                <a:latin typeface="Arial Black" panose="020B0A04020102020204" pitchFamily="34" charset="0"/>
              </a:rPr>
              <a:t>aşması durumunda </a:t>
            </a:r>
            <a:r>
              <a:rPr lang="tr-TR" sz="2400" dirty="0"/>
              <a:t>rahatsız edici esintiler meydana gelir. </a:t>
            </a:r>
          </a:p>
          <a:p>
            <a:pPr>
              <a:lnSpc>
                <a:spcPct val="90000"/>
              </a:lnSpc>
              <a:defRPr/>
            </a:pPr>
            <a:endParaRPr lang="tr-TR" sz="2400" dirty="0"/>
          </a:p>
          <a:p>
            <a:pPr>
              <a:lnSpc>
                <a:spcPct val="90000"/>
              </a:lnSpc>
              <a:defRPr/>
            </a:pPr>
            <a:r>
              <a:rPr lang="tr-TR" sz="2400" dirty="0"/>
              <a:t>(Bu esintiler sebebiyle İşyerlerinde, özellikle kaynak atölyelerinde, ortamın havası kirli olduğu halde, havalandırma tesisatlarının çalıştırılmadığına çok sık rastlamaktayız. )</a:t>
            </a:r>
          </a:p>
          <a:p>
            <a:pPr>
              <a:lnSpc>
                <a:spcPct val="90000"/>
              </a:lnSpc>
              <a:defRPr/>
            </a:pPr>
            <a:endParaRPr lang="tr-TR" sz="2400" dirty="0"/>
          </a:p>
          <a:p>
            <a:pPr>
              <a:defRPr/>
            </a:pPr>
            <a:r>
              <a:rPr lang="tr-TR" sz="2400" b="1" dirty="0">
                <a:solidFill>
                  <a:srgbClr val="FF0000"/>
                </a:solidFill>
                <a:latin typeface="Arial Black" panose="020B0A04020102020204" pitchFamily="34" charset="0"/>
              </a:rPr>
              <a:t>Periyodik kontrol</a:t>
            </a:r>
          </a:p>
          <a:p>
            <a:pPr>
              <a:defRPr/>
            </a:pPr>
            <a:r>
              <a:rPr lang="tr-TR" sz="2400" dirty="0">
                <a:latin typeface="Arial Black" panose="020B0A04020102020204" pitchFamily="34" charset="0"/>
              </a:rPr>
              <a:t>Havalandırma ve klima tesisatı. ……………………en geç </a:t>
            </a:r>
            <a:r>
              <a:rPr lang="tr-TR" sz="2400" b="1" dirty="0">
                <a:solidFill>
                  <a:srgbClr val="FF0000"/>
                </a:solidFill>
                <a:latin typeface="Arial Black" panose="020B0A04020102020204" pitchFamily="34" charset="0"/>
              </a:rPr>
              <a:t>1 yıl</a:t>
            </a:r>
          </a:p>
          <a:p>
            <a:pPr>
              <a:defRPr/>
            </a:pPr>
            <a:r>
              <a:rPr lang="tr-TR" sz="2400" b="1" dirty="0">
                <a:latin typeface="Arial Black" panose="020B0A04020102020204" pitchFamily="34" charset="0"/>
              </a:rPr>
              <a:t>(</a:t>
            </a:r>
            <a:r>
              <a:rPr lang="tr-TR" sz="2400" dirty="0"/>
              <a:t>yani </a:t>
            </a:r>
            <a:r>
              <a:rPr lang="tr-TR" sz="2400" b="1" dirty="0"/>
              <a:t>her yıl en az bir defa </a:t>
            </a:r>
            <a:r>
              <a:rPr lang="tr-TR" sz="2400" dirty="0"/>
              <a:t>kontrol yapılmalıdır</a:t>
            </a:r>
            <a:r>
              <a:rPr lang="tr-TR" sz="2400" b="1" dirty="0">
                <a:latin typeface="Arial Black" panose="020B0A04020102020204" pitchFamily="34" charset="0"/>
              </a:rPr>
              <a:t>.)</a:t>
            </a:r>
          </a:p>
        </p:txBody>
      </p:sp>
      <p:sp>
        <p:nvSpPr>
          <p:cNvPr id="100355" name="Slayt Numarası Yer Tutucusu 3"/>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538156B3-9338-47C5-A705-5C64B83D52D6}" type="slidenum">
              <a:rPr lang="tr-TR" altLang="tr-TR" smtClean="0"/>
              <a:pPr eaLnBrk="1" hangingPunct="1"/>
              <a:t>8</a:t>
            </a:fld>
            <a:endParaRPr lang="tr-TR" altLang="tr-TR" smtClean="0"/>
          </a:p>
        </p:txBody>
      </p:sp>
    </p:spTree>
    <p:extLst>
      <p:ext uri="{BB962C8B-B14F-4D97-AF65-F5344CB8AC3E}">
        <p14:creationId xmlns:p14="http://schemas.microsoft.com/office/powerpoint/2010/main" xmlns="" val="16132944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idx="1"/>
          </p:nvPr>
        </p:nvSpPr>
        <p:spPr>
          <a:xfrm>
            <a:off x="467544" y="980728"/>
            <a:ext cx="7920880" cy="4824412"/>
          </a:xfrm>
        </p:spPr>
        <p:txBody>
          <a:bodyPr>
            <a:normAutofit lnSpcReduction="10000"/>
          </a:bodyPr>
          <a:lstStyle/>
          <a:p>
            <a:pPr eaLnBrk="1" hangingPunct="1">
              <a:buFontTx/>
              <a:buNone/>
              <a:defRPr/>
            </a:pPr>
            <a:r>
              <a:rPr lang="tr-TR" b="1" dirty="0" smtClean="0">
                <a:latin typeface="+mj-lt"/>
              </a:rPr>
              <a:t>    </a:t>
            </a:r>
            <a:r>
              <a:rPr lang="tr-TR" sz="2800" b="1" dirty="0" smtClean="0">
                <a:latin typeface="+mj-lt"/>
              </a:rPr>
              <a:t>Havalandırma seviyesi yüksekliği</a:t>
            </a:r>
          </a:p>
          <a:p>
            <a:pPr eaLnBrk="1" hangingPunct="1">
              <a:defRPr/>
            </a:pPr>
            <a:endParaRPr lang="tr-TR" dirty="0">
              <a:latin typeface="+mj-lt"/>
            </a:endParaRPr>
          </a:p>
          <a:p>
            <a:pPr eaLnBrk="1" hangingPunct="1">
              <a:defRPr/>
            </a:pPr>
            <a:r>
              <a:rPr lang="tr-TR" sz="2400" dirty="0" smtClean="0">
                <a:latin typeface="+mj-lt"/>
              </a:rPr>
              <a:t>İşyeri </a:t>
            </a:r>
            <a:r>
              <a:rPr lang="tr-TR" sz="2400" dirty="0" smtClean="0">
                <a:solidFill>
                  <a:srgbClr val="FF0000"/>
                </a:solidFill>
                <a:latin typeface="+mj-lt"/>
              </a:rPr>
              <a:t>ortam havalandırma düzlemlerinin yüksekliğinin</a:t>
            </a:r>
            <a:r>
              <a:rPr lang="tr-TR" sz="2400" dirty="0" smtClean="0">
                <a:latin typeface="+mj-lt"/>
              </a:rPr>
              <a:t> çalışanların </a:t>
            </a:r>
            <a:r>
              <a:rPr lang="tr-TR" sz="2400" dirty="0" smtClean="0">
                <a:solidFill>
                  <a:srgbClr val="FF0000"/>
                </a:solidFill>
                <a:latin typeface="+mj-lt"/>
              </a:rPr>
              <a:t>solunum bölgesinin altında olması</a:t>
            </a:r>
            <a:r>
              <a:rPr lang="tr-TR" sz="2400" dirty="0" smtClean="0">
                <a:latin typeface="+mj-lt"/>
              </a:rPr>
              <a:t> gerekir. Bu yaklaşımda amaç çalışanların işyeri ortam havasındaki </a:t>
            </a:r>
            <a:r>
              <a:rPr lang="tr-TR" sz="2400" dirty="0" smtClean="0">
                <a:solidFill>
                  <a:srgbClr val="FF0000"/>
                </a:solidFill>
                <a:latin typeface="+mj-lt"/>
              </a:rPr>
              <a:t>kirliliği solumadan</a:t>
            </a:r>
            <a:r>
              <a:rPr lang="tr-TR" sz="2400" dirty="0" smtClean="0">
                <a:latin typeface="+mj-lt"/>
              </a:rPr>
              <a:t> kirli havanın ortamdan tahliye edilmesidir.</a:t>
            </a:r>
            <a:r>
              <a:rPr lang="tr-TR" sz="2400" b="1" dirty="0" smtClean="0">
                <a:latin typeface="+mj-lt"/>
              </a:rPr>
              <a:t> </a:t>
            </a:r>
          </a:p>
          <a:p>
            <a:pPr eaLnBrk="1" hangingPunct="1">
              <a:defRPr/>
            </a:pPr>
            <a:endParaRPr lang="tr-TR" sz="2400" b="1" dirty="0" smtClean="0">
              <a:latin typeface="+mj-lt"/>
            </a:endParaRPr>
          </a:p>
          <a:p>
            <a:pPr marL="0" indent="0" eaLnBrk="1" hangingPunct="1">
              <a:buFontTx/>
              <a:buNone/>
              <a:defRPr/>
            </a:pPr>
            <a:r>
              <a:rPr lang="tr-TR" sz="2400" b="1" dirty="0" smtClean="0">
                <a:latin typeface="+mj-lt"/>
              </a:rPr>
              <a:t>    </a:t>
            </a:r>
            <a:r>
              <a:rPr lang="tr-TR" sz="2400" b="1" dirty="0" smtClean="0">
                <a:solidFill>
                  <a:srgbClr val="FF0000"/>
                </a:solidFill>
                <a:latin typeface="+mj-lt"/>
              </a:rPr>
              <a:t>Solunum bölgesi</a:t>
            </a:r>
          </a:p>
          <a:p>
            <a:pPr eaLnBrk="1" hangingPunct="1">
              <a:defRPr/>
            </a:pPr>
            <a:r>
              <a:rPr lang="tr-TR" sz="2400" dirty="0" smtClean="0">
                <a:latin typeface="+mj-lt"/>
              </a:rPr>
              <a:t>Merkezi, kişinin kulaklarını birleştiren çizginin orta noktası olan </a:t>
            </a:r>
            <a:r>
              <a:rPr lang="tr-TR" sz="2400" dirty="0" smtClean="0">
                <a:solidFill>
                  <a:srgbClr val="FF0000"/>
                </a:solidFill>
                <a:latin typeface="+mj-lt"/>
              </a:rPr>
              <a:t>30 cm yarıçaplı kürenin</a:t>
            </a:r>
            <a:r>
              <a:rPr lang="tr-TR" sz="2400" dirty="0" smtClean="0">
                <a:latin typeface="+mj-lt"/>
              </a:rPr>
              <a:t>, başın ön kısmında kalan yarısıdır.</a:t>
            </a:r>
          </a:p>
          <a:p>
            <a:pPr eaLnBrk="1" hangingPunct="1">
              <a:buFontTx/>
              <a:buNone/>
              <a:defRPr/>
            </a:pPr>
            <a:endParaRPr lang="tr-TR" sz="2400" dirty="0" smtClean="0">
              <a:latin typeface="+mj-lt"/>
            </a:endParaRPr>
          </a:p>
          <a:p>
            <a:pPr eaLnBrk="1" hangingPunct="1">
              <a:buFontTx/>
              <a:buNone/>
              <a:defRPr/>
            </a:pPr>
            <a:endParaRPr lang="tr-TR" sz="2400" dirty="0" smtClean="0">
              <a:latin typeface="+mj-lt"/>
            </a:endParaRPr>
          </a:p>
        </p:txBody>
      </p:sp>
      <p:sp>
        <p:nvSpPr>
          <p:cNvPr id="101378" name="Slayt Numarası Yer Tutucusu 5"/>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39C985BF-C127-4A8F-A5D1-44DEB9CE178C}" type="slidenum">
              <a:rPr lang="en-US" altLang="tr-TR" smtClean="0">
                <a:solidFill>
                  <a:srgbClr val="000000"/>
                </a:solidFill>
              </a:rPr>
              <a:pPr eaLnBrk="1" hangingPunct="1"/>
              <a:t>9</a:t>
            </a:fld>
            <a:endParaRPr lang="en-US" altLang="tr-TR" smtClean="0">
              <a:solidFill>
                <a:srgbClr val="000000"/>
              </a:solidFill>
            </a:endParaRPr>
          </a:p>
        </p:txBody>
      </p:sp>
    </p:spTree>
    <p:extLst>
      <p:ext uri="{BB962C8B-B14F-4D97-AF65-F5344CB8AC3E}">
        <p14:creationId xmlns:p14="http://schemas.microsoft.com/office/powerpoint/2010/main" xmlns="" val="37673878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2 İçerik Yer Tutucusu"/>
          <p:cNvSpPr>
            <a:spLocks noGrp="1"/>
          </p:cNvSpPr>
          <p:nvPr>
            <p:ph idx="1"/>
          </p:nvPr>
        </p:nvSpPr>
        <p:spPr>
          <a:xfrm>
            <a:off x="1" y="0"/>
            <a:ext cx="8460432" cy="6048375"/>
          </a:xfrm>
        </p:spPr>
        <p:txBody>
          <a:bodyPr>
            <a:normAutofit fontScale="92500" lnSpcReduction="20000"/>
          </a:bodyPr>
          <a:lstStyle/>
          <a:p>
            <a:pPr eaLnBrk="1" hangingPunct="1">
              <a:lnSpc>
                <a:spcPct val="150000"/>
              </a:lnSpc>
              <a:buFont typeface="Arial" charset="0"/>
              <a:buNone/>
              <a:defRPr/>
            </a:pPr>
            <a:r>
              <a:rPr lang="tr-TR" sz="2400" b="1" u="sng" dirty="0" smtClean="0">
                <a:latin typeface="+mj-lt"/>
                <a:cs typeface="Arial" pitchFamily="34" charset="0"/>
              </a:rPr>
              <a:t>Hava ihtiyacı ile ilgili önemli veriler</a:t>
            </a:r>
            <a:r>
              <a:rPr lang="tr-TR" sz="2400" u="sng" dirty="0" smtClean="0">
                <a:latin typeface="+mj-lt"/>
                <a:cs typeface="Arial" pitchFamily="34" charset="0"/>
              </a:rPr>
              <a:t>  </a:t>
            </a:r>
            <a:endParaRPr lang="tr-TR" sz="2400" b="1" u="sng" dirty="0" smtClean="0">
              <a:latin typeface="+mj-lt"/>
              <a:cs typeface="Arial" pitchFamily="34" charset="0"/>
            </a:endParaRPr>
          </a:p>
          <a:p>
            <a:pPr marL="0" indent="0" eaLnBrk="1" hangingPunct="1">
              <a:lnSpc>
                <a:spcPct val="150000"/>
              </a:lnSpc>
              <a:buFont typeface="Arial" charset="0"/>
              <a:buNone/>
              <a:defRPr/>
            </a:pPr>
            <a:r>
              <a:rPr lang="tr-TR" sz="1800" dirty="0" smtClean="0">
                <a:latin typeface="+mj-lt"/>
                <a:cs typeface="Arial" pitchFamily="34" charset="0"/>
              </a:rPr>
              <a:t>- </a:t>
            </a:r>
            <a:r>
              <a:rPr lang="tr-TR" sz="2000" dirty="0" smtClean="0">
                <a:latin typeface="+mj-lt"/>
                <a:cs typeface="Arial" pitchFamily="34" charset="0"/>
              </a:rPr>
              <a:t>İş ortamındaki tezgah, ekipman </a:t>
            </a:r>
            <a:r>
              <a:rPr lang="tr-TR" sz="2000" dirty="0" err="1" smtClean="0">
                <a:latin typeface="+mj-lt"/>
                <a:cs typeface="Arial" pitchFamily="34" charset="0"/>
              </a:rPr>
              <a:t>vb</a:t>
            </a:r>
            <a:r>
              <a:rPr lang="tr-TR" sz="2000" dirty="0" smtClean="0">
                <a:latin typeface="+mj-lt"/>
                <a:cs typeface="Arial" pitchFamily="34" charset="0"/>
              </a:rPr>
              <a:t>.’</a:t>
            </a:r>
            <a:r>
              <a:rPr lang="tr-TR" sz="2000" dirty="0" err="1" smtClean="0">
                <a:latin typeface="+mj-lt"/>
                <a:cs typeface="Arial" pitchFamily="34" charset="0"/>
              </a:rPr>
              <a:t>nin</a:t>
            </a:r>
            <a:r>
              <a:rPr lang="tr-TR" sz="2000" dirty="0" smtClean="0">
                <a:latin typeface="+mj-lt"/>
                <a:cs typeface="Arial" pitchFamily="34" charset="0"/>
              </a:rPr>
              <a:t> kapladığı hacim hariç tutulmak kaydıyla  kişi başına gerekli hava hacmi</a:t>
            </a:r>
            <a:r>
              <a:rPr lang="tr-TR" sz="2000" b="1" dirty="0" smtClean="0">
                <a:solidFill>
                  <a:srgbClr val="003399"/>
                </a:solidFill>
                <a:latin typeface="+mj-lt"/>
                <a:cs typeface="Arial" pitchFamily="34" charset="0"/>
              </a:rPr>
              <a:t> en az </a:t>
            </a:r>
            <a:r>
              <a:rPr lang="tr-TR" sz="2000" b="1" dirty="0" smtClean="0">
                <a:solidFill>
                  <a:schemeClr val="bg1"/>
                </a:solidFill>
                <a:latin typeface="+mj-lt"/>
                <a:cs typeface="Arial" pitchFamily="34" charset="0"/>
              </a:rPr>
              <a:t>10 m</a:t>
            </a:r>
            <a:r>
              <a:rPr lang="tr-TR" sz="2000" b="1" baseline="30000" dirty="0" smtClean="0">
                <a:solidFill>
                  <a:schemeClr val="bg1"/>
                </a:solidFill>
                <a:latin typeface="+mj-lt"/>
                <a:cs typeface="Arial" pitchFamily="34" charset="0"/>
              </a:rPr>
              <a:t>3</a:t>
            </a:r>
          </a:p>
          <a:p>
            <a:pPr marL="0" indent="0" eaLnBrk="1" hangingPunct="1">
              <a:lnSpc>
                <a:spcPct val="150000"/>
              </a:lnSpc>
              <a:buFont typeface="Arial" charset="0"/>
              <a:buNone/>
              <a:defRPr/>
            </a:pPr>
            <a:endParaRPr lang="tr-TR" sz="2000" b="1" baseline="30000" dirty="0" smtClean="0">
              <a:solidFill>
                <a:srgbClr val="FF0000"/>
              </a:solidFill>
              <a:latin typeface="+mj-lt"/>
              <a:cs typeface="Arial" pitchFamily="34" charset="0"/>
            </a:endParaRPr>
          </a:p>
          <a:p>
            <a:pPr marL="457200" indent="-457200" eaLnBrk="1" hangingPunct="1">
              <a:lnSpc>
                <a:spcPct val="170000"/>
              </a:lnSpc>
              <a:buFontTx/>
              <a:buChar char="-"/>
              <a:defRPr/>
            </a:pPr>
            <a:r>
              <a:rPr lang="tr-TR" sz="2800" b="1" baseline="30000" dirty="0" smtClean="0">
                <a:latin typeface="+mj-lt"/>
                <a:cs typeface="Arial" pitchFamily="34" charset="0"/>
              </a:rPr>
              <a:t>Koğuşlarda kişi başına en az </a:t>
            </a:r>
            <a:r>
              <a:rPr lang="tr-TR" sz="2800" b="1" baseline="30000" dirty="0" smtClean="0">
                <a:solidFill>
                  <a:srgbClr val="FF0000"/>
                </a:solidFill>
                <a:latin typeface="+mj-lt"/>
                <a:cs typeface="Arial" pitchFamily="34" charset="0"/>
              </a:rPr>
              <a:t>12 m3</a:t>
            </a:r>
          </a:p>
          <a:p>
            <a:pPr marL="457200" indent="-457200" eaLnBrk="1" hangingPunct="1">
              <a:lnSpc>
                <a:spcPct val="170000"/>
              </a:lnSpc>
              <a:buFontTx/>
              <a:buChar char="-"/>
              <a:defRPr/>
            </a:pPr>
            <a:r>
              <a:rPr lang="tr-TR" sz="2000" dirty="0" smtClean="0">
                <a:latin typeface="+mj-lt"/>
                <a:cs typeface="Arial" pitchFamily="34" charset="0"/>
              </a:rPr>
              <a:t>Çoğunlukla </a:t>
            </a:r>
            <a:r>
              <a:rPr lang="tr-TR" sz="2000" b="1" dirty="0" smtClean="0">
                <a:latin typeface="+mj-lt"/>
                <a:cs typeface="Arial" pitchFamily="34" charset="0"/>
              </a:rPr>
              <a:t>oturarak</a:t>
            </a:r>
            <a:r>
              <a:rPr lang="tr-TR" sz="2000" dirty="0" smtClean="0">
                <a:latin typeface="+mj-lt"/>
                <a:cs typeface="Arial" pitchFamily="34" charset="0"/>
              </a:rPr>
              <a:t> yapılan işlerde </a:t>
            </a:r>
            <a:r>
              <a:rPr lang="tr-TR" sz="2000" b="1" dirty="0" smtClean="0">
                <a:solidFill>
                  <a:srgbClr val="FF0000"/>
                </a:solidFill>
                <a:latin typeface="+mj-lt"/>
                <a:cs typeface="Arial" pitchFamily="34" charset="0"/>
              </a:rPr>
              <a:t>12 m</a:t>
            </a:r>
            <a:r>
              <a:rPr lang="tr-TR" sz="2000" b="1" baseline="30000" dirty="0" smtClean="0">
                <a:solidFill>
                  <a:srgbClr val="FF0000"/>
                </a:solidFill>
                <a:latin typeface="+mj-lt"/>
                <a:cs typeface="Arial" pitchFamily="34" charset="0"/>
              </a:rPr>
              <a:t>3</a:t>
            </a:r>
          </a:p>
          <a:p>
            <a:pPr marL="457200" indent="-457200" eaLnBrk="1" hangingPunct="1">
              <a:lnSpc>
                <a:spcPct val="170000"/>
              </a:lnSpc>
              <a:buFontTx/>
              <a:buChar char="-"/>
              <a:defRPr/>
            </a:pPr>
            <a:r>
              <a:rPr lang="tr-TR" sz="2000" dirty="0" smtClean="0">
                <a:latin typeface="+mj-lt"/>
                <a:cs typeface="Arial" pitchFamily="34" charset="0"/>
              </a:rPr>
              <a:t>Çoğunlukla oturmadan </a:t>
            </a:r>
            <a:r>
              <a:rPr lang="tr-TR" sz="2000" b="1" dirty="0" smtClean="0">
                <a:latin typeface="+mj-lt"/>
                <a:cs typeface="Arial" pitchFamily="34" charset="0"/>
              </a:rPr>
              <a:t>ayakta yapılan</a:t>
            </a:r>
            <a:r>
              <a:rPr lang="tr-TR" sz="2000" dirty="0" smtClean="0">
                <a:latin typeface="+mj-lt"/>
                <a:cs typeface="Arial" pitchFamily="34" charset="0"/>
              </a:rPr>
              <a:t> işlerde </a:t>
            </a:r>
            <a:r>
              <a:rPr lang="tr-TR" sz="2000" b="1" dirty="0" smtClean="0">
                <a:solidFill>
                  <a:srgbClr val="FF0000"/>
                </a:solidFill>
                <a:latin typeface="+mj-lt"/>
                <a:cs typeface="Arial" pitchFamily="34" charset="0"/>
              </a:rPr>
              <a:t>15 m</a:t>
            </a:r>
            <a:r>
              <a:rPr lang="tr-TR" sz="2000" b="1" baseline="30000" dirty="0" smtClean="0">
                <a:solidFill>
                  <a:srgbClr val="FF0000"/>
                </a:solidFill>
                <a:latin typeface="+mj-lt"/>
                <a:cs typeface="Arial" pitchFamily="34" charset="0"/>
              </a:rPr>
              <a:t>3</a:t>
            </a:r>
            <a:r>
              <a:rPr lang="tr-TR" sz="2000" b="1" dirty="0" smtClean="0">
                <a:solidFill>
                  <a:srgbClr val="FF0000"/>
                </a:solidFill>
                <a:latin typeface="+mj-lt"/>
                <a:cs typeface="Arial" pitchFamily="34" charset="0"/>
              </a:rPr>
              <a:t> </a:t>
            </a:r>
          </a:p>
          <a:p>
            <a:pPr marL="457200" indent="-457200" eaLnBrk="1" hangingPunct="1">
              <a:lnSpc>
                <a:spcPct val="170000"/>
              </a:lnSpc>
              <a:buFontTx/>
              <a:buChar char="-"/>
              <a:defRPr/>
            </a:pPr>
            <a:r>
              <a:rPr lang="tr-TR" sz="2000" b="1" dirty="0" smtClean="0">
                <a:latin typeface="+mj-lt"/>
                <a:cs typeface="Arial" pitchFamily="34" charset="0"/>
              </a:rPr>
              <a:t>Ağır bedensel çalışmalarda</a:t>
            </a:r>
            <a:r>
              <a:rPr lang="tr-TR" sz="2000" dirty="0" smtClean="0">
                <a:latin typeface="+mj-lt"/>
                <a:cs typeface="Arial" pitchFamily="34" charset="0"/>
              </a:rPr>
              <a:t> ise </a:t>
            </a:r>
            <a:r>
              <a:rPr lang="tr-TR" sz="2000" b="1" dirty="0" smtClean="0">
                <a:solidFill>
                  <a:srgbClr val="FF0000"/>
                </a:solidFill>
                <a:latin typeface="+mj-lt"/>
                <a:cs typeface="Arial" pitchFamily="34" charset="0"/>
              </a:rPr>
              <a:t>18 m</a:t>
            </a:r>
            <a:r>
              <a:rPr lang="tr-TR" sz="2000" b="1" baseline="30000" dirty="0" smtClean="0">
                <a:solidFill>
                  <a:srgbClr val="FF0000"/>
                </a:solidFill>
                <a:latin typeface="+mj-lt"/>
                <a:cs typeface="Arial" pitchFamily="34" charset="0"/>
              </a:rPr>
              <a:t>3</a:t>
            </a:r>
            <a:r>
              <a:rPr lang="tr-TR" sz="2000" dirty="0" smtClean="0">
                <a:solidFill>
                  <a:srgbClr val="FF0000"/>
                </a:solidFill>
                <a:latin typeface="+mj-lt"/>
                <a:cs typeface="Arial" pitchFamily="34" charset="0"/>
              </a:rPr>
              <a:t> </a:t>
            </a:r>
            <a:r>
              <a:rPr lang="tr-TR" sz="2000" dirty="0" smtClean="0">
                <a:latin typeface="+mj-lt"/>
                <a:cs typeface="Arial" pitchFamily="34" charset="0"/>
              </a:rPr>
              <a:t>olmalıdır.</a:t>
            </a:r>
          </a:p>
          <a:p>
            <a:pPr indent="-342900" eaLnBrk="1" hangingPunct="1">
              <a:buFontTx/>
              <a:buChar char="-"/>
              <a:defRPr/>
            </a:pPr>
            <a:endParaRPr lang="tr-TR" sz="2000" dirty="0" smtClean="0">
              <a:latin typeface="+mj-lt"/>
              <a:cs typeface="Arial" pitchFamily="34" charset="0"/>
            </a:endParaRPr>
          </a:p>
          <a:p>
            <a:pPr marL="0" indent="0" eaLnBrk="1" hangingPunct="1">
              <a:buFont typeface="Arial" charset="0"/>
              <a:buChar char="•"/>
              <a:defRPr/>
            </a:pPr>
            <a:endParaRPr lang="tr-TR" sz="2000" dirty="0" smtClean="0">
              <a:latin typeface="+mj-lt"/>
              <a:cs typeface="Arial" pitchFamily="34" charset="0"/>
            </a:endParaRPr>
          </a:p>
          <a:p>
            <a:pPr marL="0" indent="0" eaLnBrk="1" hangingPunct="1">
              <a:buFont typeface="Arial" charset="0"/>
              <a:buChar char="•"/>
              <a:defRPr/>
            </a:pPr>
            <a:r>
              <a:rPr lang="tr-TR" sz="2000" b="1" dirty="0" smtClean="0">
                <a:solidFill>
                  <a:prstClr val="black"/>
                </a:solidFill>
                <a:latin typeface="+mj-lt"/>
                <a:cs typeface="Arial" pitchFamily="34" charset="0"/>
              </a:rPr>
              <a:t> </a:t>
            </a:r>
            <a:r>
              <a:rPr lang="tr-TR" sz="2000" b="1" dirty="0">
                <a:solidFill>
                  <a:prstClr val="black"/>
                </a:solidFill>
                <a:latin typeface="+mj-lt"/>
                <a:cs typeface="Arial" pitchFamily="34" charset="0"/>
              </a:rPr>
              <a:t>(</a:t>
            </a:r>
            <a:r>
              <a:rPr lang="tr-TR" sz="2000" b="1" i="1" dirty="0">
                <a:solidFill>
                  <a:prstClr val="black"/>
                </a:solidFill>
                <a:latin typeface="+mj-lt"/>
                <a:cs typeface="Arial" pitchFamily="34" charset="0"/>
              </a:rPr>
              <a:t>Bu hava hacminin hesabında </a:t>
            </a:r>
            <a:r>
              <a:rPr lang="tr-TR" sz="2000" b="1" i="1" dirty="0">
                <a:solidFill>
                  <a:srgbClr val="FF0000"/>
                </a:solidFill>
                <a:latin typeface="+mj-lt"/>
                <a:cs typeface="Arial" pitchFamily="34" charset="0"/>
              </a:rPr>
              <a:t>tavan yüksekliğinin </a:t>
            </a:r>
            <a:r>
              <a:rPr lang="tr-TR" sz="2000" b="1" i="1" u="sng" dirty="0">
                <a:solidFill>
                  <a:srgbClr val="FF0000"/>
                </a:solidFill>
                <a:latin typeface="+mj-lt"/>
                <a:cs typeface="Arial" pitchFamily="34" charset="0"/>
              </a:rPr>
              <a:t>4 metreden fazlası </a:t>
            </a:r>
            <a:r>
              <a:rPr lang="tr-TR" sz="2000" b="1" i="1" dirty="0">
                <a:solidFill>
                  <a:srgbClr val="FF0000"/>
                </a:solidFill>
                <a:latin typeface="+mj-lt"/>
                <a:cs typeface="Arial" pitchFamily="34" charset="0"/>
              </a:rPr>
              <a:t>hesaba katılmaz)</a:t>
            </a:r>
          </a:p>
          <a:p>
            <a:pPr marL="0" indent="0" eaLnBrk="1" hangingPunct="1">
              <a:buFont typeface="Arial" charset="0"/>
              <a:buChar char="•"/>
              <a:defRPr/>
            </a:pPr>
            <a:r>
              <a:rPr lang="tr-TR" sz="2000" b="1" i="1" dirty="0">
                <a:latin typeface="+mj-lt"/>
                <a:cs typeface="Arial" pitchFamily="34" charset="0"/>
              </a:rPr>
              <a:t>İ</a:t>
            </a:r>
            <a:r>
              <a:rPr lang="tr-TR" sz="2000" b="1" i="1" dirty="0" smtClean="0">
                <a:latin typeface="+mj-lt"/>
                <a:cs typeface="Arial" pitchFamily="34" charset="0"/>
              </a:rPr>
              <a:t>ş</a:t>
            </a:r>
            <a:r>
              <a:rPr lang="tr-TR" sz="2000" b="1" i="1" dirty="0" smtClean="0">
                <a:solidFill>
                  <a:prstClr val="black"/>
                </a:solidFill>
                <a:latin typeface="+mj-lt"/>
                <a:cs typeface="Arial" pitchFamily="34" charset="0"/>
              </a:rPr>
              <a:t>yerinin </a:t>
            </a:r>
            <a:r>
              <a:rPr lang="tr-TR" sz="2000" b="1" i="1" dirty="0">
                <a:solidFill>
                  <a:srgbClr val="FF0000"/>
                </a:solidFill>
                <a:latin typeface="+mj-lt"/>
                <a:cs typeface="Arial" pitchFamily="34" charset="0"/>
              </a:rPr>
              <a:t>tavan yüksekliği en </a:t>
            </a:r>
            <a:r>
              <a:rPr lang="tr-TR" sz="2000" b="1" i="1" dirty="0" smtClean="0">
                <a:solidFill>
                  <a:srgbClr val="FF0000"/>
                </a:solidFill>
                <a:latin typeface="+mj-lt"/>
                <a:cs typeface="Arial" pitchFamily="34" charset="0"/>
              </a:rPr>
              <a:t>az 2,5 metre, normal şartlarda ise  </a:t>
            </a:r>
            <a:r>
              <a:rPr lang="tr-TR" sz="2000" b="1" i="1" dirty="0">
                <a:solidFill>
                  <a:srgbClr val="FF0000"/>
                </a:solidFill>
                <a:latin typeface="+mj-lt"/>
                <a:cs typeface="Arial" pitchFamily="34" charset="0"/>
              </a:rPr>
              <a:t>3 metre </a:t>
            </a:r>
            <a:r>
              <a:rPr lang="tr-TR" sz="2000" b="1" i="1" dirty="0">
                <a:solidFill>
                  <a:prstClr val="black"/>
                </a:solidFill>
                <a:latin typeface="+mj-lt"/>
                <a:cs typeface="Arial" pitchFamily="34" charset="0"/>
              </a:rPr>
              <a:t>olmalıdır.</a:t>
            </a:r>
          </a:p>
          <a:p>
            <a:pPr marL="0" indent="0" eaLnBrk="1" hangingPunct="1">
              <a:buFont typeface="Arial" charset="0"/>
              <a:buChar char="•"/>
              <a:defRPr/>
            </a:pPr>
            <a:r>
              <a:rPr lang="tr-TR" sz="2000" b="1" i="1" dirty="0">
                <a:solidFill>
                  <a:srgbClr val="FF0000"/>
                </a:solidFill>
                <a:latin typeface="+mj-lt"/>
                <a:cs typeface="Arial" pitchFamily="34" charset="0"/>
              </a:rPr>
              <a:t>Zararlı toz ve gazların </a:t>
            </a:r>
            <a:r>
              <a:rPr lang="tr-TR" sz="2000" b="1" i="1" dirty="0">
                <a:solidFill>
                  <a:prstClr val="black"/>
                </a:solidFill>
                <a:latin typeface="+mj-lt"/>
                <a:cs typeface="Arial" pitchFamily="34" charset="0"/>
              </a:rPr>
              <a:t>bulunduğu ortamlarda </a:t>
            </a:r>
            <a:r>
              <a:rPr lang="tr-TR" sz="2000" b="1" i="1" dirty="0">
                <a:solidFill>
                  <a:srgbClr val="FF0000"/>
                </a:solidFill>
                <a:latin typeface="+mj-lt"/>
                <a:cs typeface="Arial" pitchFamily="34" charset="0"/>
              </a:rPr>
              <a:t>tavan yüksekliği en az 3,5 metre </a:t>
            </a:r>
            <a:r>
              <a:rPr lang="tr-TR" sz="2000" b="1" i="1" dirty="0">
                <a:solidFill>
                  <a:prstClr val="black"/>
                </a:solidFill>
                <a:latin typeface="+mj-lt"/>
                <a:cs typeface="Arial" pitchFamily="34" charset="0"/>
              </a:rPr>
              <a:t>olmalıdır.</a:t>
            </a:r>
          </a:p>
          <a:p>
            <a:pPr eaLnBrk="1" hangingPunct="1">
              <a:buFont typeface="Arial" charset="0"/>
              <a:buChar char="•"/>
              <a:defRPr/>
            </a:pPr>
            <a:endParaRPr lang="tr-TR" sz="2000" dirty="0" smtClean="0">
              <a:solidFill>
                <a:srgbClr val="FF0000"/>
              </a:solidFill>
              <a:latin typeface="+mj-lt"/>
              <a:cs typeface="Arial" pitchFamily="34" charset="0"/>
            </a:endParaRPr>
          </a:p>
          <a:p>
            <a:pPr eaLnBrk="1" hangingPunct="1">
              <a:buFont typeface="Arial" charset="0"/>
              <a:buChar char="•"/>
              <a:defRPr/>
            </a:pPr>
            <a:endParaRPr lang="tr-TR" sz="2000" dirty="0" smtClean="0">
              <a:solidFill>
                <a:srgbClr val="FF0000"/>
              </a:solidFill>
              <a:latin typeface="+mj-lt"/>
              <a:cs typeface="Arial" pitchFamily="34" charset="0"/>
            </a:endParaRPr>
          </a:p>
          <a:p>
            <a:pPr eaLnBrk="1" hangingPunct="1">
              <a:buFont typeface="Arial" charset="0"/>
              <a:buChar char="•"/>
              <a:defRPr/>
            </a:pPr>
            <a:endParaRPr lang="tr-TR" sz="2000" dirty="0" smtClean="0">
              <a:solidFill>
                <a:srgbClr val="FF0000"/>
              </a:solidFill>
              <a:latin typeface="+mj-lt"/>
              <a:cs typeface="Arial" pitchFamily="34" charset="0"/>
            </a:endParaRPr>
          </a:p>
        </p:txBody>
      </p:sp>
      <p:sp>
        <p:nvSpPr>
          <p:cNvPr id="102403" name="Slayt Numarası Yer Tutucusu 1"/>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9242AE36-B202-4BE4-9319-57C50CA369CE}" type="slidenum">
              <a:rPr lang="tr-TR" altLang="tr-TR" smtClean="0">
                <a:solidFill>
                  <a:srgbClr val="898989"/>
                </a:solidFill>
              </a:rPr>
              <a:pPr eaLnBrk="1" hangingPunct="1"/>
              <a:t>10</a:t>
            </a:fld>
            <a:endParaRPr lang="tr-TR" altLang="tr-TR" smtClean="0">
              <a:solidFill>
                <a:srgbClr val="898989"/>
              </a:solidFill>
            </a:endParaRPr>
          </a:p>
        </p:txBody>
      </p:sp>
    </p:spTree>
    <p:extLst>
      <p:ext uri="{BB962C8B-B14F-4D97-AF65-F5344CB8AC3E}">
        <p14:creationId xmlns:p14="http://schemas.microsoft.com/office/powerpoint/2010/main" xmlns="" val="29655186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İçerik Yer Tutucusu 2"/>
          <p:cNvSpPr>
            <a:spLocks noGrp="1"/>
          </p:cNvSpPr>
          <p:nvPr>
            <p:ph idx="1"/>
          </p:nvPr>
        </p:nvSpPr>
        <p:spPr>
          <a:xfrm>
            <a:off x="107950" y="9525"/>
            <a:ext cx="8424490" cy="6227787"/>
          </a:xfrm>
        </p:spPr>
        <p:txBody>
          <a:bodyPr/>
          <a:lstStyle/>
          <a:p>
            <a:pPr marL="266700" indent="-266700" eaLnBrk="1" hangingPunct="1">
              <a:buFont typeface="Arial" charset="0"/>
              <a:buChar char="•"/>
              <a:defRPr/>
            </a:pPr>
            <a:endParaRPr lang="tr-TR" sz="2000" b="1" dirty="0" smtClean="0">
              <a:solidFill>
                <a:prstClr val="black"/>
              </a:solidFill>
              <a:latin typeface="+mj-lt"/>
              <a:cs typeface="Arial" pitchFamily="34" charset="0"/>
            </a:endParaRPr>
          </a:p>
          <a:p>
            <a:pPr marL="0" indent="0" eaLnBrk="1" hangingPunct="1">
              <a:lnSpc>
                <a:spcPct val="150000"/>
              </a:lnSpc>
              <a:defRPr/>
            </a:pPr>
            <a:r>
              <a:rPr lang="tr-TR" sz="2600" b="1" dirty="0" smtClean="0">
                <a:solidFill>
                  <a:prstClr val="black"/>
                </a:solidFill>
                <a:latin typeface="+mj-lt"/>
                <a:cs typeface="Arial" pitchFamily="34" charset="0"/>
              </a:rPr>
              <a:t> Yetişkin </a:t>
            </a:r>
            <a:r>
              <a:rPr lang="tr-TR" sz="2600" b="1" dirty="0">
                <a:solidFill>
                  <a:prstClr val="black"/>
                </a:solidFill>
                <a:latin typeface="+mj-lt"/>
                <a:cs typeface="Arial" pitchFamily="34" charset="0"/>
              </a:rPr>
              <a:t>bir </a:t>
            </a:r>
            <a:r>
              <a:rPr lang="tr-TR" sz="2600" b="1" dirty="0">
                <a:solidFill>
                  <a:srgbClr val="FF0000"/>
                </a:solidFill>
                <a:latin typeface="+mj-lt"/>
                <a:cs typeface="Arial" pitchFamily="34" charset="0"/>
              </a:rPr>
              <a:t>insanın </a:t>
            </a:r>
            <a:r>
              <a:rPr lang="tr-TR" sz="2600" b="1" dirty="0">
                <a:solidFill>
                  <a:srgbClr val="00B050"/>
                </a:solidFill>
                <a:latin typeface="+mj-lt"/>
                <a:cs typeface="Arial" pitchFamily="34" charset="0"/>
              </a:rPr>
              <a:t>1 saatte </a:t>
            </a:r>
            <a:r>
              <a:rPr lang="tr-TR" sz="2600" b="1" dirty="0">
                <a:solidFill>
                  <a:srgbClr val="FF0000"/>
                </a:solidFill>
                <a:latin typeface="+mj-lt"/>
                <a:cs typeface="Arial" pitchFamily="34" charset="0"/>
              </a:rPr>
              <a:t>ihtiyaç </a:t>
            </a:r>
            <a:r>
              <a:rPr lang="tr-TR" sz="2600" b="1" dirty="0">
                <a:solidFill>
                  <a:prstClr val="black"/>
                </a:solidFill>
                <a:latin typeface="+mj-lt"/>
                <a:cs typeface="Arial" pitchFamily="34" charset="0"/>
              </a:rPr>
              <a:t>duyduğu  temiz hava:</a:t>
            </a:r>
            <a:r>
              <a:rPr lang="tr-TR" sz="2600" dirty="0">
                <a:solidFill>
                  <a:prstClr val="black"/>
                </a:solidFill>
                <a:latin typeface="+mj-lt"/>
                <a:cs typeface="Arial" pitchFamily="34" charset="0"/>
              </a:rPr>
              <a:t> </a:t>
            </a:r>
            <a:r>
              <a:rPr lang="tr-TR" sz="2600" dirty="0">
                <a:solidFill>
                  <a:schemeClr val="bg1"/>
                </a:solidFill>
                <a:latin typeface="+mj-lt"/>
                <a:cs typeface="Arial" pitchFamily="34" charset="0"/>
              </a:rPr>
              <a:t>en az </a:t>
            </a:r>
            <a:r>
              <a:rPr lang="tr-TR" sz="2600" dirty="0" smtClean="0">
                <a:solidFill>
                  <a:srgbClr val="00B050"/>
                </a:solidFill>
                <a:latin typeface="+mj-lt"/>
                <a:cs typeface="Arial" pitchFamily="34" charset="0"/>
              </a:rPr>
              <a:t>30</a:t>
            </a:r>
            <a:r>
              <a:rPr lang="tr-TR" sz="2600" b="1" dirty="0" smtClean="0">
                <a:solidFill>
                  <a:srgbClr val="00B050"/>
                </a:solidFill>
                <a:latin typeface="+mj-lt"/>
                <a:cs typeface="Arial" pitchFamily="34" charset="0"/>
              </a:rPr>
              <a:t>m</a:t>
            </a:r>
            <a:r>
              <a:rPr lang="tr-TR" sz="2600" b="1" baseline="30000" dirty="0" smtClean="0">
                <a:solidFill>
                  <a:srgbClr val="00B050"/>
                </a:solidFill>
                <a:latin typeface="+mj-lt"/>
                <a:cs typeface="Arial" pitchFamily="34" charset="0"/>
              </a:rPr>
              <a:t>3</a:t>
            </a:r>
            <a:endParaRPr lang="tr-TR" sz="2600" b="1" baseline="30000" dirty="0">
              <a:solidFill>
                <a:srgbClr val="00B050"/>
              </a:solidFill>
              <a:latin typeface="+mj-lt"/>
              <a:cs typeface="Arial" pitchFamily="34" charset="0"/>
            </a:endParaRPr>
          </a:p>
          <a:p>
            <a:pPr marL="266700" indent="-266700" eaLnBrk="1" hangingPunct="1">
              <a:buFont typeface="Arial" charset="0"/>
              <a:buChar char="•"/>
              <a:defRPr/>
            </a:pPr>
            <a:endParaRPr lang="tr-TR" sz="2600" dirty="0" smtClean="0">
              <a:solidFill>
                <a:srgbClr val="FF0000"/>
              </a:solidFill>
              <a:latin typeface="+mj-lt"/>
              <a:cs typeface="Arial" pitchFamily="34" charset="0"/>
            </a:endParaRPr>
          </a:p>
          <a:p>
            <a:pPr marL="266700" indent="-266700" eaLnBrk="1" hangingPunct="1">
              <a:buFont typeface="Arial" charset="0"/>
              <a:buChar char="•"/>
              <a:defRPr/>
            </a:pPr>
            <a:r>
              <a:rPr lang="tr-TR" sz="2600" b="1" dirty="0" smtClean="0">
                <a:solidFill>
                  <a:prstClr val="black"/>
                </a:solidFill>
                <a:latin typeface="+mj-lt"/>
                <a:cs typeface="Arial" pitchFamily="34" charset="0"/>
              </a:rPr>
              <a:t>Normal </a:t>
            </a:r>
            <a:r>
              <a:rPr lang="tr-TR" sz="2600" b="1" dirty="0">
                <a:solidFill>
                  <a:prstClr val="black"/>
                </a:solidFill>
                <a:latin typeface="+mj-lt"/>
                <a:cs typeface="Arial" pitchFamily="34" charset="0"/>
              </a:rPr>
              <a:t>şartlarda tabii havalandırma ile ortamın havasının </a:t>
            </a:r>
            <a:r>
              <a:rPr lang="tr-TR" sz="2600" b="1" dirty="0">
                <a:solidFill>
                  <a:srgbClr val="FF0000"/>
                </a:solidFill>
                <a:latin typeface="+mj-lt"/>
                <a:cs typeface="Arial" pitchFamily="34" charset="0"/>
              </a:rPr>
              <a:t>saatte 2-3 defa </a:t>
            </a:r>
            <a:r>
              <a:rPr lang="tr-TR" sz="2600" b="1" dirty="0">
                <a:solidFill>
                  <a:prstClr val="black"/>
                </a:solidFill>
                <a:latin typeface="+mj-lt"/>
                <a:cs typeface="Arial" pitchFamily="34" charset="0"/>
              </a:rPr>
              <a:t>değiştiği kabul edilmektedir.</a:t>
            </a:r>
          </a:p>
          <a:p>
            <a:pPr marL="0" indent="0" eaLnBrk="1" hangingPunct="1">
              <a:buFont typeface="Arial" charset="0"/>
              <a:buNone/>
              <a:defRPr/>
            </a:pPr>
            <a:endParaRPr lang="tr-TR" sz="2600" b="1" dirty="0" smtClean="0">
              <a:latin typeface="+mj-lt"/>
            </a:endParaRPr>
          </a:p>
          <a:p>
            <a:pPr eaLnBrk="1" hangingPunct="1">
              <a:buFont typeface="Arial" charset="0"/>
              <a:buChar char="•"/>
              <a:defRPr/>
            </a:pPr>
            <a:r>
              <a:rPr lang="tr-TR" sz="2600" b="1" dirty="0" smtClean="0">
                <a:latin typeface="+mj-lt"/>
              </a:rPr>
              <a:t>İşyerlerinde </a:t>
            </a:r>
            <a:r>
              <a:rPr lang="tr-TR" sz="2600" b="1" dirty="0" smtClean="0">
                <a:solidFill>
                  <a:srgbClr val="FF0000"/>
                </a:solidFill>
                <a:latin typeface="+mj-lt"/>
              </a:rPr>
              <a:t>kişi başına düşen serbest alan </a:t>
            </a:r>
            <a:r>
              <a:rPr lang="tr-TR" sz="2600" b="1" dirty="0" smtClean="0">
                <a:latin typeface="+mj-lt"/>
              </a:rPr>
              <a:t>miktarı </a:t>
            </a:r>
            <a:r>
              <a:rPr lang="tr-TR" sz="2600" b="1" dirty="0" smtClean="0">
                <a:solidFill>
                  <a:srgbClr val="FF0000"/>
                </a:solidFill>
                <a:latin typeface="+mj-lt"/>
              </a:rPr>
              <a:t>en az 2,5 metrekare </a:t>
            </a:r>
            <a:r>
              <a:rPr lang="tr-TR" sz="2600" b="1" dirty="0" smtClean="0">
                <a:latin typeface="+mj-lt"/>
              </a:rPr>
              <a:t>olmalıdır.</a:t>
            </a:r>
          </a:p>
          <a:p>
            <a:pPr marL="0" indent="0" eaLnBrk="1" hangingPunct="1">
              <a:buFont typeface="Arial" charset="0"/>
              <a:buNone/>
              <a:defRPr/>
            </a:pPr>
            <a:endParaRPr lang="tr-TR" sz="2000" b="1" dirty="0" smtClean="0">
              <a:latin typeface="+mj-lt"/>
            </a:endParaRPr>
          </a:p>
          <a:p>
            <a:pPr eaLnBrk="1" hangingPunct="1">
              <a:buFont typeface="Arial" charset="0"/>
              <a:buChar char="•"/>
              <a:defRPr/>
            </a:pPr>
            <a:endParaRPr lang="tr-TR" sz="2000" b="1" dirty="0" smtClean="0">
              <a:latin typeface="+mj-lt"/>
            </a:endParaRPr>
          </a:p>
        </p:txBody>
      </p:sp>
      <p:sp>
        <p:nvSpPr>
          <p:cNvPr id="103427" name="Slayt Numarası Yer Tutucusu 4"/>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F3285BBA-8A89-40AC-91AD-50983E6C3AF8}" type="slidenum">
              <a:rPr lang="tr-TR" altLang="tr-TR" smtClean="0">
                <a:solidFill>
                  <a:srgbClr val="898989"/>
                </a:solidFill>
              </a:rPr>
              <a:pPr eaLnBrk="1" hangingPunct="1"/>
              <a:t>11</a:t>
            </a:fld>
            <a:endParaRPr lang="tr-TR" altLang="tr-TR" smtClean="0">
              <a:solidFill>
                <a:srgbClr val="898989"/>
              </a:solidFill>
            </a:endParaRPr>
          </a:p>
        </p:txBody>
      </p:sp>
    </p:spTree>
    <p:extLst>
      <p:ext uri="{BB962C8B-B14F-4D97-AF65-F5344CB8AC3E}">
        <p14:creationId xmlns:p14="http://schemas.microsoft.com/office/powerpoint/2010/main" xmlns="" val="31235318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2"/>
          <p:cNvSpPr>
            <a:spLocks noGrp="1" noChangeArrowheads="1"/>
          </p:cNvSpPr>
          <p:nvPr>
            <p:ph type="title"/>
          </p:nvPr>
        </p:nvSpPr>
        <p:spPr>
          <a:xfrm>
            <a:off x="323528" y="260648"/>
            <a:ext cx="7620000" cy="1143000"/>
          </a:xfrm>
        </p:spPr>
        <p:txBody>
          <a:bodyPr/>
          <a:lstStyle/>
          <a:p>
            <a:pPr eaLnBrk="1" hangingPunct="1"/>
            <a:r>
              <a:rPr lang="tr-TR" altLang="tr-TR" b="1" dirty="0" smtClean="0">
                <a:solidFill>
                  <a:srgbClr val="000099"/>
                </a:solidFill>
                <a:latin typeface="+mj-lt"/>
              </a:rPr>
              <a:t>Havalandırma Yöntemleri</a:t>
            </a:r>
            <a:endParaRPr lang="en-US" altLang="tr-TR" b="1" dirty="0" smtClean="0">
              <a:solidFill>
                <a:srgbClr val="000099"/>
              </a:solidFill>
              <a:latin typeface="+mj-lt"/>
            </a:endParaRPr>
          </a:p>
        </p:txBody>
      </p:sp>
      <p:sp>
        <p:nvSpPr>
          <p:cNvPr id="104452" name="Rectangle 3"/>
          <p:cNvSpPr>
            <a:spLocks noGrp="1" noChangeArrowheads="1"/>
          </p:cNvSpPr>
          <p:nvPr>
            <p:ph idx="1"/>
          </p:nvPr>
        </p:nvSpPr>
        <p:spPr>
          <a:xfrm>
            <a:off x="251520" y="1628800"/>
            <a:ext cx="8229600" cy="4525963"/>
          </a:xfrm>
        </p:spPr>
        <p:txBody>
          <a:bodyPr/>
          <a:lstStyle/>
          <a:p>
            <a:pPr eaLnBrk="1" hangingPunct="1">
              <a:buNone/>
            </a:pPr>
            <a:r>
              <a:rPr lang="tr-TR" altLang="tr-TR" sz="2400" b="1" dirty="0" smtClean="0">
                <a:latin typeface="+mj-lt"/>
              </a:rPr>
              <a:t>1 </a:t>
            </a:r>
            <a:r>
              <a:rPr lang="tr-TR" altLang="tr-TR" sz="2400" dirty="0" smtClean="0">
                <a:latin typeface="+mj-lt"/>
              </a:rPr>
              <a:t>- </a:t>
            </a:r>
            <a:r>
              <a:rPr lang="tr-TR" altLang="tr-TR" sz="2400" b="1" u="sng" dirty="0" smtClean="0">
                <a:solidFill>
                  <a:srgbClr val="FF0000"/>
                </a:solidFill>
                <a:latin typeface="+mj-lt"/>
              </a:rPr>
              <a:t>Doğal Havalandırma</a:t>
            </a:r>
            <a:r>
              <a:rPr lang="tr-TR" altLang="tr-TR" sz="2400" u="sng" dirty="0" smtClean="0">
                <a:latin typeface="+mj-lt"/>
              </a:rPr>
              <a:t>  </a:t>
            </a:r>
            <a:r>
              <a:rPr lang="tr-TR" altLang="tr-TR" sz="1800" b="1" dirty="0" smtClean="0">
                <a:latin typeface="+mj-lt"/>
              </a:rPr>
              <a:t>(baca ve rüzgar etkisi),</a:t>
            </a:r>
          </a:p>
          <a:p>
            <a:pPr eaLnBrk="1" hangingPunct="1">
              <a:buNone/>
            </a:pPr>
            <a:endParaRPr lang="tr-TR" altLang="tr-TR" sz="1800" b="1" dirty="0" smtClean="0">
              <a:latin typeface="+mj-lt"/>
            </a:endParaRPr>
          </a:p>
          <a:p>
            <a:pPr eaLnBrk="1" hangingPunct="1">
              <a:buNone/>
            </a:pPr>
            <a:r>
              <a:rPr lang="tr-TR" altLang="tr-TR" sz="2400" b="1" dirty="0" smtClean="0">
                <a:latin typeface="+mj-lt"/>
              </a:rPr>
              <a:t>2 </a:t>
            </a:r>
            <a:r>
              <a:rPr lang="tr-TR" altLang="tr-TR" sz="2400" dirty="0" smtClean="0">
                <a:latin typeface="+mj-lt"/>
              </a:rPr>
              <a:t>-  </a:t>
            </a:r>
            <a:r>
              <a:rPr lang="tr-TR" altLang="tr-TR" sz="2400" b="1" u="sng" dirty="0" smtClean="0">
                <a:solidFill>
                  <a:srgbClr val="FF0000"/>
                </a:solidFill>
                <a:latin typeface="+mj-lt"/>
              </a:rPr>
              <a:t>Doğal - Mekanik Havalandırma</a:t>
            </a:r>
            <a:r>
              <a:rPr lang="tr-TR" altLang="tr-TR" sz="2000" b="1" u="sng" dirty="0" smtClean="0">
                <a:latin typeface="+mj-lt"/>
              </a:rPr>
              <a:t> </a:t>
            </a:r>
            <a:r>
              <a:rPr lang="tr-TR" altLang="tr-TR" sz="1800" b="1" dirty="0" smtClean="0">
                <a:latin typeface="+mj-lt"/>
              </a:rPr>
              <a:t>(Bunlar da rüzgar enerjisiyle çalışan baca aspiratörleri kullanılır)</a:t>
            </a:r>
          </a:p>
          <a:p>
            <a:pPr eaLnBrk="1" hangingPunct="1">
              <a:buNone/>
            </a:pPr>
            <a:endParaRPr lang="tr-TR" altLang="tr-TR" sz="1800" b="1" dirty="0" smtClean="0">
              <a:latin typeface="+mj-lt"/>
            </a:endParaRPr>
          </a:p>
          <a:p>
            <a:pPr eaLnBrk="1" hangingPunct="1">
              <a:buNone/>
            </a:pPr>
            <a:r>
              <a:rPr lang="tr-TR" altLang="tr-TR" sz="2400" b="1" dirty="0" smtClean="0">
                <a:latin typeface="+mj-lt"/>
              </a:rPr>
              <a:t>3</a:t>
            </a:r>
            <a:r>
              <a:rPr lang="tr-TR" altLang="tr-TR" sz="2400" dirty="0" smtClean="0">
                <a:latin typeface="+mj-lt"/>
              </a:rPr>
              <a:t> -  </a:t>
            </a:r>
            <a:r>
              <a:rPr lang="tr-TR" altLang="tr-TR" sz="2400" b="1" u="sng" dirty="0" smtClean="0">
                <a:solidFill>
                  <a:srgbClr val="FF0000"/>
                </a:solidFill>
                <a:latin typeface="+mj-lt"/>
              </a:rPr>
              <a:t>Mekanik Havalandırma</a:t>
            </a:r>
            <a:r>
              <a:rPr lang="tr-TR" altLang="tr-TR" sz="2400" u="sng" dirty="0" smtClean="0">
                <a:latin typeface="+mj-lt"/>
              </a:rPr>
              <a:t> </a:t>
            </a:r>
            <a:r>
              <a:rPr lang="tr-TR" altLang="tr-TR" sz="2000" dirty="0" smtClean="0">
                <a:latin typeface="+mj-lt"/>
              </a:rPr>
              <a:t>(cebrî </a:t>
            </a:r>
            <a:r>
              <a:rPr lang="tr-TR" altLang="tr-TR" sz="2000" dirty="0" err="1" smtClean="0">
                <a:latin typeface="+mj-lt"/>
              </a:rPr>
              <a:t>hv.</a:t>
            </a:r>
            <a:r>
              <a:rPr lang="tr-TR" altLang="tr-TR" sz="2000" dirty="0" smtClean="0">
                <a:latin typeface="+mj-lt"/>
              </a:rPr>
              <a:t>) (seyreltme </a:t>
            </a:r>
            <a:r>
              <a:rPr lang="tr-TR" altLang="tr-TR" sz="2000" dirty="0" err="1" smtClean="0">
                <a:latin typeface="+mj-lt"/>
              </a:rPr>
              <a:t>havaland</a:t>
            </a:r>
            <a:r>
              <a:rPr lang="tr-TR" altLang="tr-TR" sz="2000" dirty="0" smtClean="0">
                <a:latin typeface="+mj-lt"/>
              </a:rPr>
              <a:t>.)</a:t>
            </a:r>
          </a:p>
          <a:p>
            <a:pPr eaLnBrk="1" hangingPunct="1">
              <a:buNone/>
            </a:pPr>
            <a:r>
              <a:rPr lang="tr-TR" altLang="tr-TR" sz="2400" dirty="0" smtClean="0">
                <a:latin typeface="+mj-lt"/>
              </a:rPr>
              <a:t>          a) </a:t>
            </a:r>
            <a:r>
              <a:rPr lang="tr-TR" altLang="tr-TR" sz="2400" dirty="0" smtClean="0">
                <a:solidFill>
                  <a:srgbClr val="FF0000"/>
                </a:solidFill>
                <a:latin typeface="+mj-lt"/>
              </a:rPr>
              <a:t>Mekanik giriş-doğal çıkış</a:t>
            </a:r>
            <a:r>
              <a:rPr lang="tr-TR" altLang="tr-TR" sz="2400" dirty="0" smtClean="0">
                <a:latin typeface="+mj-lt"/>
              </a:rPr>
              <a:t> </a:t>
            </a:r>
            <a:r>
              <a:rPr lang="tr-TR" altLang="tr-TR" sz="2000" dirty="0" smtClean="0">
                <a:latin typeface="+mj-lt"/>
              </a:rPr>
              <a:t>(vantilatör)</a:t>
            </a:r>
          </a:p>
          <a:p>
            <a:pPr eaLnBrk="1" hangingPunct="1">
              <a:buNone/>
            </a:pPr>
            <a:r>
              <a:rPr lang="tr-TR" altLang="tr-TR" sz="2400" dirty="0" smtClean="0">
                <a:latin typeface="+mj-lt"/>
              </a:rPr>
              <a:t>          b) </a:t>
            </a:r>
            <a:r>
              <a:rPr lang="tr-TR" altLang="tr-TR" sz="2400" dirty="0" smtClean="0">
                <a:solidFill>
                  <a:srgbClr val="FF0000"/>
                </a:solidFill>
                <a:latin typeface="+mj-lt"/>
              </a:rPr>
              <a:t>Doğal giriş-mekanik çıkış</a:t>
            </a:r>
            <a:r>
              <a:rPr lang="tr-TR" altLang="tr-TR" sz="2400" dirty="0" smtClean="0">
                <a:latin typeface="+mj-lt"/>
              </a:rPr>
              <a:t> (</a:t>
            </a:r>
            <a:r>
              <a:rPr lang="tr-TR" altLang="tr-TR" sz="2000" dirty="0" smtClean="0">
                <a:latin typeface="+mj-lt"/>
              </a:rPr>
              <a:t>aspiratör)</a:t>
            </a:r>
          </a:p>
          <a:p>
            <a:pPr eaLnBrk="1" hangingPunct="1">
              <a:buNone/>
            </a:pPr>
            <a:r>
              <a:rPr lang="tr-TR" altLang="tr-TR" sz="2400" dirty="0" smtClean="0">
                <a:latin typeface="+mj-lt"/>
              </a:rPr>
              <a:t>          c) </a:t>
            </a:r>
            <a:r>
              <a:rPr lang="tr-TR" altLang="tr-TR" sz="2400" dirty="0" smtClean="0">
                <a:solidFill>
                  <a:srgbClr val="FF0000"/>
                </a:solidFill>
                <a:latin typeface="+mj-lt"/>
              </a:rPr>
              <a:t>Mekanik giriş-mekanik çıkış</a:t>
            </a:r>
            <a:r>
              <a:rPr lang="tr-TR" altLang="tr-TR" sz="2400" dirty="0" smtClean="0">
                <a:latin typeface="+mj-lt"/>
              </a:rPr>
              <a:t> </a:t>
            </a:r>
            <a:r>
              <a:rPr lang="tr-TR" altLang="tr-TR" sz="2000" dirty="0" smtClean="0">
                <a:latin typeface="+mj-lt"/>
              </a:rPr>
              <a:t>(vantilatör + aspiratör</a:t>
            </a:r>
            <a:r>
              <a:rPr lang="tr-TR" altLang="tr-TR" sz="2400" dirty="0" smtClean="0">
                <a:latin typeface="+mj-lt"/>
              </a:rPr>
              <a:t>)</a:t>
            </a:r>
            <a:endParaRPr lang="en-US" altLang="tr-TR" sz="2400" dirty="0" smtClean="0">
              <a:latin typeface="+mj-lt"/>
            </a:endParaRPr>
          </a:p>
        </p:txBody>
      </p:sp>
      <p:sp>
        <p:nvSpPr>
          <p:cNvPr id="104450" name="Slayt Numarası Yer Tutucusu 5"/>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E6297648-228A-428B-B7D9-52F8046F14E2}" type="slidenum">
              <a:rPr lang="en-US" altLang="tr-TR" smtClean="0"/>
              <a:pPr eaLnBrk="1" hangingPunct="1"/>
              <a:t>12</a:t>
            </a:fld>
            <a:endParaRPr lang="en-US" altLang="tr-TR" smtClean="0"/>
          </a:p>
        </p:txBody>
      </p:sp>
    </p:spTree>
    <p:extLst>
      <p:ext uri="{BB962C8B-B14F-4D97-AF65-F5344CB8AC3E}">
        <p14:creationId xmlns:p14="http://schemas.microsoft.com/office/powerpoint/2010/main" xmlns="" val="4834320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ayt Numarası Yer Tutucusu 3"/>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D40FB4A5-7A07-4DF3-9B11-7EB4B2D3D551}" type="slidenum">
              <a:rPr lang="en-US" altLang="tr-TR" smtClean="0"/>
              <a:pPr eaLnBrk="1" hangingPunct="1"/>
              <a:t>13</a:t>
            </a:fld>
            <a:endParaRPr lang="en-US" altLang="tr-TR" smtClean="0"/>
          </a:p>
        </p:txBody>
      </p:sp>
      <p:sp>
        <p:nvSpPr>
          <p:cNvPr id="117763" name="Rectangle 3"/>
          <p:cNvSpPr>
            <a:spLocks noGrp="1" noChangeArrowheads="1"/>
          </p:cNvSpPr>
          <p:nvPr>
            <p:ph type="body" idx="4294967295"/>
          </p:nvPr>
        </p:nvSpPr>
        <p:spPr>
          <a:xfrm>
            <a:off x="364356" y="692150"/>
            <a:ext cx="4711700" cy="4525963"/>
          </a:xfrm>
        </p:spPr>
        <p:txBody>
          <a:bodyPr/>
          <a:lstStyle/>
          <a:p>
            <a:pPr eaLnBrk="1" hangingPunct="1">
              <a:buNone/>
              <a:defRPr/>
            </a:pPr>
            <a:r>
              <a:rPr lang="tr-TR" altLang="tr-TR" sz="3200" b="1" dirty="0" smtClean="0">
                <a:solidFill>
                  <a:srgbClr val="000099"/>
                </a:solidFill>
                <a:latin typeface="+mj-lt"/>
              </a:rPr>
              <a:t>Doğal havalandırma</a:t>
            </a:r>
            <a:r>
              <a:rPr lang="tr-TR" altLang="tr-TR" sz="3200" dirty="0" smtClean="0">
                <a:latin typeface="+mj-lt"/>
              </a:rPr>
              <a:t>:</a:t>
            </a:r>
          </a:p>
          <a:p>
            <a:pPr marL="0" indent="0" eaLnBrk="1" hangingPunct="1">
              <a:buFontTx/>
              <a:buNone/>
              <a:defRPr/>
            </a:pPr>
            <a:endParaRPr lang="tr-TR" altLang="tr-TR" sz="2800" dirty="0" smtClean="0">
              <a:latin typeface="+mj-lt"/>
            </a:endParaRPr>
          </a:p>
          <a:p>
            <a:pPr marL="0" indent="0" eaLnBrk="1" hangingPunct="1">
              <a:buFontTx/>
              <a:buNone/>
              <a:defRPr/>
            </a:pPr>
            <a:r>
              <a:rPr lang="tr-TR" altLang="tr-TR" sz="2800" dirty="0" smtClean="0">
                <a:latin typeface="+mj-lt"/>
              </a:rPr>
              <a:t>Doğal havalandırmadan, </a:t>
            </a:r>
            <a:r>
              <a:rPr lang="tr-TR" altLang="tr-TR" sz="2800" dirty="0" smtClean="0">
                <a:solidFill>
                  <a:srgbClr val="FF0000"/>
                </a:solidFill>
                <a:latin typeface="+mj-lt"/>
              </a:rPr>
              <a:t>ısının ve kirli havanın seyreltilmesinde ve dağıtılmasında</a:t>
            </a:r>
            <a:r>
              <a:rPr lang="tr-TR" altLang="tr-TR" sz="2800" dirty="0" smtClean="0">
                <a:latin typeface="+mj-lt"/>
              </a:rPr>
              <a:t> </a:t>
            </a:r>
          </a:p>
          <a:p>
            <a:pPr marL="0" indent="0" eaLnBrk="1" hangingPunct="1">
              <a:buFontTx/>
              <a:buNone/>
              <a:defRPr/>
            </a:pPr>
            <a:r>
              <a:rPr lang="tr-TR" altLang="tr-TR" sz="2800" dirty="0" smtClean="0">
                <a:latin typeface="+mj-lt"/>
              </a:rPr>
              <a:t>yararlanılır.</a:t>
            </a:r>
          </a:p>
        </p:txBody>
      </p:sp>
      <p:pic>
        <p:nvPicPr>
          <p:cNvPr id="105476" name="Picture 4" descr="6_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911725" y="476250"/>
            <a:ext cx="4232275" cy="5905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2637991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3"/>
          <p:cNvSpPr>
            <a:spLocks noGrp="1" noChangeArrowheads="1"/>
          </p:cNvSpPr>
          <p:nvPr>
            <p:ph idx="1"/>
          </p:nvPr>
        </p:nvSpPr>
        <p:spPr>
          <a:xfrm>
            <a:off x="323850" y="692150"/>
            <a:ext cx="8229600" cy="4525963"/>
          </a:xfrm>
        </p:spPr>
        <p:txBody>
          <a:bodyPr/>
          <a:lstStyle/>
          <a:p>
            <a:pPr eaLnBrk="1" hangingPunct="1">
              <a:buFontTx/>
              <a:buNone/>
            </a:pPr>
            <a:r>
              <a:rPr lang="tr-TR" altLang="tr-TR" b="1" dirty="0" smtClean="0">
                <a:solidFill>
                  <a:srgbClr val="FF0000"/>
                </a:solidFill>
                <a:latin typeface="+mj-lt"/>
              </a:rPr>
              <a:t>   </a:t>
            </a:r>
            <a:r>
              <a:rPr lang="tr-TR" altLang="tr-TR" sz="2800" b="1" dirty="0" smtClean="0">
                <a:latin typeface="+mj-lt"/>
              </a:rPr>
              <a:t>Mekanik havalandırma  konumlanma bakımından da iki sınıfa ayrılır:</a:t>
            </a:r>
          </a:p>
          <a:p>
            <a:pPr eaLnBrk="1" hangingPunct="1"/>
            <a:endParaRPr lang="tr-TR" altLang="tr-TR" sz="2800" b="1" dirty="0" smtClean="0">
              <a:latin typeface="+mj-lt"/>
            </a:endParaRPr>
          </a:p>
          <a:p>
            <a:pPr eaLnBrk="1" hangingPunct="1">
              <a:buNone/>
            </a:pPr>
            <a:r>
              <a:rPr lang="tr-TR" altLang="tr-TR" sz="2400" dirty="0" smtClean="0">
                <a:solidFill>
                  <a:srgbClr val="000099"/>
                </a:solidFill>
                <a:latin typeface="+mj-lt"/>
              </a:rPr>
              <a:t>1- Genel Havalandırma,</a:t>
            </a:r>
          </a:p>
          <a:p>
            <a:pPr eaLnBrk="1" hangingPunct="1"/>
            <a:endParaRPr lang="tr-TR" altLang="tr-TR" sz="2400" dirty="0" smtClean="0">
              <a:solidFill>
                <a:srgbClr val="000099"/>
              </a:solidFill>
              <a:latin typeface="+mj-lt"/>
            </a:endParaRPr>
          </a:p>
          <a:p>
            <a:pPr eaLnBrk="1" hangingPunct="1">
              <a:buNone/>
            </a:pPr>
            <a:r>
              <a:rPr lang="tr-TR" altLang="tr-TR" sz="2400" dirty="0" smtClean="0">
                <a:solidFill>
                  <a:srgbClr val="000099"/>
                </a:solidFill>
                <a:latin typeface="+mj-lt"/>
              </a:rPr>
              <a:t>2- Lokal Havalandırma</a:t>
            </a:r>
            <a:r>
              <a:rPr lang="tr-TR" altLang="tr-TR" sz="2400" dirty="0" smtClean="0">
                <a:latin typeface="+mj-lt"/>
              </a:rPr>
              <a:t>,</a:t>
            </a:r>
          </a:p>
          <a:p>
            <a:pPr eaLnBrk="1" hangingPunct="1">
              <a:buFontTx/>
              <a:buNone/>
            </a:pPr>
            <a:r>
              <a:rPr lang="tr-TR" altLang="tr-TR" sz="2400" dirty="0" smtClean="0">
                <a:latin typeface="+mj-lt"/>
              </a:rPr>
              <a:t>   </a:t>
            </a:r>
            <a:r>
              <a:rPr lang="tr-TR" altLang="tr-TR" sz="2000" dirty="0" smtClean="0">
                <a:latin typeface="+mj-lt"/>
              </a:rPr>
              <a:t>(Genel havalandırmanın yetersiz kaldığı özel bazı işlerde/ tezgahlarda yerel </a:t>
            </a:r>
            <a:r>
              <a:rPr lang="tr-TR" altLang="tr-TR" sz="2000" dirty="0" err="1" smtClean="0">
                <a:latin typeface="+mj-lt"/>
              </a:rPr>
              <a:t>egsoz</a:t>
            </a:r>
            <a:r>
              <a:rPr lang="tr-TR" altLang="tr-TR" sz="2000" dirty="0" smtClean="0">
                <a:latin typeface="+mj-lt"/>
              </a:rPr>
              <a:t> sağlamak amacıyla yapılır.)</a:t>
            </a:r>
            <a:endParaRPr lang="en-US" altLang="tr-TR" sz="2000" dirty="0" smtClean="0">
              <a:latin typeface="+mj-lt"/>
            </a:endParaRPr>
          </a:p>
        </p:txBody>
      </p:sp>
      <p:sp>
        <p:nvSpPr>
          <p:cNvPr id="106498" name="Slayt Numarası Yer Tutucusu 5"/>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6E8AC24E-6F81-4C57-95FC-58751171029B}" type="slidenum">
              <a:rPr lang="en-US" altLang="tr-TR" smtClean="0"/>
              <a:pPr eaLnBrk="1" hangingPunct="1"/>
              <a:t>14</a:t>
            </a:fld>
            <a:endParaRPr lang="en-US" altLang="tr-TR" smtClean="0"/>
          </a:p>
        </p:txBody>
      </p:sp>
    </p:spTree>
    <p:extLst>
      <p:ext uri="{BB962C8B-B14F-4D97-AF65-F5344CB8AC3E}">
        <p14:creationId xmlns:p14="http://schemas.microsoft.com/office/powerpoint/2010/main" xmlns="" val="25510180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1"/>
          <p:cNvSpPr>
            <a:spLocks noChangeArrowheads="1"/>
          </p:cNvSpPr>
          <p:nvPr/>
        </p:nvSpPr>
        <p:spPr bwMode="auto">
          <a:xfrm>
            <a:off x="20638" y="332656"/>
            <a:ext cx="8295778" cy="5755422"/>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anchor="ct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tr-TR" altLang="tr-TR" sz="2800" b="1" dirty="0">
                <a:solidFill>
                  <a:srgbClr val="FF0000"/>
                </a:solidFill>
                <a:latin typeface="Arial Black" pitchFamily="34" charset="0"/>
              </a:rPr>
              <a:t>Genel havalandırma sistemi</a:t>
            </a:r>
          </a:p>
          <a:p>
            <a:pPr eaLnBrk="1" hangingPunct="1"/>
            <a:r>
              <a:rPr lang="tr-TR" altLang="tr-TR" sz="2000" dirty="0"/>
              <a:t> </a:t>
            </a:r>
          </a:p>
          <a:p>
            <a:pPr eaLnBrk="1" hangingPunct="1"/>
            <a:r>
              <a:rPr lang="tr-TR" altLang="tr-TR" sz="2000" dirty="0"/>
              <a:t>Sistem, genellikle </a:t>
            </a:r>
            <a:r>
              <a:rPr lang="tr-TR" altLang="tr-TR" sz="2000" b="1" dirty="0">
                <a:solidFill>
                  <a:srgbClr val="000099"/>
                </a:solidFill>
                <a:latin typeface="Arial Black" pitchFamily="34" charset="0"/>
              </a:rPr>
              <a:t>duvara veya bir odaya ya da binanın çatısına yerleştirilmiş geniş egzoz fanları </a:t>
            </a:r>
            <a:r>
              <a:rPr lang="tr-TR" altLang="tr-TR" sz="2000" dirty="0"/>
              <a:t>içerir.</a:t>
            </a:r>
          </a:p>
          <a:p>
            <a:pPr eaLnBrk="1" hangingPunct="1"/>
            <a:endParaRPr lang="tr-TR" altLang="tr-TR" sz="2000" dirty="0"/>
          </a:p>
          <a:p>
            <a:pPr eaLnBrk="1" hangingPunct="1"/>
            <a:r>
              <a:rPr lang="tr-TR" altLang="tr-TR" sz="2000" dirty="0"/>
              <a:t>Genel havalandırma, işyerinde ortaya çıkan kirleticileri</a:t>
            </a:r>
            <a:r>
              <a:rPr lang="tr-TR" altLang="tr-TR" sz="2000" dirty="0">
                <a:solidFill>
                  <a:srgbClr val="000099"/>
                </a:solidFill>
                <a:latin typeface="Arial Black" pitchFamily="34" charset="0"/>
              </a:rPr>
              <a:t>, </a:t>
            </a:r>
            <a:r>
              <a:rPr lang="tr-TR" altLang="tr-TR" sz="2000" b="1" dirty="0">
                <a:solidFill>
                  <a:srgbClr val="000099"/>
                </a:solidFill>
                <a:latin typeface="Arial Black" pitchFamily="34" charset="0"/>
              </a:rPr>
              <a:t>bütün işyerinin havalandırılması yoluyla kontrol </a:t>
            </a:r>
            <a:r>
              <a:rPr lang="tr-TR" altLang="tr-TR" sz="2000" b="1" dirty="0">
                <a:solidFill>
                  <a:srgbClr val="000099"/>
                </a:solidFill>
              </a:rPr>
              <a:t>eder.</a:t>
            </a:r>
            <a:r>
              <a:rPr lang="tr-TR" altLang="tr-TR" sz="2000" dirty="0"/>
              <a:t> Genel havalandırma kullanımı, işyerinde bir dereceye kadar kirleticileri dağıtabilmektedir fakat bu esnada </a:t>
            </a:r>
            <a:r>
              <a:rPr lang="tr-TR" altLang="tr-TR" sz="2000" u="sng" dirty="0"/>
              <a:t>kirlenme kaynağından uzak kişileri de olumsuz etkileyebilmektedir.</a:t>
            </a:r>
          </a:p>
          <a:p>
            <a:pPr eaLnBrk="1" hangingPunct="1"/>
            <a:r>
              <a:rPr lang="tr-TR" altLang="tr-TR" sz="2000" u="sng" dirty="0"/>
              <a:t> </a:t>
            </a:r>
          </a:p>
          <a:p>
            <a:pPr eaLnBrk="1" hangingPunct="1"/>
            <a:r>
              <a:rPr lang="tr-TR" altLang="tr-TR" sz="2000" dirty="0"/>
              <a:t>Genel havalandırma ile kirletici kontrolü yapılırken; </a:t>
            </a:r>
            <a:r>
              <a:rPr lang="tr-TR" altLang="tr-TR" sz="2000" b="1" dirty="0">
                <a:solidFill>
                  <a:srgbClr val="000099"/>
                </a:solidFill>
                <a:latin typeface="Arial Black" pitchFamily="34" charset="0"/>
              </a:rPr>
              <a:t>kirletici konsantrasyonunun çok yüksek olmaması ve </a:t>
            </a:r>
            <a:r>
              <a:rPr lang="tr-TR" altLang="tr-TR" sz="2000" b="1" dirty="0" err="1">
                <a:solidFill>
                  <a:srgbClr val="000099"/>
                </a:solidFill>
                <a:latin typeface="Arial Black" pitchFamily="34" charset="0"/>
              </a:rPr>
              <a:t>toksinliğin</a:t>
            </a:r>
            <a:r>
              <a:rPr lang="tr-TR" altLang="tr-TR" sz="2000" b="1" dirty="0">
                <a:solidFill>
                  <a:srgbClr val="000099"/>
                </a:solidFill>
                <a:latin typeface="Arial Black" pitchFamily="34" charset="0"/>
              </a:rPr>
              <a:t> az olması hususlarına dikkat edilmelidir</a:t>
            </a:r>
            <a:r>
              <a:rPr lang="tr-TR" altLang="tr-TR" sz="2000" dirty="0">
                <a:latin typeface="Arial Black" pitchFamily="34" charset="0"/>
              </a:rPr>
              <a:t>. </a:t>
            </a:r>
          </a:p>
          <a:p>
            <a:pPr eaLnBrk="1" hangingPunct="1"/>
            <a:endParaRPr lang="tr-TR" altLang="tr-TR" sz="2000" dirty="0"/>
          </a:p>
          <a:p>
            <a:pPr eaLnBrk="1" hangingPunct="1"/>
            <a:r>
              <a:rPr lang="tr-TR" altLang="tr-TR" sz="2000" dirty="0"/>
              <a:t>Diğer taraftan, </a:t>
            </a:r>
            <a:r>
              <a:rPr lang="tr-TR" altLang="tr-TR" sz="2000" b="1" dirty="0">
                <a:solidFill>
                  <a:srgbClr val="FF0000"/>
                </a:solidFill>
                <a:latin typeface="Arial Black" pitchFamily="34" charset="0"/>
              </a:rPr>
              <a:t>yüksek dozdaki  kimyasal maddelerin kontrolünde genel havalandırma kullanımı tavsiye edilmemektedir</a:t>
            </a:r>
            <a:r>
              <a:rPr lang="tr-TR" altLang="tr-TR" sz="2000" b="1" dirty="0">
                <a:solidFill>
                  <a:srgbClr val="000099"/>
                </a:solidFill>
              </a:rPr>
              <a:t>.</a:t>
            </a:r>
          </a:p>
        </p:txBody>
      </p:sp>
      <p:sp>
        <p:nvSpPr>
          <p:cNvPr id="107523" name="Slayt Numarası Yer Tutucusu 1"/>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A047215E-8029-4DC9-86D3-2AEEF85A4712}" type="slidenum">
              <a:rPr lang="en-US" altLang="tr-TR" smtClean="0"/>
              <a:pPr eaLnBrk="1" hangingPunct="1"/>
              <a:t>15</a:t>
            </a:fld>
            <a:endParaRPr lang="en-US" altLang="tr-TR" smtClean="0"/>
          </a:p>
        </p:txBody>
      </p:sp>
    </p:spTree>
    <p:extLst>
      <p:ext uri="{BB962C8B-B14F-4D97-AF65-F5344CB8AC3E}">
        <p14:creationId xmlns:p14="http://schemas.microsoft.com/office/powerpoint/2010/main" xmlns="" val="382804938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2"/>
          <p:cNvSpPr>
            <a:spLocks noGrp="1" noChangeArrowheads="1"/>
          </p:cNvSpPr>
          <p:nvPr>
            <p:ph type="title"/>
          </p:nvPr>
        </p:nvSpPr>
        <p:spPr>
          <a:xfrm>
            <a:off x="461963" y="58738"/>
            <a:ext cx="8220075" cy="1066800"/>
          </a:xfrm>
        </p:spPr>
        <p:txBody>
          <a:bodyPr/>
          <a:lstStyle/>
          <a:p>
            <a:pPr eaLnBrk="1" hangingPunct="1"/>
            <a:r>
              <a:rPr lang="tr-TR" altLang="tr-TR" smtClean="0">
                <a:solidFill>
                  <a:srgbClr val="000099"/>
                </a:solidFill>
                <a:latin typeface="+mj-lt"/>
              </a:rPr>
              <a:t>Genel Havalandırma (</a:t>
            </a:r>
            <a:r>
              <a:rPr lang="tr-TR" altLang="tr-TR" sz="3200" smtClean="0">
                <a:solidFill>
                  <a:schemeClr val="tx1"/>
                </a:solidFill>
                <a:latin typeface="+mj-lt"/>
              </a:rPr>
              <a:t>üstten çekiş</a:t>
            </a:r>
            <a:r>
              <a:rPr lang="tr-TR" altLang="tr-TR" sz="3200" smtClean="0">
                <a:solidFill>
                  <a:srgbClr val="000099"/>
                </a:solidFill>
                <a:latin typeface="+mj-lt"/>
              </a:rPr>
              <a:t>)</a:t>
            </a:r>
            <a:endParaRPr lang="en-US" altLang="tr-TR" sz="3200" smtClean="0">
              <a:solidFill>
                <a:srgbClr val="000099"/>
              </a:solidFill>
              <a:latin typeface="+mj-lt"/>
            </a:endParaRPr>
          </a:p>
        </p:txBody>
      </p:sp>
      <p:sp>
        <p:nvSpPr>
          <p:cNvPr id="108548" name="Rectangle 3"/>
          <p:cNvSpPr>
            <a:spLocks noGrp="1" noChangeArrowheads="1"/>
          </p:cNvSpPr>
          <p:nvPr>
            <p:ph idx="1"/>
          </p:nvPr>
        </p:nvSpPr>
        <p:spPr/>
        <p:txBody>
          <a:bodyPr/>
          <a:lstStyle/>
          <a:p>
            <a:pPr eaLnBrk="1" hangingPunct="1"/>
            <a:endParaRPr lang="en-US" altLang="tr-TR" smtClean="0"/>
          </a:p>
        </p:txBody>
      </p:sp>
      <p:sp>
        <p:nvSpPr>
          <p:cNvPr id="108546" name="Slayt Numarası Yer Tutucusu 5"/>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C1075DD3-D3EB-4752-ADD1-FE44E439A5AC}" type="slidenum">
              <a:rPr lang="en-US" altLang="tr-TR" smtClean="0"/>
              <a:pPr eaLnBrk="1" hangingPunct="1"/>
              <a:t>16</a:t>
            </a:fld>
            <a:endParaRPr lang="en-US" altLang="tr-TR" smtClean="0"/>
          </a:p>
        </p:txBody>
      </p:sp>
      <p:pic>
        <p:nvPicPr>
          <p:cNvPr id="108549" name="Picture 5" descr="Industrial%20Ventilation_clip_image004"/>
          <p:cNvPicPr>
            <a:picLocks noChangeAspect="1" noChangeArrowheads="1"/>
          </p:cNvPicPr>
          <p:nvPr/>
        </p:nvPicPr>
        <p:blipFill>
          <a:blip r:embed="rId2" cstate="print">
            <a:lum bright="12000" contrast="6000"/>
            <a:extLst>
              <a:ext uri="{28A0092B-C50C-407E-A947-70E740481C1C}">
                <a14:useLocalDpi xmlns:a14="http://schemas.microsoft.com/office/drawing/2010/main" xmlns="" val="0"/>
              </a:ext>
            </a:extLst>
          </a:blip>
          <a:srcRect/>
          <a:stretch>
            <a:fillRect/>
          </a:stretch>
        </p:blipFill>
        <p:spPr bwMode="auto">
          <a:xfrm>
            <a:off x="0" y="1125538"/>
            <a:ext cx="9144000" cy="5472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0943360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2"/>
          <p:cNvSpPr>
            <a:spLocks noGrp="1" noChangeArrowheads="1"/>
          </p:cNvSpPr>
          <p:nvPr>
            <p:ph type="title"/>
          </p:nvPr>
        </p:nvSpPr>
        <p:spPr/>
        <p:txBody>
          <a:bodyPr/>
          <a:lstStyle/>
          <a:p>
            <a:pPr eaLnBrk="1" hangingPunct="1"/>
            <a:r>
              <a:rPr lang="tr-TR" altLang="tr-TR" smtClean="0">
                <a:solidFill>
                  <a:srgbClr val="000099"/>
                </a:solidFill>
                <a:latin typeface="+mj-lt"/>
              </a:rPr>
              <a:t>Genel Havalandırma</a:t>
            </a:r>
            <a:r>
              <a:rPr lang="tr-TR" altLang="tr-TR" smtClean="0">
                <a:latin typeface="+mj-lt"/>
              </a:rPr>
              <a:t> </a:t>
            </a:r>
            <a:r>
              <a:rPr lang="tr-TR" altLang="tr-TR" sz="3600" smtClean="0">
                <a:latin typeface="+mj-lt"/>
              </a:rPr>
              <a:t>(alttan çekiş)</a:t>
            </a:r>
            <a:endParaRPr lang="en-US" altLang="tr-TR" sz="3600" smtClean="0">
              <a:latin typeface="+mj-lt"/>
            </a:endParaRPr>
          </a:p>
        </p:txBody>
      </p:sp>
      <p:sp>
        <p:nvSpPr>
          <p:cNvPr id="109572" name="Rectangle 3"/>
          <p:cNvSpPr>
            <a:spLocks noGrp="1" noChangeArrowheads="1"/>
          </p:cNvSpPr>
          <p:nvPr>
            <p:ph idx="1"/>
          </p:nvPr>
        </p:nvSpPr>
        <p:spPr/>
        <p:txBody>
          <a:bodyPr/>
          <a:lstStyle/>
          <a:p>
            <a:pPr eaLnBrk="1" hangingPunct="1"/>
            <a:endParaRPr lang="en-US" altLang="tr-TR" smtClean="0"/>
          </a:p>
        </p:txBody>
      </p:sp>
      <p:sp>
        <p:nvSpPr>
          <p:cNvPr id="109570" name="Slayt Numarası Yer Tutucusu 5"/>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6C79E2AC-2B60-4BE6-9077-253537F33EBB}" type="slidenum">
              <a:rPr lang="en-US" altLang="tr-TR" smtClean="0"/>
              <a:pPr eaLnBrk="1" hangingPunct="1"/>
              <a:t>17</a:t>
            </a:fld>
            <a:endParaRPr lang="en-US" altLang="tr-TR" smtClean="0"/>
          </a:p>
        </p:txBody>
      </p:sp>
      <p:pic>
        <p:nvPicPr>
          <p:cNvPr id="109573" name="Picture 5" descr="th?id=H"/>
          <p:cNvPicPr>
            <a:picLocks noChangeAspect="1" noChangeArrowheads="1"/>
          </p:cNvPicPr>
          <p:nvPr/>
        </p:nvPicPr>
        <p:blipFill>
          <a:blip r:embed="rId2" cstate="print">
            <a:lum bright="12000" contrast="6000"/>
            <a:extLst>
              <a:ext uri="{28A0092B-C50C-407E-A947-70E740481C1C}">
                <a14:useLocalDpi xmlns:a14="http://schemas.microsoft.com/office/drawing/2010/main" xmlns="" val="0"/>
              </a:ext>
            </a:extLst>
          </a:blip>
          <a:srcRect/>
          <a:stretch>
            <a:fillRect/>
          </a:stretch>
        </p:blipFill>
        <p:spPr bwMode="auto">
          <a:xfrm>
            <a:off x="179388" y="1268413"/>
            <a:ext cx="8640762" cy="51133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40118175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descr="image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0" y="188913"/>
            <a:ext cx="4351338" cy="2536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059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tr-TR" altLang="tr-TR"/>
              <a:t/>
            </a:r>
            <a:br>
              <a:rPr lang="tr-TR" altLang="tr-TR"/>
            </a:br>
            <a:endParaRPr lang="tr-TR" altLang="tr-TR"/>
          </a:p>
        </p:txBody>
      </p:sp>
      <p:pic>
        <p:nvPicPr>
          <p:cNvPr id="110596" name="Picture 4" descr="image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572000" y="188913"/>
            <a:ext cx="4392613" cy="2403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0597"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tr-TR" altLang="tr-TR"/>
              <a:t/>
            </a:r>
            <a:br>
              <a:rPr lang="tr-TR" altLang="tr-TR"/>
            </a:br>
            <a:endParaRPr lang="tr-TR" altLang="tr-TR"/>
          </a:p>
        </p:txBody>
      </p:sp>
      <p:pic>
        <p:nvPicPr>
          <p:cNvPr id="110598" name="Picture 6" descr="image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79388" y="3068638"/>
            <a:ext cx="3495675" cy="2835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aphicFrame>
        <p:nvGraphicFramePr>
          <p:cNvPr id="9" name="8 Tablo"/>
          <p:cNvGraphicFramePr>
            <a:graphicFrameLocks noGrp="1"/>
          </p:cNvGraphicFramePr>
          <p:nvPr/>
        </p:nvGraphicFramePr>
        <p:xfrm>
          <a:off x="1476375" y="5589588"/>
          <a:ext cx="5903913" cy="457200"/>
        </p:xfrm>
        <a:graphic>
          <a:graphicData uri="http://schemas.openxmlformats.org/drawingml/2006/table">
            <a:tbl>
              <a:tblPr/>
              <a:tblGrid>
                <a:gridCol w="5903913"/>
              </a:tblGrid>
              <a:tr h="431800">
                <a:tc>
                  <a:txBody>
                    <a:bodyPr/>
                    <a:lstStyle/>
                    <a:p>
                      <a:pPr marL="0" marR="0" lvl="0" indent="0" algn="ctr" defTabSz="914400" rtl="0" eaLnBrk="1" fontAlgn="base" latinLnBrk="0" hangingPunct="1">
                        <a:lnSpc>
                          <a:spcPts val="1150"/>
                        </a:lnSpc>
                        <a:spcBef>
                          <a:spcPct val="0"/>
                        </a:spcBef>
                        <a:spcAft>
                          <a:spcPct val="0"/>
                        </a:spcAft>
                        <a:buClrTx/>
                        <a:buSzTx/>
                        <a:buFontTx/>
                        <a:buNone/>
                        <a:tabLst/>
                      </a:pPr>
                      <a:endParaRPr kumimoji="0" lang="tr-TR" sz="1200" b="0" i="0" u="none" strike="noStrike" cap="none" normalizeH="0" baseline="0" dirty="0" smtClean="0">
                        <a:ln>
                          <a:noFill/>
                        </a:ln>
                        <a:solidFill>
                          <a:srgbClr val="000000"/>
                        </a:solidFill>
                        <a:effectLst/>
                        <a:latin typeface="Arial Unicode MS" pitchFamily="34" charset="-128"/>
                        <a:cs typeface="Arial" charset="0"/>
                      </a:endParaRPr>
                    </a:p>
                    <a:p>
                      <a:pPr marL="0" marR="0" lvl="0" indent="0" algn="ctr" defTabSz="914400" rtl="0" eaLnBrk="1" fontAlgn="base" latinLnBrk="0" hangingPunct="1">
                        <a:lnSpc>
                          <a:spcPts val="1150"/>
                        </a:lnSpc>
                        <a:spcBef>
                          <a:spcPct val="0"/>
                        </a:spcBef>
                        <a:spcAft>
                          <a:spcPct val="0"/>
                        </a:spcAft>
                        <a:buClrTx/>
                        <a:buSzTx/>
                        <a:buFontTx/>
                        <a:buNone/>
                        <a:tabLst/>
                      </a:pPr>
                      <a:endParaRPr kumimoji="0" lang="tr-TR" sz="2000" b="1" i="0" u="none" strike="noStrike" cap="none" normalizeH="0" baseline="0" dirty="0" smtClean="0">
                        <a:ln>
                          <a:noFill/>
                        </a:ln>
                        <a:solidFill>
                          <a:srgbClr val="000000"/>
                        </a:solidFill>
                        <a:effectLst/>
                        <a:latin typeface="+mn-lt"/>
                        <a:cs typeface="Arial" charset="0"/>
                      </a:endParaRPr>
                    </a:p>
                    <a:p>
                      <a:pPr marL="0" marR="0" lvl="0" indent="0" algn="ctr" defTabSz="914400" rtl="0" eaLnBrk="1" fontAlgn="base" latinLnBrk="0" hangingPunct="1">
                        <a:lnSpc>
                          <a:spcPts val="1150"/>
                        </a:lnSpc>
                        <a:spcBef>
                          <a:spcPct val="0"/>
                        </a:spcBef>
                        <a:spcAft>
                          <a:spcPct val="0"/>
                        </a:spcAft>
                        <a:buClrTx/>
                        <a:buSzTx/>
                        <a:buFontTx/>
                        <a:buNone/>
                        <a:tabLst/>
                      </a:pPr>
                      <a:r>
                        <a:rPr kumimoji="0" lang="tr-TR" sz="2000" b="1" i="0" u="none" strike="noStrike" cap="none" normalizeH="0" baseline="0" dirty="0" smtClean="0">
                          <a:ln>
                            <a:noFill/>
                          </a:ln>
                          <a:solidFill>
                            <a:srgbClr val="000099"/>
                          </a:solidFill>
                          <a:effectLst/>
                          <a:latin typeface="+mn-lt"/>
                          <a:cs typeface="Times New Roman" pitchFamily="18" charset="0"/>
                        </a:rPr>
                        <a:t>Tavsiye edilen genel havalandırma örnekleri</a:t>
                      </a:r>
                    </a:p>
                  </a:txBody>
                  <a:tcPr marL="0" marR="0" marT="0" marB="0" horzOverflow="overflow">
                    <a:lnL>
                      <a:noFill/>
                    </a:lnL>
                    <a:lnR>
                      <a:noFill/>
                    </a:lnR>
                    <a:lnT>
                      <a:noFill/>
                    </a:lnT>
                    <a:lnB>
                      <a:noFill/>
                    </a:lnB>
                    <a:lnTlToBr>
                      <a:noFill/>
                    </a:lnTlToBr>
                    <a:lnBlToTr>
                      <a:noFill/>
                    </a:lnBlToTr>
                    <a:noFill/>
                  </a:tcPr>
                </a:tc>
              </a:tr>
            </a:tbl>
          </a:graphicData>
        </a:graphic>
      </p:graphicFrame>
      <p:sp>
        <p:nvSpPr>
          <p:cNvPr id="110601"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tr-TR" altLang="tr-TR"/>
              <a:t/>
            </a:r>
            <a:br>
              <a:rPr lang="tr-TR" altLang="tr-TR"/>
            </a:br>
            <a:endParaRPr lang="tr-TR" altLang="tr-TR"/>
          </a:p>
        </p:txBody>
      </p:sp>
      <p:pic>
        <p:nvPicPr>
          <p:cNvPr id="110602" name="Picture 9" descr="image4"/>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5076825" y="3068638"/>
            <a:ext cx="3789363" cy="2305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0603"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tr-TR" altLang="tr-TR"/>
              <a:t/>
            </a:r>
            <a:br>
              <a:rPr lang="tr-TR" altLang="tr-TR"/>
            </a:br>
            <a:endParaRPr lang="tr-TR" altLang="tr-TR"/>
          </a:p>
        </p:txBody>
      </p:sp>
      <p:sp>
        <p:nvSpPr>
          <p:cNvPr id="110604" name="Slayt Numarası Yer Tutucusu 2"/>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C1B9ABEB-4736-49B5-A911-9874AB5F3FCF}" type="slidenum">
              <a:rPr lang="tr-TR" altLang="tr-TR" smtClean="0"/>
              <a:pPr eaLnBrk="1" hangingPunct="1"/>
              <a:t>18</a:t>
            </a:fld>
            <a:endParaRPr lang="tr-TR" altLang="tr-TR" smtClean="0"/>
          </a:p>
        </p:txBody>
      </p:sp>
    </p:spTree>
    <p:extLst>
      <p:ext uri="{BB962C8B-B14F-4D97-AF65-F5344CB8AC3E}">
        <p14:creationId xmlns:p14="http://schemas.microsoft.com/office/powerpoint/2010/main" xmlns="" val="32448150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1" descr="image6"/>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0825" y="908050"/>
            <a:ext cx="8713788" cy="417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aphicFrame>
        <p:nvGraphicFramePr>
          <p:cNvPr id="3" name="2 Tablo"/>
          <p:cNvGraphicFramePr>
            <a:graphicFrameLocks noGrp="1"/>
          </p:cNvGraphicFramePr>
          <p:nvPr/>
        </p:nvGraphicFramePr>
        <p:xfrm>
          <a:off x="1692275" y="5084763"/>
          <a:ext cx="6408738" cy="457200"/>
        </p:xfrm>
        <a:graphic>
          <a:graphicData uri="http://schemas.openxmlformats.org/drawingml/2006/table">
            <a:tbl>
              <a:tblPr/>
              <a:tblGrid>
                <a:gridCol w="6408738"/>
              </a:tblGrid>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tr-TR" sz="2000" b="0" i="0" u="none" strike="noStrike" cap="none" normalizeH="0" baseline="0" dirty="0" smtClean="0">
                        <a:ln>
                          <a:noFill/>
                        </a:ln>
                        <a:solidFill>
                          <a:srgbClr val="000000"/>
                        </a:solidFill>
                        <a:effectLst/>
                        <a:latin typeface="Arial" charset="0"/>
                        <a:cs typeface="Arial" charset="0"/>
                      </a:endParaRPr>
                    </a:p>
                    <a:p>
                      <a:pPr marL="0" marR="0" lvl="0" indent="0" algn="ctr" defTabSz="914400" rtl="0" eaLnBrk="1" fontAlgn="base" latinLnBrk="0" hangingPunct="1">
                        <a:lnSpc>
                          <a:spcPts val="1150"/>
                        </a:lnSpc>
                        <a:spcBef>
                          <a:spcPct val="0"/>
                        </a:spcBef>
                        <a:spcAft>
                          <a:spcPct val="0"/>
                        </a:spcAft>
                        <a:buClrTx/>
                        <a:buSzTx/>
                        <a:buFontTx/>
                        <a:buNone/>
                        <a:tabLst/>
                      </a:pPr>
                      <a:r>
                        <a:rPr kumimoji="0" lang="tr-TR" sz="2000" b="1" i="0" u="none" strike="noStrike" cap="none" normalizeH="0" baseline="0" dirty="0" smtClean="0">
                          <a:ln>
                            <a:noFill/>
                          </a:ln>
                          <a:solidFill>
                            <a:srgbClr val="FF0000"/>
                          </a:solidFill>
                          <a:effectLst/>
                          <a:latin typeface="Arial" charset="0"/>
                          <a:cs typeface="Times New Roman" pitchFamily="18" charset="0"/>
                        </a:rPr>
                        <a:t>Tavsiye edilmeyen genel havalandırma örneği</a:t>
                      </a:r>
                    </a:p>
                  </a:txBody>
                  <a:tcPr marL="0" marR="0" marT="0" marB="0" horzOverflow="overflow">
                    <a:lnL>
                      <a:noFill/>
                    </a:lnL>
                    <a:lnR>
                      <a:noFill/>
                    </a:lnR>
                    <a:lnT>
                      <a:noFill/>
                    </a:lnT>
                    <a:lnB>
                      <a:noFill/>
                    </a:lnB>
                    <a:lnTlToBr>
                      <a:noFill/>
                    </a:lnTlToBr>
                    <a:lnBlToTr>
                      <a:noFill/>
                    </a:lnBlToTr>
                    <a:noFill/>
                  </a:tcPr>
                </a:tc>
              </a:tr>
            </a:tbl>
          </a:graphicData>
        </a:graphic>
      </p:graphicFrame>
      <p:sp>
        <p:nvSpPr>
          <p:cNvPr id="111621"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tr-TR" altLang="tr-TR"/>
              <a:t/>
            </a:r>
            <a:br>
              <a:rPr lang="tr-TR" altLang="tr-TR"/>
            </a:br>
            <a:endParaRPr lang="tr-TR" altLang="tr-TR"/>
          </a:p>
        </p:txBody>
      </p:sp>
      <p:sp>
        <p:nvSpPr>
          <p:cNvPr id="111622" name="Slayt Numarası Yer Tutucusu 3"/>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60342460-9425-4EF7-A864-0816A74259BD}" type="slidenum">
              <a:rPr lang="tr-TR" altLang="tr-TR" smtClean="0"/>
              <a:pPr eaLnBrk="1" hangingPunct="1"/>
              <a:t>19</a:t>
            </a:fld>
            <a:endParaRPr lang="tr-TR" altLang="tr-TR" smtClean="0"/>
          </a:p>
        </p:txBody>
      </p:sp>
    </p:spTree>
    <p:extLst>
      <p:ext uri="{BB962C8B-B14F-4D97-AF65-F5344CB8AC3E}">
        <p14:creationId xmlns:p14="http://schemas.microsoft.com/office/powerpoint/2010/main" xmlns="" val="35024503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1 Dikdörtgen"/>
          <p:cNvSpPr>
            <a:spLocks noChangeArrowheads="1"/>
          </p:cNvSpPr>
          <p:nvPr/>
        </p:nvSpPr>
        <p:spPr bwMode="auto">
          <a:xfrm>
            <a:off x="179389" y="188912"/>
            <a:ext cx="8209036" cy="59043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tr-TR" altLang="tr-TR" sz="2000" b="1" dirty="0"/>
          </a:p>
          <a:p>
            <a:pPr eaLnBrk="1" hangingPunct="1"/>
            <a:r>
              <a:rPr lang="tr-TR" altLang="tr-TR" sz="2800" b="1" dirty="0">
                <a:latin typeface="Arial Black" pitchFamily="34" charset="0"/>
              </a:rPr>
              <a:t>Lokal  havalandırma sistemi</a:t>
            </a:r>
          </a:p>
          <a:p>
            <a:pPr eaLnBrk="1" hangingPunct="1"/>
            <a:endParaRPr lang="tr-TR" altLang="tr-TR" sz="2000" b="1" dirty="0"/>
          </a:p>
          <a:p>
            <a:pPr eaLnBrk="1" hangingPunct="1"/>
            <a:r>
              <a:rPr lang="tr-TR" altLang="tr-TR" sz="2000" dirty="0"/>
              <a:t>Lokal ( ya da lokal </a:t>
            </a:r>
            <a:r>
              <a:rPr lang="tr-TR" altLang="tr-TR" sz="2000" dirty="0" smtClean="0"/>
              <a:t>egzoz</a:t>
            </a:r>
            <a:r>
              <a:rPr lang="tr-TR" altLang="tr-TR" sz="2000" dirty="0"/>
              <a:t>) havalandırma sistemi, </a:t>
            </a:r>
            <a:r>
              <a:rPr lang="tr-TR" altLang="tr-TR" sz="2000" b="1" dirty="0">
                <a:solidFill>
                  <a:srgbClr val="000099"/>
                </a:solidFill>
              </a:rPr>
              <a:t>işyeri ortamına kirletici yayılmasına neden olan genel havalandırmanın aksine </a:t>
            </a:r>
            <a:r>
              <a:rPr lang="tr-TR" altLang="tr-TR" sz="2000" b="1" dirty="0">
                <a:solidFill>
                  <a:srgbClr val="FF0000"/>
                </a:solidFill>
                <a:latin typeface="Arial Black" pitchFamily="34" charset="0"/>
              </a:rPr>
              <a:t>hava kirleticilerini kaynağın yakınında yakalama yoluyla kontrol </a:t>
            </a:r>
            <a:r>
              <a:rPr lang="tr-TR" altLang="tr-TR" sz="2000" b="1" dirty="0">
                <a:solidFill>
                  <a:srgbClr val="000099"/>
                </a:solidFill>
              </a:rPr>
              <a:t>etmek için kullanılır</a:t>
            </a:r>
            <a:r>
              <a:rPr lang="tr-TR" altLang="tr-TR" sz="2000" dirty="0"/>
              <a:t>. </a:t>
            </a:r>
            <a:r>
              <a:rPr lang="tr-TR" altLang="tr-TR" sz="2000" dirty="0" err="1"/>
              <a:t>Toksik</a:t>
            </a:r>
            <a:r>
              <a:rPr lang="tr-TR" altLang="tr-TR" sz="2000" dirty="0"/>
              <a:t> kirletici, işçinin  solunum bölgesine ulaşmadan önce kontrol edildiğinden lokal sistem çok daha etkili bir yoldur. </a:t>
            </a:r>
          </a:p>
          <a:p>
            <a:pPr eaLnBrk="1" hangingPunct="1"/>
            <a:endParaRPr lang="tr-TR" altLang="tr-TR" sz="2000" dirty="0"/>
          </a:p>
          <a:p>
            <a:pPr eaLnBrk="1" hangingPunct="1"/>
            <a:r>
              <a:rPr lang="tr-TR" altLang="tr-TR" sz="2000" b="1" dirty="0">
                <a:solidFill>
                  <a:srgbClr val="FF0000"/>
                </a:solidFill>
              </a:rPr>
              <a:t>Genellikle,</a:t>
            </a:r>
          </a:p>
          <a:p>
            <a:pPr eaLnBrk="1" hangingPunct="1">
              <a:buFontTx/>
              <a:buChar char="•"/>
            </a:pPr>
            <a:r>
              <a:rPr lang="tr-TR" altLang="tr-TR" sz="2000" dirty="0"/>
              <a:t>Hava kirleticinin </a:t>
            </a:r>
            <a:r>
              <a:rPr lang="tr-TR" altLang="tr-TR" sz="2000" b="1" dirty="0">
                <a:solidFill>
                  <a:srgbClr val="000099"/>
                </a:solidFill>
              </a:rPr>
              <a:t>ciddi sağlık riski </a:t>
            </a:r>
            <a:r>
              <a:rPr lang="tr-TR" altLang="tr-TR" sz="2000" dirty="0"/>
              <a:t>oluşturması,</a:t>
            </a:r>
          </a:p>
          <a:p>
            <a:pPr eaLnBrk="1" hangingPunct="1">
              <a:buFontTx/>
              <a:buChar char="•"/>
            </a:pPr>
            <a:r>
              <a:rPr lang="tr-TR" altLang="tr-TR" sz="2000" b="1" dirty="0">
                <a:solidFill>
                  <a:srgbClr val="000099"/>
                </a:solidFill>
              </a:rPr>
              <a:t>Büyük miktarlarda toz veya duman </a:t>
            </a:r>
            <a:r>
              <a:rPr lang="tr-TR" altLang="tr-TR" sz="2000" dirty="0"/>
              <a:t>üretilmesi,</a:t>
            </a:r>
          </a:p>
          <a:p>
            <a:pPr eaLnBrk="1" hangingPunct="1">
              <a:buFontTx/>
              <a:buChar char="•"/>
            </a:pPr>
            <a:r>
              <a:rPr lang="tr-TR" altLang="tr-TR" sz="2000" dirty="0"/>
              <a:t>Soğuk havalarda havalandırmadan dolayı </a:t>
            </a:r>
            <a:r>
              <a:rPr lang="tr-TR" altLang="tr-TR" sz="2000" b="1" dirty="0">
                <a:solidFill>
                  <a:srgbClr val="000099"/>
                </a:solidFill>
              </a:rPr>
              <a:t>ısınma giderlerinin artma endişesinin olması,</a:t>
            </a:r>
          </a:p>
          <a:p>
            <a:pPr eaLnBrk="1" hangingPunct="1">
              <a:buFontTx/>
              <a:buChar char="•"/>
            </a:pPr>
            <a:r>
              <a:rPr lang="tr-TR" altLang="tr-TR" sz="2000" b="1" dirty="0">
                <a:solidFill>
                  <a:srgbClr val="000099"/>
                </a:solidFill>
              </a:rPr>
              <a:t>Emisyon kaynaklarının az olması</a:t>
            </a:r>
            <a:r>
              <a:rPr lang="tr-TR" altLang="tr-TR" sz="2000" dirty="0"/>
              <a:t>,</a:t>
            </a:r>
          </a:p>
          <a:p>
            <a:pPr eaLnBrk="1" hangingPunct="1">
              <a:buFontTx/>
              <a:buChar char="•"/>
            </a:pPr>
            <a:r>
              <a:rPr lang="tr-TR" altLang="tr-TR" sz="2000" dirty="0"/>
              <a:t>Emisyon kaynaklarının işçilerin </a:t>
            </a:r>
            <a:r>
              <a:rPr lang="tr-TR" altLang="tr-TR" sz="2000" b="1" dirty="0">
                <a:solidFill>
                  <a:srgbClr val="000099"/>
                </a:solidFill>
              </a:rPr>
              <a:t>nefes alma bölgesi yakınında bulunması </a:t>
            </a:r>
            <a:r>
              <a:rPr lang="tr-TR" altLang="tr-TR" sz="2000" dirty="0"/>
              <a:t>durumlarında </a:t>
            </a:r>
            <a:r>
              <a:rPr lang="tr-TR" altLang="tr-TR" sz="2000" b="1" dirty="0">
                <a:solidFill>
                  <a:srgbClr val="FF0000"/>
                </a:solidFill>
              </a:rPr>
              <a:t>tercih edilir.</a:t>
            </a:r>
          </a:p>
        </p:txBody>
      </p:sp>
      <p:sp>
        <p:nvSpPr>
          <p:cNvPr id="112643" name="Slayt Numarası Yer Tutucusu 3"/>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108BCF53-F1C9-4CE6-A035-4FB815AE8EA6}" type="slidenum">
              <a:rPr lang="tr-TR" altLang="tr-TR" smtClean="0"/>
              <a:pPr eaLnBrk="1" hangingPunct="1"/>
              <a:t>20</a:t>
            </a:fld>
            <a:endParaRPr lang="tr-TR" altLang="tr-TR" smtClean="0"/>
          </a:p>
        </p:txBody>
      </p:sp>
    </p:spTree>
    <p:extLst>
      <p:ext uri="{BB962C8B-B14F-4D97-AF65-F5344CB8AC3E}">
        <p14:creationId xmlns:p14="http://schemas.microsoft.com/office/powerpoint/2010/main" xmlns="" val="184545463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Rectangle 2"/>
          <p:cNvSpPr>
            <a:spLocks noGrp="1" noChangeArrowheads="1"/>
          </p:cNvSpPr>
          <p:nvPr>
            <p:ph type="title"/>
          </p:nvPr>
        </p:nvSpPr>
        <p:spPr/>
        <p:txBody>
          <a:bodyPr/>
          <a:lstStyle/>
          <a:p>
            <a:pPr eaLnBrk="1" hangingPunct="1"/>
            <a:r>
              <a:rPr lang="tr-TR" altLang="tr-TR" sz="2800" b="1" smtClean="0">
                <a:solidFill>
                  <a:srgbClr val="000099"/>
                </a:solidFill>
                <a:latin typeface="+mj-lt"/>
              </a:rPr>
              <a:t>Sabit ve seyyar lokal havalandırma tertibatları</a:t>
            </a:r>
            <a:br>
              <a:rPr lang="tr-TR" altLang="tr-TR" sz="2800" b="1" smtClean="0">
                <a:solidFill>
                  <a:srgbClr val="000099"/>
                </a:solidFill>
                <a:latin typeface="+mj-lt"/>
              </a:rPr>
            </a:br>
            <a:r>
              <a:rPr lang="tr-TR" altLang="tr-TR" sz="2800" b="1" smtClean="0">
                <a:solidFill>
                  <a:schemeClr val="tx1"/>
                </a:solidFill>
                <a:latin typeface="+mj-lt"/>
              </a:rPr>
              <a:t>(bireysel)</a:t>
            </a:r>
            <a:endParaRPr lang="en-US" altLang="tr-TR" sz="2800" b="1" smtClean="0">
              <a:solidFill>
                <a:schemeClr val="tx1"/>
              </a:solidFill>
              <a:latin typeface="+mj-lt"/>
            </a:endParaRPr>
          </a:p>
        </p:txBody>
      </p:sp>
      <p:sp>
        <p:nvSpPr>
          <p:cNvPr id="113668" name="Rectangle 3"/>
          <p:cNvSpPr>
            <a:spLocks noGrp="1" noChangeArrowheads="1"/>
          </p:cNvSpPr>
          <p:nvPr>
            <p:ph idx="1"/>
          </p:nvPr>
        </p:nvSpPr>
        <p:spPr/>
        <p:txBody>
          <a:bodyPr/>
          <a:lstStyle/>
          <a:p>
            <a:pPr eaLnBrk="1" hangingPunct="1"/>
            <a:endParaRPr lang="en-US" altLang="tr-TR" smtClean="0"/>
          </a:p>
        </p:txBody>
      </p:sp>
      <p:sp>
        <p:nvSpPr>
          <p:cNvPr id="113666" name="Slayt Numarası Yer Tutucusu 5"/>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81DA486B-9D36-4A5E-B1FE-9BDDDF6EBAF5}" type="slidenum">
              <a:rPr lang="en-US" altLang="tr-TR" smtClean="0"/>
              <a:pPr eaLnBrk="1" hangingPunct="1"/>
              <a:t>21</a:t>
            </a:fld>
            <a:endParaRPr lang="en-US" altLang="tr-TR" smtClean="0"/>
          </a:p>
        </p:txBody>
      </p:sp>
      <p:pic>
        <p:nvPicPr>
          <p:cNvPr id="113669" name="Picture 5" descr="th?id=H"/>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0825" y="1412875"/>
            <a:ext cx="4465638" cy="5111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13670" name="Picture 7" descr="th?id=H"/>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716463" y="1412875"/>
            <a:ext cx="3887787" cy="4968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35342676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Rectangle 2"/>
          <p:cNvSpPr>
            <a:spLocks noGrp="1" noChangeArrowheads="1"/>
          </p:cNvSpPr>
          <p:nvPr>
            <p:ph type="title"/>
          </p:nvPr>
        </p:nvSpPr>
        <p:spPr/>
        <p:txBody>
          <a:bodyPr/>
          <a:lstStyle/>
          <a:p>
            <a:pPr eaLnBrk="1" hangingPunct="1"/>
            <a:r>
              <a:rPr lang="tr-TR" altLang="tr-TR" b="1" dirty="0" smtClean="0">
                <a:solidFill>
                  <a:srgbClr val="000099"/>
                </a:solidFill>
                <a:latin typeface="+mj-lt"/>
              </a:rPr>
              <a:t>Çoklu lokal egzoz sistemi</a:t>
            </a:r>
            <a:endParaRPr lang="en-US" altLang="tr-TR" b="1" dirty="0" smtClean="0">
              <a:solidFill>
                <a:srgbClr val="000099"/>
              </a:solidFill>
              <a:latin typeface="+mj-lt"/>
            </a:endParaRPr>
          </a:p>
        </p:txBody>
      </p:sp>
      <p:sp>
        <p:nvSpPr>
          <p:cNvPr id="114692" name="Rectangle 3"/>
          <p:cNvSpPr>
            <a:spLocks noGrp="1" noChangeArrowheads="1"/>
          </p:cNvSpPr>
          <p:nvPr>
            <p:ph idx="1"/>
          </p:nvPr>
        </p:nvSpPr>
        <p:spPr>
          <a:xfrm>
            <a:off x="179388" y="1196975"/>
            <a:ext cx="8734425" cy="4813300"/>
          </a:xfrm>
        </p:spPr>
        <p:txBody>
          <a:bodyPr/>
          <a:lstStyle/>
          <a:p>
            <a:pPr eaLnBrk="1" hangingPunct="1"/>
            <a:endParaRPr lang="en-US" altLang="tr-TR" smtClean="0"/>
          </a:p>
        </p:txBody>
      </p:sp>
      <p:sp>
        <p:nvSpPr>
          <p:cNvPr id="114690" name="Slayt Numarası Yer Tutucusu 5"/>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E508EE1B-10B4-444A-AD67-045A69572D18}" type="slidenum">
              <a:rPr lang="en-US" altLang="tr-TR" smtClean="0"/>
              <a:pPr eaLnBrk="1" hangingPunct="1"/>
              <a:t>22</a:t>
            </a:fld>
            <a:endParaRPr lang="en-US" altLang="tr-TR" smtClean="0"/>
          </a:p>
        </p:txBody>
      </p:sp>
      <p:pic>
        <p:nvPicPr>
          <p:cNvPr id="114693" name="Picture 5" descr="local_exhaust_ventilation_testing_LEV_2"/>
          <p:cNvPicPr>
            <a:picLocks noChangeAspect="1" noChangeArrowheads="1"/>
          </p:cNvPicPr>
          <p:nvPr/>
        </p:nvPicPr>
        <p:blipFill>
          <a:blip r:embed="rId2" cstate="print">
            <a:lum bright="12000" contrast="6000"/>
            <a:extLst>
              <a:ext uri="{28A0092B-C50C-407E-A947-70E740481C1C}">
                <a14:useLocalDpi xmlns:a14="http://schemas.microsoft.com/office/drawing/2010/main" xmlns="" val="0"/>
              </a:ext>
            </a:extLst>
          </a:blip>
          <a:srcRect/>
          <a:stretch>
            <a:fillRect/>
          </a:stretch>
        </p:blipFill>
        <p:spPr bwMode="auto">
          <a:xfrm>
            <a:off x="250826" y="1340767"/>
            <a:ext cx="8197476" cy="518385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74480483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1 Dikdörtgen"/>
          <p:cNvSpPr>
            <a:spLocks noChangeArrowheads="1"/>
          </p:cNvSpPr>
          <p:nvPr/>
        </p:nvSpPr>
        <p:spPr bwMode="auto">
          <a:xfrm>
            <a:off x="179388" y="116632"/>
            <a:ext cx="8713787" cy="66479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tabLst>
                <a:tab pos="266700" algn="l"/>
              </a:tabLst>
              <a:defRPr>
                <a:solidFill>
                  <a:schemeClr val="tx1"/>
                </a:solidFill>
                <a:latin typeface="Arial" pitchFamily="34" charset="0"/>
                <a:cs typeface="Arial" pitchFamily="34" charset="0"/>
              </a:defRPr>
            </a:lvl1pPr>
            <a:lvl2pPr marL="742950" indent="-285750" eaLnBrk="0" hangingPunct="0">
              <a:tabLst>
                <a:tab pos="266700" algn="l"/>
              </a:tabLst>
              <a:defRPr>
                <a:solidFill>
                  <a:schemeClr val="tx1"/>
                </a:solidFill>
                <a:latin typeface="Arial" pitchFamily="34" charset="0"/>
                <a:cs typeface="Arial" pitchFamily="34" charset="0"/>
              </a:defRPr>
            </a:lvl2pPr>
            <a:lvl3pPr marL="1143000" indent="-228600" eaLnBrk="0" hangingPunct="0">
              <a:tabLst>
                <a:tab pos="266700" algn="l"/>
              </a:tabLst>
              <a:defRPr>
                <a:solidFill>
                  <a:schemeClr val="tx1"/>
                </a:solidFill>
                <a:latin typeface="Arial" pitchFamily="34" charset="0"/>
                <a:cs typeface="Arial" pitchFamily="34" charset="0"/>
              </a:defRPr>
            </a:lvl3pPr>
            <a:lvl4pPr marL="1600200" indent="-228600" eaLnBrk="0" hangingPunct="0">
              <a:tabLst>
                <a:tab pos="266700" algn="l"/>
              </a:tabLst>
              <a:defRPr>
                <a:solidFill>
                  <a:schemeClr val="tx1"/>
                </a:solidFill>
                <a:latin typeface="Arial" pitchFamily="34" charset="0"/>
                <a:cs typeface="Arial" pitchFamily="34" charset="0"/>
              </a:defRPr>
            </a:lvl4pPr>
            <a:lvl5pPr marL="2057400" indent="-228600" eaLnBrk="0" hangingPunct="0">
              <a:tabLst>
                <a:tab pos="266700" algn="l"/>
              </a:tabLst>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tabLst>
                <a:tab pos="266700" algn="l"/>
              </a:tabLs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tabLst>
                <a:tab pos="266700" algn="l"/>
              </a:tabLs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tabLst>
                <a:tab pos="266700" algn="l"/>
              </a:tabLs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tabLst>
                <a:tab pos="266700" algn="l"/>
              </a:tabLst>
              <a:defRPr>
                <a:solidFill>
                  <a:schemeClr val="tx1"/>
                </a:solidFill>
                <a:latin typeface="Arial" pitchFamily="34" charset="0"/>
                <a:cs typeface="Arial" pitchFamily="34" charset="0"/>
              </a:defRPr>
            </a:lvl9pPr>
          </a:lstStyle>
          <a:p>
            <a:pPr algn="ctr" eaLnBrk="1" hangingPunct="1"/>
            <a:r>
              <a:rPr lang="tr-TR" altLang="tr-TR" sz="2400" b="1" dirty="0">
                <a:latin typeface="Arial Black" pitchFamily="34" charset="0"/>
              </a:rPr>
              <a:t>Genel havalandırma ve lokal egzoz havalandırmanın karşılaştırılması</a:t>
            </a:r>
          </a:p>
          <a:p>
            <a:pPr eaLnBrk="1" hangingPunct="1"/>
            <a:endParaRPr lang="tr-TR" altLang="tr-TR" sz="2000" dirty="0"/>
          </a:p>
          <a:p>
            <a:pPr eaLnBrk="1" hangingPunct="1"/>
            <a:r>
              <a:rPr lang="tr-TR" altLang="tr-TR" sz="2800" b="1" dirty="0">
                <a:solidFill>
                  <a:srgbClr val="000099"/>
                </a:solidFill>
              </a:rPr>
              <a:t>Genel havalandırmanın avantajları:</a:t>
            </a:r>
          </a:p>
          <a:p>
            <a:pPr eaLnBrk="1" hangingPunct="1"/>
            <a:r>
              <a:rPr lang="tr-TR" altLang="tr-TR" sz="2200" dirty="0"/>
              <a:t>- Düşük ekipman ve kurulum </a:t>
            </a:r>
            <a:r>
              <a:rPr lang="tr-TR" altLang="tr-TR" sz="2200" dirty="0">
                <a:solidFill>
                  <a:srgbClr val="FF0000"/>
                </a:solidFill>
              </a:rPr>
              <a:t>maliyet</a:t>
            </a:r>
            <a:r>
              <a:rPr lang="tr-TR" altLang="tr-TR" sz="2200" dirty="0"/>
              <a:t>leri.</a:t>
            </a:r>
          </a:p>
          <a:p>
            <a:pPr eaLnBrk="1" hangingPunct="1"/>
            <a:r>
              <a:rPr lang="tr-TR" altLang="tr-TR" sz="2200" dirty="0">
                <a:solidFill>
                  <a:srgbClr val="FF0000"/>
                </a:solidFill>
              </a:rPr>
              <a:t>- Az bakım </a:t>
            </a:r>
            <a:r>
              <a:rPr lang="tr-TR" altLang="tr-TR" sz="2200" dirty="0"/>
              <a:t>gerektirmesi.</a:t>
            </a:r>
          </a:p>
          <a:p>
            <a:pPr eaLnBrk="1" hangingPunct="1"/>
            <a:r>
              <a:rPr lang="tr-TR" altLang="tr-TR" sz="2200" dirty="0">
                <a:solidFill>
                  <a:srgbClr val="FF0000"/>
                </a:solidFill>
              </a:rPr>
              <a:t>- Düşük dozda </a:t>
            </a:r>
            <a:r>
              <a:rPr lang="tr-TR" altLang="tr-TR" sz="2200" dirty="0" err="1"/>
              <a:t>toksik</a:t>
            </a:r>
            <a:r>
              <a:rPr lang="tr-TR" altLang="tr-TR" sz="2200" dirty="0"/>
              <a:t> madde içeren kimyasallar için etkili olması.</a:t>
            </a:r>
          </a:p>
          <a:p>
            <a:pPr eaLnBrk="1" hangingPunct="1"/>
            <a:r>
              <a:rPr lang="tr-TR" altLang="tr-TR" sz="2200" dirty="0">
                <a:solidFill>
                  <a:srgbClr val="FF0000"/>
                </a:solidFill>
              </a:rPr>
              <a:t>- Parlayıcı ve yanıcı gazlar veya buharlar için </a:t>
            </a:r>
            <a:r>
              <a:rPr lang="tr-TR" altLang="tr-TR" sz="2200" dirty="0"/>
              <a:t>etkili olması.</a:t>
            </a:r>
          </a:p>
          <a:p>
            <a:pPr eaLnBrk="1" hangingPunct="1"/>
            <a:r>
              <a:rPr lang="tr-TR" altLang="tr-TR" sz="2200" dirty="0">
                <a:solidFill>
                  <a:srgbClr val="FF0000"/>
                </a:solidFill>
              </a:rPr>
              <a:t>- Hareketli veya dağılmış kirleticiler için </a:t>
            </a:r>
            <a:r>
              <a:rPr lang="tr-TR" altLang="tr-TR" sz="2200" dirty="0"/>
              <a:t>etkili olması.</a:t>
            </a:r>
          </a:p>
          <a:p>
            <a:pPr eaLnBrk="1" hangingPunct="1"/>
            <a:endParaRPr lang="tr-TR" altLang="tr-TR" sz="2000" dirty="0"/>
          </a:p>
          <a:p>
            <a:pPr eaLnBrk="1" hangingPunct="1"/>
            <a:r>
              <a:rPr lang="tr-TR" altLang="tr-TR" sz="2800" b="1" dirty="0" smtClean="0">
                <a:solidFill>
                  <a:srgbClr val="000099"/>
                </a:solidFill>
              </a:rPr>
              <a:t>Dezavantajları</a:t>
            </a:r>
            <a:r>
              <a:rPr lang="tr-TR" altLang="tr-TR" sz="2800" b="1" dirty="0">
                <a:solidFill>
                  <a:srgbClr val="000099"/>
                </a:solidFill>
              </a:rPr>
              <a:t>:</a:t>
            </a:r>
          </a:p>
          <a:p>
            <a:pPr eaLnBrk="1" hangingPunct="1"/>
            <a:r>
              <a:rPr lang="tr-TR" altLang="tr-TR" sz="2200" dirty="0" smtClean="0"/>
              <a:t>- Kirleticilerin </a:t>
            </a:r>
            <a:r>
              <a:rPr lang="tr-TR" altLang="tr-TR" sz="2200" dirty="0" smtClean="0">
                <a:solidFill>
                  <a:srgbClr val="FF0000"/>
                </a:solidFill>
              </a:rPr>
              <a:t>tamamen ortadan kalkmaması</a:t>
            </a:r>
            <a:r>
              <a:rPr lang="tr-TR" altLang="tr-TR" sz="2200" dirty="0" smtClean="0"/>
              <a:t>.</a:t>
            </a:r>
          </a:p>
          <a:p>
            <a:pPr eaLnBrk="1" hangingPunct="1"/>
            <a:r>
              <a:rPr lang="tr-TR" altLang="tr-TR" sz="2200" dirty="0" smtClean="0">
                <a:solidFill>
                  <a:srgbClr val="FF0000"/>
                </a:solidFill>
              </a:rPr>
              <a:t>- Yüksek dozda </a:t>
            </a:r>
            <a:r>
              <a:rPr lang="tr-TR" altLang="tr-TR" sz="2200" b="1" dirty="0" err="1" smtClean="0">
                <a:solidFill>
                  <a:srgbClr val="FF0066"/>
                </a:solidFill>
              </a:rPr>
              <a:t>toksik</a:t>
            </a:r>
            <a:r>
              <a:rPr lang="tr-TR" altLang="tr-TR" sz="2200" b="1" dirty="0" smtClean="0">
                <a:solidFill>
                  <a:srgbClr val="FF0066"/>
                </a:solidFill>
              </a:rPr>
              <a:t> madde </a:t>
            </a:r>
            <a:r>
              <a:rPr lang="tr-TR" altLang="tr-TR" sz="2200" dirty="0" smtClean="0"/>
              <a:t>içeren kimyasallar için kullanılamaması.</a:t>
            </a:r>
          </a:p>
          <a:p>
            <a:pPr eaLnBrk="1" hangingPunct="1"/>
            <a:r>
              <a:rPr lang="tr-TR" altLang="tr-TR" sz="2200" dirty="0" smtClean="0">
                <a:solidFill>
                  <a:srgbClr val="FF0000"/>
                </a:solidFill>
              </a:rPr>
              <a:t>- Toz, metal dumanları, çok miktarda gaz veya buhar </a:t>
            </a:r>
            <a:r>
              <a:rPr lang="tr-TR" altLang="tr-TR" sz="2200" dirty="0" smtClean="0"/>
              <a:t>için etkili olmaması.</a:t>
            </a:r>
          </a:p>
          <a:p>
            <a:pPr eaLnBrk="1" hangingPunct="1"/>
            <a:r>
              <a:rPr lang="tr-TR" altLang="tr-TR" sz="2200" dirty="0" smtClean="0">
                <a:solidFill>
                  <a:srgbClr val="FF0000"/>
                </a:solidFill>
              </a:rPr>
              <a:t>- Yüksek miktarda ısıtılmış ya da soğutulmuş taze hava </a:t>
            </a:r>
            <a:r>
              <a:rPr lang="tr-TR" altLang="tr-TR" sz="2200" dirty="0" smtClean="0"/>
              <a:t>gerektirmesi.</a:t>
            </a:r>
          </a:p>
          <a:p>
            <a:pPr eaLnBrk="1" hangingPunct="1"/>
            <a:r>
              <a:rPr lang="tr-TR" altLang="tr-TR" sz="2000" dirty="0" smtClean="0"/>
              <a:t> </a:t>
            </a:r>
            <a:endParaRPr lang="tr-TR" altLang="tr-TR" sz="2000" dirty="0"/>
          </a:p>
          <a:p>
            <a:pPr eaLnBrk="1" hangingPunct="1"/>
            <a:endParaRPr lang="tr-TR" altLang="tr-TR" sz="2000" dirty="0"/>
          </a:p>
        </p:txBody>
      </p:sp>
      <p:sp>
        <p:nvSpPr>
          <p:cNvPr id="115715" name="Slayt Numarası Yer Tutucusu 2"/>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4852F00E-5D49-42DD-B8AD-C3AD9CEF1318}" type="slidenum">
              <a:rPr lang="tr-TR" altLang="tr-TR" smtClean="0"/>
              <a:pPr eaLnBrk="1" hangingPunct="1"/>
              <a:t>23</a:t>
            </a:fld>
            <a:endParaRPr lang="tr-TR" altLang="tr-TR" smtClean="0"/>
          </a:p>
        </p:txBody>
      </p:sp>
    </p:spTree>
    <p:extLst>
      <p:ext uri="{BB962C8B-B14F-4D97-AF65-F5344CB8AC3E}">
        <p14:creationId xmlns:p14="http://schemas.microsoft.com/office/powerpoint/2010/main" xmlns="" val="20581995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1 Dikdörtgen"/>
          <p:cNvSpPr>
            <a:spLocks noChangeArrowheads="1"/>
          </p:cNvSpPr>
          <p:nvPr/>
        </p:nvSpPr>
        <p:spPr bwMode="auto">
          <a:xfrm>
            <a:off x="179388" y="-171400"/>
            <a:ext cx="8785225" cy="5262979"/>
          </a:xfrm>
          <a:prstGeom prst="rect">
            <a:avLst/>
          </a:prstGeom>
          <a:noFill/>
          <a:ln>
            <a:noFill/>
          </a:ln>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endParaRPr lang="tr-TR" altLang="tr-TR" sz="2400" b="1" dirty="0" smtClean="0">
              <a:solidFill>
                <a:srgbClr val="000099"/>
              </a:solidFill>
            </a:endParaRPr>
          </a:p>
          <a:p>
            <a:pPr eaLnBrk="1" hangingPunct="1">
              <a:defRPr/>
            </a:pPr>
            <a:endParaRPr lang="tr-TR" altLang="tr-TR" sz="2400" b="1" dirty="0" smtClean="0">
              <a:solidFill>
                <a:srgbClr val="000099"/>
              </a:solidFill>
            </a:endParaRPr>
          </a:p>
          <a:p>
            <a:pPr eaLnBrk="1" hangingPunct="1">
              <a:defRPr/>
            </a:pPr>
            <a:r>
              <a:rPr lang="tr-TR" altLang="tr-TR" sz="2800" b="1" dirty="0" smtClean="0">
                <a:solidFill>
                  <a:srgbClr val="000099"/>
                </a:solidFill>
              </a:rPr>
              <a:t>Lokal  havalandırmasının avantajları:</a:t>
            </a:r>
            <a:endParaRPr lang="tr-TR" altLang="tr-TR" sz="2800" b="1" dirty="0" smtClean="0"/>
          </a:p>
          <a:p>
            <a:pPr eaLnBrk="1" hangingPunct="1">
              <a:defRPr/>
            </a:pPr>
            <a:r>
              <a:rPr lang="tr-TR" altLang="tr-TR" sz="2000" dirty="0" smtClean="0"/>
              <a:t>- </a:t>
            </a:r>
            <a:r>
              <a:rPr lang="tr-TR" altLang="tr-TR" sz="2200" dirty="0" smtClean="0"/>
              <a:t>Kirleticiyi </a:t>
            </a:r>
            <a:r>
              <a:rPr lang="tr-TR" altLang="tr-TR" sz="2200" dirty="0" smtClean="0">
                <a:solidFill>
                  <a:srgbClr val="FF0000"/>
                </a:solidFill>
              </a:rPr>
              <a:t>kaynağında</a:t>
            </a:r>
            <a:r>
              <a:rPr lang="tr-TR" altLang="tr-TR" sz="2200" dirty="0" smtClean="0"/>
              <a:t> yakalar ve uzaklaştırır.</a:t>
            </a:r>
          </a:p>
          <a:p>
            <a:pPr eaLnBrk="1" hangingPunct="1">
              <a:defRPr/>
            </a:pPr>
            <a:r>
              <a:rPr lang="tr-TR" altLang="tr-TR" sz="2200" dirty="0" smtClean="0">
                <a:solidFill>
                  <a:srgbClr val="FF0000"/>
                </a:solidFill>
              </a:rPr>
              <a:t>- Yüksek dozda </a:t>
            </a:r>
            <a:r>
              <a:rPr lang="tr-TR" altLang="tr-TR" sz="2200" dirty="0" err="1" smtClean="0"/>
              <a:t>toksik</a:t>
            </a:r>
            <a:r>
              <a:rPr lang="tr-TR" altLang="tr-TR" sz="2200" dirty="0" smtClean="0"/>
              <a:t> madde içeren kimyasallar için </a:t>
            </a:r>
            <a:r>
              <a:rPr lang="tr-TR" altLang="tr-TR" sz="2200" dirty="0" smtClean="0">
                <a:solidFill>
                  <a:srgbClr val="FF0000"/>
                </a:solidFill>
              </a:rPr>
              <a:t>tek seçenek.</a:t>
            </a:r>
          </a:p>
          <a:p>
            <a:pPr eaLnBrk="1" hangingPunct="1">
              <a:defRPr/>
            </a:pPr>
            <a:r>
              <a:rPr lang="tr-TR" altLang="tr-TR" sz="2200" dirty="0" smtClean="0">
                <a:solidFill>
                  <a:srgbClr val="FF0000"/>
                </a:solidFill>
              </a:rPr>
              <a:t>- Tozlar ve metal dumanları </a:t>
            </a:r>
            <a:r>
              <a:rPr lang="tr-TR" altLang="tr-TR" sz="2200" dirty="0" smtClean="0"/>
              <a:t>dâhil çok sayıda  kirletici çeşidini tutabilir.</a:t>
            </a:r>
          </a:p>
          <a:p>
            <a:pPr eaLnBrk="1" hangingPunct="1">
              <a:defRPr/>
            </a:pPr>
            <a:r>
              <a:rPr lang="tr-TR" altLang="tr-TR" sz="2200" dirty="0" smtClean="0">
                <a:solidFill>
                  <a:srgbClr val="FF0000"/>
                </a:solidFill>
              </a:rPr>
              <a:t>- Daha az taze hava gerektirir</a:t>
            </a:r>
            <a:r>
              <a:rPr lang="tr-TR" altLang="tr-TR" sz="2200" dirty="0" smtClean="0"/>
              <a:t>. Bu sayede de daha az hava dışarı atılır.</a:t>
            </a:r>
          </a:p>
          <a:p>
            <a:pPr eaLnBrk="1" hangingPunct="1">
              <a:defRPr/>
            </a:pPr>
            <a:r>
              <a:rPr lang="tr-TR" altLang="tr-TR" sz="2200" dirty="0" smtClean="0"/>
              <a:t>- Az taze hava gerektirdiği için </a:t>
            </a:r>
            <a:r>
              <a:rPr lang="tr-TR" altLang="tr-TR" sz="2200" dirty="0" smtClean="0">
                <a:solidFill>
                  <a:srgbClr val="FF0000"/>
                </a:solidFill>
              </a:rPr>
              <a:t>ısıtma ve soğutma maliyeti düşük.</a:t>
            </a:r>
          </a:p>
          <a:p>
            <a:pPr marL="342900" indent="-342900" eaLnBrk="1" hangingPunct="1">
              <a:buFontTx/>
              <a:buChar char="-"/>
              <a:defRPr/>
            </a:pPr>
            <a:endParaRPr lang="tr-TR" altLang="tr-TR" sz="2000" dirty="0" smtClean="0">
              <a:solidFill>
                <a:srgbClr val="FF0000"/>
              </a:solidFill>
            </a:endParaRPr>
          </a:p>
          <a:p>
            <a:pPr eaLnBrk="1" hangingPunct="1">
              <a:defRPr/>
            </a:pPr>
            <a:endParaRPr lang="tr-TR" altLang="tr-TR" sz="2000" b="1" dirty="0" smtClean="0"/>
          </a:p>
          <a:p>
            <a:pPr eaLnBrk="1" hangingPunct="1">
              <a:defRPr/>
            </a:pPr>
            <a:r>
              <a:rPr lang="tr-TR" altLang="tr-TR" sz="2800" b="1" dirty="0" smtClean="0">
                <a:solidFill>
                  <a:srgbClr val="000099"/>
                </a:solidFill>
              </a:rPr>
              <a:t>Dezavantajları:</a:t>
            </a:r>
            <a:endParaRPr lang="tr-TR" altLang="tr-TR" sz="2800" dirty="0" smtClean="0"/>
          </a:p>
          <a:p>
            <a:pPr eaLnBrk="1" hangingPunct="1">
              <a:defRPr/>
            </a:pPr>
            <a:r>
              <a:rPr lang="tr-TR" altLang="tr-TR" sz="2000" dirty="0" smtClean="0"/>
              <a:t>- </a:t>
            </a:r>
            <a:r>
              <a:rPr lang="tr-TR" altLang="tr-TR" sz="2000" b="1" dirty="0" smtClean="0">
                <a:solidFill>
                  <a:srgbClr val="000099"/>
                </a:solidFill>
              </a:rPr>
              <a:t>Tasarım, montaj ve ekipman </a:t>
            </a:r>
            <a:r>
              <a:rPr lang="tr-TR" altLang="tr-TR" sz="2000" dirty="0" smtClean="0"/>
              <a:t>için </a:t>
            </a:r>
            <a:r>
              <a:rPr lang="tr-TR" altLang="tr-TR" sz="2000" dirty="0" smtClean="0">
                <a:solidFill>
                  <a:srgbClr val="FF0000"/>
                </a:solidFill>
              </a:rPr>
              <a:t>yüksek maliyet</a:t>
            </a:r>
            <a:r>
              <a:rPr lang="tr-TR" altLang="tr-TR" sz="2000" dirty="0" smtClean="0"/>
              <a:t>.</a:t>
            </a:r>
          </a:p>
          <a:p>
            <a:pPr eaLnBrk="1" hangingPunct="1">
              <a:defRPr/>
            </a:pPr>
            <a:r>
              <a:rPr lang="tr-TR" altLang="tr-TR" sz="2000" dirty="0" smtClean="0"/>
              <a:t>- Çok düzenli temizlik, kontrol ve </a:t>
            </a:r>
            <a:r>
              <a:rPr lang="tr-TR" altLang="tr-TR" sz="2000" dirty="0" smtClean="0">
                <a:solidFill>
                  <a:srgbClr val="FF0000"/>
                </a:solidFill>
              </a:rPr>
              <a:t>bakım </a:t>
            </a:r>
            <a:r>
              <a:rPr lang="tr-TR" altLang="tr-TR" sz="2000" dirty="0" smtClean="0"/>
              <a:t>gerektirir.</a:t>
            </a:r>
          </a:p>
          <a:p>
            <a:pPr eaLnBrk="1" hangingPunct="1">
              <a:defRPr/>
            </a:pPr>
            <a:endParaRPr lang="tr-TR" altLang="tr-TR" sz="2000" dirty="0" smtClean="0"/>
          </a:p>
        </p:txBody>
      </p:sp>
      <p:sp>
        <p:nvSpPr>
          <p:cNvPr id="116739" name="Slayt Numarası Yer Tutucusu 2"/>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B446BBD5-6312-4598-AFAE-706D49AB30F3}" type="slidenum">
              <a:rPr lang="tr-TR" altLang="tr-TR" smtClean="0"/>
              <a:pPr eaLnBrk="1" hangingPunct="1"/>
              <a:t>24</a:t>
            </a:fld>
            <a:endParaRPr lang="tr-TR" altLang="tr-TR" smtClean="0"/>
          </a:p>
        </p:txBody>
      </p:sp>
    </p:spTree>
    <p:extLst>
      <p:ext uri="{BB962C8B-B14F-4D97-AF65-F5344CB8AC3E}">
        <p14:creationId xmlns:p14="http://schemas.microsoft.com/office/powerpoint/2010/main" xmlns="" val="185970187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1"/>
          <p:cNvSpPr>
            <a:spLocks noChangeArrowheads="1"/>
          </p:cNvSpPr>
          <p:nvPr/>
        </p:nvSpPr>
        <p:spPr bwMode="auto">
          <a:xfrm>
            <a:off x="179389" y="260648"/>
            <a:ext cx="8281044" cy="5878532"/>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anchor="ctr">
            <a:spAutoFit/>
          </a:bodyPr>
          <a:lstStyle>
            <a:lvl1pPr eaLnBrk="0" hangingPunct="0">
              <a:tabLst>
                <a:tab pos="431800" algn="l"/>
              </a:tabLst>
              <a:defRPr>
                <a:solidFill>
                  <a:schemeClr val="tx1"/>
                </a:solidFill>
                <a:latin typeface="Arial" pitchFamily="34" charset="0"/>
                <a:cs typeface="Arial" pitchFamily="34" charset="0"/>
              </a:defRPr>
            </a:lvl1pPr>
            <a:lvl2pPr marL="742950" indent="-285750" eaLnBrk="0" hangingPunct="0">
              <a:tabLst>
                <a:tab pos="431800" algn="l"/>
              </a:tabLst>
              <a:defRPr>
                <a:solidFill>
                  <a:schemeClr val="tx1"/>
                </a:solidFill>
                <a:latin typeface="Arial" pitchFamily="34" charset="0"/>
                <a:cs typeface="Arial" pitchFamily="34" charset="0"/>
              </a:defRPr>
            </a:lvl2pPr>
            <a:lvl3pPr marL="1143000" indent="-228600" eaLnBrk="0" hangingPunct="0">
              <a:tabLst>
                <a:tab pos="431800" algn="l"/>
              </a:tabLst>
              <a:defRPr>
                <a:solidFill>
                  <a:schemeClr val="tx1"/>
                </a:solidFill>
                <a:latin typeface="Arial" pitchFamily="34" charset="0"/>
                <a:cs typeface="Arial" pitchFamily="34" charset="0"/>
              </a:defRPr>
            </a:lvl3pPr>
            <a:lvl4pPr marL="1600200" indent="-228600" eaLnBrk="0" hangingPunct="0">
              <a:tabLst>
                <a:tab pos="431800" algn="l"/>
              </a:tabLst>
              <a:defRPr>
                <a:solidFill>
                  <a:schemeClr val="tx1"/>
                </a:solidFill>
                <a:latin typeface="Arial" pitchFamily="34" charset="0"/>
                <a:cs typeface="Arial" pitchFamily="34" charset="0"/>
              </a:defRPr>
            </a:lvl4pPr>
            <a:lvl5pPr marL="2057400" indent="-228600" eaLnBrk="0" hangingPunct="0">
              <a:tabLst>
                <a:tab pos="431800" algn="l"/>
              </a:tabLst>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tabLst>
                <a:tab pos="431800" algn="l"/>
              </a:tabLs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tabLst>
                <a:tab pos="431800" algn="l"/>
              </a:tabLs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tabLst>
                <a:tab pos="431800" algn="l"/>
              </a:tabLs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tabLst>
                <a:tab pos="431800" algn="l"/>
              </a:tabLst>
              <a:defRPr>
                <a:solidFill>
                  <a:schemeClr val="tx1"/>
                </a:solidFill>
                <a:latin typeface="Arial" pitchFamily="34" charset="0"/>
                <a:cs typeface="Arial" pitchFamily="34" charset="0"/>
              </a:defRPr>
            </a:lvl9pPr>
          </a:lstStyle>
          <a:p>
            <a:pPr eaLnBrk="1" hangingPunct="1"/>
            <a:r>
              <a:rPr lang="tr-TR" altLang="tr-TR" sz="2800" b="1" dirty="0">
                <a:solidFill>
                  <a:srgbClr val="FF0000"/>
                </a:solidFill>
                <a:cs typeface="Times New Roman" pitchFamily="18" charset="0"/>
              </a:rPr>
              <a:t>İyi bir havalandırma sisteminde</a:t>
            </a:r>
            <a:endParaRPr lang="tr-TR" altLang="tr-TR" sz="2800" b="1" dirty="0">
              <a:solidFill>
                <a:srgbClr val="FF0000"/>
              </a:solidFill>
            </a:endParaRPr>
          </a:p>
          <a:p>
            <a:pPr>
              <a:buClr>
                <a:srgbClr val="000000"/>
              </a:buClr>
              <a:buFontTx/>
              <a:buChar char="•"/>
            </a:pPr>
            <a:r>
              <a:rPr lang="tr-TR" altLang="tr-TR" sz="2000" dirty="0">
                <a:cs typeface="Times New Roman" pitchFamily="18" charset="0"/>
              </a:rPr>
              <a:t>Ortama gerekli </a:t>
            </a:r>
            <a:r>
              <a:rPr lang="tr-TR" altLang="tr-TR" sz="2000" dirty="0">
                <a:solidFill>
                  <a:srgbClr val="FF0000"/>
                </a:solidFill>
                <a:cs typeface="Times New Roman" pitchFamily="18" charset="0"/>
              </a:rPr>
              <a:t>taze hava sağlanmalı,</a:t>
            </a:r>
            <a:endParaRPr lang="tr-TR" altLang="tr-TR" sz="2000" dirty="0">
              <a:solidFill>
                <a:srgbClr val="FF0000"/>
              </a:solidFill>
            </a:endParaRPr>
          </a:p>
          <a:p>
            <a:pPr>
              <a:buClr>
                <a:srgbClr val="000000"/>
              </a:buClr>
              <a:buFontTx/>
              <a:buChar char="•"/>
            </a:pPr>
            <a:r>
              <a:rPr lang="tr-TR" altLang="tr-TR" sz="2000" dirty="0">
                <a:cs typeface="Times New Roman" pitchFamily="18" charset="0"/>
              </a:rPr>
              <a:t>Ortamda rahatsızlık oluşturacak </a:t>
            </a:r>
            <a:r>
              <a:rPr lang="tr-TR" altLang="tr-TR" sz="2000" dirty="0">
                <a:solidFill>
                  <a:srgbClr val="FF0000"/>
                </a:solidFill>
                <a:cs typeface="Times New Roman" pitchFamily="18" charset="0"/>
              </a:rPr>
              <a:t>hava akımı (cereyan) olmamalı</a:t>
            </a:r>
            <a:r>
              <a:rPr lang="tr-TR" altLang="tr-TR" sz="2000" dirty="0">
                <a:cs typeface="Times New Roman" pitchFamily="18" charset="0"/>
              </a:rPr>
              <a:t>,</a:t>
            </a:r>
            <a:endParaRPr lang="tr-TR" altLang="tr-TR" sz="2000" dirty="0"/>
          </a:p>
          <a:p>
            <a:pPr>
              <a:buClr>
                <a:srgbClr val="000000"/>
              </a:buClr>
              <a:buFontTx/>
              <a:buChar char="•"/>
            </a:pPr>
            <a:r>
              <a:rPr lang="tr-TR" altLang="tr-TR" sz="2000" dirty="0">
                <a:cs typeface="Times New Roman" pitchFamily="18" charset="0"/>
              </a:rPr>
              <a:t>Havalandırma sistemi, ortam havasını </a:t>
            </a:r>
            <a:r>
              <a:rPr lang="tr-TR" altLang="tr-TR" sz="2000" dirty="0" err="1">
                <a:solidFill>
                  <a:srgbClr val="FF0000"/>
                </a:solidFill>
                <a:cs typeface="Times New Roman" pitchFamily="18" charset="0"/>
              </a:rPr>
              <a:t>üniform</a:t>
            </a:r>
            <a:r>
              <a:rPr lang="tr-TR" altLang="tr-TR" sz="2000" dirty="0">
                <a:solidFill>
                  <a:srgbClr val="FF0000"/>
                </a:solidFill>
                <a:cs typeface="Times New Roman" pitchFamily="18" charset="0"/>
              </a:rPr>
              <a:t> bir şekilde dağıtıp toplamalı</a:t>
            </a:r>
            <a:r>
              <a:rPr lang="tr-TR" altLang="tr-TR" sz="2000" dirty="0">
                <a:cs typeface="Times New Roman" pitchFamily="18" charset="0"/>
              </a:rPr>
              <a:t>,</a:t>
            </a:r>
            <a:endParaRPr lang="tr-TR" altLang="tr-TR" sz="2000" dirty="0"/>
          </a:p>
          <a:p>
            <a:pPr>
              <a:buClr>
                <a:srgbClr val="000000"/>
              </a:buClr>
              <a:buFontTx/>
              <a:buChar char="•"/>
            </a:pPr>
            <a:r>
              <a:rPr lang="tr-TR" altLang="tr-TR" sz="2000" dirty="0">
                <a:cs typeface="Times New Roman" pitchFamily="18" charset="0"/>
              </a:rPr>
              <a:t>Varsa vantilatörler </a:t>
            </a:r>
            <a:r>
              <a:rPr lang="tr-TR" altLang="tr-TR" sz="2000" dirty="0">
                <a:solidFill>
                  <a:srgbClr val="FF0000"/>
                </a:solidFill>
                <a:cs typeface="Times New Roman" pitchFamily="18" charset="0"/>
              </a:rPr>
              <a:t>sessiz çalışmalıdır.</a:t>
            </a:r>
          </a:p>
          <a:p>
            <a:pPr>
              <a:buClr>
                <a:srgbClr val="000000"/>
              </a:buClr>
              <a:buFontTx/>
              <a:buChar char="•"/>
            </a:pPr>
            <a:endParaRPr lang="tr-TR" altLang="tr-TR" sz="2000" dirty="0"/>
          </a:p>
          <a:p>
            <a:pPr>
              <a:buClr>
                <a:srgbClr val="000000"/>
              </a:buClr>
              <a:buFontTx/>
              <a:buChar char="•"/>
            </a:pPr>
            <a:endParaRPr lang="tr-TR" altLang="tr-TR" sz="2000" dirty="0"/>
          </a:p>
          <a:p>
            <a:r>
              <a:rPr lang="tr-TR" altLang="tr-TR" sz="2000" b="1" dirty="0">
                <a:solidFill>
                  <a:srgbClr val="FF0000"/>
                </a:solidFill>
              </a:rPr>
              <a:t> </a:t>
            </a:r>
            <a:r>
              <a:rPr lang="tr-TR" altLang="tr-TR" sz="2800" b="1" dirty="0">
                <a:solidFill>
                  <a:srgbClr val="FF0000"/>
                </a:solidFill>
              </a:rPr>
              <a:t>Negatif  basınç</a:t>
            </a:r>
            <a:endParaRPr lang="tr-TR" altLang="tr-TR" sz="2800" dirty="0">
              <a:cs typeface="Times New Roman" pitchFamily="18" charset="0"/>
            </a:endParaRPr>
          </a:p>
          <a:p>
            <a:r>
              <a:rPr lang="tr-TR" altLang="tr-TR" sz="2000" dirty="0">
                <a:cs typeface="Times New Roman" pitchFamily="18" charset="0"/>
              </a:rPr>
              <a:t> </a:t>
            </a:r>
            <a:r>
              <a:rPr lang="tr-TR" altLang="tr-TR" sz="2000" b="1" dirty="0">
                <a:cs typeface="Times New Roman" pitchFamily="18" charset="0"/>
              </a:rPr>
              <a:t>Yüksek hacimde hava dışarı atıldığı halde yeterli taze hava sağlanmazsa</a:t>
            </a:r>
            <a:r>
              <a:rPr lang="tr-TR" altLang="tr-TR" sz="2000" dirty="0">
                <a:cs typeface="Times New Roman" pitchFamily="18" charset="0"/>
              </a:rPr>
              <a:t>, işyeri havaya </a:t>
            </a:r>
            <a:r>
              <a:rPr lang="tr-TR" altLang="tr-TR" sz="2000" dirty="0">
                <a:solidFill>
                  <a:srgbClr val="FF0000"/>
                </a:solidFill>
                <a:cs typeface="Times New Roman" pitchFamily="18" charset="0"/>
              </a:rPr>
              <a:t>'aç</a:t>
            </a:r>
            <a:r>
              <a:rPr lang="tr-TR" altLang="tr-TR" sz="2000" dirty="0">
                <a:cs typeface="Times New Roman" pitchFamily="18" charset="0"/>
              </a:rPr>
              <a:t>' olur ve işyerinde </a:t>
            </a:r>
            <a:r>
              <a:rPr lang="tr-TR" altLang="tr-TR" sz="2000" b="1" dirty="0">
                <a:solidFill>
                  <a:srgbClr val="FF0000"/>
                </a:solidFill>
                <a:cs typeface="Times New Roman" pitchFamily="18" charset="0"/>
              </a:rPr>
              <a:t>negatif basınç </a:t>
            </a:r>
            <a:r>
              <a:rPr lang="tr-TR" altLang="tr-TR" sz="2000" dirty="0">
                <a:cs typeface="Times New Roman" pitchFamily="18" charset="0"/>
              </a:rPr>
              <a:t>oluşur.</a:t>
            </a:r>
          </a:p>
          <a:p>
            <a:endParaRPr lang="tr-TR" altLang="tr-TR" sz="2000" dirty="0"/>
          </a:p>
          <a:p>
            <a:r>
              <a:rPr lang="tr-TR" altLang="tr-TR" sz="2000" dirty="0">
                <a:cs typeface="Times New Roman" pitchFamily="18" charset="0"/>
              </a:rPr>
              <a:t>İşyerinde negatif basınç, havalandırma sistemi üzerindeki basıncı artırır ki bu da </a:t>
            </a:r>
            <a:r>
              <a:rPr lang="tr-TR" altLang="tr-TR" sz="2000" dirty="0">
                <a:solidFill>
                  <a:srgbClr val="FF0000"/>
                </a:solidFill>
                <a:cs typeface="Times New Roman" pitchFamily="18" charset="0"/>
              </a:rPr>
              <a:t>daha az hava taşınmasına neden olur. </a:t>
            </a:r>
            <a:endParaRPr lang="tr-TR" altLang="tr-TR" sz="2000" dirty="0">
              <a:cs typeface="Times New Roman" pitchFamily="18" charset="0"/>
            </a:endParaRPr>
          </a:p>
          <a:p>
            <a:endParaRPr lang="tr-TR" altLang="tr-TR" sz="2000" dirty="0">
              <a:cs typeface="Times New Roman" pitchFamily="18" charset="0"/>
            </a:endParaRPr>
          </a:p>
          <a:p>
            <a:r>
              <a:rPr lang="tr-TR" altLang="tr-TR" sz="2000" dirty="0">
                <a:cs typeface="Times New Roman" pitchFamily="18" charset="0"/>
              </a:rPr>
              <a:t> Bu </a:t>
            </a:r>
            <a:r>
              <a:rPr lang="tr-TR" altLang="tr-TR" sz="2000" dirty="0">
                <a:solidFill>
                  <a:srgbClr val="FF0000"/>
                </a:solidFill>
                <a:cs typeface="Times New Roman" pitchFamily="18" charset="0"/>
              </a:rPr>
              <a:t>durumda</a:t>
            </a:r>
            <a:r>
              <a:rPr lang="tr-TR" altLang="tr-TR" sz="2000" dirty="0" smtClean="0">
                <a:solidFill>
                  <a:srgbClr val="FF0000"/>
                </a:solidFill>
                <a:cs typeface="Times New Roman" pitchFamily="18" charset="0"/>
              </a:rPr>
              <a:t>, </a:t>
            </a:r>
            <a:r>
              <a:rPr lang="tr-TR" altLang="tr-TR" sz="2000" b="1" dirty="0" smtClean="0">
                <a:solidFill>
                  <a:srgbClr val="FF0000"/>
                </a:solidFill>
                <a:cs typeface="Times New Roman" pitchFamily="18" charset="0"/>
              </a:rPr>
              <a:t>ayrı </a:t>
            </a:r>
            <a:r>
              <a:rPr lang="tr-TR" altLang="tr-TR" sz="2000" b="1" dirty="0">
                <a:solidFill>
                  <a:srgbClr val="FF0000"/>
                </a:solidFill>
                <a:cs typeface="Times New Roman" pitchFamily="18" charset="0"/>
              </a:rPr>
              <a:t>bir giriş fanı </a:t>
            </a:r>
            <a:r>
              <a:rPr lang="tr-TR" altLang="tr-TR" sz="2000" dirty="0">
                <a:solidFill>
                  <a:srgbClr val="FF0000"/>
                </a:solidFill>
                <a:cs typeface="Times New Roman" pitchFamily="18" charset="0"/>
              </a:rPr>
              <a:t>(egzoz fanlarından uzağa yerleştirilmiş bir fan) dışarıdan kirlenmemiş taze hava getirmek için </a:t>
            </a:r>
            <a:r>
              <a:rPr lang="tr-TR" altLang="tr-TR" sz="2000" b="1" dirty="0">
                <a:solidFill>
                  <a:srgbClr val="FF0000"/>
                </a:solidFill>
                <a:cs typeface="Times New Roman" pitchFamily="18" charset="0"/>
              </a:rPr>
              <a:t>kullanılmalıdır.</a:t>
            </a:r>
            <a:r>
              <a:rPr lang="tr-TR" altLang="tr-TR" sz="2000" b="1" dirty="0">
                <a:cs typeface="Times New Roman" pitchFamily="18" charset="0"/>
              </a:rPr>
              <a:t> </a:t>
            </a:r>
            <a:endParaRPr lang="tr-TR" altLang="tr-TR" sz="2000" b="1" dirty="0"/>
          </a:p>
        </p:txBody>
      </p:sp>
      <p:sp>
        <p:nvSpPr>
          <p:cNvPr id="117763" name="Slayt Numarası Yer Tutucusu 2"/>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BFD9BACD-4D5D-4482-B167-A487DD29EF8D}" type="slidenum">
              <a:rPr lang="tr-TR" altLang="tr-TR" smtClean="0"/>
              <a:pPr eaLnBrk="1" hangingPunct="1"/>
              <a:t>25</a:t>
            </a:fld>
            <a:endParaRPr lang="tr-TR" altLang="tr-TR" smtClean="0"/>
          </a:p>
        </p:txBody>
      </p:sp>
    </p:spTree>
    <p:extLst>
      <p:ext uri="{BB962C8B-B14F-4D97-AF65-F5344CB8AC3E}">
        <p14:creationId xmlns:p14="http://schemas.microsoft.com/office/powerpoint/2010/main" xmlns="" val="85732662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1"/>
          <p:cNvSpPr>
            <a:spLocks noChangeArrowheads="1"/>
          </p:cNvSpPr>
          <p:nvPr/>
        </p:nvSpPr>
        <p:spPr bwMode="auto">
          <a:xfrm>
            <a:off x="31750" y="423863"/>
            <a:ext cx="8932863" cy="5878512"/>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tr-TR" altLang="tr-TR" sz="2800" b="1" u="sng">
                <a:solidFill>
                  <a:srgbClr val="FF0000"/>
                </a:solidFill>
              </a:rPr>
              <a:t>Havalandırma sistemlerinin bileşenleri</a:t>
            </a:r>
          </a:p>
          <a:p>
            <a:pPr eaLnBrk="1" hangingPunct="1"/>
            <a:r>
              <a:rPr lang="tr-TR" altLang="tr-TR" sz="2000">
                <a:solidFill>
                  <a:srgbClr val="000000"/>
                </a:solidFill>
                <a:cs typeface="Times New Roman" pitchFamily="18" charset="0"/>
              </a:rPr>
              <a:t>Bir binanın havalandırma sistemi, temiz havanın içeri alınmasını ve kirli havanın dışarı atılmasını sağlayan  ve binayı ağ şeklinde saran </a:t>
            </a:r>
            <a:r>
              <a:rPr lang="tr-TR" altLang="tr-TR" sz="2000">
                <a:solidFill>
                  <a:srgbClr val="FF0000"/>
                </a:solidFill>
                <a:cs typeface="Times New Roman" pitchFamily="18" charset="0"/>
              </a:rPr>
              <a:t>hava kanallarından, fanlardan ve vantilatörlerden</a:t>
            </a:r>
            <a:r>
              <a:rPr lang="tr-TR" altLang="tr-TR" sz="2000">
                <a:solidFill>
                  <a:srgbClr val="000000"/>
                </a:solidFill>
                <a:cs typeface="Times New Roman" pitchFamily="18" charset="0"/>
              </a:rPr>
              <a:t>  oluşur.</a:t>
            </a:r>
          </a:p>
          <a:p>
            <a:endParaRPr lang="tr-TR" altLang="tr-TR" sz="2400" b="1" u="sng">
              <a:solidFill>
                <a:srgbClr val="000099"/>
              </a:solidFill>
            </a:endParaRPr>
          </a:p>
          <a:p>
            <a:r>
              <a:rPr lang="tr-TR" altLang="tr-TR" sz="2400" b="1" u="sng">
                <a:solidFill>
                  <a:srgbClr val="000099"/>
                </a:solidFill>
              </a:rPr>
              <a:t>A- Kanallar</a:t>
            </a:r>
            <a:endParaRPr lang="tr-TR" altLang="tr-TR" sz="2000" b="1"/>
          </a:p>
          <a:p>
            <a:r>
              <a:rPr lang="tr-TR" altLang="tr-TR" sz="2000">
                <a:cs typeface="Times New Roman" pitchFamily="18" charset="0"/>
              </a:rPr>
              <a:t>Kanal sistemleri, içerisinden geçen </a:t>
            </a:r>
            <a:r>
              <a:rPr lang="tr-TR" altLang="tr-TR" sz="2000">
                <a:solidFill>
                  <a:srgbClr val="FF0000"/>
                </a:solidFill>
                <a:cs typeface="Times New Roman" pitchFamily="18" charset="0"/>
              </a:rPr>
              <a:t>hava akışına mümkün olduğunca az direnç gösterecek şekilde tasarlanmalıdır. </a:t>
            </a:r>
            <a:r>
              <a:rPr lang="tr-TR" altLang="tr-TR" sz="2000">
                <a:cs typeface="Times New Roman" pitchFamily="18" charset="0"/>
              </a:rPr>
              <a:t>Bir kanal içerisinden geçen hava miktarı, </a:t>
            </a:r>
            <a:r>
              <a:rPr lang="tr-TR" altLang="tr-TR" sz="2000">
                <a:solidFill>
                  <a:srgbClr val="FF0000"/>
                </a:solidFill>
                <a:cs typeface="Times New Roman" pitchFamily="18" charset="0"/>
              </a:rPr>
              <a:t>kanal kesit alanına </a:t>
            </a:r>
            <a:r>
              <a:rPr lang="tr-TR" altLang="tr-TR" sz="2000">
                <a:cs typeface="Times New Roman" pitchFamily="18" charset="0"/>
              </a:rPr>
              <a:t>ve içerisinden geçen havanın </a:t>
            </a:r>
            <a:r>
              <a:rPr lang="tr-TR" altLang="tr-TR" sz="2000">
                <a:solidFill>
                  <a:srgbClr val="FF0000"/>
                </a:solidFill>
                <a:cs typeface="Times New Roman" pitchFamily="18" charset="0"/>
              </a:rPr>
              <a:t>akış hızına </a:t>
            </a:r>
            <a:r>
              <a:rPr lang="tr-TR" altLang="tr-TR" sz="2000">
                <a:cs typeface="Times New Roman" pitchFamily="18" charset="0"/>
              </a:rPr>
              <a:t>göre değişkenlik gösterir.</a:t>
            </a:r>
            <a:endParaRPr lang="tr-TR" altLang="tr-TR" sz="2000"/>
          </a:p>
          <a:p>
            <a:r>
              <a:rPr lang="tr-TR" altLang="tr-TR" sz="2000">
                <a:cs typeface="Times New Roman" pitchFamily="18" charset="0"/>
              </a:rPr>
              <a:t>Kanal içerisinden geçen </a:t>
            </a:r>
            <a:r>
              <a:rPr lang="tr-TR" altLang="tr-TR" sz="2000">
                <a:solidFill>
                  <a:srgbClr val="FF0000"/>
                </a:solidFill>
                <a:cs typeface="Times New Roman" pitchFamily="18" charset="0"/>
              </a:rPr>
              <a:t>havanın akış hızının </a:t>
            </a:r>
            <a:r>
              <a:rPr lang="tr-TR" altLang="tr-TR" sz="2000" b="1">
                <a:solidFill>
                  <a:srgbClr val="000099"/>
                </a:solidFill>
                <a:cs typeface="Times New Roman" pitchFamily="18" charset="0"/>
              </a:rPr>
              <a:t>düşük olması</a:t>
            </a:r>
            <a:r>
              <a:rPr lang="tr-TR" altLang="tr-TR" sz="2000">
                <a:solidFill>
                  <a:srgbClr val="FF0000"/>
                </a:solidFill>
                <a:cs typeface="Times New Roman" pitchFamily="18" charset="0"/>
              </a:rPr>
              <a:t>, hava ile birlikte taşınan birtakım tozların çökmesine ve birikmesine, bu da kanalın zamanla </a:t>
            </a:r>
            <a:r>
              <a:rPr lang="tr-TR" altLang="tr-TR" sz="2000" b="1">
                <a:solidFill>
                  <a:srgbClr val="000099"/>
                </a:solidFill>
                <a:cs typeface="Times New Roman" pitchFamily="18" charset="0"/>
              </a:rPr>
              <a:t>tıkanmasına</a:t>
            </a:r>
            <a:r>
              <a:rPr lang="tr-TR" altLang="tr-TR" sz="2000">
                <a:solidFill>
                  <a:srgbClr val="FF0000"/>
                </a:solidFill>
                <a:cs typeface="Times New Roman" pitchFamily="18" charset="0"/>
              </a:rPr>
              <a:t> sebep olur</a:t>
            </a:r>
            <a:r>
              <a:rPr lang="tr-TR" altLang="tr-TR" sz="2000">
                <a:cs typeface="Times New Roman" pitchFamily="18" charset="0"/>
              </a:rPr>
              <a:t>. Aynı şekilde kanal içerisinden geçen havanın akış hızının </a:t>
            </a:r>
            <a:r>
              <a:rPr lang="tr-TR" altLang="tr-TR" sz="2000" b="1">
                <a:solidFill>
                  <a:srgbClr val="000099"/>
                </a:solidFill>
                <a:cs typeface="Times New Roman" pitchFamily="18" charset="0"/>
              </a:rPr>
              <a:t>fazla olması </a:t>
            </a:r>
            <a:r>
              <a:rPr lang="tr-TR" altLang="tr-TR" sz="2000">
                <a:solidFill>
                  <a:srgbClr val="FF0000"/>
                </a:solidFill>
                <a:cs typeface="Times New Roman" pitchFamily="18" charset="0"/>
              </a:rPr>
              <a:t>ise gereksiz enerji sarfiyatına ve toz partiküllerin kanal çeperlerine çarpmasından dolayı </a:t>
            </a:r>
            <a:r>
              <a:rPr lang="tr-TR" altLang="tr-TR" sz="2000" b="1">
                <a:solidFill>
                  <a:srgbClr val="000099"/>
                </a:solidFill>
                <a:cs typeface="Times New Roman" pitchFamily="18" charset="0"/>
              </a:rPr>
              <a:t>çeperlerde aşınmaya</a:t>
            </a:r>
            <a:r>
              <a:rPr lang="tr-TR" altLang="tr-TR" sz="2000">
                <a:solidFill>
                  <a:srgbClr val="000099"/>
                </a:solidFill>
                <a:cs typeface="Times New Roman" pitchFamily="18" charset="0"/>
              </a:rPr>
              <a:t> </a:t>
            </a:r>
            <a:r>
              <a:rPr lang="tr-TR" altLang="tr-TR" sz="2000">
                <a:solidFill>
                  <a:srgbClr val="FF0000"/>
                </a:solidFill>
                <a:cs typeface="Times New Roman" pitchFamily="18" charset="0"/>
              </a:rPr>
              <a:t>sebep olur</a:t>
            </a:r>
            <a:r>
              <a:rPr lang="tr-TR" altLang="tr-TR" sz="2000">
                <a:cs typeface="Times New Roman" pitchFamily="18" charset="0"/>
              </a:rPr>
              <a:t>. </a:t>
            </a:r>
          </a:p>
          <a:p>
            <a:endParaRPr lang="tr-TR" altLang="tr-TR" sz="2000">
              <a:cs typeface="Times New Roman" pitchFamily="18" charset="0"/>
            </a:endParaRPr>
          </a:p>
          <a:p>
            <a:r>
              <a:rPr lang="tr-TR" altLang="tr-TR" sz="2000">
                <a:solidFill>
                  <a:srgbClr val="002060"/>
                </a:solidFill>
                <a:cs typeface="Times New Roman" pitchFamily="18" charset="0"/>
              </a:rPr>
              <a:t>Farklı kirletici maddeler için tavsiye edilen hızlar (kanal hava akış hızları) havalandırma üzerine referans kabul edilen kaynaklardan elde edilebilir.</a:t>
            </a:r>
            <a:endParaRPr lang="tr-TR" altLang="tr-TR" sz="2000">
              <a:solidFill>
                <a:srgbClr val="002060"/>
              </a:solidFill>
              <a:ea typeface="Arial Unicode MS" pitchFamily="34" charset="-128"/>
              <a:cs typeface="Arial Unicode MS" pitchFamily="34" charset="-128"/>
            </a:endParaRPr>
          </a:p>
        </p:txBody>
      </p:sp>
      <p:sp>
        <p:nvSpPr>
          <p:cNvPr id="118787" name="Slayt Numarası Yer Tutucusu 2"/>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45526759-CBC9-4E20-9CC0-880960048388}" type="slidenum">
              <a:rPr lang="tr-TR" altLang="tr-TR" smtClean="0"/>
              <a:pPr eaLnBrk="1" hangingPunct="1"/>
              <a:t>26</a:t>
            </a:fld>
            <a:endParaRPr lang="tr-TR" altLang="tr-TR" smtClean="0"/>
          </a:p>
        </p:txBody>
      </p:sp>
    </p:spTree>
    <p:extLst>
      <p:ext uri="{BB962C8B-B14F-4D97-AF65-F5344CB8AC3E}">
        <p14:creationId xmlns:p14="http://schemas.microsoft.com/office/powerpoint/2010/main" xmlns="" val="301689920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810" name="Picture 2" descr="image16"/>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997200" y="549275"/>
            <a:ext cx="3455988" cy="1722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9811" name="3 Dikdörtgen"/>
          <p:cNvSpPr>
            <a:spLocks noChangeArrowheads="1"/>
          </p:cNvSpPr>
          <p:nvPr/>
        </p:nvSpPr>
        <p:spPr bwMode="auto">
          <a:xfrm>
            <a:off x="301625" y="2290763"/>
            <a:ext cx="8640763"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tr-TR" altLang="tr-TR" sz="2000" b="1">
                <a:solidFill>
                  <a:srgbClr val="0070C0"/>
                </a:solidFill>
              </a:rPr>
              <a:t>Temizleme kapağı</a:t>
            </a:r>
          </a:p>
          <a:p>
            <a:pPr algn="ctr" eaLnBrk="1" hangingPunct="1"/>
            <a:r>
              <a:rPr lang="tr-TR" altLang="tr-TR" sz="2000"/>
              <a:t>Kanal sistemi için uygulanmış temizleme kapağı</a:t>
            </a:r>
          </a:p>
        </p:txBody>
      </p:sp>
      <p:pic>
        <p:nvPicPr>
          <p:cNvPr id="119812" name="Picture 3" descr="image17"/>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11188" y="3933825"/>
            <a:ext cx="2852737" cy="1644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19813" name="Picture 4" descr="image18"/>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580063" y="4005263"/>
            <a:ext cx="2736850" cy="1223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9814" name="7 Dikdörtgen"/>
          <p:cNvSpPr>
            <a:spLocks noChangeArrowheads="1"/>
          </p:cNvSpPr>
          <p:nvPr/>
        </p:nvSpPr>
        <p:spPr bwMode="auto">
          <a:xfrm>
            <a:off x="4859338" y="5589588"/>
            <a:ext cx="4068762"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tr-TR" altLang="tr-TR" sz="2000"/>
              <a:t> </a:t>
            </a:r>
            <a:r>
              <a:rPr lang="tr-TR" altLang="tr-TR" sz="2000" b="1">
                <a:solidFill>
                  <a:srgbClr val="FF0000"/>
                </a:solidFill>
              </a:rPr>
              <a:t>Hiçbir zaman "T" bağlantı kullanmayın !</a:t>
            </a:r>
          </a:p>
        </p:txBody>
      </p:sp>
      <p:graphicFrame>
        <p:nvGraphicFramePr>
          <p:cNvPr id="9" name="8 Tablo"/>
          <p:cNvGraphicFramePr>
            <a:graphicFrameLocks noGrp="1"/>
          </p:cNvGraphicFramePr>
          <p:nvPr/>
        </p:nvGraphicFramePr>
        <p:xfrm>
          <a:off x="179388" y="5516563"/>
          <a:ext cx="4392612" cy="1222375"/>
        </p:xfrm>
        <a:graphic>
          <a:graphicData uri="http://schemas.openxmlformats.org/drawingml/2006/table">
            <a:tbl>
              <a:tblPr/>
              <a:tblGrid>
                <a:gridCol w="4392612"/>
              </a:tblGrid>
              <a:tr h="1222375">
                <a:tc>
                  <a:txBody>
                    <a:bodyPr/>
                    <a:lstStyle/>
                    <a:p>
                      <a:pPr marL="63500" indent="-431800" algn="ctr">
                        <a:lnSpc>
                          <a:spcPts val="1150"/>
                        </a:lnSpc>
                        <a:spcBef>
                          <a:spcPts val="3000"/>
                        </a:spcBef>
                        <a:spcAft>
                          <a:spcPts val="0"/>
                        </a:spcAft>
                      </a:pPr>
                      <a:r>
                        <a:rPr lang="tr-TR" sz="2000" kern="1200" dirty="0" smtClean="0">
                          <a:solidFill>
                            <a:schemeClr val="tx1"/>
                          </a:solidFill>
                          <a:latin typeface="+mn-lt"/>
                          <a:ea typeface="+mn-ea"/>
                          <a:cs typeface="+mn-cs"/>
                        </a:rPr>
                        <a:t> </a:t>
                      </a:r>
                      <a:r>
                        <a:rPr lang="tr-TR" sz="2000" kern="1200" dirty="0">
                          <a:solidFill>
                            <a:schemeClr val="tx1"/>
                          </a:solidFill>
                          <a:latin typeface="+mn-lt"/>
                          <a:ea typeface="+mn-ea"/>
                          <a:cs typeface="+mn-cs"/>
                        </a:rPr>
                        <a:t>Kısa yarıçaplı dirsekler </a:t>
                      </a:r>
                      <a:r>
                        <a:rPr lang="tr-TR" sz="2000" kern="1200" dirty="0" smtClean="0">
                          <a:solidFill>
                            <a:schemeClr val="tx1"/>
                          </a:solidFill>
                          <a:latin typeface="+mn-lt"/>
                          <a:ea typeface="+mn-ea"/>
                          <a:cs typeface="+mn-cs"/>
                        </a:rPr>
                        <a:t>yoğun</a:t>
                      </a:r>
                    </a:p>
                    <a:p>
                      <a:pPr marL="63500" indent="-431800" algn="ctr">
                        <a:lnSpc>
                          <a:spcPts val="1150"/>
                        </a:lnSpc>
                        <a:spcBef>
                          <a:spcPts val="3000"/>
                        </a:spcBef>
                        <a:spcAft>
                          <a:spcPts val="0"/>
                        </a:spcAft>
                      </a:pPr>
                      <a:r>
                        <a:rPr lang="tr-TR" sz="2000" kern="1200" dirty="0" smtClean="0">
                          <a:solidFill>
                            <a:schemeClr val="tx1"/>
                          </a:solidFill>
                          <a:latin typeface="+mn-lt"/>
                          <a:ea typeface="+mn-ea"/>
                          <a:cs typeface="+mn-cs"/>
                        </a:rPr>
                        <a:t> birikmeye sebep olur</a:t>
                      </a:r>
                      <a:endParaRPr lang="tr-TR" sz="2000" kern="1200" dirty="0">
                        <a:solidFill>
                          <a:schemeClr val="tx1"/>
                        </a:solidFill>
                        <a:latin typeface="+mn-lt"/>
                        <a:ea typeface="+mn-ea"/>
                        <a:cs typeface="+mn-cs"/>
                      </a:endParaRPr>
                    </a:p>
                  </a:txBody>
                  <a:tcPr marL="0" marR="0" marT="268109" marB="268109">
                    <a:lnL>
                      <a:noFill/>
                    </a:lnL>
                    <a:lnR>
                      <a:noFill/>
                    </a:lnR>
                    <a:lnT>
                      <a:noFill/>
                    </a:lnT>
                    <a:lnB>
                      <a:noFill/>
                    </a:lnB>
                  </a:tcPr>
                </a:tc>
              </a:tr>
            </a:tbl>
          </a:graphicData>
        </a:graphic>
      </p:graphicFrame>
      <p:sp>
        <p:nvSpPr>
          <p:cNvPr id="119817"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tr-TR" altLang="tr-TR"/>
              <a:t/>
            </a:r>
            <a:br>
              <a:rPr lang="tr-TR" altLang="tr-TR"/>
            </a:br>
            <a:endParaRPr lang="tr-TR" altLang="tr-TR"/>
          </a:p>
        </p:txBody>
      </p:sp>
      <p:sp>
        <p:nvSpPr>
          <p:cNvPr id="119818" name="Slayt Numarası Yer Tutucusu 2"/>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D1D3EF90-817A-42D1-8626-EC984E454546}" type="slidenum">
              <a:rPr lang="tr-TR" altLang="tr-TR" smtClean="0"/>
              <a:pPr eaLnBrk="1" hangingPunct="1"/>
              <a:t>27</a:t>
            </a:fld>
            <a:endParaRPr lang="tr-TR" altLang="tr-TR" smtClean="0"/>
          </a:p>
        </p:txBody>
      </p:sp>
    </p:spTree>
    <p:extLst>
      <p:ext uri="{BB962C8B-B14F-4D97-AF65-F5344CB8AC3E}">
        <p14:creationId xmlns:p14="http://schemas.microsoft.com/office/powerpoint/2010/main" xmlns="" val="337016869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5 Dikdörtgen"/>
          <p:cNvSpPr>
            <a:spLocks noChangeArrowheads="1"/>
          </p:cNvSpPr>
          <p:nvPr/>
        </p:nvSpPr>
        <p:spPr bwMode="auto">
          <a:xfrm>
            <a:off x="179389" y="433109"/>
            <a:ext cx="8281044" cy="64325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tr-TR" altLang="tr-TR" sz="2400" b="1" u="sng" dirty="0">
                <a:solidFill>
                  <a:srgbClr val="000099"/>
                </a:solidFill>
              </a:rPr>
              <a:t>B- Fanlar</a:t>
            </a:r>
          </a:p>
          <a:p>
            <a:pPr eaLnBrk="1" hangingPunct="1"/>
            <a:r>
              <a:rPr lang="tr-TR" altLang="tr-TR" sz="2000" dirty="0"/>
              <a:t>Verimli bir havalandırma için fanlar </a:t>
            </a:r>
            <a:r>
              <a:rPr lang="tr-TR" altLang="tr-TR" sz="2000" b="1" dirty="0">
                <a:solidFill>
                  <a:srgbClr val="0070C0"/>
                </a:solidFill>
              </a:rPr>
              <a:t>uygun tip ve boyutta olmalıdır</a:t>
            </a:r>
            <a:r>
              <a:rPr lang="tr-TR" altLang="tr-TR" sz="2000" dirty="0"/>
              <a:t>. Fanlar kaynakta oluşan kirletici maddeleri havalandırma sistemi boyunca taşıyıp dış ortama çıkaracak güçte hava akımı sağlamalıdır.</a:t>
            </a:r>
          </a:p>
          <a:p>
            <a:pPr eaLnBrk="1" hangingPunct="1"/>
            <a:endParaRPr lang="tr-TR" altLang="tr-TR" sz="2000" dirty="0"/>
          </a:p>
          <a:p>
            <a:pPr eaLnBrk="1" hangingPunct="1"/>
            <a:r>
              <a:rPr lang="tr-TR" altLang="tr-TR" sz="2400" u="sng" dirty="0">
                <a:solidFill>
                  <a:srgbClr val="FF0000"/>
                </a:solidFill>
              </a:rPr>
              <a:t>2 tip ana </a:t>
            </a:r>
            <a:r>
              <a:rPr lang="tr-TR" altLang="tr-TR" sz="2400" u="sng" dirty="0" smtClean="0">
                <a:solidFill>
                  <a:srgbClr val="FF0000"/>
                </a:solidFill>
              </a:rPr>
              <a:t>egzoz </a:t>
            </a:r>
            <a:r>
              <a:rPr lang="tr-TR" altLang="tr-TR" sz="2400" u="sng" dirty="0">
                <a:solidFill>
                  <a:srgbClr val="FF0000"/>
                </a:solidFill>
              </a:rPr>
              <a:t>fanı vardır:</a:t>
            </a:r>
          </a:p>
          <a:p>
            <a:pPr eaLnBrk="1" hangingPunct="1"/>
            <a:endParaRPr lang="tr-TR" altLang="tr-TR" sz="2400" u="sng" dirty="0">
              <a:solidFill>
                <a:srgbClr val="FF0000"/>
              </a:solidFill>
            </a:endParaRPr>
          </a:p>
          <a:p>
            <a:pPr eaLnBrk="1" hangingPunct="1"/>
            <a:r>
              <a:rPr lang="tr-TR" altLang="tr-TR" sz="2000" b="1" u="sng" dirty="0">
                <a:solidFill>
                  <a:srgbClr val="003399"/>
                </a:solidFill>
              </a:rPr>
              <a:t>1-Eksenel fanlar</a:t>
            </a:r>
          </a:p>
          <a:p>
            <a:pPr eaLnBrk="1" hangingPunct="1"/>
            <a:r>
              <a:rPr lang="tr-TR" altLang="tr-TR" sz="2000" dirty="0"/>
              <a:t>Bu tür fanlar </a:t>
            </a:r>
            <a:r>
              <a:rPr lang="tr-TR" altLang="tr-TR" sz="2000" b="1" dirty="0">
                <a:solidFill>
                  <a:srgbClr val="000099"/>
                </a:solidFill>
              </a:rPr>
              <a:t>pervanelere benzer</a:t>
            </a:r>
            <a:r>
              <a:rPr lang="tr-TR" altLang="tr-TR" sz="2000" dirty="0"/>
              <a:t>. Havayı doğrudan fan içinden geçirerek sistem boyunca ilerlemesini sağlar.</a:t>
            </a:r>
            <a:r>
              <a:rPr lang="tr-TR" altLang="tr-TR" sz="2000" b="1" dirty="0"/>
              <a:t> </a:t>
            </a:r>
          </a:p>
          <a:p>
            <a:pPr eaLnBrk="1" hangingPunct="1"/>
            <a:r>
              <a:rPr lang="tr-TR" altLang="tr-TR" sz="2000" dirty="0" smtClean="0">
                <a:solidFill>
                  <a:srgbClr val="FF0000"/>
                </a:solidFill>
              </a:rPr>
              <a:t>Lokal egzoz </a:t>
            </a:r>
            <a:r>
              <a:rPr lang="tr-TR" altLang="tr-TR" sz="2000" dirty="0">
                <a:solidFill>
                  <a:srgbClr val="FF0000"/>
                </a:solidFill>
              </a:rPr>
              <a:t>sistemleri için uygun değillerdir </a:t>
            </a:r>
            <a:r>
              <a:rPr lang="tr-TR" altLang="tr-TR" sz="2000" dirty="0"/>
              <a:t>çünkü yeterli emiş kuvveti sağlayamazlar.</a:t>
            </a:r>
          </a:p>
          <a:p>
            <a:pPr eaLnBrk="1" hangingPunct="1"/>
            <a:r>
              <a:rPr lang="tr-TR" altLang="tr-TR" sz="2000" dirty="0"/>
              <a:t> </a:t>
            </a:r>
          </a:p>
          <a:p>
            <a:pPr eaLnBrk="1" hangingPunct="1"/>
            <a:r>
              <a:rPr lang="tr-TR" altLang="tr-TR" sz="2000" b="1" u="sng" dirty="0">
                <a:solidFill>
                  <a:srgbClr val="000099"/>
                </a:solidFill>
              </a:rPr>
              <a:t>2- Santrifüj fanlar</a:t>
            </a:r>
          </a:p>
          <a:p>
            <a:pPr eaLnBrk="1" hangingPunct="1"/>
            <a:r>
              <a:rPr lang="tr-TR" altLang="tr-TR" sz="2000" dirty="0">
                <a:solidFill>
                  <a:srgbClr val="000000"/>
                </a:solidFill>
              </a:rPr>
              <a:t>Bu tür fanlar bir </a:t>
            </a:r>
            <a:r>
              <a:rPr lang="tr-TR" altLang="tr-TR" sz="2000" b="1" dirty="0">
                <a:solidFill>
                  <a:srgbClr val="003399"/>
                </a:solidFill>
              </a:rPr>
              <a:t>"fare kafesi" yapısına sahiptir</a:t>
            </a:r>
            <a:r>
              <a:rPr lang="tr-TR" altLang="tr-TR" sz="2000" dirty="0">
                <a:solidFill>
                  <a:srgbClr val="000000"/>
                </a:solidFill>
              </a:rPr>
              <a:t>. Havayı içine çeker ve 90</a:t>
            </a:r>
            <a:r>
              <a:rPr lang="tr-TR" altLang="tr-TR" sz="2000" baseline="30000" dirty="0">
                <a:solidFill>
                  <a:srgbClr val="000000"/>
                </a:solidFill>
              </a:rPr>
              <a:t>o</a:t>
            </a:r>
            <a:r>
              <a:rPr lang="tr-TR" altLang="tr-TR" sz="2000" dirty="0">
                <a:solidFill>
                  <a:srgbClr val="000000"/>
                </a:solidFill>
              </a:rPr>
              <a:t> açı ile sistem boyunca ilerlemesini sağlar.</a:t>
            </a:r>
          </a:p>
          <a:p>
            <a:pPr eaLnBrk="1" hangingPunct="1"/>
            <a:r>
              <a:rPr lang="tr-TR" altLang="tr-TR" sz="2000" dirty="0">
                <a:solidFill>
                  <a:srgbClr val="FF0000"/>
                </a:solidFill>
              </a:rPr>
              <a:t>Lokal egzoz sistemleri için uygun</a:t>
            </a:r>
            <a:r>
              <a:rPr lang="tr-TR" altLang="tr-TR" sz="2000" dirty="0"/>
              <a:t>, </a:t>
            </a:r>
            <a:r>
              <a:rPr lang="tr-TR" altLang="tr-TR" sz="2000" b="1" dirty="0"/>
              <a:t>güçlü çekişli fanlardır</a:t>
            </a:r>
            <a:r>
              <a:rPr lang="tr-TR" altLang="tr-TR" sz="2000" dirty="0"/>
              <a:t>.</a:t>
            </a:r>
            <a:endParaRPr lang="tr-TR" altLang="tr-TR" sz="2000" b="1" dirty="0"/>
          </a:p>
          <a:p>
            <a:pPr eaLnBrk="1" hangingPunct="1"/>
            <a:endParaRPr lang="tr-TR" altLang="tr-TR" sz="2000" dirty="0"/>
          </a:p>
          <a:p>
            <a:pPr eaLnBrk="1" hangingPunct="1"/>
            <a:endParaRPr lang="tr-TR" altLang="tr-TR" sz="2000" dirty="0"/>
          </a:p>
          <a:p>
            <a:pPr eaLnBrk="1" hangingPunct="1"/>
            <a:endParaRPr lang="tr-TR" altLang="tr-TR" sz="2000" dirty="0"/>
          </a:p>
        </p:txBody>
      </p:sp>
      <p:sp>
        <p:nvSpPr>
          <p:cNvPr id="120835" name="Slayt Numarası Yer Tutucusu 2"/>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94A519C8-0A65-4C64-8AE6-F8706103FD92}" type="slidenum">
              <a:rPr lang="tr-TR" altLang="tr-TR" smtClean="0"/>
              <a:pPr eaLnBrk="1" hangingPunct="1"/>
              <a:t>28</a:t>
            </a:fld>
            <a:endParaRPr lang="tr-TR" altLang="tr-TR" smtClean="0"/>
          </a:p>
        </p:txBody>
      </p:sp>
    </p:spTree>
    <p:extLst>
      <p:ext uri="{BB962C8B-B14F-4D97-AF65-F5344CB8AC3E}">
        <p14:creationId xmlns:p14="http://schemas.microsoft.com/office/powerpoint/2010/main" xmlns="" val="181210459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58" name="Picture 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192713" y="2101850"/>
            <a:ext cx="2152650" cy="2124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21859"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755650" y="1989138"/>
            <a:ext cx="2160588" cy="2232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1860" name="5 Dikdörtgen"/>
          <p:cNvSpPr>
            <a:spLocks noChangeArrowheads="1"/>
          </p:cNvSpPr>
          <p:nvPr/>
        </p:nvSpPr>
        <p:spPr bwMode="auto">
          <a:xfrm>
            <a:off x="250825" y="4797425"/>
            <a:ext cx="8642350"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tr-TR" altLang="tr-TR" sz="2000" b="1"/>
              <a:t>         </a:t>
            </a:r>
            <a:r>
              <a:rPr lang="tr-TR" altLang="tr-TR" sz="2000" b="1">
                <a:solidFill>
                  <a:srgbClr val="000099"/>
                </a:solidFill>
              </a:rPr>
              <a:t>Eksenel (pervane) fan                                    Santrifüj fan</a:t>
            </a:r>
          </a:p>
          <a:p>
            <a:pPr eaLnBrk="1" hangingPunct="1"/>
            <a:r>
              <a:rPr lang="tr-TR" altLang="tr-TR" sz="2000"/>
              <a:t>                 </a:t>
            </a:r>
          </a:p>
        </p:txBody>
      </p:sp>
      <p:sp>
        <p:nvSpPr>
          <p:cNvPr id="121861" name="Slayt Numarası Yer Tutucusu 3"/>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885106BD-BDC1-482D-B2F0-A63CAA4A855B}" type="slidenum">
              <a:rPr lang="tr-TR" altLang="tr-TR" smtClean="0"/>
              <a:pPr eaLnBrk="1" hangingPunct="1"/>
              <a:t>29</a:t>
            </a:fld>
            <a:endParaRPr lang="tr-TR" altLang="tr-TR" smtClean="0"/>
          </a:p>
        </p:txBody>
      </p:sp>
    </p:spTree>
    <p:extLst>
      <p:ext uri="{BB962C8B-B14F-4D97-AF65-F5344CB8AC3E}">
        <p14:creationId xmlns:p14="http://schemas.microsoft.com/office/powerpoint/2010/main" xmlns="" val="103683076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1 Dikdörtgen"/>
          <p:cNvSpPr>
            <a:spLocks noChangeArrowheads="1"/>
          </p:cNvSpPr>
          <p:nvPr/>
        </p:nvSpPr>
        <p:spPr bwMode="auto">
          <a:xfrm>
            <a:off x="0" y="188912"/>
            <a:ext cx="8532440" cy="67403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tr-TR" altLang="tr-TR" sz="2400" b="1" dirty="0">
                <a:solidFill>
                  <a:srgbClr val="000099"/>
                </a:solidFill>
              </a:rPr>
              <a:t>Hava tahliye noktaları</a:t>
            </a:r>
          </a:p>
          <a:p>
            <a:pPr eaLnBrk="1" hangingPunct="1"/>
            <a:r>
              <a:rPr lang="tr-TR" altLang="tr-TR" sz="2000" dirty="0"/>
              <a:t>Hava tahliye noktası fan giriş noktasından uzak olmalıdır. Aksi takdirde tahliye edilen kirli hava giriş havasına karışabilir bu da sistemde birikmeye neden olarak sistem verimini düşürür. Girişten sadece temiz dış ortam havası girmesi sağlanmalıdır.</a:t>
            </a:r>
          </a:p>
          <a:p>
            <a:pPr eaLnBrk="1" hangingPunct="1"/>
            <a:r>
              <a:rPr lang="tr-TR" altLang="tr-TR" sz="2000" dirty="0"/>
              <a:t>Tahliye egzozları</a:t>
            </a:r>
            <a:r>
              <a:rPr lang="tr-TR" altLang="tr-TR" sz="2000" b="1" dirty="0"/>
              <a:t>, tavandan olabildiğince yüksek olmalıdır </a:t>
            </a:r>
            <a:r>
              <a:rPr lang="tr-TR" altLang="tr-TR" sz="2000" dirty="0"/>
              <a:t>ki tahliye edilen kirli hava tekrar iç ortama girmesin. </a:t>
            </a:r>
            <a:r>
              <a:rPr lang="tr-TR" altLang="tr-TR" sz="2000" dirty="0">
                <a:solidFill>
                  <a:srgbClr val="FF0000"/>
                </a:solidFill>
              </a:rPr>
              <a:t>Genel olarak </a:t>
            </a:r>
            <a:r>
              <a:rPr lang="tr-TR" altLang="tr-TR" sz="2000" b="1" dirty="0">
                <a:solidFill>
                  <a:srgbClr val="000099"/>
                </a:solidFill>
              </a:rPr>
              <a:t>tahliye egzozları </a:t>
            </a:r>
            <a:r>
              <a:rPr lang="tr-TR" altLang="tr-TR" sz="2000" dirty="0">
                <a:solidFill>
                  <a:srgbClr val="FF0000"/>
                </a:solidFill>
              </a:rPr>
              <a:t>hava giriş bölgesinden </a:t>
            </a:r>
            <a:r>
              <a:rPr lang="tr-TR" altLang="tr-TR" sz="2000" b="1" u="sng" dirty="0">
                <a:solidFill>
                  <a:srgbClr val="000099"/>
                </a:solidFill>
                <a:latin typeface="Arial Black" pitchFamily="34" charset="0"/>
              </a:rPr>
              <a:t>15 metre uzakta</a:t>
            </a:r>
            <a:r>
              <a:rPr lang="tr-TR" altLang="tr-TR" sz="2000" u="sng" dirty="0">
                <a:solidFill>
                  <a:srgbClr val="000099"/>
                </a:solidFill>
                <a:latin typeface="Arial Black" pitchFamily="34" charset="0"/>
              </a:rPr>
              <a:t> </a:t>
            </a:r>
            <a:r>
              <a:rPr lang="tr-TR" altLang="tr-TR" sz="2000" dirty="0">
                <a:solidFill>
                  <a:srgbClr val="FF0000"/>
                </a:solidFill>
                <a:latin typeface="Arial Black" pitchFamily="34" charset="0"/>
              </a:rPr>
              <a:t>olmalıdır. Bacalar ne kadar yüksekse o kadar iyi çalışmaktadır. </a:t>
            </a:r>
            <a:r>
              <a:rPr lang="tr-TR" altLang="tr-TR" sz="2000" b="1" u="sng" dirty="0">
                <a:solidFill>
                  <a:srgbClr val="000099"/>
                </a:solidFill>
                <a:latin typeface="Arial Black" pitchFamily="34" charset="0"/>
              </a:rPr>
              <a:t>Baca yüksekliği ise</a:t>
            </a:r>
            <a:r>
              <a:rPr lang="tr-TR" altLang="tr-TR" sz="2000" b="1" u="sng" dirty="0">
                <a:solidFill>
                  <a:srgbClr val="FF0000"/>
                </a:solidFill>
                <a:latin typeface="Arial Black" pitchFamily="34" charset="0"/>
              </a:rPr>
              <a:t> </a:t>
            </a:r>
            <a:r>
              <a:rPr lang="tr-TR" altLang="tr-TR" sz="2000" b="1" dirty="0">
                <a:solidFill>
                  <a:srgbClr val="000099"/>
                </a:solidFill>
                <a:latin typeface="Arial Black" pitchFamily="34" charset="0"/>
              </a:rPr>
              <a:t>en az 3 metre </a:t>
            </a:r>
            <a:r>
              <a:rPr lang="tr-TR" altLang="tr-TR" sz="2000" dirty="0">
                <a:solidFill>
                  <a:srgbClr val="FF0000"/>
                </a:solidFill>
                <a:latin typeface="Arial Black" pitchFamily="34" charset="0"/>
              </a:rPr>
              <a:t>olmalıdır</a:t>
            </a:r>
            <a:r>
              <a:rPr lang="tr-TR" altLang="tr-TR" sz="2000" dirty="0"/>
              <a:t>.</a:t>
            </a:r>
          </a:p>
          <a:p>
            <a:pPr eaLnBrk="1" hangingPunct="1"/>
            <a:endParaRPr lang="tr-TR" altLang="tr-TR" sz="2000" dirty="0"/>
          </a:p>
          <a:p>
            <a:pPr eaLnBrk="1" hangingPunct="1"/>
            <a:r>
              <a:rPr lang="tr-TR" altLang="tr-TR" sz="2800" b="1" u="sng" dirty="0">
                <a:solidFill>
                  <a:srgbClr val="000099"/>
                </a:solidFill>
              </a:rPr>
              <a:t>C- Davlumbazlar</a:t>
            </a:r>
          </a:p>
          <a:p>
            <a:pPr eaLnBrk="1" hangingPunct="1"/>
            <a:r>
              <a:rPr lang="tr-TR" altLang="tr-TR" sz="2000" dirty="0"/>
              <a:t>Davlumbaz</a:t>
            </a:r>
            <a:r>
              <a:rPr lang="tr-TR" altLang="tr-TR" sz="2000" dirty="0">
                <a:solidFill>
                  <a:srgbClr val="FF0000"/>
                </a:solidFill>
              </a:rPr>
              <a:t>, kirlenmiş havayı içine çeken ve kanallara aktaran </a:t>
            </a:r>
            <a:r>
              <a:rPr lang="tr-TR" altLang="tr-TR" sz="2000" dirty="0"/>
              <a:t>havalandırma sistemi ünitesidir. Davlumbazların boyutları ve şekilleri kullanılacağı alana göre özel olarak tasarlanmaktadır.</a:t>
            </a:r>
          </a:p>
          <a:p>
            <a:pPr eaLnBrk="1" hangingPunct="1"/>
            <a:endParaRPr lang="tr-TR" altLang="tr-TR" sz="2000" dirty="0"/>
          </a:p>
          <a:p>
            <a:pPr eaLnBrk="1" hangingPunct="1"/>
            <a:r>
              <a:rPr lang="tr-TR" altLang="tr-TR" sz="2000" dirty="0"/>
              <a:t> </a:t>
            </a:r>
            <a:r>
              <a:rPr lang="tr-TR" altLang="tr-TR" sz="2000" dirty="0">
                <a:solidFill>
                  <a:srgbClr val="000099"/>
                </a:solidFill>
              </a:rPr>
              <a:t>Davlumbaz </a:t>
            </a:r>
            <a:r>
              <a:rPr lang="tr-TR" altLang="tr-TR" sz="2000" b="1" u="sng" dirty="0">
                <a:solidFill>
                  <a:srgbClr val="000099"/>
                </a:solidFill>
              </a:rPr>
              <a:t>ağzındaki hava hızı oluşan </a:t>
            </a:r>
            <a:r>
              <a:rPr lang="tr-TR" altLang="tr-TR" sz="2000" b="1" u="sng" dirty="0">
                <a:solidFill>
                  <a:srgbClr val="FF0000"/>
                </a:solidFill>
              </a:rPr>
              <a:t>parçacığı çekecek güçte olmalıdır </a:t>
            </a:r>
            <a:r>
              <a:rPr lang="tr-TR" altLang="tr-TR" sz="2000" dirty="0">
                <a:solidFill>
                  <a:srgbClr val="000099"/>
                </a:solidFill>
              </a:rPr>
              <a:t>ve verimli olarak çalışabilmesi için </a:t>
            </a:r>
            <a:r>
              <a:rPr lang="tr-TR" altLang="tr-TR" sz="2000" b="1" u="sng" dirty="0">
                <a:solidFill>
                  <a:srgbClr val="FF0000"/>
                </a:solidFill>
              </a:rPr>
              <a:t>kirli hava kaynağını saracak şekilde veya çok yakın bir konumda</a:t>
            </a:r>
            <a:r>
              <a:rPr lang="tr-TR" altLang="tr-TR" sz="2000" b="1" u="sng" dirty="0">
                <a:solidFill>
                  <a:srgbClr val="000099"/>
                </a:solidFill>
              </a:rPr>
              <a:t> yerleştirilmesi gerekmektedir.</a:t>
            </a:r>
          </a:p>
          <a:p>
            <a:pPr eaLnBrk="1" hangingPunct="1"/>
            <a:endParaRPr lang="tr-TR" altLang="tr-TR" sz="2000" dirty="0"/>
          </a:p>
        </p:txBody>
      </p:sp>
      <p:sp>
        <p:nvSpPr>
          <p:cNvPr id="123907" name="Slayt Numarası Yer Tutucusu 3"/>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1EE3EF69-01A9-425E-A705-D069C96DAF97}" type="slidenum">
              <a:rPr lang="tr-TR" altLang="tr-TR" smtClean="0"/>
              <a:pPr eaLnBrk="1" hangingPunct="1"/>
              <a:t>30</a:t>
            </a:fld>
            <a:endParaRPr lang="tr-TR" altLang="tr-TR" smtClean="0"/>
          </a:p>
        </p:txBody>
      </p:sp>
    </p:spTree>
    <p:extLst>
      <p:ext uri="{BB962C8B-B14F-4D97-AF65-F5344CB8AC3E}">
        <p14:creationId xmlns:p14="http://schemas.microsoft.com/office/powerpoint/2010/main" xmlns="" val="81941246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1 Dikdörtgen"/>
          <p:cNvSpPr>
            <a:spLocks noChangeArrowheads="1"/>
          </p:cNvSpPr>
          <p:nvPr/>
        </p:nvSpPr>
        <p:spPr bwMode="auto">
          <a:xfrm>
            <a:off x="179388" y="188913"/>
            <a:ext cx="8785225" cy="55707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tr-TR" altLang="tr-TR" sz="2400" b="1" dirty="0">
                <a:latin typeface="Arial Black" pitchFamily="34" charset="0"/>
              </a:rPr>
              <a:t>Davlumbaz çeşitleri</a:t>
            </a:r>
          </a:p>
          <a:p>
            <a:pPr eaLnBrk="1" hangingPunct="1"/>
            <a:r>
              <a:rPr lang="tr-TR" altLang="tr-TR" sz="2000" dirty="0"/>
              <a:t>4 temel davlumbaz çeşidi vardır.</a:t>
            </a:r>
          </a:p>
          <a:p>
            <a:pPr eaLnBrk="1" hangingPunct="1"/>
            <a:r>
              <a:rPr lang="tr-TR" altLang="tr-TR" sz="2000" dirty="0"/>
              <a:t>- </a:t>
            </a:r>
            <a:r>
              <a:rPr lang="tr-TR" altLang="tr-TR" sz="2800" b="1" dirty="0">
                <a:solidFill>
                  <a:srgbClr val="000099"/>
                </a:solidFill>
              </a:rPr>
              <a:t>Çevreleyen</a:t>
            </a:r>
          </a:p>
          <a:p>
            <a:pPr eaLnBrk="1" hangingPunct="1"/>
            <a:r>
              <a:rPr lang="tr-TR" altLang="tr-TR" sz="2800" b="1" dirty="0">
                <a:solidFill>
                  <a:srgbClr val="000099"/>
                </a:solidFill>
              </a:rPr>
              <a:t>- Alıcı</a:t>
            </a:r>
          </a:p>
          <a:p>
            <a:pPr eaLnBrk="1" hangingPunct="1"/>
            <a:r>
              <a:rPr lang="tr-TR" altLang="tr-TR" sz="2800" b="1" dirty="0">
                <a:solidFill>
                  <a:srgbClr val="000099"/>
                </a:solidFill>
              </a:rPr>
              <a:t>- Yakalayıcı</a:t>
            </a:r>
          </a:p>
          <a:p>
            <a:pPr eaLnBrk="1" hangingPunct="1">
              <a:buFontTx/>
              <a:buChar char="-"/>
            </a:pPr>
            <a:r>
              <a:rPr lang="tr-TR" altLang="tr-TR" sz="2800" b="1" dirty="0">
                <a:solidFill>
                  <a:srgbClr val="000099"/>
                </a:solidFill>
              </a:rPr>
              <a:t>Taşınabilir </a:t>
            </a:r>
          </a:p>
          <a:p>
            <a:pPr eaLnBrk="1" hangingPunct="1">
              <a:buFontTx/>
              <a:buChar char="-"/>
            </a:pPr>
            <a:endParaRPr lang="tr-TR" altLang="tr-TR" sz="2000" b="1" dirty="0">
              <a:solidFill>
                <a:srgbClr val="000099"/>
              </a:solidFill>
            </a:endParaRPr>
          </a:p>
          <a:p>
            <a:pPr eaLnBrk="1" hangingPunct="1"/>
            <a:r>
              <a:rPr lang="tr-TR" altLang="tr-TR" sz="2000" b="1" dirty="0" smtClean="0"/>
              <a:t>Çevreleyen </a:t>
            </a:r>
            <a:r>
              <a:rPr lang="tr-TR" altLang="tr-TR" sz="2000" b="1" dirty="0"/>
              <a:t>Davlumbaz</a:t>
            </a:r>
          </a:p>
          <a:p>
            <a:pPr eaLnBrk="1" hangingPunct="1"/>
            <a:r>
              <a:rPr lang="tr-TR" altLang="tr-TR" sz="2000" dirty="0"/>
              <a:t>Çevreleyen davlumbaz, </a:t>
            </a:r>
            <a:r>
              <a:rPr lang="tr-TR" altLang="tr-TR" sz="2000" dirty="0">
                <a:solidFill>
                  <a:srgbClr val="000099"/>
                </a:solidFill>
              </a:rPr>
              <a:t>diğer adıyla </a:t>
            </a:r>
            <a:r>
              <a:rPr lang="tr-TR" altLang="tr-TR" sz="2000" b="1" dirty="0">
                <a:solidFill>
                  <a:srgbClr val="000099"/>
                </a:solidFill>
              </a:rPr>
              <a:t>duman davlumbazı</a:t>
            </a:r>
            <a:r>
              <a:rPr lang="tr-TR" altLang="tr-TR" sz="2000" dirty="0"/>
              <a:t>, </a:t>
            </a:r>
            <a:r>
              <a:rPr lang="tr-TR" altLang="tr-TR" sz="2000" dirty="0">
                <a:solidFill>
                  <a:srgbClr val="FF0000"/>
                </a:solidFill>
              </a:rPr>
              <a:t>kirli hava kaynağını saran, kutu gibi içerisine alan </a:t>
            </a:r>
            <a:r>
              <a:rPr lang="tr-TR" altLang="tr-TR" sz="2000" dirty="0"/>
              <a:t>davlumbazdır.</a:t>
            </a:r>
            <a:r>
              <a:rPr lang="tr-TR" altLang="tr-TR" sz="2000" dirty="0">
                <a:solidFill>
                  <a:srgbClr val="FF0000"/>
                </a:solidFill>
              </a:rPr>
              <a:t> </a:t>
            </a:r>
            <a:r>
              <a:rPr lang="tr-TR" altLang="tr-TR" sz="2000" dirty="0"/>
              <a:t>Bunlara örnek olarak </a:t>
            </a:r>
            <a:r>
              <a:rPr lang="tr-TR" altLang="tr-TR" sz="2000" b="1" dirty="0" err="1">
                <a:solidFill>
                  <a:srgbClr val="000099"/>
                </a:solidFill>
              </a:rPr>
              <a:t>laboratuar</a:t>
            </a:r>
            <a:r>
              <a:rPr lang="tr-TR" altLang="tr-TR" sz="2000" b="1" dirty="0">
                <a:solidFill>
                  <a:srgbClr val="000099"/>
                </a:solidFill>
              </a:rPr>
              <a:t> davlumbazları</a:t>
            </a:r>
            <a:r>
              <a:rPr lang="tr-TR" altLang="tr-TR" sz="2000" b="1" dirty="0"/>
              <a:t> </a:t>
            </a:r>
            <a:r>
              <a:rPr lang="tr-TR" altLang="tr-TR" sz="2000" dirty="0"/>
              <a:t>verilebilir.</a:t>
            </a:r>
            <a:r>
              <a:rPr lang="tr-TR" altLang="tr-TR" sz="2000" b="1" dirty="0">
                <a:solidFill>
                  <a:srgbClr val="000000"/>
                </a:solidFill>
              </a:rPr>
              <a:t> </a:t>
            </a:r>
          </a:p>
          <a:p>
            <a:pPr eaLnBrk="1" hangingPunct="1"/>
            <a:endParaRPr lang="tr-TR" altLang="tr-TR" sz="2000" b="1" dirty="0">
              <a:solidFill>
                <a:srgbClr val="000000"/>
              </a:solidFill>
            </a:endParaRPr>
          </a:p>
          <a:p>
            <a:pPr eaLnBrk="1" hangingPunct="1"/>
            <a:r>
              <a:rPr lang="tr-TR" altLang="tr-TR" sz="2000" b="1" dirty="0">
                <a:solidFill>
                  <a:srgbClr val="000000"/>
                </a:solidFill>
              </a:rPr>
              <a:t>Alıcı Davlumbaz</a:t>
            </a:r>
          </a:p>
          <a:p>
            <a:pPr eaLnBrk="1" hangingPunct="1"/>
            <a:r>
              <a:rPr lang="tr-TR" altLang="tr-TR" sz="2000" dirty="0">
                <a:solidFill>
                  <a:srgbClr val="000000"/>
                </a:solidFill>
              </a:rPr>
              <a:t>Bu tür davlumbazlar, </a:t>
            </a:r>
            <a:r>
              <a:rPr lang="tr-TR" altLang="tr-TR" sz="2000" dirty="0">
                <a:solidFill>
                  <a:srgbClr val="FF0000"/>
                </a:solidFill>
              </a:rPr>
              <a:t>kaynaktan yayılan ve belirli bir hızı olan </a:t>
            </a:r>
            <a:r>
              <a:rPr lang="tr-TR" altLang="tr-TR" sz="2000" b="1" dirty="0">
                <a:solidFill>
                  <a:srgbClr val="FF0000"/>
                </a:solidFill>
              </a:rPr>
              <a:t>kirli havayı karşılamak için </a:t>
            </a:r>
            <a:r>
              <a:rPr lang="tr-TR" altLang="tr-TR" sz="2000" b="1" dirty="0">
                <a:solidFill>
                  <a:srgbClr val="000000"/>
                </a:solidFill>
              </a:rPr>
              <a:t>tasarlanmıştır</a:t>
            </a:r>
            <a:r>
              <a:rPr lang="tr-TR" altLang="tr-TR" sz="2000" dirty="0">
                <a:solidFill>
                  <a:srgbClr val="000000"/>
                </a:solidFill>
              </a:rPr>
              <a:t>. Örnek: </a:t>
            </a:r>
            <a:r>
              <a:rPr lang="tr-TR" altLang="tr-TR" sz="2000" dirty="0">
                <a:solidFill>
                  <a:srgbClr val="000099"/>
                </a:solidFill>
              </a:rPr>
              <a:t>ocak üzerinde yükselen sıcak havayı çeken davlumbazlar.</a:t>
            </a:r>
          </a:p>
        </p:txBody>
      </p:sp>
      <p:sp>
        <p:nvSpPr>
          <p:cNvPr id="124931" name="Slayt Numarası Yer Tutucusu 5"/>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0C9ACDCB-83FE-46FD-8329-9E5CB228AA06}" type="slidenum">
              <a:rPr lang="tr-TR" altLang="tr-TR" smtClean="0"/>
              <a:pPr eaLnBrk="1" hangingPunct="1"/>
              <a:t>31</a:t>
            </a:fld>
            <a:endParaRPr lang="tr-TR" altLang="tr-TR" smtClean="0"/>
          </a:p>
        </p:txBody>
      </p:sp>
    </p:spTree>
    <p:extLst>
      <p:ext uri="{BB962C8B-B14F-4D97-AF65-F5344CB8AC3E}">
        <p14:creationId xmlns:p14="http://schemas.microsoft.com/office/powerpoint/2010/main" xmlns="" val="142873584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ayt Numarası Yer Tutucusu 1"/>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9B76C365-182A-4F40-A5AA-F8E67CE1E712}" type="slidenum">
              <a:rPr lang="en-US" altLang="tr-TR" smtClean="0"/>
              <a:pPr eaLnBrk="1" hangingPunct="1"/>
              <a:t>32</a:t>
            </a:fld>
            <a:endParaRPr lang="en-US" altLang="tr-TR" smtClean="0"/>
          </a:p>
        </p:txBody>
      </p:sp>
      <p:sp>
        <p:nvSpPr>
          <p:cNvPr id="125955" name="Dikdörtgen 2"/>
          <p:cNvSpPr>
            <a:spLocks noChangeArrowheads="1"/>
          </p:cNvSpPr>
          <p:nvPr/>
        </p:nvSpPr>
        <p:spPr bwMode="auto">
          <a:xfrm>
            <a:off x="274489" y="476672"/>
            <a:ext cx="8066088" cy="4616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tr-TR" altLang="tr-TR" sz="2000" b="1" dirty="0">
              <a:solidFill>
                <a:srgbClr val="000000"/>
              </a:solidFill>
            </a:endParaRPr>
          </a:p>
          <a:p>
            <a:pPr eaLnBrk="1" hangingPunct="1"/>
            <a:endParaRPr lang="tr-TR" altLang="tr-TR" sz="2000" b="1" dirty="0">
              <a:solidFill>
                <a:srgbClr val="000000"/>
              </a:solidFill>
            </a:endParaRPr>
          </a:p>
          <a:p>
            <a:pPr eaLnBrk="1" hangingPunct="1"/>
            <a:r>
              <a:rPr lang="tr-TR" altLang="tr-TR" sz="2000" b="1" dirty="0">
                <a:solidFill>
                  <a:srgbClr val="000000"/>
                </a:solidFill>
              </a:rPr>
              <a:t>Yakalayıcı Davlumbaz</a:t>
            </a:r>
          </a:p>
          <a:p>
            <a:pPr eaLnBrk="1" hangingPunct="1"/>
            <a:r>
              <a:rPr lang="tr-TR" altLang="tr-TR" sz="2000" dirty="0">
                <a:solidFill>
                  <a:srgbClr val="000000"/>
                </a:solidFill>
              </a:rPr>
              <a:t>Bu tür davlumbazlar </a:t>
            </a:r>
            <a:r>
              <a:rPr lang="tr-TR" altLang="tr-TR" sz="2000" dirty="0">
                <a:solidFill>
                  <a:srgbClr val="000099"/>
                </a:solidFill>
              </a:rPr>
              <a:t>emisyon kaynağına yakın </a:t>
            </a:r>
            <a:r>
              <a:rPr lang="tr-TR" altLang="tr-TR" sz="2000" dirty="0" smtClean="0">
                <a:solidFill>
                  <a:srgbClr val="000099"/>
                </a:solidFill>
              </a:rPr>
              <a:t>konumlandırılmışlardır</a:t>
            </a:r>
            <a:r>
              <a:rPr lang="tr-TR" altLang="tr-TR" sz="2000" dirty="0">
                <a:solidFill>
                  <a:srgbClr val="000000"/>
                </a:solidFill>
              </a:rPr>
              <a:t>. Yalnız </a:t>
            </a:r>
            <a:r>
              <a:rPr lang="tr-TR" altLang="tr-TR" sz="2000" dirty="0" smtClean="0">
                <a:solidFill>
                  <a:srgbClr val="000000"/>
                </a:solidFill>
              </a:rPr>
              <a:t>kaynağı </a:t>
            </a:r>
            <a:r>
              <a:rPr lang="tr-TR" altLang="tr-TR" sz="2000" dirty="0">
                <a:solidFill>
                  <a:srgbClr val="000000"/>
                </a:solidFill>
              </a:rPr>
              <a:t>“çevreleyen davlumbaz” gibi sarmamaktadırlar. </a:t>
            </a:r>
            <a:r>
              <a:rPr lang="tr-TR" altLang="tr-TR" sz="2000" dirty="0">
                <a:solidFill>
                  <a:srgbClr val="FF0000"/>
                </a:solidFill>
              </a:rPr>
              <a:t>Emisyon kaynağına ve emisyon hızına göre kirli havayı belirli bir yakalama hızı ile emmektedir.</a:t>
            </a:r>
            <a:r>
              <a:rPr lang="tr-TR" altLang="tr-TR" sz="2000" b="1" dirty="0">
                <a:solidFill>
                  <a:srgbClr val="000000"/>
                </a:solidFill>
              </a:rPr>
              <a:t> </a:t>
            </a:r>
          </a:p>
          <a:p>
            <a:pPr eaLnBrk="1" hangingPunct="1"/>
            <a:endParaRPr lang="tr-TR" altLang="tr-TR" sz="2000" b="1" dirty="0">
              <a:solidFill>
                <a:srgbClr val="000000"/>
              </a:solidFill>
            </a:endParaRPr>
          </a:p>
          <a:p>
            <a:pPr eaLnBrk="1" hangingPunct="1"/>
            <a:endParaRPr lang="tr-TR" altLang="tr-TR" sz="2000" b="1" dirty="0">
              <a:solidFill>
                <a:srgbClr val="000000"/>
              </a:solidFill>
            </a:endParaRPr>
          </a:p>
          <a:p>
            <a:pPr eaLnBrk="1" hangingPunct="1"/>
            <a:r>
              <a:rPr lang="tr-TR" altLang="tr-TR" sz="2000" b="1" dirty="0">
                <a:solidFill>
                  <a:srgbClr val="000000"/>
                </a:solidFill>
              </a:rPr>
              <a:t>Taşınabilir Davlumbaz</a:t>
            </a:r>
          </a:p>
          <a:p>
            <a:pPr eaLnBrk="1" hangingPunct="1"/>
            <a:r>
              <a:rPr lang="tr-TR" altLang="tr-TR" sz="2000" dirty="0">
                <a:solidFill>
                  <a:srgbClr val="000000"/>
                </a:solidFill>
              </a:rPr>
              <a:t>Yakalayıcı davlumbazlar bazı durumlarda (yükleme, boşaltma vs.) kolay erişim için taşınabilir sistemler seklinde tasarlanmaktadır:</a:t>
            </a:r>
          </a:p>
          <a:p>
            <a:pPr eaLnBrk="1" hangingPunct="1"/>
            <a:endParaRPr lang="tr-TR" altLang="tr-TR" dirty="0">
              <a:solidFill>
                <a:srgbClr val="FF0000"/>
              </a:solidFill>
            </a:endParaRPr>
          </a:p>
          <a:p>
            <a:pPr eaLnBrk="1" hangingPunct="1"/>
            <a:endParaRPr lang="tr-TR" altLang="tr-TR" dirty="0">
              <a:solidFill>
                <a:srgbClr val="FF0000"/>
              </a:solidFill>
            </a:endParaRPr>
          </a:p>
          <a:p>
            <a:pPr eaLnBrk="1" hangingPunct="1"/>
            <a:endParaRPr lang="tr-TR" altLang="tr-TR" dirty="0">
              <a:solidFill>
                <a:srgbClr val="FF0000"/>
              </a:solidFill>
            </a:endParaRPr>
          </a:p>
        </p:txBody>
      </p:sp>
    </p:spTree>
    <p:extLst>
      <p:ext uri="{BB962C8B-B14F-4D97-AF65-F5344CB8AC3E}">
        <p14:creationId xmlns:p14="http://schemas.microsoft.com/office/powerpoint/2010/main" xmlns="" val="306267890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1 Dikdörtgen"/>
          <p:cNvSpPr>
            <a:spLocks noChangeArrowheads="1"/>
          </p:cNvSpPr>
          <p:nvPr/>
        </p:nvSpPr>
        <p:spPr bwMode="auto">
          <a:xfrm>
            <a:off x="179388" y="188913"/>
            <a:ext cx="8785225"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tr-TR" altLang="tr-TR" sz="2000"/>
              <a:t>.</a:t>
            </a:r>
          </a:p>
        </p:txBody>
      </p:sp>
      <p:pic>
        <p:nvPicPr>
          <p:cNvPr id="126979"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522913" y="1557338"/>
            <a:ext cx="3457575" cy="3384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6980" name="3 Dikdörtgen"/>
          <p:cNvSpPr>
            <a:spLocks noChangeArrowheads="1"/>
          </p:cNvSpPr>
          <p:nvPr/>
        </p:nvSpPr>
        <p:spPr bwMode="auto">
          <a:xfrm>
            <a:off x="6394450" y="5170488"/>
            <a:ext cx="1533525" cy="706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tr-TR" altLang="tr-TR" sz="2000">
                <a:solidFill>
                  <a:srgbClr val="000099"/>
                </a:solidFill>
              </a:rPr>
              <a:t>Alıcı davlumbaz</a:t>
            </a:r>
          </a:p>
        </p:txBody>
      </p:sp>
      <p:pic>
        <p:nvPicPr>
          <p:cNvPr id="126981" name="Picture 5"/>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0638" y="1196975"/>
            <a:ext cx="4895850" cy="3384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6982" name="7 Dikdörtgen"/>
          <p:cNvSpPr>
            <a:spLocks noChangeArrowheads="1"/>
          </p:cNvSpPr>
          <p:nvPr/>
        </p:nvSpPr>
        <p:spPr bwMode="auto">
          <a:xfrm>
            <a:off x="1042988" y="4797425"/>
            <a:ext cx="3241675" cy="101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tr-TR" altLang="tr-TR" sz="2000"/>
          </a:p>
          <a:p>
            <a:pPr eaLnBrk="1" hangingPunct="1"/>
            <a:r>
              <a:rPr lang="tr-TR" altLang="tr-TR" sz="2000">
                <a:solidFill>
                  <a:srgbClr val="000099"/>
                </a:solidFill>
              </a:rPr>
              <a:t>Çevreleyen ve alıcı    davlumbazlar</a:t>
            </a:r>
          </a:p>
        </p:txBody>
      </p:sp>
      <p:sp>
        <p:nvSpPr>
          <p:cNvPr id="126983" name="Slayt Numarası Yer Tutucusu 4"/>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DD0F5002-B4E1-48E8-A6CE-9D34CCD4E1B5}" type="slidenum">
              <a:rPr lang="tr-TR" altLang="tr-TR" smtClean="0"/>
              <a:pPr eaLnBrk="1" hangingPunct="1"/>
              <a:t>33</a:t>
            </a:fld>
            <a:endParaRPr lang="tr-TR" altLang="tr-TR" smtClean="0"/>
          </a:p>
        </p:txBody>
      </p:sp>
    </p:spTree>
    <p:extLst>
      <p:ext uri="{BB962C8B-B14F-4D97-AF65-F5344CB8AC3E}">
        <p14:creationId xmlns:p14="http://schemas.microsoft.com/office/powerpoint/2010/main" xmlns="" val="190984009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388" y="1196752"/>
            <a:ext cx="2592387" cy="2808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8003" name="3 Dikdörtgen"/>
          <p:cNvSpPr>
            <a:spLocks noChangeArrowheads="1"/>
          </p:cNvSpPr>
          <p:nvPr/>
        </p:nvSpPr>
        <p:spPr bwMode="auto">
          <a:xfrm>
            <a:off x="179388" y="4653136"/>
            <a:ext cx="3455987" cy="10144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tr-TR" altLang="tr-TR" sz="2000" dirty="0">
                <a:solidFill>
                  <a:srgbClr val="000099"/>
                </a:solidFill>
              </a:rPr>
              <a:t>Kaynak isleri için</a:t>
            </a:r>
          </a:p>
          <a:p>
            <a:pPr algn="ctr" eaLnBrk="1" hangingPunct="1"/>
            <a:r>
              <a:rPr lang="tr-TR" altLang="tr-TR" sz="2000" dirty="0">
                <a:solidFill>
                  <a:srgbClr val="000099"/>
                </a:solidFill>
              </a:rPr>
              <a:t>kullanılan yakalayıcı davlumbaz</a:t>
            </a:r>
          </a:p>
        </p:txBody>
      </p:sp>
      <p:pic>
        <p:nvPicPr>
          <p:cNvPr id="128004"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419475" y="980728"/>
            <a:ext cx="2520950" cy="2952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8005" name="5 Dikdörtgen"/>
          <p:cNvSpPr>
            <a:spLocks noChangeArrowheads="1"/>
          </p:cNvSpPr>
          <p:nvPr/>
        </p:nvSpPr>
        <p:spPr bwMode="auto">
          <a:xfrm>
            <a:off x="3563938" y="4653136"/>
            <a:ext cx="2736850" cy="706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tr-TR" altLang="tr-TR" sz="2000" dirty="0">
                <a:solidFill>
                  <a:srgbClr val="000099"/>
                </a:solidFill>
              </a:rPr>
              <a:t>Yakalayıcı</a:t>
            </a:r>
          </a:p>
          <a:p>
            <a:pPr algn="ctr" eaLnBrk="1" hangingPunct="1"/>
            <a:r>
              <a:rPr lang="tr-TR" altLang="tr-TR" sz="2000" dirty="0">
                <a:solidFill>
                  <a:srgbClr val="000099"/>
                </a:solidFill>
              </a:rPr>
              <a:t> davlumbaz</a:t>
            </a:r>
          </a:p>
        </p:txBody>
      </p:sp>
      <p:pic>
        <p:nvPicPr>
          <p:cNvPr id="128006"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6300788" y="1124744"/>
            <a:ext cx="2657475" cy="2952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8007" name="7 Dikdörtgen"/>
          <p:cNvSpPr>
            <a:spLocks noChangeArrowheads="1"/>
          </p:cNvSpPr>
          <p:nvPr/>
        </p:nvSpPr>
        <p:spPr bwMode="auto">
          <a:xfrm>
            <a:off x="6012160" y="4581128"/>
            <a:ext cx="2627312" cy="101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tr-TR" altLang="tr-TR" sz="2000" dirty="0" smtClean="0">
                <a:solidFill>
                  <a:srgbClr val="000099"/>
                </a:solidFill>
              </a:rPr>
              <a:t>Öğütme </a:t>
            </a:r>
            <a:r>
              <a:rPr lang="tr-TR" altLang="tr-TR" sz="2000" dirty="0">
                <a:solidFill>
                  <a:srgbClr val="000099"/>
                </a:solidFill>
              </a:rPr>
              <a:t>isleri için kullanılan yakalayıcı davlumbaz</a:t>
            </a:r>
          </a:p>
        </p:txBody>
      </p:sp>
      <p:sp>
        <p:nvSpPr>
          <p:cNvPr id="128008" name="Slayt Numarası Yer Tutucusu 4"/>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52ABCF85-AD7C-479F-9742-32531411E307}" type="slidenum">
              <a:rPr lang="tr-TR" altLang="tr-TR" smtClean="0"/>
              <a:pPr eaLnBrk="1" hangingPunct="1"/>
              <a:t>34</a:t>
            </a:fld>
            <a:endParaRPr lang="tr-TR" altLang="tr-TR" smtClean="0"/>
          </a:p>
        </p:txBody>
      </p:sp>
    </p:spTree>
    <p:extLst>
      <p:ext uri="{BB962C8B-B14F-4D97-AF65-F5344CB8AC3E}">
        <p14:creationId xmlns:p14="http://schemas.microsoft.com/office/powerpoint/2010/main" xmlns="" val="63805245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6"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627313" y="1412875"/>
            <a:ext cx="4019550" cy="3305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9027" name="4 Dikdörtgen"/>
          <p:cNvSpPr>
            <a:spLocks noChangeArrowheads="1"/>
          </p:cNvSpPr>
          <p:nvPr/>
        </p:nvSpPr>
        <p:spPr bwMode="auto">
          <a:xfrm>
            <a:off x="2771775" y="4868863"/>
            <a:ext cx="2722563"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tr-TR" altLang="tr-TR" sz="2000">
                <a:solidFill>
                  <a:srgbClr val="000099"/>
                </a:solidFill>
              </a:rPr>
              <a:t>Taşınabilir  davlumbaz</a:t>
            </a:r>
          </a:p>
        </p:txBody>
      </p:sp>
      <p:sp>
        <p:nvSpPr>
          <p:cNvPr id="129028" name="Slayt Numarası Yer Tutucusu 3"/>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3EB91983-D347-4454-851B-EA66D5D4E0FC}" type="slidenum">
              <a:rPr lang="tr-TR" altLang="tr-TR" smtClean="0"/>
              <a:pPr eaLnBrk="1" hangingPunct="1"/>
              <a:t>35</a:t>
            </a:fld>
            <a:endParaRPr lang="tr-TR" altLang="tr-TR" smtClean="0"/>
          </a:p>
        </p:txBody>
      </p:sp>
    </p:spTree>
    <p:extLst>
      <p:ext uri="{BB962C8B-B14F-4D97-AF65-F5344CB8AC3E}">
        <p14:creationId xmlns:p14="http://schemas.microsoft.com/office/powerpoint/2010/main" xmlns="" val="364054105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Rectangle 3"/>
          <p:cNvSpPr>
            <a:spLocks noGrp="1" noChangeArrowheads="1"/>
          </p:cNvSpPr>
          <p:nvPr>
            <p:ph idx="1"/>
          </p:nvPr>
        </p:nvSpPr>
        <p:spPr>
          <a:xfrm>
            <a:off x="468313" y="836613"/>
            <a:ext cx="8229600" cy="4525962"/>
          </a:xfrm>
        </p:spPr>
        <p:txBody>
          <a:bodyPr/>
          <a:lstStyle/>
          <a:p>
            <a:pPr eaLnBrk="1" hangingPunct="1">
              <a:lnSpc>
                <a:spcPct val="90000"/>
              </a:lnSpc>
              <a:buNone/>
            </a:pPr>
            <a:r>
              <a:rPr lang="tr-TR" altLang="tr-TR" sz="2400" dirty="0" smtClean="0">
                <a:latin typeface="+mj-lt"/>
              </a:rPr>
              <a:t>Hangi havalandırma yönteminin uygulanması gerektiği,</a:t>
            </a:r>
          </a:p>
          <a:p>
            <a:pPr eaLnBrk="1" hangingPunct="1">
              <a:lnSpc>
                <a:spcPct val="90000"/>
              </a:lnSpc>
            </a:pPr>
            <a:endParaRPr lang="tr-TR" altLang="tr-TR" dirty="0" smtClean="0">
              <a:solidFill>
                <a:srgbClr val="FF0000"/>
              </a:solidFill>
              <a:latin typeface="+mj-lt"/>
            </a:endParaRPr>
          </a:p>
          <a:p>
            <a:pPr eaLnBrk="1" hangingPunct="1">
              <a:lnSpc>
                <a:spcPct val="90000"/>
              </a:lnSpc>
            </a:pPr>
            <a:r>
              <a:rPr lang="tr-TR" altLang="tr-TR" dirty="0" smtClean="0">
                <a:latin typeface="+mj-lt"/>
              </a:rPr>
              <a:t>- </a:t>
            </a:r>
            <a:r>
              <a:rPr lang="tr-TR" altLang="tr-TR" sz="2800" dirty="0" smtClean="0">
                <a:solidFill>
                  <a:srgbClr val="000099"/>
                </a:solidFill>
                <a:latin typeface="+mj-lt"/>
              </a:rPr>
              <a:t>çalışanların sayısına,</a:t>
            </a:r>
          </a:p>
          <a:p>
            <a:pPr eaLnBrk="1" hangingPunct="1">
              <a:lnSpc>
                <a:spcPct val="90000"/>
              </a:lnSpc>
            </a:pPr>
            <a:r>
              <a:rPr lang="tr-TR" altLang="tr-TR" sz="2800" dirty="0" smtClean="0">
                <a:solidFill>
                  <a:srgbClr val="000099"/>
                </a:solidFill>
                <a:latin typeface="+mj-lt"/>
              </a:rPr>
              <a:t>- çevre/iklim şartlarına,</a:t>
            </a:r>
          </a:p>
          <a:p>
            <a:pPr eaLnBrk="1" hangingPunct="1">
              <a:lnSpc>
                <a:spcPct val="90000"/>
              </a:lnSpc>
            </a:pPr>
            <a:r>
              <a:rPr lang="tr-TR" altLang="tr-TR" sz="2800" dirty="0" smtClean="0">
                <a:solidFill>
                  <a:srgbClr val="000099"/>
                </a:solidFill>
                <a:latin typeface="+mj-lt"/>
              </a:rPr>
              <a:t>- yapılan işin cins ve büyüklüğüne,</a:t>
            </a:r>
          </a:p>
          <a:p>
            <a:pPr eaLnBrk="1" hangingPunct="1">
              <a:lnSpc>
                <a:spcPct val="90000"/>
              </a:lnSpc>
            </a:pPr>
            <a:r>
              <a:rPr lang="tr-TR" altLang="tr-TR" sz="2800" dirty="0" smtClean="0">
                <a:solidFill>
                  <a:srgbClr val="000099"/>
                </a:solidFill>
                <a:latin typeface="+mj-lt"/>
              </a:rPr>
              <a:t>- atölyenin inşa tarzına, </a:t>
            </a:r>
          </a:p>
          <a:p>
            <a:pPr eaLnBrk="1" hangingPunct="1">
              <a:lnSpc>
                <a:spcPct val="90000"/>
              </a:lnSpc>
            </a:pPr>
            <a:r>
              <a:rPr lang="tr-TR" altLang="tr-TR" sz="2800" dirty="0" smtClean="0">
                <a:solidFill>
                  <a:srgbClr val="000099"/>
                </a:solidFill>
                <a:latin typeface="+mj-lt"/>
              </a:rPr>
              <a:t>- Kullanılan hammaddelerin cins ve yapılarına</a:t>
            </a:r>
          </a:p>
          <a:p>
            <a:pPr eaLnBrk="1" hangingPunct="1">
              <a:lnSpc>
                <a:spcPct val="90000"/>
              </a:lnSpc>
              <a:buFontTx/>
              <a:buNone/>
            </a:pPr>
            <a:r>
              <a:rPr lang="tr-TR" altLang="tr-TR" dirty="0" smtClean="0">
                <a:latin typeface="+mj-lt"/>
              </a:rPr>
              <a:t>      </a:t>
            </a:r>
            <a:r>
              <a:rPr lang="tr-TR" altLang="tr-TR" dirty="0" smtClean="0">
                <a:solidFill>
                  <a:srgbClr val="FF0000"/>
                </a:solidFill>
                <a:latin typeface="+mj-lt"/>
              </a:rPr>
              <a:t>göre değişir.</a:t>
            </a:r>
            <a:endParaRPr lang="en-US" altLang="tr-TR" dirty="0" smtClean="0">
              <a:solidFill>
                <a:srgbClr val="FF0000"/>
              </a:solidFill>
              <a:latin typeface="+mj-lt"/>
            </a:endParaRPr>
          </a:p>
        </p:txBody>
      </p:sp>
      <p:sp>
        <p:nvSpPr>
          <p:cNvPr id="131074" name="Slayt Numarası Yer Tutucusu 5"/>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8A292D46-94A6-4EB2-8B7C-BF63F4D741AA}" type="slidenum">
              <a:rPr lang="en-US" altLang="tr-TR" smtClean="0"/>
              <a:pPr eaLnBrk="1" hangingPunct="1"/>
              <a:t>36</a:t>
            </a:fld>
            <a:endParaRPr lang="en-US" altLang="tr-TR" smtClean="0"/>
          </a:p>
        </p:txBody>
      </p:sp>
    </p:spTree>
    <p:extLst>
      <p:ext uri="{BB962C8B-B14F-4D97-AF65-F5344CB8AC3E}">
        <p14:creationId xmlns:p14="http://schemas.microsoft.com/office/powerpoint/2010/main" xmlns="" val="114232589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2 İçerik Yer Tutucusu"/>
          <p:cNvSpPr>
            <a:spLocks noGrp="1"/>
          </p:cNvSpPr>
          <p:nvPr>
            <p:ph idx="1"/>
          </p:nvPr>
        </p:nvSpPr>
        <p:spPr>
          <a:xfrm>
            <a:off x="323850" y="692150"/>
            <a:ext cx="8229600" cy="5522913"/>
          </a:xfrm>
        </p:spPr>
        <p:txBody>
          <a:bodyPr/>
          <a:lstStyle/>
          <a:p>
            <a:pPr marL="342900" lvl="1" indent="-342900" eaLnBrk="1" hangingPunct="1">
              <a:lnSpc>
                <a:spcPct val="150000"/>
              </a:lnSpc>
              <a:buFontTx/>
              <a:buNone/>
            </a:pPr>
            <a:r>
              <a:rPr lang="tr-TR" altLang="tr-TR" dirty="0" smtClean="0">
                <a:latin typeface="+mj-lt"/>
              </a:rPr>
              <a:t>	</a:t>
            </a:r>
            <a:r>
              <a:rPr lang="tr-TR" altLang="tr-TR" b="1" dirty="0" err="1" smtClean="0">
                <a:latin typeface="+mj-lt"/>
              </a:rPr>
              <a:t>Civa</a:t>
            </a:r>
            <a:r>
              <a:rPr lang="tr-TR" altLang="tr-TR" b="1" dirty="0" smtClean="0">
                <a:latin typeface="+mj-lt"/>
              </a:rPr>
              <a:t> ve benzenle </a:t>
            </a:r>
            <a:r>
              <a:rPr lang="tr-TR" altLang="tr-TR" dirty="0" smtClean="0">
                <a:latin typeface="+mj-lt"/>
              </a:rPr>
              <a:t>çalışılan iş yerlerinde bu maddelerin buharlarının havadan ağır olması sebebiyle, </a:t>
            </a:r>
            <a:r>
              <a:rPr lang="tr-TR" altLang="tr-TR" b="1" dirty="0" smtClean="0">
                <a:solidFill>
                  <a:srgbClr val="000099"/>
                </a:solidFill>
                <a:latin typeface="+mj-lt"/>
              </a:rPr>
              <a:t>havalandırma tertibatı döşemeye yakın kısımlara yerleştirilmelidir. </a:t>
            </a:r>
          </a:p>
          <a:p>
            <a:pPr eaLnBrk="1" hangingPunct="1"/>
            <a:endParaRPr lang="tr-TR" altLang="tr-TR" dirty="0" smtClean="0">
              <a:solidFill>
                <a:srgbClr val="0070C0"/>
              </a:solidFill>
              <a:latin typeface="+mj-lt"/>
            </a:endParaRPr>
          </a:p>
        </p:txBody>
      </p:sp>
      <p:sp>
        <p:nvSpPr>
          <p:cNvPr id="132099" name="Slayt Numarası Yer Tutucusu 1"/>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409A1AD0-B135-47DE-AC9C-CDB6A1259AF1}" type="slidenum">
              <a:rPr lang="tr-TR" altLang="tr-TR" sz="1200" smtClean="0">
                <a:solidFill>
                  <a:srgbClr val="898989"/>
                </a:solidFill>
              </a:rPr>
              <a:pPr eaLnBrk="1" hangingPunct="1"/>
              <a:t>37</a:t>
            </a:fld>
            <a:endParaRPr lang="tr-TR" altLang="tr-TR" sz="1200" smtClean="0">
              <a:solidFill>
                <a:srgbClr val="898989"/>
              </a:solidFill>
            </a:endParaRPr>
          </a:p>
        </p:txBody>
      </p:sp>
      <p:pic>
        <p:nvPicPr>
          <p:cNvPr id="132100" name="Resim 1" descr="Controlling Hazards_22"/>
          <p:cNvPicPr>
            <a:picLocks noChangeAspect="1" noChangeArrowheads="1"/>
          </p:cNvPicPr>
          <p:nvPr/>
        </p:nvPicPr>
        <p:blipFill>
          <a:blip r:embed="rId2" cstate="print">
            <a:extLst>
              <a:ext uri="{28A0092B-C50C-407E-A947-70E740481C1C}">
                <a14:useLocalDpi xmlns:a14="http://schemas.microsoft.com/office/drawing/2010/main" xmlns="" val="0"/>
              </a:ext>
            </a:extLst>
          </a:blip>
          <a:srcRect l="24782"/>
          <a:stretch>
            <a:fillRect/>
          </a:stretch>
        </p:blipFill>
        <p:spPr bwMode="auto">
          <a:xfrm>
            <a:off x="1357313" y="3501008"/>
            <a:ext cx="2786062" cy="1866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32101" name="Resim 2" descr="Controlling Hazards_23"/>
          <p:cNvPicPr>
            <a:picLocks noChangeAspect="1" noChangeArrowheads="1"/>
          </p:cNvPicPr>
          <p:nvPr/>
        </p:nvPicPr>
        <p:blipFill>
          <a:blip r:embed="rId3" cstate="print">
            <a:extLst>
              <a:ext uri="{28A0092B-C50C-407E-A947-70E740481C1C}">
                <a14:useLocalDpi xmlns:a14="http://schemas.microsoft.com/office/drawing/2010/main" xmlns="" val="0"/>
              </a:ext>
            </a:extLst>
          </a:blip>
          <a:srcRect l="25684"/>
          <a:stretch>
            <a:fillRect/>
          </a:stretch>
        </p:blipFill>
        <p:spPr bwMode="auto">
          <a:xfrm>
            <a:off x="4929188" y="3429000"/>
            <a:ext cx="3071812" cy="18573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74663253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ayt Numarası Yer Tutucusu 3"/>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9EB7C556-4222-42BF-B089-38D8A85C8207}" type="slidenum">
              <a:rPr lang="en-US" altLang="tr-TR" smtClean="0"/>
              <a:pPr eaLnBrk="1" hangingPunct="1"/>
              <a:t>38</a:t>
            </a:fld>
            <a:endParaRPr lang="en-US" altLang="tr-TR" smtClean="0"/>
          </a:p>
        </p:txBody>
      </p:sp>
      <p:sp>
        <p:nvSpPr>
          <p:cNvPr id="135171" name="Rectangle 2"/>
          <p:cNvSpPr>
            <a:spLocks noGrp="1" noChangeArrowheads="1"/>
          </p:cNvSpPr>
          <p:nvPr>
            <p:ph type="title" idx="4294967295"/>
          </p:nvPr>
        </p:nvSpPr>
        <p:spPr>
          <a:xfrm>
            <a:off x="0" y="274638"/>
            <a:ext cx="8229600" cy="1143000"/>
          </a:xfrm>
        </p:spPr>
        <p:txBody>
          <a:bodyPr anchor="t"/>
          <a:lstStyle/>
          <a:p>
            <a:pPr eaLnBrk="1" hangingPunct="1"/>
            <a:r>
              <a:rPr lang="tr-TR" altLang="tr-TR" sz="3600" dirty="0" smtClean="0">
                <a:solidFill>
                  <a:schemeClr val="tx1"/>
                </a:solidFill>
                <a:latin typeface="+mj-lt"/>
              </a:rPr>
              <a:t>Havalandırma Planlamasında 3 Tespit</a:t>
            </a:r>
            <a:endParaRPr lang="en-US" altLang="tr-TR" sz="3600" dirty="0" smtClean="0">
              <a:solidFill>
                <a:schemeClr val="tx1"/>
              </a:solidFill>
              <a:latin typeface="+mj-lt"/>
            </a:endParaRPr>
          </a:p>
        </p:txBody>
      </p:sp>
      <p:sp>
        <p:nvSpPr>
          <p:cNvPr id="135172" name="Rectangle 3"/>
          <p:cNvSpPr>
            <a:spLocks noGrp="1" noChangeArrowheads="1"/>
          </p:cNvSpPr>
          <p:nvPr>
            <p:ph type="body" idx="4294967295"/>
          </p:nvPr>
        </p:nvSpPr>
        <p:spPr>
          <a:xfrm>
            <a:off x="0" y="980083"/>
            <a:ext cx="5008563" cy="5329237"/>
          </a:xfrm>
        </p:spPr>
        <p:txBody>
          <a:bodyPr/>
          <a:lstStyle/>
          <a:p>
            <a:pPr eaLnBrk="1" hangingPunct="1">
              <a:buNone/>
            </a:pPr>
            <a:r>
              <a:rPr lang="tr-TR" altLang="tr-TR" sz="2600" dirty="0" smtClean="0">
                <a:latin typeface="+mj-lt"/>
              </a:rPr>
              <a:t>Planlamada dikkate alınacak </a:t>
            </a:r>
            <a:r>
              <a:rPr lang="tr-TR" altLang="tr-TR" sz="2600" dirty="0" smtClean="0">
                <a:solidFill>
                  <a:srgbClr val="FF0000"/>
                </a:solidFill>
                <a:latin typeface="+mj-lt"/>
              </a:rPr>
              <a:t>üç bölge</a:t>
            </a:r>
            <a:r>
              <a:rPr lang="tr-TR" altLang="tr-TR" sz="2600" dirty="0" smtClean="0">
                <a:latin typeface="+mj-lt"/>
              </a:rPr>
              <a:t> vardır: </a:t>
            </a:r>
          </a:p>
          <a:p>
            <a:pPr eaLnBrk="1" hangingPunct="1">
              <a:buNone/>
            </a:pPr>
            <a:r>
              <a:rPr lang="tr-TR" altLang="tr-TR" sz="2600" b="1" dirty="0" smtClean="0">
                <a:solidFill>
                  <a:srgbClr val="FF0000"/>
                </a:solidFill>
                <a:latin typeface="+mj-lt"/>
              </a:rPr>
              <a:t>1- </a:t>
            </a:r>
            <a:r>
              <a:rPr lang="tr-TR" altLang="tr-TR" sz="2600" dirty="0" smtClean="0">
                <a:latin typeface="+mj-lt"/>
              </a:rPr>
              <a:t>çalışma ortamının içine doğru olan ya da içinde oluşturulacak </a:t>
            </a:r>
            <a:r>
              <a:rPr lang="tr-TR" altLang="tr-TR" sz="2600" b="1" dirty="0" smtClean="0">
                <a:solidFill>
                  <a:srgbClr val="000099"/>
                </a:solidFill>
                <a:latin typeface="+mj-lt"/>
              </a:rPr>
              <a:t>hava akımının yerinin tespiti, </a:t>
            </a:r>
          </a:p>
          <a:p>
            <a:pPr eaLnBrk="1" hangingPunct="1">
              <a:buNone/>
            </a:pPr>
            <a:endParaRPr lang="tr-TR" altLang="tr-TR" sz="2600" b="1" dirty="0" smtClean="0">
              <a:solidFill>
                <a:srgbClr val="000099"/>
              </a:solidFill>
              <a:latin typeface="+mj-lt"/>
            </a:endParaRPr>
          </a:p>
          <a:p>
            <a:pPr eaLnBrk="1" hangingPunct="1">
              <a:buNone/>
            </a:pPr>
            <a:r>
              <a:rPr lang="tr-TR" altLang="tr-TR" sz="2600" b="1" dirty="0" smtClean="0">
                <a:solidFill>
                  <a:srgbClr val="FF0000"/>
                </a:solidFill>
                <a:latin typeface="+mj-lt"/>
              </a:rPr>
              <a:t>2-</a:t>
            </a:r>
            <a:r>
              <a:rPr lang="tr-TR" altLang="tr-TR" sz="2600" dirty="0" smtClean="0">
                <a:latin typeface="+mj-lt"/>
              </a:rPr>
              <a:t> </a:t>
            </a:r>
            <a:r>
              <a:rPr lang="tr-TR" altLang="tr-TR" sz="2600" b="1" dirty="0" smtClean="0">
                <a:solidFill>
                  <a:srgbClr val="000099"/>
                </a:solidFill>
                <a:latin typeface="+mj-lt"/>
              </a:rPr>
              <a:t>hava akımlarının karışacağı bölgelerin tespiti</a:t>
            </a:r>
            <a:r>
              <a:rPr lang="tr-TR" altLang="tr-TR" sz="2600" dirty="0" smtClean="0">
                <a:latin typeface="+mj-lt"/>
              </a:rPr>
              <a:t>,</a:t>
            </a:r>
          </a:p>
          <a:p>
            <a:pPr eaLnBrk="1" hangingPunct="1">
              <a:buNone/>
            </a:pPr>
            <a:r>
              <a:rPr lang="tr-TR" altLang="tr-TR" sz="2600" dirty="0" smtClean="0">
                <a:latin typeface="+mj-lt"/>
              </a:rPr>
              <a:t> </a:t>
            </a:r>
          </a:p>
          <a:p>
            <a:pPr eaLnBrk="1" hangingPunct="1">
              <a:buNone/>
            </a:pPr>
            <a:r>
              <a:rPr lang="tr-TR" altLang="tr-TR" sz="2600" b="1" dirty="0" smtClean="0">
                <a:solidFill>
                  <a:srgbClr val="FF0000"/>
                </a:solidFill>
                <a:latin typeface="+mj-lt"/>
              </a:rPr>
              <a:t>3-</a:t>
            </a:r>
            <a:r>
              <a:rPr lang="tr-TR" altLang="tr-TR" sz="2600" dirty="0" smtClean="0">
                <a:latin typeface="+mj-lt"/>
              </a:rPr>
              <a:t> havanın </a:t>
            </a:r>
            <a:r>
              <a:rPr lang="tr-TR" altLang="tr-TR" sz="2600" b="1" dirty="0" smtClean="0">
                <a:solidFill>
                  <a:srgbClr val="000099"/>
                </a:solidFill>
                <a:latin typeface="+mj-lt"/>
              </a:rPr>
              <a:t>ortamdan dışarı atılacağı bölgelerin tespiti.</a:t>
            </a:r>
            <a:endParaRPr lang="tr-TR" altLang="tr-TR" sz="2600" b="1" dirty="0" smtClean="0">
              <a:latin typeface="+mj-lt"/>
            </a:endParaRPr>
          </a:p>
        </p:txBody>
      </p:sp>
      <p:pic>
        <p:nvPicPr>
          <p:cNvPr id="135173" name="Picture 4" descr="pf-Air-Duct-for-Central-Air-Conditione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076056" y="1988840"/>
            <a:ext cx="3665538" cy="2857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29329232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1 Dikdörtgen"/>
          <p:cNvSpPr>
            <a:spLocks noChangeArrowheads="1"/>
          </p:cNvSpPr>
          <p:nvPr/>
        </p:nvSpPr>
        <p:spPr bwMode="auto">
          <a:xfrm>
            <a:off x="106114" y="476672"/>
            <a:ext cx="8642350" cy="5386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tr-TR" altLang="tr-TR" sz="3200" b="1" u="sng" dirty="0">
                <a:solidFill>
                  <a:srgbClr val="000099"/>
                </a:solidFill>
              </a:rPr>
              <a:t>Hava temizleme cihazları</a:t>
            </a:r>
          </a:p>
          <a:p>
            <a:pPr eaLnBrk="1" hangingPunct="1"/>
            <a:endParaRPr lang="tr-TR" altLang="tr-TR" sz="3200" b="1" u="sng" dirty="0">
              <a:solidFill>
                <a:srgbClr val="000099"/>
              </a:solidFill>
            </a:endParaRPr>
          </a:p>
          <a:p>
            <a:pPr eaLnBrk="1" hangingPunct="1"/>
            <a:r>
              <a:rPr lang="tr-TR" altLang="tr-TR" sz="2000" dirty="0"/>
              <a:t>Havada bulunan kirleticileri </a:t>
            </a:r>
            <a:r>
              <a:rPr lang="tr-TR" altLang="tr-TR" sz="2000" b="1" dirty="0">
                <a:solidFill>
                  <a:srgbClr val="FF0000"/>
                </a:solidFill>
              </a:rPr>
              <a:t>filtreleyen, yapısını değiştiren veya hapseden </a:t>
            </a:r>
            <a:r>
              <a:rPr lang="tr-TR" altLang="tr-TR" sz="2000" dirty="0"/>
              <a:t>cihazlardır. </a:t>
            </a:r>
          </a:p>
          <a:p>
            <a:pPr eaLnBrk="1" hangingPunct="1"/>
            <a:endParaRPr lang="tr-TR" altLang="tr-TR" sz="2000" dirty="0"/>
          </a:p>
          <a:p>
            <a:pPr eaLnBrk="1" hangingPunct="1"/>
            <a:r>
              <a:rPr lang="tr-TR" altLang="tr-TR" sz="2000" dirty="0"/>
              <a:t>Bunların seçimi yapılırken öncellikle </a:t>
            </a:r>
            <a:r>
              <a:rPr lang="tr-TR" altLang="tr-TR" sz="2000" b="1" dirty="0">
                <a:solidFill>
                  <a:srgbClr val="FF0000"/>
                </a:solidFill>
              </a:rPr>
              <a:t>kirleticinin tipi, konsantrasyonu,  temizlenmesi gereken kirletici miktarı, sıcaklık, nem, yangın güvenliği ve dış ortam hava kalitesi </a:t>
            </a:r>
            <a:r>
              <a:rPr lang="tr-TR" altLang="tr-TR" sz="2000" dirty="0"/>
              <a:t>parametreleri göz önüne alınmalıdır .</a:t>
            </a:r>
          </a:p>
          <a:p>
            <a:pPr eaLnBrk="1" hangingPunct="1"/>
            <a:endParaRPr lang="tr-TR" altLang="tr-TR" sz="2000" dirty="0"/>
          </a:p>
          <a:p>
            <a:pPr eaLnBrk="1" hangingPunct="1"/>
            <a:r>
              <a:rPr lang="tr-TR" altLang="tr-TR" sz="2000" b="1" dirty="0"/>
              <a:t>Bunun yanında</a:t>
            </a:r>
            <a:r>
              <a:rPr lang="tr-TR" altLang="tr-TR" sz="2000" dirty="0"/>
              <a:t>,</a:t>
            </a:r>
          </a:p>
          <a:p>
            <a:pPr eaLnBrk="1" hangingPunct="1"/>
            <a:r>
              <a:rPr lang="tr-TR" altLang="tr-TR" sz="2000" dirty="0"/>
              <a:t>• Cihazın </a:t>
            </a:r>
            <a:r>
              <a:rPr lang="tr-TR" altLang="tr-TR" sz="2000" dirty="0">
                <a:solidFill>
                  <a:srgbClr val="000099"/>
                </a:solidFill>
              </a:rPr>
              <a:t>ebatları, nasıl kurulacağı ve kirleticileri nasıl arıtacağı </a:t>
            </a:r>
            <a:r>
              <a:rPr lang="tr-TR" altLang="tr-TR" sz="2000" dirty="0"/>
              <a:t>bilinmelidir.</a:t>
            </a:r>
          </a:p>
          <a:p>
            <a:pPr eaLnBrk="1" hangingPunct="1"/>
            <a:endParaRPr lang="tr-TR" altLang="tr-TR" sz="2000" dirty="0"/>
          </a:p>
          <a:p>
            <a:pPr eaLnBrk="1" hangingPunct="1"/>
            <a:r>
              <a:rPr lang="tr-TR" altLang="tr-TR" sz="2000" dirty="0"/>
              <a:t>• </a:t>
            </a:r>
            <a:r>
              <a:rPr lang="tr-TR" altLang="tr-TR" sz="2000" dirty="0">
                <a:solidFill>
                  <a:srgbClr val="000099"/>
                </a:solidFill>
              </a:rPr>
              <a:t>Bakım ve işletim masrafları </a:t>
            </a:r>
            <a:r>
              <a:rPr lang="tr-TR" altLang="tr-TR" sz="2000" dirty="0"/>
              <a:t>dikkate alınmalıdır. </a:t>
            </a:r>
          </a:p>
          <a:p>
            <a:pPr eaLnBrk="1" hangingPunct="1"/>
            <a:endParaRPr lang="tr-TR" altLang="tr-TR" sz="2000" dirty="0"/>
          </a:p>
          <a:p>
            <a:pPr eaLnBrk="1" hangingPunct="1"/>
            <a:r>
              <a:rPr lang="tr-TR" altLang="tr-TR" sz="2000" dirty="0"/>
              <a:t>• Cihazın </a:t>
            </a:r>
            <a:r>
              <a:rPr lang="tr-TR" altLang="tr-TR" sz="2000" dirty="0">
                <a:solidFill>
                  <a:srgbClr val="000099"/>
                </a:solidFill>
              </a:rPr>
              <a:t>ulusal ve uluslararası mevzuata ve kabul görmüş standartlara uygunluğu</a:t>
            </a:r>
            <a:r>
              <a:rPr lang="tr-TR" altLang="tr-TR" sz="2000" dirty="0"/>
              <a:t> sağlamalıdır.</a:t>
            </a:r>
            <a:endParaRPr lang="tr-TR" altLang="tr-TR" sz="2000" b="1" dirty="0">
              <a:solidFill>
                <a:srgbClr val="FF0000"/>
              </a:solidFill>
            </a:endParaRPr>
          </a:p>
        </p:txBody>
      </p:sp>
      <p:sp>
        <p:nvSpPr>
          <p:cNvPr id="136195" name="Slayt Numarası Yer Tutucusu 3"/>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F8A39BD5-5BF5-4D9F-89AF-B1D8DD175B89}" type="slidenum">
              <a:rPr lang="tr-TR" altLang="tr-TR" smtClean="0"/>
              <a:pPr eaLnBrk="1" hangingPunct="1"/>
              <a:t>39</a:t>
            </a:fld>
            <a:endParaRPr lang="tr-TR" altLang="tr-TR" smtClean="0"/>
          </a:p>
        </p:txBody>
      </p:sp>
    </p:spTree>
    <p:extLst>
      <p:ext uri="{BB962C8B-B14F-4D97-AF65-F5344CB8AC3E}">
        <p14:creationId xmlns:p14="http://schemas.microsoft.com/office/powerpoint/2010/main" xmlns="" val="199137656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Başlık 1"/>
          <p:cNvSpPr>
            <a:spLocks noGrp="1"/>
          </p:cNvSpPr>
          <p:nvPr>
            <p:ph type="title"/>
          </p:nvPr>
        </p:nvSpPr>
        <p:spPr>
          <a:xfrm>
            <a:off x="323528" y="-15875"/>
            <a:ext cx="7906072" cy="1143000"/>
          </a:xfrm>
        </p:spPr>
        <p:txBody>
          <a:bodyPr/>
          <a:lstStyle/>
          <a:p>
            <a:pPr eaLnBrk="1" hangingPunct="1"/>
            <a:r>
              <a:rPr lang="tr-TR" altLang="tr-TR" sz="2800" b="1" dirty="0" smtClean="0">
                <a:solidFill>
                  <a:srgbClr val="00B050"/>
                </a:solidFill>
                <a:latin typeface="+mj-lt"/>
              </a:rPr>
              <a:t>Gaz ve Buharlar için Havalandırma İşlemleri</a:t>
            </a:r>
          </a:p>
        </p:txBody>
      </p:sp>
      <p:sp>
        <p:nvSpPr>
          <p:cNvPr id="3" name="İçerik Yer Tutucusu 2"/>
          <p:cNvSpPr>
            <a:spLocks noGrp="1"/>
          </p:cNvSpPr>
          <p:nvPr>
            <p:ph idx="1"/>
          </p:nvPr>
        </p:nvSpPr>
        <p:spPr>
          <a:xfrm>
            <a:off x="468313" y="981075"/>
            <a:ext cx="8229600" cy="5543550"/>
          </a:xfrm>
        </p:spPr>
        <p:txBody>
          <a:bodyPr/>
          <a:lstStyle/>
          <a:p>
            <a:pPr marL="0" indent="0" eaLnBrk="1" hangingPunct="1">
              <a:buFontTx/>
              <a:buNone/>
              <a:defRPr/>
            </a:pPr>
            <a:r>
              <a:rPr lang="tr-TR" sz="2000" b="1" dirty="0" err="1" smtClean="0">
                <a:solidFill>
                  <a:srgbClr val="000099"/>
                </a:solidFill>
                <a:latin typeface="+mj-lt"/>
              </a:rPr>
              <a:t>Adsorpsiyon</a:t>
            </a:r>
            <a:endParaRPr lang="tr-TR" sz="2000" b="1" dirty="0" smtClean="0">
              <a:solidFill>
                <a:srgbClr val="000099"/>
              </a:solidFill>
              <a:latin typeface="+mj-lt"/>
            </a:endParaRPr>
          </a:p>
          <a:p>
            <a:pPr marL="0" indent="0" eaLnBrk="1" hangingPunct="1">
              <a:buFontTx/>
              <a:buNone/>
              <a:defRPr/>
            </a:pPr>
            <a:r>
              <a:rPr lang="tr-TR" sz="2000" dirty="0" smtClean="0">
                <a:latin typeface="+mj-lt"/>
              </a:rPr>
              <a:t>Kirleticilerin, </a:t>
            </a:r>
            <a:r>
              <a:rPr lang="tr-TR" sz="2000" b="1" dirty="0" smtClean="0">
                <a:solidFill>
                  <a:schemeClr val="bg1"/>
                </a:solidFill>
                <a:latin typeface="+mj-lt"/>
              </a:rPr>
              <a:t>aktif karbon, alümina ve silika jel gibi malzemelerle </a:t>
            </a:r>
            <a:r>
              <a:rPr lang="tr-TR" sz="2000" dirty="0" smtClean="0">
                <a:latin typeface="+mj-lt"/>
              </a:rPr>
              <a:t>temas ettirilip yüzeylerinde toplanmasıdır.</a:t>
            </a:r>
          </a:p>
          <a:p>
            <a:pPr marL="0" indent="0" eaLnBrk="1" hangingPunct="1">
              <a:buFontTx/>
              <a:buNone/>
              <a:defRPr/>
            </a:pPr>
            <a:endParaRPr lang="tr-TR" sz="2000" dirty="0" smtClean="0">
              <a:latin typeface="+mj-lt"/>
            </a:endParaRPr>
          </a:p>
          <a:p>
            <a:pPr marL="0" indent="0" eaLnBrk="1" hangingPunct="1">
              <a:buFontTx/>
              <a:buNone/>
              <a:defRPr/>
            </a:pPr>
            <a:r>
              <a:rPr lang="tr-TR" sz="2000" b="1" dirty="0" err="1" smtClean="0">
                <a:solidFill>
                  <a:srgbClr val="000099"/>
                </a:solidFill>
                <a:latin typeface="+mj-lt"/>
              </a:rPr>
              <a:t>Absorpsiyon</a:t>
            </a:r>
            <a:endParaRPr lang="tr-TR" sz="2000" b="1" dirty="0" smtClean="0">
              <a:solidFill>
                <a:srgbClr val="000099"/>
              </a:solidFill>
              <a:latin typeface="+mj-lt"/>
            </a:endParaRPr>
          </a:p>
          <a:p>
            <a:pPr marL="0" indent="0" eaLnBrk="1" hangingPunct="1">
              <a:buFontTx/>
              <a:buNone/>
              <a:defRPr/>
            </a:pPr>
            <a:r>
              <a:rPr lang="tr-TR" sz="2000" dirty="0" smtClean="0">
                <a:latin typeface="+mj-lt"/>
              </a:rPr>
              <a:t>Kimyasal reaktif ve çözünür gazların </a:t>
            </a:r>
            <a:r>
              <a:rPr lang="tr-TR" sz="2000" b="1" dirty="0" smtClean="0">
                <a:solidFill>
                  <a:srgbClr val="FF0000"/>
                </a:solidFill>
                <a:latin typeface="+mj-lt"/>
              </a:rPr>
              <a:t>uygun bir sıvıyla yakın teması sayesinde emilip bu sıvının içerisinde çözünmesidir</a:t>
            </a:r>
            <a:r>
              <a:rPr lang="tr-TR" sz="2000" dirty="0" smtClean="0">
                <a:latin typeface="+mj-lt"/>
              </a:rPr>
              <a:t>.</a:t>
            </a:r>
            <a:r>
              <a:rPr lang="tr-TR" sz="2000" b="1" dirty="0" smtClean="0">
                <a:latin typeface="+mj-lt"/>
              </a:rPr>
              <a:t> </a:t>
            </a:r>
          </a:p>
          <a:p>
            <a:pPr marL="0" indent="0" eaLnBrk="1" hangingPunct="1">
              <a:buFontTx/>
              <a:buNone/>
              <a:defRPr/>
            </a:pPr>
            <a:endParaRPr lang="tr-TR" sz="2000" b="1" dirty="0" smtClean="0">
              <a:latin typeface="+mj-lt"/>
            </a:endParaRPr>
          </a:p>
          <a:p>
            <a:pPr marL="0" indent="0" eaLnBrk="1" hangingPunct="1">
              <a:buFontTx/>
              <a:buNone/>
              <a:defRPr/>
            </a:pPr>
            <a:r>
              <a:rPr lang="tr-TR" sz="2000" b="1" dirty="0" smtClean="0">
                <a:solidFill>
                  <a:srgbClr val="000099"/>
                </a:solidFill>
                <a:latin typeface="+mj-lt"/>
              </a:rPr>
              <a:t>Katalitik Dönüştürücü</a:t>
            </a:r>
          </a:p>
          <a:p>
            <a:pPr marL="0" indent="0" eaLnBrk="1" hangingPunct="1">
              <a:buFontTx/>
              <a:buNone/>
              <a:defRPr/>
            </a:pPr>
            <a:r>
              <a:rPr lang="tr-TR" sz="2000" dirty="0" smtClean="0">
                <a:latin typeface="+mj-lt"/>
              </a:rPr>
              <a:t>Bu işlem sayesinde </a:t>
            </a:r>
            <a:r>
              <a:rPr lang="tr-TR" sz="2000" b="1" dirty="0" smtClean="0">
                <a:solidFill>
                  <a:srgbClr val="FF0000"/>
                </a:solidFill>
                <a:latin typeface="+mj-lt"/>
              </a:rPr>
              <a:t>bir katalizör malzeme, kirleticinin tehlikeli olmayan bir maddeye dönüşmesini hızlandırır</a:t>
            </a:r>
            <a:r>
              <a:rPr lang="tr-TR" sz="2000" dirty="0" smtClean="0">
                <a:latin typeface="+mj-lt"/>
              </a:rPr>
              <a:t>. </a:t>
            </a:r>
            <a:r>
              <a:rPr lang="tr-TR" sz="2000" b="1" dirty="0" smtClean="0">
                <a:latin typeface="+mj-lt"/>
              </a:rPr>
              <a:t> </a:t>
            </a:r>
          </a:p>
          <a:p>
            <a:pPr marL="0" indent="0" eaLnBrk="1" hangingPunct="1">
              <a:buFontTx/>
              <a:buNone/>
              <a:defRPr/>
            </a:pPr>
            <a:endParaRPr lang="tr-TR" sz="2000" b="1" dirty="0" smtClean="0">
              <a:latin typeface="+mj-lt"/>
            </a:endParaRPr>
          </a:p>
          <a:p>
            <a:pPr marL="0" indent="0" eaLnBrk="1" hangingPunct="1">
              <a:buFontTx/>
              <a:buNone/>
              <a:defRPr/>
            </a:pPr>
            <a:r>
              <a:rPr lang="tr-TR" sz="2000" b="1" dirty="0" smtClean="0">
                <a:solidFill>
                  <a:srgbClr val="000099"/>
                </a:solidFill>
                <a:latin typeface="+mj-lt"/>
              </a:rPr>
              <a:t>Termal </a:t>
            </a:r>
            <a:r>
              <a:rPr lang="tr-TR" sz="2000" b="1" dirty="0" err="1" smtClean="0">
                <a:solidFill>
                  <a:srgbClr val="000099"/>
                </a:solidFill>
                <a:latin typeface="+mj-lt"/>
              </a:rPr>
              <a:t>Oksidasyon</a:t>
            </a:r>
            <a:r>
              <a:rPr lang="tr-TR" sz="2000" b="1" dirty="0" smtClean="0">
                <a:solidFill>
                  <a:srgbClr val="000099"/>
                </a:solidFill>
                <a:latin typeface="+mj-lt"/>
              </a:rPr>
              <a:t> (Yanma)</a:t>
            </a:r>
          </a:p>
          <a:p>
            <a:pPr marL="0" indent="0" eaLnBrk="1" hangingPunct="1">
              <a:buFontTx/>
              <a:buNone/>
              <a:defRPr/>
            </a:pPr>
            <a:r>
              <a:rPr lang="tr-TR" sz="2000" dirty="0" smtClean="0">
                <a:latin typeface="+mj-lt"/>
              </a:rPr>
              <a:t>Yanma işlemi sayesinde </a:t>
            </a:r>
            <a:r>
              <a:rPr lang="tr-TR" sz="2000" b="1" dirty="0" smtClean="0">
                <a:solidFill>
                  <a:srgbClr val="FF0000"/>
                </a:solidFill>
                <a:latin typeface="+mj-lt"/>
              </a:rPr>
              <a:t>uçucu organik bileşikler (VOC) karbon dioksit ve su buharına dönüşürler. </a:t>
            </a:r>
            <a:endParaRPr lang="tr-TR" sz="2000" dirty="0" smtClean="0">
              <a:latin typeface="+mj-lt"/>
            </a:endParaRPr>
          </a:p>
          <a:p>
            <a:pPr eaLnBrk="1" hangingPunct="1">
              <a:defRPr/>
            </a:pPr>
            <a:endParaRPr lang="tr-TR" sz="2000" dirty="0" smtClean="0">
              <a:latin typeface="+mj-lt"/>
            </a:endParaRPr>
          </a:p>
          <a:p>
            <a:pPr eaLnBrk="1" hangingPunct="1">
              <a:defRPr/>
            </a:pPr>
            <a:endParaRPr lang="tr-TR" dirty="0" smtClean="0">
              <a:latin typeface="+mj-lt"/>
            </a:endParaRPr>
          </a:p>
        </p:txBody>
      </p:sp>
      <p:sp>
        <p:nvSpPr>
          <p:cNvPr id="140292" name="Slayt Numarası Yer Tutucusu 3"/>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0EAA4028-A23D-4814-B144-196672954792}" type="slidenum">
              <a:rPr lang="en-US" altLang="tr-TR" smtClean="0"/>
              <a:pPr eaLnBrk="1" hangingPunct="1"/>
              <a:t>40</a:t>
            </a:fld>
            <a:endParaRPr lang="en-US" altLang="tr-TR" smtClean="0"/>
          </a:p>
        </p:txBody>
      </p:sp>
    </p:spTree>
    <p:extLst>
      <p:ext uri="{BB962C8B-B14F-4D97-AF65-F5344CB8AC3E}">
        <p14:creationId xmlns:p14="http://schemas.microsoft.com/office/powerpoint/2010/main" xmlns="" val="119487232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5" name="Rectangle 2"/>
          <p:cNvSpPr>
            <a:spLocks noGrp="1" noChangeArrowheads="1"/>
          </p:cNvSpPr>
          <p:nvPr>
            <p:ph type="title"/>
          </p:nvPr>
        </p:nvSpPr>
        <p:spPr>
          <a:xfrm>
            <a:off x="0" y="274638"/>
            <a:ext cx="8686800" cy="1143000"/>
          </a:xfrm>
        </p:spPr>
        <p:txBody>
          <a:bodyPr/>
          <a:lstStyle/>
          <a:p>
            <a:pPr eaLnBrk="1" hangingPunct="1"/>
            <a:r>
              <a:rPr lang="tr-TR" altLang="tr-TR" dirty="0" smtClean="0">
                <a:solidFill>
                  <a:schemeClr val="bg1"/>
                </a:solidFill>
                <a:latin typeface="+mj-lt"/>
              </a:rPr>
              <a:t> Isı </a:t>
            </a:r>
            <a:r>
              <a:rPr lang="tr-TR" altLang="tr-TR" dirty="0" smtClean="0">
                <a:solidFill>
                  <a:srgbClr val="00B050"/>
                </a:solidFill>
                <a:latin typeface="+mj-lt"/>
              </a:rPr>
              <a:t>Transferi Mekanizmaları</a:t>
            </a:r>
            <a:endParaRPr lang="en-US" altLang="tr-TR" dirty="0" smtClean="0">
              <a:solidFill>
                <a:srgbClr val="00B050"/>
              </a:solidFill>
              <a:latin typeface="+mj-lt"/>
            </a:endParaRPr>
          </a:p>
        </p:txBody>
      </p:sp>
      <p:sp>
        <p:nvSpPr>
          <p:cNvPr id="155652" name="Rectangle 3"/>
          <p:cNvSpPr>
            <a:spLocks noGrp="1" noChangeArrowheads="1"/>
          </p:cNvSpPr>
          <p:nvPr>
            <p:ph idx="1"/>
          </p:nvPr>
        </p:nvSpPr>
        <p:spPr>
          <a:xfrm>
            <a:off x="179512" y="1556792"/>
            <a:ext cx="8785225" cy="4525962"/>
          </a:xfrm>
        </p:spPr>
        <p:txBody>
          <a:bodyPr>
            <a:normAutofit lnSpcReduction="10000"/>
          </a:bodyPr>
          <a:lstStyle/>
          <a:p>
            <a:pPr marL="84138" indent="-84138" eaLnBrk="1" hangingPunct="1">
              <a:buFontTx/>
              <a:buNone/>
              <a:defRPr/>
            </a:pPr>
            <a:r>
              <a:rPr lang="tr-TR" sz="2000" b="1" u="sng" dirty="0" err="1">
                <a:solidFill>
                  <a:srgbClr val="FF0000"/>
                </a:solidFill>
                <a:latin typeface="+mj-lt"/>
              </a:rPr>
              <a:t>Kondüksiyon</a:t>
            </a:r>
            <a:r>
              <a:rPr lang="tr-TR" sz="2000" b="1" dirty="0">
                <a:solidFill>
                  <a:srgbClr val="000000"/>
                </a:solidFill>
                <a:latin typeface="+mj-lt"/>
              </a:rPr>
              <a:t>: </a:t>
            </a:r>
            <a:r>
              <a:rPr lang="pt-BR" sz="2000" dirty="0">
                <a:solidFill>
                  <a:srgbClr val="000000"/>
                </a:solidFill>
                <a:latin typeface="+mj-lt"/>
              </a:rPr>
              <a:t> Doğrudan temas ile ısı transferidir</a:t>
            </a:r>
            <a:r>
              <a:rPr lang="tr-TR" sz="2000" dirty="0">
                <a:solidFill>
                  <a:srgbClr val="000000"/>
                </a:solidFill>
                <a:latin typeface="+mj-lt"/>
              </a:rPr>
              <a:t>. </a:t>
            </a:r>
            <a:r>
              <a:rPr lang="tr-TR" sz="2000" b="1" dirty="0">
                <a:solidFill>
                  <a:srgbClr val="000000"/>
                </a:solidFill>
                <a:latin typeface="+mj-lt"/>
              </a:rPr>
              <a:t>vücut ile vücuda </a:t>
            </a:r>
            <a:r>
              <a:rPr lang="tr-TR" sz="2000" b="1" dirty="0">
                <a:solidFill>
                  <a:srgbClr val="FF0000"/>
                </a:solidFill>
                <a:latin typeface="+mj-lt"/>
              </a:rPr>
              <a:t>temas</a:t>
            </a:r>
            <a:r>
              <a:rPr lang="tr-TR" sz="2000" b="1" dirty="0">
                <a:solidFill>
                  <a:srgbClr val="000000"/>
                </a:solidFill>
                <a:latin typeface="+mj-lt"/>
              </a:rPr>
              <a:t> eden cisimler arasında </a:t>
            </a:r>
            <a:r>
              <a:rPr lang="tr-TR" sz="2000" dirty="0" err="1" smtClean="0">
                <a:solidFill>
                  <a:srgbClr val="000000"/>
                </a:solidFill>
                <a:latin typeface="+mj-lt"/>
              </a:rPr>
              <a:t>olusur</a:t>
            </a:r>
            <a:r>
              <a:rPr lang="tr-TR" sz="2000" dirty="0" smtClean="0">
                <a:solidFill>
                  <a:srgbClr val="000000"/>
                </a:solidFill>
                <a:latin typeface="+mj-lt"/>
              </a:rPr>
              <a:t>. (</a:t>
            </a:r>
            <a:r>
              <a:rPr lang="tr-TR" sz="2000" dirty="0" smtClean="0">
                <a:solidFill>
                  <a:srgbClr val="000099"/>
                </a:solidFill>
                <a:latin typeface="+mj-lt"/>
              </a:rPr>
              <a:t>iletim</a:t>
            </a:r>
            <a:r>
              <a:rPr lang="tr-TR" sz="2000" dirty="0" smtClean="0">
                <a:solidFill>
                  <a:srgbClr val="000000"/>
                </a:solidFill>
                <a:latin typeface="+mj-lt"/>
              </a:rPr>
              <a:t>)</a:t>
            </a:r>
          </a:p>
          <a:p>
            <a:pPr marL="84138" indent="-84138" eaLnBrk="1" hangingPunct="1">
              <a:buFontTx/>
              <a:buNone/>
              <a:defRPr/>
            </a:pPr>
            <a:endParaRPr lang="tr-TR" sz="2000" b="1" u="sng" dirty="0" smtClean="0">
              <a:solidFill>
                <a:srgbClr val="FF0000"/>
              </a:solidFill>
              <a:latin typeface="+mj-lt"/>
            </a:endParaRPr>
          </a:p>
          <a:p>
            <a:pPr marL="84138" indent="-84138" eaLnBrk="1" hangingPunct="1">
              <a:buFontTx/>
              <a:buNone/>
              <a:defRPr/>
            </a:pPr>
            <a:r>
              <a:rPr lang="tr-TR" sz="2000" b="1" u="sng" dirty="0" smtClean="0">
                <a:solidFill>
                  <a:srgbClr val="FF0000"/>
                </a:solidFill>
                <a:latin typeface="+mj-lt"/>
              </a:rPr>
              <a:t>Konveksiyon</a:t>
            </a:r>
            <a:r>
              <a:rPr lang="tr-TR" sz="2000" b="1" u="sng" dirty="0" smtClean="0">
                <a:latin typeface="+mj-lt"/>
              </a:rPr>
              <a:t>:</a:t>
            </a:r>
            <a:r>
              <a:rPr lang="tr-TR" sz="2000" b="1" dirty="0" smtClean="0">
                <a:latin typeface="+mj-lt"/>
              </a:rPr>
              <a:t> Katı bir yüzey ile bir akışkan (sıvı veya gaz) arasın</a:t>
            </a:r>
          </a:p>
          <a:p>
            <a:pPr marL="84138" indent="-84138" eaLnBrk="1" hangingPunct="1">
              <a:buFontTx/>
              <a:buNone/>
              <a:defRPr/>
            </a:pPr>
            <a:r>
              <a:rPr lang="tr-TR" sz="2000" b="1" dirty="0" err="1" smtClean="0">
                <a:latin typeface="+mj-lt"/>
              </a:rPr>
              <a:t>daki</a:t>
            </a:r>
            <a:r>
              <a:rPr lang="tr-TR" sz="2000" b="1" dirty="0" smtClean="0">
                <a:latin typeface="+mj-lt"/>
              </a:rPr>
              <a:t> ısı transferidir. </a:t>
            </a:r>
            <a:r>
              <a:rPr lang="tr-TR" sz="2000" dirty="0" smtClean="0">
                <a:latin typeface="+mj-lt"/>
              </a:rPr>
              <a:t>Isı </a:t>
            </a:r>
            <a:r>
              <a:rPr lang="tr-TR" sz="2000" dirty="0">
                <a:latin typeface="+mj-lt"/>
              </a:rPr>
              <a:t>iletimi, </a:t>
            </a:r>
            <a:r>
              <a:rPr lang="tr-TR" sz="2000" b="1" dirty="0">
                <a:latin typeface="+mj-lt"/>
              </a:rPr>
              <a:t>deri ile ü</a:t>
            </a:r>
            <a:r>
              <a:rPr lang="tr-TR" sz="2000" b="1" dirty="0" smtClean="0">
                <a:latin typeface="+mj-lt"/>
              </a:rPr>
              <a:t>zerine </a:t>
            </a:r>
            <a:r>
              <a:rPr lang="tr-TR" sz="2000" b="1" dirty="0">
                <a:latin typeface="+mj-lt"/>
              </a:rPr>
              <a:t>temas eden </a:t>
            </a:r>
            <a:r>
              <a:rPr lang="tr-TR" sz="2000" b="1" dirty="0">
                <a:solidFill>
                  <a:srgbClr val="FF0000"/>
                </a:solidFill>
                <a:latin typeface="+mj-lt"/>
              </a:rPr>
              <a:t>hava</a:t>
            </a:r>
            <a:r>
              <a:rPr lang="tr-TR" sz="2000" b="1" dirty="0">
                <a:latin typeface="+mj-lt"/>
              </a:rPr>
              <a:t> </a:t>
            </a:r>
            <a:r>
              <a:rPr lang="tr-TR" sz="2000" b="1" dirty="0" smtClean="0">
                <a:latin typeface="+mj-lt"/>
              </a:rPr>
              <a:t>arasında </a:t>
            </a:r>
            <a:r>
              <a:rPr lang="tr-TR" sz="2000" b="1" dirty="0" err="1" smtClean="0">
                <a:latin typeface="+mj-lt"/>
              </a:rPr>
              <a:t>gerçeklesir</a:t>
            </a:r>
            <a:r>
              <a:rPr lang="tr-TR" sz="2000" dirty="0" smtClean="0">
                <a:latin typeface="+mj-lt"/>
              </a:rPr>
              <a:t>. (</a:t>
            </a:r>
            <a:r>
              <a:rPr lang="tr-TR" sz="2000" dirty="0" smtClean="0">
                <a:solidFill>
                  <a:srgbClr val="000099"/>
                </a:solidFill>
                <a:latin typeface="+mj-lt"/>
              </a:rPr>
              <a:t>taşınım</a:t>
            </a:r>
            <a:r>
              <a:rPr lang="tr-TR" sz="2000" dirty="0" smtClean="0">
                <a:latin typeface="+mj-lt"/>
              </a:rPr>
              <a:t>)</a:t>
            </a:r>
          </a:p>
          <a:p>
            <a:pPr eaLnBrk="1" hangingPunct="1">
              <a:buFontTx/>
              <a:buNone/>
              <a:defRPr/>
            </a:pPr>
            <a:endParaRPr lang="tr-TR" sz="2000" dirty="0">
              <a:latin typeface="+mj-lt"/>
            </a:endParaRPr>
          </a:p>
          <a:p>
            <a:pPr marL="0" indent="0">
              <a:buFontTx/>
              <a:buNone/>
              <a:defRPr/>
            </a:pPr>
            <a:r>
              <a:rPr lang="tr-TR" sz="2000" b="1" u="sng" dirty="0" smtClean="0">
                <a:solidFill>
                  <a:srgbClr val="FF0000"/>
                </a:solidFill>
                <a:latin typeface="+mj-lt"/>
              </a:rPr>
              <a:t>Termik </a:t>
            </a:r>
            <a:r>
              <a:rPr lang="tr-TR" sz="2000" b="1" u="sng" dirty="0">
                <a:solidFill>
                  <a:srgbClr val="FF0000"/>
                </a:solidFill>
                <a:latin typeface="+mj-lt"/>
              </a:rPr>
              <a:t>radyasyon</a:t>
            </a:r>
            <a:r>
              <a:rPr lang="tr-TR" sz="2000" u="sng" dirty="0">
                <a:latin typeface="+mj-lt"/>
              </a:rPr>
              <a:t>:</a:t>
            </a:r>
            <a:r>
              <a:rPr lang="tr-TR" sz="2000" dirty="0">
                <a:latin typeface="+mj-lt"/>
              </a:rPr>
              <a:t> Isı iletimi, aralarında ısı farkı bulunan iki cismin</a:t>
            </a:r>
          </a:p>
          <a:p>
            <a:pPr marL="0" indent="0">
              <a:buFontTx/>
              <a:buNone/>
              <a:defRPr/>
            </a:pPr>
            <a:r>
              <a:rPr lang="tr-TR" sz="2000" dirty="0">
                <a:latin typeface="+mj-lt"/>
              </a:rPr>
              <a:t>arasında </a:t>
            </a:r>
            <a:r>
              <a:rPr lang="tr-TR" sz="2000" dirty="0" smtClean="0">
                <a:latin typeface="+mj-lt"/>
              </a:rPr>
              <a:t>bir temas </a:t>
            </a:r>
            <a:r>
              <a:rPr lang="tr-TR" sz="2000" b="1" dirty="0" smtClean="0">
                <a:latin typeface="+mj-lt"/>
              </a:rPr>
              <a:t>olmadan, </a:t>
            </a:r>
            <a:r>
              <a:rPr lang="tr-TR" sz="2000" b="1" dirty="0" smtClean="0">
                <a:solidFill>
                  <a:srgbClr val="FF0000"/>
                </a:solidFill>
                <a:latin typeface="+mj-lt"/>
              </a:rPr>
              <a:t>ışıma</a:t>
            </a:r>
            <a:r>
              <a:rPr lang="tr-TR" sz="2000" b="1" dirty="0" smtClean="0">
                <a:latin typeface="+mj-lt"/>
              </a:rPr>
              <a:t> yoluyla, </a:t>
            </a:r>
            <a:r>
              <a:rPr lang="tr-TR" sz="2000" dirty="0" smtClean="0">
                <a:latin typeface="+mj-lt"/>
              </a:rPr>
              <a:t> </a:t>
            </a:r>
            <a:r>
              <a:rPr lang="tr-TR" sz="2000" b="1" dirty="0" smtClean="0">
                <a:latin typeface="+mj-lt"/>
              </a:rPr>
              <a:t>meydana </a:t>
            </a:r>
            <a:r>
              <a:rPr lang="tr-TR" sz="2000" b="1" dirty="0">
                <a:latin typeface="+mj-lt"/>
              </a:rPr>
              <a:t>gelir</a:t>
            </a:r>
            <a:r>
              <a:rPr lang="tr-TR" sz="2000" dirty="0" smtClean="0">
                <a:latin typeface="+mj-lt"/>
              </a:rPr>
              <a:t>.  (Transfer için herhangi ortama gerek yoktur, ışınım mükemmel vakum ortamında bile </a:t>
            </a:r>
          </a:p>
          <a:p>
            <a:pPr marL="0" indent="0">
              <a:buFontTx/>
              <a:buNone/>
              <a:defRPr/>
            </a:pPr>
            <a:r>
              <a:rPr lang="tr-TR" sz="2000" dirty="0" smtClean="0">
                <a:latin typeface="+mj-lt"/>
              </a:rPr>
              <a:t>gerçekleşebilir.) (Işıma)</a:t>
            </a:r>
          </a:p>
          <a:p>
            <a:pPr marL="0" indent="0">
              <a:buFontTx/>
              <a:buNone/>
              <a:defRPr/>
            </a:pPr>
            <a:endParaRPr lang="tr-TR" sz="2000" dirty="0">
              <a:latin typeface="+mj-lt"/>
            </a:endParaRPr>
          </a:p>
          <a:p>
            <a:pPr marL="0" indent="0">
              <a:buFontTx/>
              <a:buNone/>
              <a:defRPr/>
            </a:pPr>
            <a:r>
              <a:rPr lang="tr-TR" sz="2000" b="1" u="sng" dirty="0">
                <a:solidFill>
                  <a:srgbClr val="FF0000"/>
                </a:solidFill>
                <a:latin typeface="+mj-lt"/>
              </a:rPr>
              <a:t>Buharlaşma</a:t>
            </a:r>
            <a:r>
              <a:rPr lang="tr-TR" sz="2000" u="sng" dirty="0">
                <a:latin typeface="+mj-lt"/>
              </a:rPr>
              <a:t>:</a:t>
            </a:r>
            <a:r>
              <a:rPr lang="tr-TR" sz="2000" dirty="0">
                <a:latin typeface="+mj-lt"/>
              </a:rPr>
              <a:t> Isı iletimi, </a:t>
            </a:r>
            <a:r>
              <a:rPr lang="tr-TR" sz="2000" b="1" dirty="0">
                <a:latin typeface="+mj-lt"/>
              </a:rPr>
              <a:t>deri </a:t>
            </a:r>
            <a:r>
              <a:rPr lang="tr-TR" sz="2000" b="1" dirty="0" smtClean="0">
                <a:latin typeface="+mj-lt"/>
              </a:rPr>
              <a:t>yüzeyinde </a:t>
            </a:r>
            <a:r>
              <a:rPr lang="tr-TR" sz="2000" b="1" dirty="0">
                <a:latin typeface="+mj-lt"/>
              </a:rPr>
              <a:t>suyun </a:t>
            </a:r>
            <a:r>
              <a:rPr lang="tr-TR" sz="2000" b="1" dirty="0">
                <a:solidFill>
                  <a:srgbClr val="FF0000"/>
                </a:solidFill>
                <a:latin typeface="+mj-lt"/>
              </a:rPr>
              <a:t>buharlaşma</a:t>
            </a:r>
            <a:r>
              <a:rPr lang="tr-TR" sz="2000" b="1" dirty="0">
                <a:latin typeface="+mj-lt"/>
              </a:rPr>
              <a:t>sı yoluyla </a:t>
            </a:r>
            <a:r>
              <a:rPr lang="tr-TR" sz="2000" dirty="0" err="1">
                <a:latin typeface="+mj-lt"/>
              </a:rPr>
              <a:t>gerceklesir</a:t>
            </a:r>
            <a:r>
              <a:rPr lang="tr-TR" sz="2000" dirty="0">
                <a:latin typeface="+mj-lt"/>
              </a:rPr>
              <a:t>.</a:t>
            </a:r>
          </a:p>
          <a:p>
            <a:pPr eaLnBrk="1" hangingPunct="1">
              <a:buFontTx/>
              <a:buNone/>
              <a:defRPr/>
            </a:pPr>
            <a:endParaRPr lang="tr-TR" altLang="tr-TR" sz="2000" dirty="0" smtClean="0">
              <a:latin typeface="+mj-lt"/>
            </a:endParaRPr>
          </a:p>
          <a:p>
            <a:pPr eaLnBrk="1" hangingPunct="1">
              <a:buFontTx/>
              <a:buNone/>
              <a:defRPr/>
            </a:pPr>
            <a:endParaRPr lang="en-US" altLang="tr-TR" sz="1800" dirty="0" smtClean="0">
              <a:latin typeface="+mj-lt"/>
            </a:endParaRPr>
          </a:p>
        </p:txBody>
      </p:sp>
      <p:sp>
        <p:nvSpPr>
          <p:cNvPr id="141314" name="Slayt Numarası Yer Tutucusu 5"/>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E2A9A910-BF97-491C-9FC2-6237E1F776D5}" type="slidenum">
              <a:rPr lang="en-US" altLang="tr-TR" smtClean="0">
                <a:solidFill>
                  <a:srgbClr val="000000"/>
                </a:solidFill>
              </a:rPr>
              <a:pPr eaLnBrk="1" hangingPunct="1"/>
              <a:t>41</a:t>
            </a:fld>
            <a:endParaRPr lang="en-US" altLang="tr-TR" smtClean="0">
              <a:solidFill>
                <a:srgbClr val="000000"/>
              </a:solidFill>
            </a:endParaRPr>
          </a:p>
        </p:txBody>
      </p:sp>
    </p:spTree>
    <p:extLst>
      <p:ext uri="{BB962C8B-B14F-4D97-AF65-F5344CB8AC3E}">
        <p14:creationId xmlns:p14="http://schemas.microsoft.com/office/powerpoint/2010/main" xmlns="" val="241391854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ayt Numarası Yer Tutucusu 1"/>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1C8DD740-309D-4D2E-8EC2-D823B3FD5D04}" type="slidenum">
              <a:rPr lang="en-US" altLang="tr-TR" smtClean="0"/>
              <a:pPr eaLnBrk="1" hangingPunct="1"/>
              <a:t>42</a:t>
            </a:fld>
            <a:endParaRPr lang="en-US" altLang="tr-TR" smtClean="0"/>
          </a:p>
        </p:txBody>
      </p:sp>
      <p:sp>
        <p:nvSpPr>
          <p:cNvPr id="142339" name="Dikdörtgen 2"/>
          <p:cNvSpPr>
            <a:spLocks noChangeArrowheads="1"/>
          </p:cNvSpPr>
          <p:nvPr/>
        </p:nvSpPr>
        <p:spPr bwMode="auto">
          <a:xfrm>
            <a:off x="112951" y="116633"/>
            <a:ext cx="8203466" cy="55707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tr-TR" altLang="tr-TR" sz="4400" b="1" dirty="0">
                <a:solidFill>
                  <a:srgbClr val="00B050"/>
                </a:solidFill>
              </a:rPr>
              <a:t>ISI  / SICAKLIK  ?</a:t>
            </a:r>
          </a:p>
          <a:p>
            <a:pPr eaLnBrk="1" hangingPunct="1"/>
            <a:r>
              <a:rPr lang="tr-TR" altLang="tr-TR" sz="4000" b="1" dirty="0">
                <a:solidFill>
                  <a:srgbClr val="FF0000"/>
                </a:solidFill>
              </a:rPr>
              <a:t>Isı:</a:t>
            </a:r>
            <a:r>
              <a:rPr lang="tr-TR" altLang="tr-TR" sz="2400" b="1" dirty="0">
                <a:solidFill>
                  <a:srgbClr val="FF0000"/>
                </a:solidFill>
              </a:rPr>
              <a:t> </a:t>
            </a:r>
            <a:r>
              <a:rPr lang="tr-TR" altLang="tr-TR" sz="2400" dirty="0">
                <a:solidFill>
                  <a:srgbClr val="000000"/>
                </a:solidFill>
                <a:latin typeface="Verdana" pitchFamily="34" charset="0"/>
              </a:rPr>
              <a:t>Bir maddeyi oluşturan taneciklerin sahip oldukları hareket (kinetik) enerjilerinin toplamıdır. </a:t>
            </a:r>
          </a:p>
          <a:p>
            <a:pPr eaLnBrk="1" hangingPunct="1"/>
            <a:endParaRPr lang="tr-TR" altLang="tr-TR" sz="2400" dirty="0">
              <a:solidFill>
                <a:srgbClr val="000000"/>
              </a:solidFill>
              <a:latin typeface="Verdana" pitchFamily="34" charset="0"/>
            </a:endParaRPr>
          </a:p>
          <a:p>
            <a:pPr eaLnBrk="1" hangingPunct="1"/>
            <a:r>
              <a:rPr lang="tr-TR" altLang="tr-TR" sz="2400" dirty="0">
                <a:solidFill>
                  <a:srgbClr val="000000"/>
                </a:solidFill>
                <a:latin typeface="Verdana" pitchFamily="34" charset="0"/>
              </a:rPr>
              <a:t>Isı </a:t>
            </a:r>
            <a:r>
              <a:rPr lang="tr-TR" altLang="tr-TR" sz="2400" b="1" dirty="0">
                <a:solidFill>
                  <a:srgbClr val="003399"/>
                </a:solidFill>
                <a:latin typeface="Verdana" pitchFamily="34" charset="0"/>
              </a:rPr>
              <a:t>bir enerji türüdür</a:t>
            </a:r>
            <a:r>
              <a:rPr lang="tr-TR" altLang="tr-TR" sz="2400" dirty="0">
                <a:solidFill>
                  <a:srgbClr val="000000"/>
                </a:solidFill>
                <a:latin typeface="Verdana" pitchFamily="34" charset="0"/>
              </a:rPr>
              <a:t>. Birimi kalori (cal) veya </a:t>
            </a:r>
            <a:r>
              <a:rPr lang="tr-TR" altLang="tr-TR" sz="2400" dirty="0" err="1">
                <a:solidFill>
                  <a:srgbClr val="000000"/>
                </a:solidFill>
                <a:latin typeface="Verdana" pitchFamily="34" charset="0"/>
              </a:rPr>
              <a:t>Joule’dur</a:t>
            </a:r>
            <a:r>
              <a:rPr lang="tr-TR" altLang="tr-TR" sz="2400" dirty="0">
                <a:solidFill>
                  <a:srgbClr val="000000"/>
                </a:solidFill>
                <a:latin typeface="Verdana" pitchFamily="34" charset="0"/>
              </a:rPr>
              <a:t>.</a:t>
            </a:r>
          </a:p>
          <a:p>
            <a:pPr eaLnBrk="1" hangingPunct="1"/>
            <a:endParaRPr lang="tr-TR" altLang="tr-TR" sz="2400" dirty="0">
              <a:solidFill>
                <a:srgbClr val="000000"/>
              </a:solidFill>
            </a:endParaRPr>
          </a:p>
          <a:p>
            <a:pPr eaLnBrk="1" hangingPunct="1"/>
            <a:endParaRPr lang="tr-TR" altLang="tr-TR" sz="2400" b="1" dirty="0">
              <a:solidFill>
                <a:srgbClr val="FF0000"/>
              </a:solidFill>
            </a:endParaRPr>
          </a:p>
          <a:p>
            <a:pPr eaLnBrk="1" hangingPunct="1"/>
            <a:r>
              <a:rPr lang="tr-TR" altLang="tr-TR" sz="3200" b="1" dirty="0">
                <a:solidFill>
                  <a:srgbClr val="FF0000"/>
                </a:solidFill>
              </a:rPr>
              <a:t>Sıcaklık:</a:t>
            </a:r>
            <a:r>
              <a:rPr lang="tr-TR" altLang="tr-TR" sz="2400" dirty="0">
                <a:solidFill>
                  <a:srgbClr val="000000"/>
                </a:solidFill>
                <a:latin typeface="Verdana" pitchFamily="34" charset="0"/>
              </a:rPr>
              <a:t> bir maddenin aldığı ya da verdiği ısı enerjisinin göstergesidir. </a:t>
            </a:r>
          </a:p>
          <a:p>
            <a:pPr eaLnBrk="1" hangingPunct="1"/>
            <a:endParaRPr lang="tr-TR" altLang="tr-TR" sz="2400" dirty="0">
              <a:solidFill>
                <a:srgbClr val="000000"/>
              </a:solidFill>
              <a:latin typeface="Verdana" pitchFamily="34" charset="0"/>
            </a:endParaRPr>
          </a:p>
          <a:p>
            <a:pPr eaLnBrk="1" hangingPunct="1"/>
            <a:r>
              <a:rPr lang="tr-TR" altLang="tr-TR" sz="2400" dirty="0">
                <a:solidFill>
                  <a:srgbClr val="000000"/>
                </a:solidFill>
                <a:latin typeface="Verdana" pitchFamily="34" charset="0"/>
              </a:rPr>
              <a:t>Sıcaklığın seviyesini belirten </a:t>
            </a:r>
            <a:r>
              <a:rPr lang="tr-TR" altLang="tr-TR" sz="2400" b="1" dirty="0">
                <a:solidFill>
                  <a:srgbClr val="003399"/>
                </a:solidFill>
                <a:latin typeface="Verdana" pitchFamily="34" charset="0"/>
              </a:rPr>
              <a:t>bir ölçümdür</a:t>
            </a:r>
            <a:r>
              <a:rPr lang="tr-TR" altLang="tr-TR" sz="2400" dirty="0">
                <a:solidFill>
                  <a:srgbClr val="000000"/>
                </a:solidFill>
                <a:latin typeface="Verdana" pitchFamily="34" charset="0"/>
              </a:rPr>
              <a:t>. </a:t>
            </a:r>
            <a:r>
              <a:rPr lang="tr-TR" altLang="tr-TR" sz="2400" dirty="0" smtClean="0">
                <a:solidFill>
                  <a:srgbClr val="000000"/>
                </a:solidFill>
                <a:latin typeface="Verdana" pitchFamily="34" charset="0"/>
              </a:rPr>
              <a:t>Birimi </a:t>
            </a:r>
            <a:r>
              <a:rPr lang="tr-TR" altLang="tr-TR" sz="2400" dirty="0">
                <a:solidFill>
                  <a:srgbClr val="000000"/>
                </a:solidFill>
                <a:latin typeface="Verdana" pitchFamily="34" charset="0"/>
              </a:rPr>
              <a:t>ise derecedir</a:t>
            </a:r>
            <a:r>
              <a:rPr lang="tr-TR" altLang="tr-TR" sz="2400" dirty="0" smtClean="0">
                <a:solidFill>
                  <a:srgbClr val="000000"/>
                </a:solidFill>
                <a:latin typeface="Verdana" pitchFamily="34" charset="0"/>
              </a:rPr>
              <a:t>.</a:t>
            </a:r>
            <a:endParaRPr lang="tr-TR" altLang="tr-TR" sz="2400" dirty="0">
              <a:solidFill>
                <a:srgbClr val="000000"/>
              </a:solidFill>
              <a:latin typeface="Verdana" pitchFamily="34" charset="0"/>
            </a:endParaRPr>
          </a:p>
        </p:txBody>
      </p:sp>
    </p:spTree>
    <p:extLst>
      <p:ext uri="{BB962C8B-B14F-4D97-AF65-F5344CB8AC3E}">
        <p14:creationId xmlns:p14="http://schemas.microsoft.com/office/powerpoint/2010/main" xmlns="" val="97912470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2"/>
          <p:cNvSpPr>
            <a:spLocks noGrp="1" noChangeArrowheads="1"/>
          </p:cNvSpPr>
          <p:nvPr>
            <p:ph type="title"/>
          </p:nvPr>
        </p:nvSpPr>
        <p:spPr>
          <a:xfrm>
            <a:off x="611560" y="188640"/>
            <a:ext cx="7020272" cy="1143000"/>
          </a:xfrm>
        </p:spPr>
        <p:txBody>
          <a:bodyPr/>
          <a:lstStyle/>
          <a:p>
            <a:pPr eaLnBrk="1" hangingPunct="1"/>
            <a:r>
              <a:rPr lang="tr-TR" altLang="tr-TR" sz="3600" b="1" dirty="0" smtClean="0">
                <a:solidFill>
                  <a:srgbClr val="00B050"/>
                </a:solidFill>
                <a:latin typeface="+mj-lt"/>
              </a:rPr>
              <a:t>Isıl  Çevre  Elemanları</a:t>
            </a:r>
            <a:endParaRPr lang="en-US" altLang="tr-TR" sz="3600" b="1" dirty="0" smtClean="0">
              <a:solidFill>
                <a:srgbClr val="00B050"/>
              </a:solidFill>
              <a:latin typeface="+mj-lt"/>
            </a:endParaRPr>
          </a:p>
        </p:txBody>
      </p:sp>
      <p:sp>
        <p:nvSpPr>
          <p:cNvPr id="207876" name="Rectangle 3"/>
          <p:cNvSpPr>
            <a:spLocks noGrp="1" noChangeArrowheads="1"/>
          </p:cNvSpPr>
          <p:nvPr>
            <p:ph idx="1"/>
          </p:nvPr>
        </p:nvSpPr>
        <p:spPr>
          <a:xfrm>
            <a:off x="468313" y="1341438"/>
            <a:ext cx="8064127" cy="4525962"/>
          </a:xfrm>
        </p:spPr>
        <p:txBody>
          <a:bodyPr/>
          <a:lstStyle/>
          <a:p>
            <a:pPr eaLnBrk="1" hangingPunct="1">
              <a:buNone/>
              <a:defRPr/>
            </a:pPr>
            <a:r>
              <a:rPr lang="tr-TR" sz="2400" dirty="0" smtClean="0">
                <a:latin typeface="+mj-lt"/>
              </a:rPr>
              <a:t>A- </a:t>
            </a:r>
            <a:r>
              <a:rPr lang="tr-TR" sz="2400" b="1" dirty="0" smtClean="0">
                <a:solidFill>
                  <a:srgbClr val="000099"/>
                </a:solidFill>
                <a:latin typeface="+mj-lt"/>
              </a:rPr>
              <a:t>Vücut Isı Kayıpları</a:t>
            </a:r>
            <a:r>
              <a:rPr lang="tr-TR" sz="2400" dirty="0" smtClean="0">
                <a:latin typeface="+mj-lt"/>
              </a:rPr>
              <a:t> (konveksiyon, </a:t>
            </a:r>
            <a:r>
              <a:rPr lang="tr-TR" sz="2400" dirty="0" err="1" smtClean="0">
                <a:latin typeface="+mj-lt"/>
              </a:rPr>
              <a:t>kondüksiyon</a:t>
            </a:r>
            <a:r>
              <a:rPr lang="tr-TR" sz="2400" dirty="0" smtClean="0">
                <a:latin typeface="+mj-lt"/>
              </a:rPr>
              <a:t>, radyasyon, buharlaşma),</a:t>
            </a:r>
          </a:p>
          <a:p>
            <a:pPr eaLnBrk="1" hangingPunct="1">
              <a:buNone/>
              <a:defRPr/>
            </a:pPr>
            <a:endParaRPr lang="tr-TR" sz="2400" dirty="0" smtClean="0">
              <a:latin typeface="+mj-lt"/>
            </a:endParaRPr>
          </a:p>
          <a:p>
            <a:pPr eaLnBrk="1" hangingPunct="1">
              <a:buNone/>
              <a:defRPr/>
            </a:pPr>
            <a:r>
              <a:rPr lang="tr-TR" sz="2400" dirty="0" smtClean="0">
                <a:latin typeface="+mj-lt"/>
              </a:rPr>
              <a:t>B- </a:t>
            </a:r>
            <a:r>
              <a:rPr lang="tr-TR" sz="2400" b="1" dirty="0" smtClean="0">
                <a:solidFill>
                  <a:srgbClr val="000099"/>
                </a:solidFill>
                <a:latin typeface="+mj-lt"/>
              </a:rPr>
              <a:t>Fizyolojik Faktörler</a:t>
            </a:r>
            <a:r>
              <a:rPr lang="tr-TR" sz="2400" dirty="0" smtClean="0">
                <a:latin typeface="+mj-lt"/>
              </a:rPr>
              <a:t> (yaş, sağlık durumu, aktivite),</a:t>
            </a:r>
          </a:p>
          <a:p>
            <a:pPr eaLnBrk="1" hangingPunct="1">
              <a:buNone/>
              <a:defRPr/>
            </a:pPr>
            <a:endParaRPr lang="tr-TR" sz="2400" dirty="0" smtClean="0">
              <a:latin typeface="+mj-lt"/>
            </a:endParaRPr>
          </a:p>
          <a:p>
            <a:pPr eaLnBrk="1" hangingPunct="1">
              <a:buNone/>
              <a:defRPr/>
            </a:pPr>
            <a:r>
              <a:rPr lang="tr-TR" sz="2400" dirty="0" smtClean="0">
                <a:latin typeface="+mj-lt"/>
              </a:rPr>
              <a:t>C- </a:t>
            </a:r>
            <a:r>
              <a:rPr lang="tr-TR" sz="2400" b="1" dirty="0" err="1" smtClean="0">
                <a:solidFill>
                  <a:srgbClr val="000099"/>
                </a:solidFill>
                <a:latin typeface="+mj-lt"/>
              </a:rPr>
              <a:t>Yalıtımsal</a:t>
            </a:r>
            <a:r>
              <a:rPr lang="tr-TR" sz="2400" b="1" dirty="0" smtClean="0">
                <a:solidFill>
                  <a:srgbClr val="000099"/>
                </a:solidFill>
                <a:latin typeface="+mj-lt"/>
              </a:rPr>
              <a:t> Faktörler</a:t>
            </a:r>
            <a:r>
              <a:rPr lang="tr-TR" sz="2400" dirty="0" smtClean="0">
                <a:latin typeface="+mj-lt"/>
              </a:rPr>
              <a:t> (giysi tipi ve kalitesi)</a:t>
            </a:r>
          </a:p>
          <a:p>
            <a:pPr marL="0" indent="0" eaLnBrk="1" hangingPunct="1">
              <a:buNone/>
              <a:defRPr/>
            </a:pPr>
            <a:endParaRPr lang="tr-TR" sz="2400" dirty="0" smtClean="0">
              <a:latin typeface="+mj-lt"/>
            </a:endParaRPr>
          </a:p>
          <a:p>
            <a:pPr eaLnBrk="1" hangingPunct="1">
              <a:buNone/>
              <a:defRPr/>
            </a:pPr>
            <a:r>
              <a:rPr lang="tr-TR" sz="2400" dirty="0" smtClean="0">
                <a:latin typeface="+mj-lt"/>
              </a:rPr>
              <a:t>D- </a:t>
            </a:r>
            <a:r>
              <a:rPr lang="tr-TR" sz="2400" b="1" dirty="0" smtClean="0">
                <a:solidFill>
                  <a:srgbClr val="000099"/>
                </a:solidFill>
                <a:latin typeface="+mj-lt"/>
              </a:rPr>
              <a:t>Termal Konfor Faktörleri</a:t>
            </a:r>
            <a:r>
              <a:rPr lang="tr-TR" sz="2400" dirty="0" smtClean="0">
                <a:latin typeface="+mj-lt"/>
              </a:rPr>
              <a:t> (Hava sıcaklığı, hava akım hızı, nem, radyasyon)</a:t>
            </a:r>
            <a:endParaRPr lang="en-US" sz="2400" dirty="0" smtClean="0">
              <a:latin typeface="+mj-lt"/>
            </a:endParaRPr>
          </a:p>
        </p:txBody>
      </p:sp>
      <p:sp>
        <p:nvSpPr>
          <p:cNvPr id="143362" name="Slayt Numarası Yer Tutucusu 5"/>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2B9DE86D-115B-44AA-B30D-9F19C7167FF1}" type="slidenum">
              <a:rPr lang="en-US" altLang="tr-TR" smtClean="0">
                <a:solidFill>
                  <a:srgbClr val="000000"/>
                </a:solidFill>
              </a:rPr>
              <a:pPr eaLnBrk="1" hangingPunct="1"/>
              <a:t>43</a:t>
            </a:fld>
            <a:endParaRPr lang="en-US" altLang="tr-TR" smtClean="0">
              <a:solidFill>
                <a:srgbClr val="000000"/>
              </a:solidFill>
            </a:endParaRPr>
          </a:p>
        </p:txBody>
      </p:sp>
    </p:spTree>
    <p:extLst>
      <p:ext uri="{BB962C8B-B14F-4D97-AF65-F5344CB8AC3E}">
        <p14:creationId xmlns:p14="http://schemas.microsoft.com/office/powerpoint/2010/main" xmlns="" val="42276210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7" name="Rectangle 3"/>
          <p:cNvSpPr>
            <a:spLocks noGrp="1" noChangeArrowheads="1"/>
          </p:cNvSpPr>
          <p:nvPr>
            <p:ph idx="1"/>
          </p:nvPr>
        </p:nvSpPr>
        <p:spPr>
          <a:xfrm>
            <a:off x="395288" y="908050"/>
            <a:ext cx="8137152" cy="4525963"/>
          </a:xfrm>
        </p:spPr>
        <p:txBody>
          <a:bodyPr/>
          <a:lstStyle/>
          <a:p>
            <a:pPr eaLnBrk="1" hangingPunct="1">
              <a:lnSpc>
                <a:spcPct val="90000"/>
              </a:lnSpc>
              <a:buFontTx/>
              <a:buNone/>
            </a:pPr>
            <a:r>
              <a:rPr lang="tr-TR" altLang="tr-TR" sz="2400" dirty="0" smtClean="0">
                <a:solidFill>
                  <a:srgbClr val="FF0000"/>
                </a:solidFill>
                <a:latin typeface="+mj-lt"/>
              </a:rPr>
              <a:t>Yüksek Sıcaklıkta;</a:t>
            </a:r>
          </a:p>
          <a:p>
            <a:pPr eaLnBrk="1" hangingPunct="1">
              <a:lnSpc>
                <a:spcPct val="90000"/>
              </a:lnSpc>
              <a:buFontTx/>
              <a:buNone/>
            </a:pPr>
            <a:r>
              <a:rPr lang="tr-TR" altLang="tr-TR" sz="2400" dirty="0" smtClean="0">
                <a:latin typeface="+mj-lt"/>
              </a:rPr>
              <a:t>- nabız yükselir, kan dolaşımı hızlanır,</a:t>
            </a:r>
          </a:p>
          <a:p>
            <a:pPr eaLnBrk="1" hangingPunct="1">
              <a:lnSpc>
                <a:spcPct val="90000"/>
              </a:lnSpc>
              <a:buFontTx/>
              <a:buNone/>
            </a:pPr>
            <a:r>
              <a:rPr lang="tr-TR" altLang="tr-TR" sz="2400" dirty="0" smtClean="0">
                <a:latin typeface="+mj-lt"/>
              </a:rPr>
              <a:t>- terleme, su ve tuz kaybı artar, </a:t>
            </a:r>
            <a:r>
              <a:rPr lang="tr-TR" altLang="tr-TR" sz="2400" b="1" dirty="0" smtClean="0">
                <a:latin typeface="+mj-lt"/>
              </a:rPr>
              <a:t>(ısı krampları, susuzluk duygusu)</a:t>
            </a:r>
          </a:p>
          <a:p>
            <a:pPr eaLnBrk="1" hangingPunct="1">
              <a:lnSpc>
                <a:spcPct val="90000"/>
              </a:lnSpc>
              <a:buFontTx/>
              <a:buChar char="-"/>
            </a:pPr>
            <a:r>
              <a:rPr lang="tr-TR" altLang="tr-TR" sz="2400" dirty="0" smtClean="0">
                <a:solidFill>
                  <a:srgbClr val="000099"/>
                </a:solidFill>
                <a:latin typeface="+mj-lt"/>
              </a:rPr>
              <a:t>dikkat azalır, fiziksel ve zihinsel verim düşer.</a:t>
            </a:r>
          </a:p>
          <a:p>
            <a:pPr eaLnBrk="1" hangingPunct="1">
              <a:lnSpc>
                <a:spcPct val="90000"/>
              </a:lnSpc>
              <a:buFontTx/>
              <a:buChar char="-"/>
            </a:pPr>
            <a:endParaRPr lang="tr-TR" altLang="tr-TR" sz="2400" dirty="0" smtClean="0">
              <a:solidFill>
                <a:srgbClr val="000099"/>
              </a:solidFill>
              <a:latin typeface="+mj-lt"/>
            </a:endParaRPr>
          </a:p>
          <a:p>
            <a:pPr eaLnBrk="1" hangingPunct="1">
              <a:lnSpc>
                <a:spcPct val="90000"/>
              </a:lnSpc>
              <a:buFontTx/>
              <a:buNone/>
            </a:pPr>
            <a:r>
              <a:rPr lang="tr-TR" altLang="tr-TR" sz="2400" dirty="0" smtClean="0">
                <a:solidFill>
                  <a:srgbClr val="FF0000"/>
                </a:solidFill>
                <a:latin typeface="+mj-lt"/>
              </a:rPr>
              <a:t>Düşük Sıcaklıkta;</a:t>
            </a:r>
          </a:p>
          <a:p>
            <a:pPr eaLnBrk="1" hangingPunct="1">
              <a:lnSpc>
                <a:spcPct val="90000"/>
              </a:lnSpc>
              <a:buFontTx/>
              <a:buNone/>
            </a:pPr>
            <a:r>
              <a:rPr lang="tr-TR" altLang="tr-TR" sz="2400" dirty="0" smtClean="0">
                <a:latin typeface="+mj-lt"/>
              </a:rPr>
              <a:t>- </a:t>
            </a:r>
            <a:r>
              <a:rPr lang="tr-TR" altLang="tr-TR" sz="2400" dirty="0" smtClean="0">
                <a:solidFill>
                  <a:srgbClr val="000099"/>
                </a:solidFill>
                <a:latin typeface="+mj-lt"/>
              </a:rPr>
              <a:t>dikkat azalır,</a:t>
            </a:r>
          </a:p>
          <a:p>
            <a:pPr eaLnBrk="1" hangingPunct="1">
              <a:lnSpc>
                <a:spcPct val="90000"/>
              </a:lnSpc>
              <a:buFontTx/>
              <a:buNone/>
            </a:pPr>
            <a:r>
              <a:rPr lang="tr-TR" altLang="tr-TR" sz="2400" dirty="0" smtClean="0">
                <a:solidFill>
                  <a:srgbClr val="000099"/>
                </a:solidFill>
                <a:latin typeface="+mj-lt"/>
              </a:rPr>
              <a:t>-tepki yeteneği geriler</a:t>
            </a:r>
          </a:p>
          <a:p>
            <a:pPr eaLnBrk="1" hangingPunct="1">
              <a:lnSpc>
                <a:spcPct val="90000"/>
              </a:lnSpc>
              <a:buFontTx/>
              <a:buNone/>
            </a:pPr>
            <a:endParaRPr lang="tr-TR" altLang="tr-TR" sz="2400" dirty="0" smtClean="0">
              <a:latin typeface="+mj-lt"/>
            </a:endParaRPr>
          </a:p>
          <a:p>
            <a:pPr eaLnBrk="1" hangingPunct="1">
              <a:lnSpc>
                <a:spcPct val="90000"/>
              </a:lnSpc>
              <a:buFontTx/>
              <a:buNone/>
            </a:pPr>
            <a:r>
              <a:rPr lang="tr-TR" altLang="tr-TR" sz="2000" b="1" dirty="0" smtClean="0">
                <a:solidFill>
                  <a:srgbClr val="000099"/>
                </a:solidFill>
                <a:latin typeface="+mj-lt"/>
              </a:rPr>
              <a:t>(her iki durumda da </a:t>
            </a:r>
            <a:r>
              <a:rPr lang="tr-TR" altLang="tr-TR" sz="2000" b="1" dirty="0" smtClean="0">
                <a:solidFill>
                  <a:srgbClr val="FF0000"/>
                </a:solidFill>
                <a:latin typeface="+mj-lt"/>
              </a:rPr>
              <a:t>hata yapma ve dolayısıyla iş kazası riski artar)</a:t>
            </a:r>
          </a:p>
          <a:p>
            <a:pPr eaLnBrk="1" hangingPunct="1">
              <a:lnSpc>
                <a:spcPct val="90000"/>
              </a:lnSpc>
              <a:buFontTx/>
              <a:buChar char="-"/>
            </a:pPr>
            <a:endParaRPr lang="tr-TR" altLang="tr-TR" sz="2000" b="1" dirty="0" smtClean="0">
              <a:solidFill>
                <a:srgbClr val="FF0000"/>
              </a:solidFill>
              <a:latin typeface="+mj-lt"/>
            </a:endParaRPr>
          </a:p>
          <a:p>
            <a:pPr eaLnBrk="1" hangingPunct="1">
              <a:lnSpc>
                <a:spcPct val="90000"/>
              </a:lnSpc>
              <a:buFontTx/>
              <a:buChar char="-"/>
            </a:pPr>
            <a:endParaRPr lang="en-US" altLang="tr-TR" sz="2000" b="1" dirty="0" smtClean="0">
              <a:solidFill>
                <a:srgbClr val="000099"/>
              </a:solidFill>
              <a:latin typeface="+mj-lt"/>
            </a:endParaRPr>
          </a:p>
        </p:txBody>
      </p:sp>
      <p:sp>
        <p:nvSpPr>
          <p:cNvPr id="144386" name="Slayt Numarası Yer Tutucusu 5"/>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CD7E3F25-AB51-4F29-A488-13F0E1178BDC}" type="slidenum">
              <a:rPr lang="en-US" altLang="tr-TR" smtClean="0">
                <a:solidFill>
                  <a:srgbClr val="000000"/>
                </a:solidFill>
              </a:rPr>
              <a:pPr eaLnBrk="1" hangingPunct="1"/>
              <a:t>44</a:t>
            </a:fld>
            <a:endParaRPr lang="en-US" altLang="tr-TR" smtClean="0">
              <a:solidFill>
                <a:srgbClr val="000000"/>
              </a:solidFill>
            </a:endParaRPr>
          </a:p>
        </p:txBody>
      </p:sp>
    </p:spTree>
    <p:extLst>
      <p:ext uri="{BB962C8B-B14F-4D97-AF65-F5344CB8AC3E}">
        <p14:creationId xmlns:p14="http://schemas.microsoft.com/office/powerpoint/2010/main" xmlns="" val="40054265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2 İçerik Yer Tutucusu"/>
          <p:cNvSpPr>
            <a:spLocks noGrp="1"/>
          </p:cNvSpPr>
          <p:nvPr>
            <p:ph idx="1"/>
          </p:nvPr>
        </p:nvSpPr>
        <p:spPr>
          <a:xfrm>
            <a:off x="179512" y="476672"/>
            <a:ext cx="8003232" cy="5126038"/>
          </a:xfrm>
        </p:spPr>
        <p:txBody>
          <a:bodyPr/>
          <a:lstStyle/>
          <a:p>
            <a:pPr eaLnBrk="1" hangingPunct="1">
              <a:lnSpc>
                <a:spcPct val="150000"/>
              </a:lnSpc>
              <a:buFont typeface="Arial" pitchFamily="34" charset="0"/>
              <a:buNone/>
            </a:pPr>
            <a:r>
              <a:rPr lang="tr-TR" altLang="tr-TR" sz="2800" b="1" dirty="0" smtClean="0">
                <a:solidFill>
                  <a:srgbClr val="0070C0"/>
                </a:solidFill>
                <a:latin typeface="+mj-lt"/>
              </a:rPr>
              <a:t>	</a:t>
            </a:r>
            <a:endParaRPr lang="tr-TR" altLang="tr-TR" sz="2400" dirty="0" smtClean="0">
              <a:latin typeface="+mj-lt"/>
              <a:cs typeface="Arial" pitchFamily="34" charset="0"/>
            </a:endParaRPr>
          </a:p>
          <a:p>
            <a:pPr eaLnBrk="1" hangingPunct="1">
              <a:lnSpc>
                <a:spcPct val="150000"/>
              </a:lnSpc>
              <a:spcBef>
                <a:spcPts val="1800"/>
              </a:spcBef>
              <a:buFont typeface="Arial" pitchFamily="34" charset="0"/>
              <a:buNone/>
            </a:pPr>
            <a:r>
              <a:rPr lang="tr-TR" altLang="tr-TR" sz="2400" b="1" dirty="0" smtClean="0">
                <a:latin typeface="+mj-lt"/>
                <a:cs typeface="Arial" pitchFamily="34" charset="0"/>
              </a:rPr>
              <a:t>	</a:t>
            </a:r>
            <a:r>
              <a:rPr lang="tr-TR" altLang="tr-TR" sz="2400" b="1" dirty="0" smtClean="0">
                <a:solidFill>
                  <a:srgbClr val="FF0000"/>
                </a:solidFill>
                <a:latin typeface="+mj-lt"/>
                <a:cs typeface="Arial" pitchFamily="34" charset="0"/>
              </a:rPr>
              <a:t>Büro</a:t>
            </a:r>
            <a:r>
              <a:rPr lang="tr-TR" altLang="tr-TR" sz="2400" dirty="0" smtClean="0">
                <a:latin typeface="+mj-lt"/>
                <a:cs typeface="Arial" pitchFamily="34" charset="0"/>
              </a:rPr>
              <a:t> çalışanları gibi az hareketli çalışanlar için uygun ortam sıcaklığı </a:t>
            </a:r>
            <a:r>
              <a:rPr lang="tr-TR" altLang="tr-TR" sz="2400" b="1" dirty="0" smtClean="0">
                <a:solidFill>
                  <a:srgbClr val="FF0000"/>
                </a:solidFill>
                <a:latin typeface="+mj-lt"/>
                <a:cs typeface="Arial" pitchFamily="34" charset="0"/>
              </a:rPr>
              <a:t>19-23 °C</a:t>
            </a:r>
            <a:r>
              <a:rPr lang="tr-TR" altLang="tr-TR" sz="2400" dirty="0" smtClean="0">
                <a:latin typeface="+mj-lt"/>
                <a:cs typeface="Arial" pitchFamily="34" charset="0"/>
              </a:rPr>
              <a:t> olurken, </a:t>
            </a:r>
            <a:r>
              <a:rPr lang="tr-TR" altLang="tr-TR" sz="2400" b="1" dirty="0" smtClean="0">
                <a:solidFill>
                  <a:srgbClr val="FF0000"/>
                </a:solidFill>
                <a:latin typeface="+mj-lt"/>
                <a:cs typeface="Arial" pitchFamily="34" charset="0"/>
              </a:rPr>
              <a:t>ağır endüstri </a:t>
            </a:r>
            <a:r>
              <a:rPr lang="tr-TR" altLang="tr-TR" sz="2400" dirty="0" smtClean="0">
                <a:latin typeface="+mj-lt"/>
                <a:cs typeface="Arial" pitchFamily="34" charset="0"/>
              </a:rPr>
              <a:t>kollarında çalışanlar için ortam sıcaklığı </a:t>
            </a:r>
            <a:r>
              <a:rPr lang="tr-TR" altLang="tr-TR" sz="2400" b="1" dirty="0" smtClean="0">
                <a:solidFill>
                  <a:srgbClr val="FF0000"/>
                </a:solidFill>
                <a:latin typeface="+mj-lt"/>
                <a:cs typeface="Arial" pitchFamily="34" charset="0"/>
              </a:rPr>
              <a:t>13-16 °C</a:t>
            </a:r>
            <a:r>
              <a:rPr lang="tr-TR" altLang="tr-TR" sz="2400" dirty="0" smtClean="0">
                <a:latin typeface="+mj-lt"/>
                <a:cs typeface="Arial" pitchFamily="34" charset="0"/>
              </a:rPr>
              <a:t> olarak tercih edilmekte, </a:t>
            </a:r>
            <a:r>
              <a:rPr lang="tr-TR" altLang="tr-TR" sz="2400" dirty="0" smtClean="0">
                <a:solidFill>
                  <a:srgbClr val="000099"/>
                </a:solidFill>
                <a:latin typeface="+mj-lt"/>
                <a:cs typeface="Arial" pitchFamily="34" charset="0"/>
              </a:rPr>
              <a:t>dolayısıyla </a:t>
            </a:r>
            <a:r>
              <a:rPr lang="tr-TR" altLang="tr-TR" sz="2400" b="1" dirty="0" smtClean="0">
                <a:solidFill>
                  <a:srgbClr val="000099"/>
                </a:solidFill>
                <a:latin typeface="+mj-lt"/>
                <a:cs typeface="Arial" pitchFamily="34" charset="0"/>
              </a:rPr>
              <a:t>çalışanların fiziksel aktivitesi arttıkça ortamın sıcaklığı düşürülmektedir</a:t>
            </a:r>
            <a:r>
              <a:rPr lang="tr-TR" altLang="tr-TR" sz="2400" dirty="0" smtClean="0">
                <a:latin typeface="+mj-lt"/>
                <a:cs typeface="Arial" pitchFamily="34" charset="0"/>
              </a:rPr>
              <a:t>.</a:t>
            </a:r>
          </a:p>
        </p:txBody>
      </p:sp>
      <p:sp>
        <p:nvSpPr>
          <p:cNvPr id="145411" name="Slayt Numarası Yer Tutucusu 1"/>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F33311F4-192E-4773-9583-1099E91A46D7}" type="slidenum">
              <a:rPr lang="tr-TR" altLang="tr-TR" smtClean="0">
                <a:solidFill>
                  <a:srgbClr val="898989"/>
                </a:solidFill>
              </a:rPr>
              <a:pPr eaLnBrk="1" hangingPunct="1"/>
              <a:t>45</a:t>
            </a:fld>
            <a:endParaRPr lang="tr-TR" altLang="tr-TR" smtClean="0">
              <a:solidFill>
                <a:srgbClr val="898989"/>
              </a:solidFill>
            </a:endParaRPr>
          </a:p>
        </p:txBody>
      </p:sp>
    </p:spTree>
    <p:extLst>
      <p:ext uri="{BB962C8B-B14F-4D97-AF65-F5344CB8AC3E}">
        <p14:creationId xmlns:p14="http://schemas.microsoft.com/office/powerpoint/2010/main" xmlns="" val="425050742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İçerik Yer Tutucusu 2"/>
          <p:cNvSpPr>
            <a:spLocks noGrp="1"/>
          </p:cNvSpPr>
          <p:nvPr>
            <p:ph idx="1"/>
          </p:nvPr>
        </p:nvSpPr>
        <p:spPr>
          <a:xfrm>
            <a:off x="0" y="908720"/>
            <a:ext cx="8065591" cy="4320480"/>
          </a:xfrm>
        </p:spPr>
        <p:txBody>
          <a:bodyPr/>
          <a:lstStyle/>
          <a:p>
            <a:pPr marL="0" indent="0" eaLnBrk="1" hangingPunct="1">
              <a:buFont typeface="Arial" pitchFamily="34" charset="0"/>
              <a:buNone/>
            </a:pPr>
            <a:endParaRPr lang="tr-TR" altLang="tr-TR" dirty="0" smtClean="0">
              <a:latin typeface="+mj-lt"/>
            </a:endParaRPr>
          </a:p>
          <a:p>
            <a:pPr marL="0" indent="0" eaLnBrk="1" hangingPunct="1">
              <a:buFont typeface="Arial" pitchFamily="34" charset="0"/>
              <a:buNone/>
            </a:pPr>
            <a:r>
              <a:rPr lang="tr-TR" altLang="tr-TR" dirty="0" smtClean="0">
                <a:latin typeface="+mj-lt"/>
              </a:rPr>
              <a:t>Sıcaklık, işyeri ortamına </a:t>
            </a:r>
            <a:r>
              <a:rPr lang="tr-TR" altLang="tr-TR" dirty="0" smtClean="0">
                <a:solidFill>
                  <a:srgbClr val="FF0000"/>
                </a:solidFill>
                <a:latin typeface="+mj-lt"/>
              </a:rPr>
              <a:t>düzgün dağılmalıdır. </a:t>
            </a:r>
          </a:p>
          <a:p>
            <a:pPr marL="0" indent="0" eaLnBrk="1" hangingPunct="1">
              <a:buFont typeface="Arial" pitchFamily="34" charset="0"/>
              <a:buNone/>
            </a:pPr>
            <a:endParaRPr lang="tr-TR" altLang="tr-TR" dirty="0" smtClean="0">
              <a:solidFill>
                <a:srgbClr val="FF0000"/>
              </a:solidFill>
              <a:latin typeface="+mj-lt"/>
            </a:endParaRPr>
          </a:p>
          <a:p>
            <a:pPr marL="0" indent="0" eaLnBrk="1" hangingPunct="1">
              <a:buFont typeface="Arial" pitchFamily="34" charset="0"/>
              <a:buNone/>
            </a:pPr>
            <a:r>
              <a:rPr lang="tr-TR" altLang="tr-TR" dirty="0" smtClean="0">
                <a:latin typeface="+mj-lt"/>
              </a:rPr>
              <a:t>Örneğin, 25 C dereceyi geçmemesi gereken</a:t>
            </a:r>
          </a:p>
          <a:p>
            <a:pPr marL="0" indent="0" eaLnBrk="1" hangingPunct="1">
              <a:buFont typeface="Arial" pitchFamily="34" charset="0"/>
              <a:buNone/>
            </a:pPr>
            <a:r>
              <a:rPr lang="tr-TR" altLang="tr-TR" dirty="0" smtClean="0">
                <a:latin typeface="+mj-lt"/>
              </a:rPr>
              <a:t> </a:t>
            </a:r>
            <a:r>
              <a:rPr lang="tr-TR" altLang="tr-TR" dirty="0" smtClean="0">
                <a:solidFill>
                  <a:srgbClr val="FF0000"/>
                </a:solidFill>
                <a:latin typeface="+mj-lt"/>
              </a:rPr>
              <a:t>döşeme sıcaklığı ile baş yüksekliği sıcaklığı arasındaki fark 1-2 </a:t>
            </a:r>
            <a:r>
              <a:rPr lang="tr-TR" altLang="tr-TR" dirty="0" smtClean="0">
                <a:latin typeface="+mj-lt"/>
              </a:rPr>
              <a:t> dereceyi geçmemelidir. </a:t>
            </a:r>
          </a:p>
        </p:txBody>
      </p:sp>
      <p:sp>
        <p:nvSpPr>
          <p:cNvPr id="146435" name="Slayt Numarası Yer Tutucusu 3"/>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3E6DB5E4-27BD-4AD3-9709-CB63A245C299}" type="slidenum">
              <a:rPr lang="tr-TR" altLang="tr-TR" smtClean="0">
                <a:solidFill>
                  <a:srgbClr val="898989"/>
                </a:solidFill>
              </a:rPr>
              <a:pPr eaLnBrk="1" hangingPunct="1"/>
              <a:t>46</a:t>
            </a:fld>
            <a:endParaRPr lang="tr-TR" altLang="tr-TR" smtClean="0">
              <a:solidFill>
                <a:srgbClr val="898989"/>
              </a:solidFill>
            </a:endParaRPr>
          </a:p>
        </p:txBody>
      </p:sp>
    </p:spTree>
    <p:extLst>
      <p:ext uri="{BB962C8B-B14F-4D97-AF65-F5344CB8AC3E}">
        <p14:creationId xmlns:p14="http://schemas.microsoft.com/office/powerpoint/2010/main" xmlns="" val="112088318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1 Başlık"/>
          <p:cNvSpPr>
            <a:spLocks noGrp="1"/>
          </p:cNvSpPr>
          <p:nvPr>
            <p:ph type="title"/>
          </p:nvPr>
        </p:nvSpPr>
        <p:spPr>
          <a:xfrm>
            <a:off x="755576" y="116632"/>
            <a:ext cx="7931224" cy="1367681"/>
          </a:xfrm>
        </p:spPr>
        <p:txBody>
          <a:bodyPr/>
          <a:lstStyle/>
          <a:p>
            <a:pPr eaLnBrk="1" hangingPunct="1"/>
            <a:r>
              <a:rPr lang="tr-TR" altLang="tr-TR" sz="4000" dirty="0" smtClean="0">
                <a:solidFill>
                  <a:schemeClr val="tx1"/>
                </a:solidFill>
                <a:latin typeface="+mj-lt"/>
                <a:cs typeface="Arial" pitchFamily="34" charset="0"/>
              </a:rPr>
              <a:t>Efektif Sıcaklık</a:t>
            </a:r>
          </a:p>
        </p:txBody>
      </p:sp>
      <p:sp>
        <p:nvSpPr>
          <p:cNvPr id="3" name="2 İçerik Yer Tutucusu"/>
          <p:cNvSpPr>
            <a:spLocks noGrp="1"/>
          </p:cNvSpPr>
          <p:nvPr>
            <p:ph idx="1"/>
          </p:nvPr>
        </p:nvSpPr>
        <p:spPr>
          <a:xfrm>
            <a:off x="323850" y="1196975"/>
            <a:ext cx="8229600" cy="4281488"/>
          </a:xfrm>
        </p:spPr>
        <p:txBody>
          <a:bodyPr rtlCol="0">
            <a:normAutofit fontScale="92500" lnSpcReduction="20000"/>
          </a:bodyPr>
          <a:lstStyle/>
          <a:p>
            <a:pPr eaLnBrk="1" fontAlgn="auto" hangingPunct="1">
              <a:spcAft>
                <a:spcPts val="0"/>
              </a:spcAft>
              <a:buNone/>
              <a:defRPr/>
            </a:pPr>
            <a:r>
              <a:rPr lang="tr-TR" sz="2400" dirty="0" smtClean="0">
                <a:latin typeface="+mj-lt"/>
                <a:cs typeface="Arial" pitchFamily="34" charset="0"/>
              </a:rPr>
              <a:t>İnsanın hissettiği sıcaklık tek bir değişkene bağlı değildir. </a:t>
            </a:r>
            <a:r>
              <a:rPr lang="tr-TR" sz="2400" b="1" dirty="0" smtClean="0">
                <a:latin typeface="+mj-lt"/>
                <a:cs typeface="Arial" pitchFamily="34" charset="0"/>
              </a:rPr>
              <a:t>Sıcaklığın</a:t>
            </a:r>
            <a:r>
              <a:rPr lang="tr-TR" sz="2400" dirty="0" smtClean="0">
                <a:latin typeface="+mj-lt"/>
                <a:cs typeface="Arial" pitchFamily="34" charset="0"/>
              </a:rPr>
              <a:t> derece olarak artması veya azalmasının yanında, </a:t>
            </a:r>
            <a:r>
              <a:rPr lang="tr-TR" sz="2400" b="1" dirty="0" smtClean="0">
                <a:latin typeface="+mj-lt"/>
                <a:cs typeface="Arial" pitchFamily="34" charset="0"/>
              </a:rPr>
              <a:t>nemin </a:t>
            </a:r>
            <a:r>
              <a:rPr lang="tr-TR" sz="2400" dirty="0" smtClean="0">
                <a:latin typeface="+mj-lt"/>
                <a:cs typeface="Arial" pitchFamily="34" charset="0"/>
              </a:rPr>
              <a:t>ve </a:t>
            </a:r>
            <a:r>
              <a:rPr lang="tr-TR" sz="2400" b="1" dirty="0" smtClean="0">
                <a:latin typeface="+mj-lt"/>
                <a:cs typeface="Arial" pitchFamily="34" charset="0"/>
              </a:rPr>
              <a:t>hava akım hızının </a:t>
            </a:r>
            <a:r>
              <a:rPr lang="tr-TR" sz="2400" dirty="0" smtClean="0">
                <a:latin typeface="+mj-lt"/>
                <a:cs typeface="Arial" pitchFamily="34" charset="0"/>
              </a:rPr>
              <a:t>seviyesi de sıcaklığın etkisini artırır veya azaltır.</a:t>
            </a:r>
          </a:p>
          <a:p>
            <a:pPr marL="0" indent="0" eaLnBrk="1" fontAlgn="auto" hangingPunct="1">
              <a:spcAft>
                <a:spcPts val="0"/>
              </a:spcAft>
              <a:buNone/>
              <a:defRPr/>
            </a:pPr>
            <a:r>
              <a:rPr lang="tr-TR" sz="2400" dirty="0" smtClean="0">
                <a:latin typeface="+mj-lt"/>
                <a:cs typeface="Arial" pitchFamily="34" charset="0"/>
              </a:rPr>
              <a:t> </a:t>
            </a:r>
          </a:p>
          <a:p>
            <a:pPr eaLnBrk="1" fontAlgn="auto" hangingPunct="1">
              <a:spcAft>
                <a:spcPts val="0"/>
              </a:spcAft>
              <a:buNone/>
              <a:defRPr/>
            </a:pPr>
            <a:r>
              <a:rPr lang="tr-TR" sz="2400" b="1" dirty="0" smtClean="0">
                <a:latin typeface="+mj-lt"/>
                <a:cs typeface="Arial" pitchFamily="34" charset="0"/>
              </a:rPr>
              <a:t>Bu değişkenlerin çeşitli bileşimleri, aynı sıcaklık duygusunu ve aynı psikolojik etkiyi verebilir</a:t>
            </a:r>
            <a:r>
              <a:rPr lang="tr-TR" sz="2400" dirty="0" smtClean="0">
                <a:latin typeface="+mj-lt"/>
                <a:cs typeface="Arial" pitchFamily="34" charset="0"/>
              </a:rPr>
              <a:t>. </a:t>
            </a:r>
          </a:p>
          <a:p>
            <a:pPr eaLnBrk="1" fontAlgn="auto" hangingPunct="1">
              <a:spcAft>
                <a:spcPts val="0"/>
              </a:spcAft>
              <a:buNone/>
              <a:defRPr/>
            </a:pPr>
            <a:endParaRPr lang="tr-TR" sz="2400" dirty="0">
              <a:latin typeface="+mj-lt"/>
              <a:cs typeface="Arial" pitchFamily="34" charset="0"/>
            </a:endParaRPr>
          </a:p>
          <a:p>
            <a:pPr eaLnBrk="1" fontAlgn="auto" hangingPunct="1">
              <a:spcAft>
                <a:spcPts val="0"/>
              </a:spcAft>
              <a:buNone/>
              <a:defRPr/>
            </a:pPr>
            <a:r>
              <a:rPr lang="tr-TR" sz="2400" dirty="0" smtClean="0">
                <a:latin typeface="+mj-lt"/>
                <a:cs typeface="Arial" pitchFamily="34" charset="0"/>
              </a:rPr>
              <a:t>Bu üç faktörün (</a:t>
            </a:r>
            <a:r>
              <a:rPr lang="tr-TR" sz="2400" dirty="0" smtClean="0">
                <a:solidFill>
                  <a:srgbClr val="FF0000"/>
                </a:solidFill>
                <a:latin typeface="+mj-lt"/>
                <a:cs typeface="Arial" pitchFamily="34" charset="0"/>
              </a:rPr>
              <a:t>sıcaklık, nem, hava akım hızı</a:t>
            </a:r>
            <a:r>
              <a:rPr lang="tr-TR" sz="2400" dirty="0" smtClean="0">
                <a:latin typeface="+mj-lt"/>
                <a:cs typeface="Arial" pitchFamily="34" charset="0"/>
              </a:rPr>
              <a:t>) etkisi altında </a:t>
            </a:r>
            <a:r>
              <a:rPr lang="tr-TR" sz="2400" b="1" dirty="0" smtClean="0">
                <a:latin typeface="+mj-lt"/>
                <a:cs typeface="Arial" pitchFamily="34" charset="0"/>
              </a:rPr>
              <a:t>duyulan sıcaklığa </a:t>
            </a:r>
            <a:r>
              <a:rPr lang="tr-TR" sz="2400" dirty="0" smtClean="0">
                <a:solidFill>
                  <a:srgbClr val="FF0000"/>
                </a:solidFill>
                <a:latin typeface="+mj-lt"/>
                <a:cs typeface="Arial" pitchFamily="34" charset="0"/>
              </a:rPr>
              <a:t>“efektif sıcaklık (hissedilen sıcaklık)”</a:t>
            </a:r>
            <a:r>
              <a:rPr lang="tr-TR" sz="2400" dirty="0" smtClean="0">
                <a:latin typeface="+mj-lt"/>
                <a:cs typeface="Arial" pitchFamily="34" charset="0"/>
              </a:rPr>
              <a:t>,</a:t>
            </a:r>
          </a:p>
          <a:p>
            <a:pPr marL="0" indent="0" eaLnBrk="1" fontAlgn="auto" hangingPunct="1">
              <a:spcAft>
                <a:spcPts val="0"/>
              </a:spcAft>
              <a:buNone/>
              <a:defRPr/>
            </a:pPr>
            <a:endParaRPr lang="tr-TR" sz="2400" dirty="0" smtClean="0">
              <a:latin typeface="+mj-lt"/>
              <a:cs typeface="Arial" pitchFamily="34" charset="0"/>
            </a:endParaRPr>
          </a:p>
          <a:p>
            <a:pPr eaLnBrk="1" fontAlgn="auto" hangingPunct="1">
              <a:spcAft>
                <a:spcPts val="0"/>
              </a:spcAft>
              <a:buNone/>
              <a:defRPr/>
            </a:pPr>
            <a:r>
              <a:rPr lang="tr-TR" sz="2400" dirty="0" smtClean="0">
                <a:latin typeface="+mj-lt"/>
                <a:cs typeface="Arial" pitchFamily="34" charset="0"/>
              </a:rPr>
              <a:t> insan üzerinde eşit sıcaklık etkisi yapan hava sıcaklığı, hava nemi ve hava akım hızının çeşitli bileşimlerine (</a:t>
            </a:r>
            <a:r>
              <a:rPr lang="tr-TR" sz="2400" b="1" dirty="0" smtClean="0">
                <a:latin typeface="+mj-lt"/>
                <a:cs typeface="Arial" pitchFamily="34" charset="0"/>
              </a:rPr>
              <a:t>kombinasyonlarına</a:t>
            </a:r>
            <a:r>
              <a:rPr lang="tr-TR" sz="2400" dirty="0" smtClean="0">
                <a:latin typeface="+mj-lt"/>
                <a:cs typeface="Arial" pitchFamily="34" charset="0"/>
              </a:rPr>
              <a:t>)  ise </a:t>
            </a:r>
            <a:r>
              <a:rPr lang="tr-TR" sz="2400" dirty="0" smtClean="0">
                <a:solidFill>
                  <a:srgbClr val="FF0000"/>
                </a:solidFill>
                <a:latin typeface="+mj-lt"/>
                <a:cs typeface="Arial" pitchFamily="34" charset="0"/>
              </a:rPr>
              <a:t>“eşdeğer efektif sıcaklık”</a:t>
            </a:r>
            <a:r>
              <a:rPr lang="tr-TR" sz="2400" dirty="0" smtClean="0">
                <a:latin typeface="+mj-lt"/>
                <a:cs typeface="Arial" pitchFamily="34" charset="0"/>
              </a:rPr>
              <a:t> denir.  </a:t>
            </a:r>
          </a:p>
        </p:txBody>
      </p:sp>
      <p:sp>
        <p:nvSpPr>
          <p:cNvPr id="148484" name="Slayt Numarası Yer Tutucusu 1"/>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38EDCD8C-83D9-4B89-9938-2DEC86EEBDC0}" type="slidenum">
              <a:rPr lang="tr-TR" altLang="tr-TR" smtClean="0">
                <a:solidFill>
                  <a:srgbClr val="898989"/>
                </a:solidFill>
              </a:rPr>
              <a:pPr eaLnBrk="1" hangingPunct="1"/>
              <a:t>47</a:t>
            </a:fld>
            <a:endParaRPr lang="tr-TR" altLang="tr-TR" smtClean="0">
              <a:solidFill>
                <a:srgbClr val="898989"/>
              </a:solidFill>
            </a:endParaRPr>
          </a:p>
        </p:txBody>
      </p:sp>
    </p:spTree>
    <p:extLst>
      <p:ext uri="{BB962C8B-B14F-4D97-AF65-F5344CB8AC3E}">
        <p14:creationId xmlns:p14="http://schemas.microsoft.com/office/powerpoint/2010/main" xmlns="" val="73132930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Rectangle 2"/>
          <p:cNvSpPr>
            <a:spLocks noGrp="1" noChangeArrowheads="1"/>
          </p:cNvSpPr>
          <p:nvPr>
            <p:ph type="title"/>
          </p:nvPr>
        </p:nvSpPr>
        <p:spPr>
          <a:xfrm>
            <a:off x="539552" y="332656"/>
            <a:ext cx="8147248" cy="1084982"/>
          </a:xfrm>
        </p:spPr>
        <p:txBody>
          <a:bodyPr/>
          <a:lstStyle/>
          <a:p>
            <a:pPr eaLnBrk="1" hangingPunct="1"/>
            <a:r>
              <a:rPr lang="tr-TR" altLang="tr-TR" sz="3200" b="1" dirty="0" smtClean="0">
                <a:solidFill>
                  <a:schemeClr val="tx1"/>
                </a:solidFill>
                <a:latin typeface="+mj-lt"/>
              </a:rPr>
              <a:t>Eşdeğer Efektif Sıcaklık  (Örnek)</a:t>
            </a:r>
            <a:endParaRPr lang="en-US" altLang="tr-TR" sz="3200" b="1" dirty="0" smtClean="0">
              <a:solidFill>
                <a:schemeClr val="tx1"/>
              </a:solidFill>
              <a:latin typeface="+mj-lt"/>
            </a:endParaRPr>
          </a:p>
        </p:txBody>
      </p:sp>
      <p:sp>
        <p:nvSpPr>
          <p:cNvPr id="149508" name="Rectangle 3"/>
          <p:cNvSpPr>
            <a:spLocks noGrp="1" noChangeArrowheads="1"/>
          </p:cNvSpPr>
          <p:nvPr>
            <p:ph idx="1"/>
          </p:nvPr>
        </p:nvSpPr>
        <p:spPr>
          <a:xfrm>
            <a:off x="395288" y="1341438"/>
            <a:ext cx="8229600" cy="4525962"/>
          </a:xfrm>
        </p:spPr>
        <p:txBody>
          <a:bodyPr/>
          <a:lstStyle/>
          <a:p>
            <a:pPr eaLnBrk="1" hangingPunct="1"/>
            <a:endParaRPr lang="tr-TR" altLang="tr-TR" sz="2800" smtClean="0">
              <a:latin typeface="+mj-lt"/>
            </a:endParaRPr>
          </a:p>
          <a:p>
            <a:pPr eaLnBrk="1" hangingPunct="1"/>
            <a:r>
              <a:rPr lang="tr-TR" altLang="tr-TR" sz="2800" smtClean="0">
                <a:solidFill>
                  <a:srgbClr val="FF0000"/>
                </a:solidFill>
                <a:latin typeface="+mj-lt"/>
              </a:rPr>
              <a:t>32 derece(C</a:t>
            </a:r>
            <a:r>
              <a:rPr lang="tr-TR" altLang="tr-TR" sz="2800" smtClean="0">
                <a:latin typeface="+mj-lt"/>
              </a:rPr>
              <a:t>) sıcaklıkta, </a:t>
            </a:r>
            <a:r>
              <a:rPr lang="tr-TR" altLang="tr-TR" sz="2800" smtClean="0">
                <a:solidFill>
                  <a:srgbClr val="FF0000"/>
                </a:solidFill>
                <a:latin typeface="+mj-lt"/>
              </a:rPr>
              <a:t>% 25 nem</a:t>
            </a:r>
            <a:r>
              <a:rPr lang="tr-TR" altLang="tr-TR" sz="2800" smtClean="0">
                <a:latin typeface="+mj-lt"/>
              </a:rPr>
              <a:t> oranı ve </a:t>
            </a:r>
            <a:r>
              <a:rPr lang="tr-TR" altLang="tr-TR" sz="2800" smtClean="0">
                <a:solidFill>
                  <a:srgbClr val="FF0000"/>
                </a:solidFill>
                <a:latin typeface="+mj-lt"/>
              </a:rPr>
              <a:t>0.1 m/sn</a:t>
            </a:r>
            <a:r>
              <a:rPr lang="tr-TR" altLang="tr-TR" sz="2800" smtClean="0">
                <a:latin typeface="+mj-lt"/>
              </a:rPr>
              <a:t> hava akım hızı olan ortam ile,</a:t>
            </a:r>
          </a:p>
          <a:p>
            <a:pPr eaLnBrk="1" hangingPunct="1"/>
            <a:r>
              <a:rPr lang="tr-TR" altLang="tr-TR" sz="2800" smtClean="0">
                <a:solidFill>
                  <a:srgbClr val="FF0000"/>
                </a:solidFill>
                <a:latin typeface="+mj-lt"/>
              </a:rPr>
              <a:t>27 derece(C</a:t>
            </a:r>
            <a:r>
              <a:rPr lang="tr-TR" altLang="tr-TR" sz="2800" smtClean="0">
                <a:latin typeface="+mj-lt"/>
              </a:rPr>
              <a:t>) sıcaklıkta </a:t>
            </a:r>
            <a:r>
              <a:rPr lang="tr-TR" altLang="tr-TR" sz="2800" smtClean="0">
                <a:solidFill>
                  <a:srgbClr val="FF0000"/>
                </a:solidFill>
                <a:latin typeface="+mj-lt"/>
              </a:rPr>
              <a:t>% 75</a:t>
            </a:r>
            <a:r>
              <a:rPr lang="tr-TR" altLang="tr-TR" sz="2800" smtClean="0">
                <a:latin typeface="+mj-lt"/>
              </a:rPr>
              <a:t> nem oranı ve </a:t>
            </a:r>
            <a:r>
              <a:rPr lang="tr-TR" altLang="tr-TR" sz="2800" smtClean="0">
                <a:solidFill>
                  <a:srgbClr val="FF0000"/>
                </a:solidFill>
                <a:latin typeface="+mj-lt"/>
              </a:rPr>
              <a:t>0.1 m/sn</a:t>
            </a:r>
            <a:r>
              <a:rPr lang="tr-TR" altLang="tr-TR" sz="2800" smtClean="0">
                <a:latin typeface="+mj-lt"/>
              </a:rPr>
              <a:t> hava akım hızı olan ortam çalışanlar üzerinde </a:t>
            </a:r>
            <a:r>
              <a:rPr lang="tr-TR" altLang="tr-TR" sz="2800" smtClean="0">
                <a:solidFill>
                  <a:srgbClr val="FF0000"/>
                </a:solidFill>
                <a:latin typeface="+mj-lt"/>
              </a:rPr>
              <a:t>aynı sıcaklık etkisi</a:t>
            </a:r>
            <a:r>
              <a:rPr lang="tr-TR" altLang="tr-TR" sz="2800" smtClean="0">
                <a:latin typeface="+mj-lt"/>
              </a:rPr>
              <a:t> yapar. </a:t>
            </a:r>
          </a:p>
          <a:p>
            <a:pPr eaLnBrk="1" hangingPunct="1"/>
            <a:endParaRPr lang="tr-TR" altLang="tr-TR" sz="2800" smtClean="0">
              <a:latin typeface="+mj-lt"/>
            </a:endParaRPr>
          </a:p>
          <a:p>
            <a:pPr eaLnBrk="1" hangingPunct="1"/>
            <a:r>
              <a:rPr lang="tr-TR" altLang="tr-TR" sz="2800" smtClean="0">
                <a:latin typeface="+mj-lt"/>
              </a:rPr>
              <a:t>Yani bunlar eşdeğer efektif sıcaklıktadırlar.</a:t>
            </a:r>
          </a:p>
          <a:p>
            <a:pPr eaLnBrk="1" hangingPunct="1"/>
            <a:endParaRPr lang="en-US" altLang="tr-TR" sz="2800" smtClean="0">
              <a:latin typeface="+mj-lt"/>
            </a:endParaRPr>
          </a:p>
        </p:txBody>
      </p:sp>
      <p:sp>
        <p:nvSpPr>
          <p:cNvPr id="149506" name="Slayt Numarası Yer Tutucusu 5"/>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BDFB92DA-A598-4386-896B-64E738789796}" type="slidenum">
              <a:rPr lang="en-US" altLang="tr-TR" smtClean="0">
                <a:solidFill>
                  <a:srgbClr val="000000"/>
                </a:solidFill>
              </a:rPr>
              <a:pPr eaLnBrk="1" hangingPunct="1"/>
              <a:t>48</a:t>
            </a:fld>
            <a:endParaRPr lang="en-US" altLang="tr-TR" smtClean="0">
              <a:solidFill>
                <a:srgbClr val="000000"/>
              </a:solidFill>
            </a:endParaRPr>
          </a:p>
        </p:txBody>
      </p:sp>
    </p:spTree>
    <p:extLst>
      <p:ext uri="{BB962C8B-B14F-4D97-AF65-F5344CB8AC3E}">
        <p14:creationId xmlns:p14="http://schemas.microsoft.com/office/powerpoint/2010/main" xmlns="" val="238071447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2 İçerik Yer Tutucusu"/>
          <p:cNvSpPr>
            <a:spLocks noGrp="1"/>
          </p:cNvSpPr>
          <p:nvPr>
            <p:ph idx="1"/>
          </p:nvPr>
        </p:nvSpPr>
        <p:spPr>
          <a:xfrm>
            <a:off x="0" y="-315914"/>
            <a:ext cx="8460432" cy="6625233"/>
          </a:xfrm>
        </p:spPr>
        <p:txBody>
          <a:bodyPr>
            <a:normAutofit fontScale="92500"/>
          </a:bodyPr>
          <a:lstStyle/>
          <a:p>
            <a:pPr eaLnBrk="1" hangingPunct="1">
              <a:lnSpc>
                <a:spcPct val="150000"/>
              </a:lnSpc>
              <a:buFont typeface="Arial" pitchFamily="34" charset="0"/>
              <a:buNone/>
              <a:defRPr/>
            </a:pPr>
            <a:r>
              <a:rPr lang="tr-TR" dirty="0" smtClean="0">
                <a:solidFill>
                  <a:srgbClr val="0070C0"/>
                </a:solidFill>
                <a:latin typeface="+mj-lt"/>
              </a:rPr>
              <a:t>	</a:t>
            </a:r>
            <a:r>
              <a:rPr lang="tr-TR" altLang="tr-TR" sz="4400" b="1" u="sng" dirty="0">
                <a:latin typeface="+mj-lt"/>
                <a:cs typeface="Arial" pitchFamily="34" charset="0"/>
              </a:rPr>
              <a:t>Nem</a:t>
            </a:r>
          </a:p>
          <a:p>
            <a:pPr eaLnBrk="1" hangingPunct="1">
              <a:lnSpc>
                <a:spcPct val="150000"/>
              </a:lnSpc>
              <a:buFont typeface="Arial" pitchFamily="34" charset="0"/>
              <a:buNone/>
              <a:defRPr/>
            </a:pPr>
            <a:r>
              <a:rPr lang="tr-TR" altLang="tr-TR" sz="2800" b="1" dirty="0">
                <a:solidFill>
                  <a:srgbClr val="0070C0"/>
                </a:solidFill>
                <a:latin typeface="+mj-lt"/>
                <a:cs typeface="Arial" pitchFamily="34" charset="0"/>
              </a:rPr>
              <a:t>   </a:t>
            </a:r>
            <a:r>
              <a:rPr lang="tr-TR" altLang="tr-TR" sz="2400" b="1" dirty="0">
                <a:solidFill>
                  <a:prstClr val="black"/>
                </a:solidFill>
                <a:latin typeface="+mj-lt"/>
                <a:cs typeface="Arial" pitchFamily="34" charset="0"/>
              </a:rPr>
              <a:t>Nem</a:t>
            </a:r>
            <a:r>
              <a:rPr lang="tr-TR" altLang="tr-TR" sz="2400" dirty="0">
                <a:solidFill>
                  <a:prstClr val="black"/>
                </a:solidFill>
                <a:latin typeface="+mj-lt"/>
                <a:cs typeface="Arial" pitchFamily="34" charset="0"/>
              </a:rPr>
              <a:t>, </a:t>
            </a:r>
            <a:r>
              <a:rPr lang="tr-TR" altLang="tr-TR" sz="2400" b="1" dirty="0">
                <a:solidFill>
                  <a:prstClr val="black"/>
                </a:solidFill>
                <a:latin typeface="+mj-lt"/>
                <a:cs typeface="Arial" pitchFamily="34" charset="0"/>
              </a:rPr>
              <a:t>havada bulunan </a:t>
            </a:r>
            <a:r>
              <a:rPr lang="tr-TR" altLang="tr-TR" sz="2400" b="1" dirty="0">
                <a:latin typeface="+mj-lt"/>
                <a:cs typeface="Arial" pitchFamily="34" charset="0"/>
              </a:rPr>
              <a:t>su buharı </a:t>
            </a:r>
            <a:r>
              <a:rPr lang="tr-TR" altLang="tr-TR" sz="2400" b="1" dirty="0">
                <a:solidFill>
                  <a:prstClr val="black"/>
                </a:solidFill>
                <a:latin typeface="+mj-lt"/>
                <a:cs typeface="Arial" pitchFamily="34" charset="0"/>
              </a:rPr>
              <a:t>miktarıdır</a:t>
            </a:r>
            <a:r>
              <a:rPr lang="tr-TR" altLang="tr-TR" sz="2400" dirty="0">
                <a:solidFill>
                  <a:prstClr val="black"/>
                </a:solidFill>
                <a:latin typeface="+mj-lt"/>
                <a:cs typeface="Arial" pitchFamily="34" charset="0"/>
              </a:rPr>
              <a:t>. </a:t>
            </a:r>
          </a:p>
          <a:p>
            <a:pPr eaLnBrk="1" hangingPunct="1">
              <a:lnSpc>
                <a:spcPct val="150000"/>
              </a:lnSpc>
              <a:buFont typeface="Arial" charset="0"/>
              <a:buNone/>
              <a:defRPr/>
            </a:pPr>
            <a:r>
              <a:rPr lang="tr-TR" sz="2400" dirty="0" smtClean="0">
                <a:latin typeface="+mj-lt"/>
                <a:cs typeface="Arial" pitchFamily="34" charset="0"/>
              </a:rPr>
              <a:t>    Havadaki nemin düzeyi </a:t>
            </a:r>
            <a:r>
              <a:rPr lang="tr-TR" sz="2400" b="1" dirty="0" smtClean="0">
                <a:latin typeface="+mj-lt"/>
                <a:cs typeface="Arial" pitchFamily="34" charset="0"/>
              </a:rPr>
              <a:t>“mutlak nem”</a:t>
            </a:r>
            <a:r>
              <a:rPr lang="tr-TR" sz="2400" dirty="0" smtClean="0">
                <a:latin typeface="+mj-lt"/>
                <a:cs typeface="Arial" pitchFamily="34" charset="0"/>
              </a:rPr>
              <a:t> ve </a:t>
            </a:r>
            <a:r>
              <a:rPr lang="tr-TR" sz="2400" b="1" dirty="0" smtClean="0">
                <a:latin typeface="+mj-lt"/>
                <a:cs typeface="Arial" pitchFamily="34" charset="0"/>
              </a:rPr>
              <a:t>“bağıl (</a:t>
            </a:r>
            <a:r>
              <a:rPr lang="tr-TR" sz="2400" b="1" dirty="0" err="1" smtClean="0">
                <a:latin typeface="+mj-lt"/>
                <a:cs typeface="Arial" pitchFamily="34" charset="0"/>
              </a:rPr>
              <a:t>nisbi</a:t>
            </a:r>
            <a:r>
              <a:rPr lang="tr-TR" sz="2400" b="1" dirty="0" smtClean="0">
                <a:latin typeface="+mj-lt"/>
                <a:cs typeface="Arial" pitchFamily="34" charset="0"/>
              </a:rPr>
              <a:t>) nem”</a:t>
            </a:r>
            <a:r>
              <a:rPr lang="tr-TR" sz="2400" dirty="0" smtClean="0">
                <a:latin typeface="+mj-lt"/>
                <a:cs typeface="Arial" pitchFamily="34" charset="0"/>
              </a:rPr>
              <a:t> olarak ifade edilir. </a:t>
            </a:r>
          </a:p>
          <a:p>
            <a:pPr eaLnBrk="1" hangingPunct="1">
              <a:lnSpc>
                <a:spcPct val="150000"/>
              </a:lnSpc>
              <a:spcBef>
                <a:spcPts val="2400"/>
              </a:spcBef>
              <a:buFont typeface="Arial" charset="0"/>
              <a:buNone/>
              <a:defRPr/>
            </a:pPr>
            <a:r>
              <a:rPr lang="tr-TR" sz="2400" b="1" dirty="0" smtClean="0">
                <a:latin typeface="+mj-lt"/>
                <a:cs typeface="Arial" pitchFamily="34" charset="0"/>
              </a:rPr>
              <a:t>	</a:t>
            </a:r>
            <a:r>
              <a:rPr lang="tr-TR" sz="2400" b="1" dirty="0" smtClean="0">
                <a:solidFill>
                  <a:srgbClr val="FF0000"/>
                </a:solidFill>
                <a:latin typeface="+mj-lt"/>
                <a:cs typeface="Arial" pitchFamily="34" charset="0"/>
              </a:rPr>
              <a:t>Mutlak nem</a:t>
            </a:r>
            <a:r>
              <a:rPr lang="tr-TR" sz="2400" b="1" dirty="0">
                <a:solidFill>
                  <a:srgbClr val="000000"/>
                </a:solidFill>
                <a:latin typeface="+mj-lt"/>
              </a:rPr>
              <a:t>:</a:t>
            </a:r>
            <a:r>
              <a:rPr lang="tr-TR" sz="2400" dirty="0" smtClean="0">
                <a:solidFill>
                  <a:srgbClr val="000000"/>
                </a:solidFill>
                <a:latin typeface="+mj-lt"/>
              </a:rPr>
              <a:t>,</a:t>
            </a:r>
            <a:r>
              <a:rPr lang="tr-TR" sz="2400" dirty="0">
                <a:solidFill>
                  <a:srgbClr val="000000"/>
                </a:solidFill>
                <a:latin typeface="+mj-lt"/>
              </a:rPr>
              <a:t> </a:t>
            </a:r>
            <a:r>
              <a:rPr lang="tr-TR" sz="2400" dirty="0" smtClean="0">
                <a:solidFill>
                  <a:srgbClr val="0B0080"/>
                </a:solidFill>
                <a:latin typeface="+mj-lt"/>
                <a:hlinkClick r:id="rId2" tooltip="Hava"/>
              </a:rPr>
              <a:t>havanın</a:t>
            </a:r>
            <a:r>
              <a:rPr lang="tr-TR" sz="2400" dirty="0" smtClean="0">
                <a:solidFill>
                  <a:srgbClr val="0B0080"/>
                </a:solidFill>
                <a:latin typeface="+mj-lt"/>
              </a:rPr>
              <a:t>,</a:t>
            </a:r>
            <a:r>
              <a:rPr lang="tr-TR" sz="2400" dirty="0">
                <a:solidFill>
                  <a:srgbClr val="000000"/>
                </a:solidFill>
                <a:latin typeface="+mj-lt"/>
              </a:rPr>
              <a:t> hacim birimi (m³) başına içerdiği su </a:t>
            </a:r>
            <a:r>
              <a:rPr lang="tr-TR" sz="2400" dirty="0">
                <a:solidFill>
                  <a:srgbClr val="0B0080"/>
                </a:solidFill>
                <a:latin typeface="+mj-lt"/>
                <a:hlinkClick r:id="rId3" tooltip="Buhar"/>
              </a:rPr>
              <a:t>buharının</a:t>
            </a:r>
            <a:r>
              <a:rPr lang="tr-TR" sz="2400" dirty="0">
                <a:solidFill>
                  <a:srgbClr val="000000"/>
                </a:solidFill>
                <a:latin typeface="+mj-lt"/>
              </a:rPr>
              <a:t> </a:t>
            </a:r>
            <a:r>
              <a:rPr lang="tr-TR" sz="2400" dirty="0">
                <a:solidFill>
                  <a:srgbClr val="0B0080"/>
                </a:solidFill>
                <a:latin typeface="+mj-lt"/>
                <a:hlinkClick r:id="rId4" tooltip="Gram"/>
              </a:rPr>
              <a:t>gram</a:t>
            </a:r>
            <a:r>
              <a:rPr lang="tr-TR" sz="2400" dirty="0">
                <a:solidFill>
                  <a:srgbClr val="000000"/>
                </a:solidFill>
                <a:latin typeface="+mj-lt"/>
              </a:rPr>
              <a:t> cinsinden kütlesine denir</a:t>
            </a:r>
            <a:r>
              <a:rPr lang="tr-TR" sz="2400" dirty="0" smtClean="0">
                <a:solidFill>
                  <a:srgbClr val="000000"/>
                </a:solidFill>
                <a:latin typeface="+mj-lt"/>
              </a:rPr>
              <a:t>. (</a:t>
            </a:r>
            <a:r>
              <a:rPr lang="tr-TR" sz="2400" b="1" dirty="0" smtClean="0">
                <a:solidFill>
                  <a:srgbClr val="FF0000"/>
                </a:solidFill>
                <a:latin typeface="+mj-lt"/>
              </a:rPr>
              <a:t>gr/m3</a:t>
            </a:r>
            <a:r>
              <a:rPr lang="tr-TR" sz="2400" dirty="0" smtClean="0">
                <a:solidFill>
                  <a:srgbClr val="000000"/>
                </a:solidFill>
                <a:latin typeface="+mj-lt"/>
              </a:rPr>
              <a:t>)</a:t>
            </a:r>
            <a:r>
              <a:rPr lang="tr-TR" sz="2400" b="1" dirty="0" smtClean="0">
                <a:solidFill>
                  <a:srgbClr val="0070C0"/>
                </a:solidFill>
                <a:latin typeface="+mj-lt"/>
                <a:cs typeface="Arial" pitchFamily="34" charset="0"/>
              </a:rPr>
              <a:t>	</a:t>
            </a:r>
          </a:p>
          <a:p>
            <a:pPr eaLnBrk="1" hangingPunct="1">
              <a:lnSpc>
                <a:spcPct val="150000"/>
              </a:lnSpc>
              <a:spcBef>
                <a:spcPts val="2400"/>
              </a:spcBef>
              <a:buFont typeface="Arial" charset="0"/>
              <a:buNone/>
              <a:defRPr/>
            </a:pPr>
            <a:r>
              <a:rPr lang="tr-TR" sz="2400" b="1" dirty="0" smtClean="0">
                <a:solidFill>
                  <a:srgbClr val="FF0000"/>
                </a:solidFill>
                <a:latin typeface="+mj-lt"/>
                <a:cs typeface="Arial" pitchFamily="34" charset="0"/>
              </a:rPr>
              <a:t>   </a:t>
            </a:r>
            <a:r>
              <a:rPr lang="tr-TR" sz="2400" b="1" dirty="0" smtClean="0">
                <a:solidFill>
                  <a:srgbClr val="FF0000"/>
                </a:solidFill>
                <a:latin typeface="+mj-lt"/>
                <a:cs typeface="Arial" pitchFamily="34" charset="0"/>
              </a:rPr>
              <a:t>Bağıl </a:t>
            </a:r>
            <a:r>
              <a:rPr lang="tr-TR" sz="2400" b="1" dirty="0" smtClean="0">
                <a:solidFill>
                  <a:srgbClr val="FF0000"/>
                </a:solidFill>
                <a:latin typeface="+mj-lt"/>
                <a:cs typeface="Arial" pitchFamily="34" charset="0"/>
              </a:rPr>
              <a:t>nem</a:t>
            </a:r>
            <a:r>
              <a:rPr lang="tr-TR" sz="2400" dirty="0" smtClean="0">
                <a:solidFill>
                  <a:srgbClr val="FF0000"/>
                </a:solidFill>
                <a:latin typeface="+mj-lt"/>
                <a:cs typeface="Arial" pitchFamily="34" charset="0"/>
              </a:rPr>
              <a:t>: </a:t>
            </a:r>
            <a:r>
              <a:rPr lang="tr-TR" sz="2400" dirty="0" smtClean="0">
                <a:latin typeface="+mj-lt"/>
              </a:rPr>
              <a:t>havanın </a:t>
            </a:r>
            <a:r>
              <a:rPr lang="tr-TR" sz="2400" dirty="0">
                <a:latin typeface="+mj-lt"/>
              </a:rPr>
              <a:t>bünyesinde </a:t>
            </a:r>
            <a:r>
              <a:rPr lang="tr-TR" sz="2400" dirty="0">
                <a:latin typeface="+mj-lt"/>
                <a:hlinkClick r:id="rId5" tooltip="Su buharı"/>
              </a:rPr>
              <a:t>su buharı</a:t>
            </a:r>
            <a:r>
              <a:rPr lang="tr-TR" sz="2400" dirty="0">
                <a:latin typeface="+mj-lt"/>
              </a:rPr>
              <a:t> halinde tuttuğu </a:t>
            </a:r>
            <a:r>
              <a:rPr lang="tr-TR" sz="2400" dirty="0">
                <a:latin typeface="+mj-lt"/>
                <a:hlinkClick r:id="rId6" tooltip="Mutlak nem"/>
              </a:rPr>
              <a:t>mutlak nemin</a:t>
            </a:r>
            <a:r>
              <a:rPr lang="tr-TR" sz="2400" dirty="0">
                <a:latin typeface="+mj-lt"/>
              </a:rPr>
              <a:t>, </a:t>
            </a:r>
            <a:r>
              <a:rPr lang="tr-TR" sz="2400" dirty="0" smtClean="0">
                <a:latin typeface="+mj-lt"/>
              </a:rPr>
              <a:t> havanın bulunduğu </a:t>
            </a:r>
            <a:r>
              <a:rPr lang="tr-TR" sz="2400" dirty="0">
                <a:latin typeface="+mj-lt"/>
              </a:rPr>
              <a:t>sıcaklık ve basınç koşullarında </a:t>
            </a:r>
            <a:r>
              <a:rPr lang="tr-TR" sz="2400" dirty="0" smtClean="0">
                <a:latin typeface="+mj-lt"/>
              </a:rPr>
              <a:t>tutabileceği  </a:t>
            </a:r>
            <a:r>
              <a:rPr lang="tr-TR" sz="2400" dirty="0">
                <a:latin typeface="+mj-lt"/>
              </a:rPr>
              <a:t>azami su miktarına olan  </a:t>
            </a:r>
            <a:r>
              <a:rPr lang="tr-TR" sz="2400" dirty="0" smtClean="0">
                <a:latin typeface="+mj-lt"/>
              </a:rPr>
              <a:t>oranıdır. (</a:t>
            </a:r>
            <a:r>
              <a:rPr lang="tr-TR" sz="3600" b="1" dirty="0" smtClean="0">
                <a:solidFill>
                  <a:srgbClr val="FF0000"/>
                </a:solidFill>
                <a:latin typeface="+mj-lt"/>
              </a:rPr>
              <a:t>%</a:t>
            </a:r>
            <a:r>
              <a:rPr lang="tr-TR" sz="2400" dirty="0" smtClean="0">
                <a:latin typeface="+mj-lt"/>
              </a:rPr>
              <a:t>)</a:t>
            </a:r>
            <a:endParaRPr lang="tr-TR" sz="2400" dirty="0">
              <a:solidFill>
                <a:srgbClr val="0070C0"/>
              </a:solidFill>
              <a:latin typeface="+mj-lt"/>
              <a:cs typeface="Arial" pitchFamily="34" charset="0"/>
            </a:endParaRPr>
          </a:p>
          <a:p>
            <a:pPr marL="365125" indent="-365125" eaLnBrk="1" hangingPunct="1">
              <a:lnSpc>
                <a:spcPct val="150000"/>
              </a:lnSpc>
              <a:spcBef>
                <a:spcPts val="2400"/>
              </a:spcBef>
              <a:buFont typeface="Arial" charset="0"/>
              <a:buNone/>
              <a:defRPr/>
            </a:pPr>
            <a:endParaRPr lang="tr-TR" sz="2800" dirty="0" smtClean="0">
              <a:solidFill>
                <a:srgbClr val="0070C0"/>
              </a:solidFill>
              <a:latin typeface="+mj-lt"/>
              <a:cs typeface="Arial" pitchFamily="34" charset="0"/>
            </a:endParaRPr>
          </a:p>
        </p:txBody>
      </p:sp>
      <p:sp>
        <p:nvSpPr>
          <p:cNvPr id="151555" name="Slayt Numarası Yer Tutucusu 1"/>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DCB04FF8-D4DB-43FE-9C36-48F962657088}" type="slidenum">
              <a:rPr lang="tr-TR" altLang="tr-TR" smtClean="0">
                <a:solidFill>
                  <a:srgbClr val="898989"/>
                </a:solidFill>
              </a:rPr>
              <a:pPr eaLnBrk="1" hangingPunct="1"/>
              <a:t>49</a:t>
            </a:fld>
            <a:endParaRPr lang="tr-TR" altLang="tr-TR" smtClean="0">
              <a:solidFill>
                <a:srgbClr val="898989"/>
              </a:solidFill>
            </a:endParaRPr>
          </a:p>
        </p:txBody>
      </p:sp>
    </p:spTree>
    <p:extLst>
      <p:ext uri="{BB962C8B-B14F-4D97-AF65-F5344CB8AC3E}">
        <p14:creationId xmlns:p14="http://schemas.microsoft.com/office/powerpoint/2010/main" xmlns="" val="344257341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2 İçerik Yer Tutucusu"/>
          <p:cNvSpPr>
            <a:spLocks noGrp="1"/>
          </p:cNvSpPr>
          <p:nvPr>
            <p:ph idx="1"/>
          </p:nvPr>
        </p:nvSpPr>
        <p:spPr>
          <a:xfrm>
            <a:off x="323528" y="1000124"/>
            <a:ext cx="7859216" cy="5525219"/>
          </a:xfrm>
        </p:spPr>
        <p:txBody>
          <a:bodyPr/>
          <a:lstStyle/>
          <a:p>
            <a:pPr eaLnBrk="1" hangingPunct="1">
              <a:lnSpc>
                <a:spcPct val="150000"/>
              </a:lnSpc>
              <a:buFont typeface="Arial" pitchFamily="34" charset="0"/>
              <a:buNone/>
            </a:pPr>
            <a:r>
              <a:rPr lang="tr-TR" altLang="tr-TR" sz="2800" dirty="0" smtClean="0">
                <a:solidFill>
                  <a:srgbClr val="0070C0"/>
                </a:solidFill>
                <a:latin typeface="+mj-lt"/>
              </a:rPr>
              <a:t>	</a:t>
            </a:r>
          </a:p>
          <a:p>
            <a:pPr eaLnBrk="1" hangingPunct="1">
              <a:lnSpc>
                <a:spcPct val="150000"/>
              </a:lnSpc>
              <a:buFont typeface="Arial" pitchFamily="34" charset="0"/>
              <a:buNone/>
            </a:pPr>
            <a:r>
              <a:rPr lang="tr-TR" altLang="tr-TR" sz="2800" dirty="0" smtClean="0">
                <a:solidFill>
                  <a:srgbClr val="0070C0"/>
                </a:solidFill>
                <a:latin typeface="+mj-lt"/>
                <a:cs typeface="Arial" pitchFamily="34" charset="0"/>
              </a:rPr>
              <a:t>   </a:t>
            </a:r>
            <a:r>
              <a:rPr lang="tr-TR" altLang="tr-TR" sz="2800" dirty="0" smtClean="0">
                <a:latin typeface="+mj-lt"/>
                <a:cs typeface="Arial" pitchFamily="34" charset="0"/>
              </a:rPr>
              <a:t>Çalışma şekline bağlı olmakla birlikte </a:t>
            </a:r>
            <a:r>
              <a:rPr lang="tr-TR" altLang="tr-TR" sz="2800" b="1" dirty="0" smtClean="0">
                <a:solidFill>
                  <a:srgbClr val="FF0000"/>
                </a:solidFill>
                <a:latin typeface="+mj-lt"/>
                <a:cs typeface="Arial" pitchFamily="34" charset="0"/>
              </a:rPr>
              <a:t>bağıl nemin % 30-70 aralığında olması </a:t>
            </a:r>
            <a:r>
              <a:rPr lang="tr-TR" altLang="tr-TR" sz="2800" b="1" dirty="0" smtClean="0">
                <a:latin typeface="+mj-lt"/>
                <a:cs typeface="Arial" pitchFamily="34" charset="0"/>
              </a:rPr>
              <a:t>gerekir.</a:t>
            </a:r>
            <a:endParaRPr lang="tr-TR" altLang="tr-TR" sz="2800" dirty="0" smtClean="0">
              <a:latin typeface="+mj-lt"/>
              <a:cs typeface="Arial" pitchFamily="34" charset="0"/>
            </a:endParaRPr>
          </a:p>
        </p:txBody>
      </p:sp>
      <p:sp>
        <p:nvSpPr>
          <p:cNvPr id="152579" name="Slayt Numarası Yer Tutucusu 1"/>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ABA49C25-CE4C-44F9-A5D2-777519078C77}" type="slidenum">
              <a:rPr lang="tr-TR" altLang="tr-TR" smtClean="0">
                <a:solidFill>
                  <a:srgbClr val="898989"/>
                </a:solidFill>
              </a:rPr>
              <a:pPr eaLnBrk="1" hangingPunct="1"/>
              <a:t>50</a:t>
            </a:fld>
            <a:endParaRPr lang="tr-TR" altLang="tr-TR" smtClean="0">
              <a:solidFill>
                <a:srgbClr val="898989"/>
              </a:solidFill>
            </a:endParaRPr>
          </a:p>
        </p:txBody>
      </p:sp>
    </p:spTree>
    <p:extLst>
      <p:ext uri="{BB962C8B-B14F-4D97-AF65-F5344CB8AC3E}">
        <p14:creationId xmlns:p14="http://schemas.microsoft.com/office/powerpoint/2010/main" xmlns="" val="291416226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Başlık 1"/>
          <p:cNvSpPr>
            <a:spLocks noGrp="1"/>
          </p:cNvSpPr>
          <p:nvPr>
            <p:ph type="title"/>
          </p:nvPr>
        </p:nvSpPr>
        <p:spPr>
          <a:xfrm>
            <a:off x="179511" y="0"/>
            <a:ext cx="8327901" cy="1135063"/>
          </a:xfrm>
        </p:spPr>
        <p:txBody>
          <a:bodyPr/>
          <a:lstStyle/>
          <a:p>
            <a:r>
              <a:rPr lang="tr-TR" altLang="tr-TR" dirty="0" smtClean="0">
                <a:solidFill>
                  <a:schemeClr val="tx1"/>
                </a:solidFill>
                <a:latin typeface="+mj-lt"/>
              </a:rPr>
              <a:t>Termal  Konfor (Isıl Konfor)</a:t>
            </a:r>
          </a:p>
        </p:txBody>
      </p:sp>
      <p:sp>
        <p:nvSpPr>
          <p:cNvPr id="153603" name="İçerik Yer Tutucusu 2"/>
          <p:cNvSpPr>
            <a:spLocks noGrp="1"/>
          </p:cNvSpPr>
          <p:nvPr>
            <p:ph idx="1"/>
          </p:nvPr>
        </p:nvSpPr>
        <p:spPr>
          <a:xfrm>
            <a:off x="1" y="1052512"/>
            <a:ext cx="8460432" cy="5616847"/>
          </a:xfrm>
        </p:spPr>
        <p:txBody>
          <a:bodyPr/>
          <a:lstStyle/>
          <a:p>
            <a:r>
              <a:rPr lang="tr-TR" altLang="tr-TR" sz="2400" dirty="0" smtClean="0">
                <a:latin typeface="+mj-lt"/>
                <a:cs typeface="Arial" pitchFamily="34" charset="0"/>
              </a:rPr>
              <a:t>Termal konfor denilince ilk akla gelen konu hava sıcaklığıdır. Hava sıcaklığı önemli bir termal konfor göstergesi olsa bile tek başına geçerli bir ölçüt değildir. Hava sıcaklığı her zaman diğer dış faktörlerle ve kişisel durumlarla birlikte göz önünde bulundurulmalıdır.</a:t>
            </a:r>
          </a:p>
          <a:p>
            <a:endParaRPr lang="tr-TR" altLang="tr-TR" sz="2400" dirty="0" smtClean="0">
              <a:latin typeface="+mj-lt"/>
              <a:cs typeface="Arial" pitchFamily="34" charset="0"/>
            </a:endParaRPr>
          </a:p>
          <a:p>
            <a:r>
              <a:rPr lang="tr-TR" altLang="tr-TR" sz="2400" dirty="0" smtClean="0">
                <a:latin typeface="+mj-lt"/>
                <a:cs typeface="Arial" pitchFamily="34" charset="0"/>
              </a:rPr>
              <a:t>Termal konforu etkileyen hem </a:t>
            </a:r>
            <a:r>
              <a:rPr lang="tr-TR" altLang="tr-TR" sz="2400" dirty="0" smtClean="0">
                <a:solidFill>
                  <a:srgbClr val="000099"/>
                </a:solidFill>
                <a:latin typeface="+mj-lt"/>
                <a:cs typeface="Arial" pitchFamily="34" charset="0"/>
              </a:rPr>
              <a:t>çevresel hem de kişisel etkenler </a:t>
            </a:r>
            <a:r>
              <a:rPr lang="tr-TR" altLang="tr-TR" sz="2400" dirty="0" smtClean="0">
                <a:latin typeface="+mj-lt"/>
                <a:cs typeface="Arial" pitchFamily="34" charset="0"/>
              </a:rPr>
              <a:t>vardır. Bu faktörler birbirinden bağımsız olmakla birlikte, bir araya geldiğinde çalışanın termal konforunu (ısıl konforunu) belirleyen unsurlardır. </a:t>
            </a:r>
          </a:p>
        </p:txBody>
      </p:sp>
      <p:sp>
        <p:nvSpPr>
          <p:cNvPr id="153604" name="Slayt Numarası Yer Tutucusu 3"/>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CE7A19CC-C352-4A16-BD5A-2DE7FCF1D56E}" type="slidenum">
              <a:rPr lang="tr-TR" altLang="tr-TR" smtClean="0">
                <a:solidFill>
                  <a:srgbClr val="898989"/>
                </a:solidFill>
              </a:rPr>
              <a:pPr eaLnBrk="1" hangingPunct="1"/>
              <a:t>51</a:t>
            </a:fld>
            <a:endParaRPr lang="tr-TR" altLang="tr-TR" smtClean="0">
              <a:solidFill>
                <a:srgbClr val="898989"/>
              </a:solidFill>
            </a:endParaRPr>
          </a:p>
        </p:txBody>
      </p:sp>
    </p:spTree>
    <p:extLst>
      <p:ext uri="{BB962C8B-B14F-4D97-AF65-F5344CB8AC3E}">
        <p14:creationId xmlns:p14="http://schemas.microsoft.com/office/powerpoint/2010/main" xmlns="" val="161890814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179388" y="404813"/>
            <a:ext cx="8229600" cy="5545137"/>
          </a:xfrm>
        </p:spPr>
        <p:txBody>
          <a:bodyPr/>
          <a:lstStyle/>
          <a:p>
            <a:pPr marL="0" indent="0">
              <a:buFont typeface="Arial" charset="0"/>
              <a:buNone/>
              <a:defRPr/>
            </a:pPr>
            <a:r>
              <a:rPr lang="tr-TR" b="1" dirty="0" smtClean="0">
                <a:latin typeface="+mj-lt"/>
              </a:rPr>
              <a:t>Termal Konforu Etkileyen Faktörler</a:t>
            </a:r>
          </a:p>
          <a:p>
            <a:pPr>
              <a:buNone/>
              <a:defRPr/>
            </a:pPr>
            <a:r>
              <a:rPr lang="tr-TR" sz="2400" b="1" dirty="0" smtClean="0">
                <a:solidFill>
                  <a:srgbClr val="5A5A5A"/>
                </a:solidFill>
                <a:latin typeface="+mj-lt"/>
              </a:rPr>
              <a:t>Çevresel Faktörler:</a:t>
            </a:r>
            <a:endParaRPr lang="tr-TR" sz="2400" dirty="0" smtClean="0">
              <a:solidFill>
                <a:srgbClr val="5A5A5A"/>
              </a:solidFill>
              <a:latin typeface="+mj-lt"/>
            </a:endParaRPr>
          </a:p>
          <a:p>
            <a:pPr>
              <a:buFont typeface="Arial"/>
              <a:buChar char="•"/>
              <a:defRPr/>
            </a:pPr>
            <a:r>
              <a:rPr lang="tr-TR" sz="2400" b="1" dirty="0" smtClean="0">
                <a:solidFill>
                  <a:srgbClr val="003399"/>
                </a:solidFill>
                <a:latin typeface="+mj-lt"/>
                <a:hlinkClick r:id="rId2"/>
              </a:rPr>
              <a:t>Hava sıcaklığı</a:t>
            </a:r>
            <a:endParaRPr lang="tr-TR" sz="2400" b="1" dirty="0" smtClean="0">
              <a:solidFill>
                <a:srgbClr val="003399"/>
              </a:solidFill>
              <a:latin typeface="+mj-lt"/>
            </a:endParaRPr>
          </a:p>
          <a:p>
            <a:pPr>
              <a:buFont typeface="Arial"/>
              <a:buChar char="•"/>
              <a:defRPr/>
            </a:pPr>
            <a:r>
              <a:rPr lang="tr-TR" sz="2400" b="1" dirty="0" smtClean="0">
                <a:solidFill>
                  <a:srgbClr val="003399"/>
                </a:solidFill>
                <a:latin typeface="+mj-lt"/>
                <a:hlinkClick r:id="rId2"/>
              </a:rPr>
              <a:t>Hava hızı</a:t>
            </a:r>
            <a:endParaRPr lang="tr-TR" sz="2400" b="1" dirty="0" smtClean="0">
              <a:solidFill>
                <a:srgbClr val="003399"/>
              </a:solidFill>
              <a:latin typeface="+mj-lt"/>
            </a:endParaRPr>
          </a:p>
          <a:p>
            <a:pPr>
              <a:buFont typeface="Arial"/>
              <a:buChar char="•"/>
              <a:defRPr/>
            </a:pPr>
            <a:r>
              <a:rPr lang="tr-TR" sz="2400" b="1" dirty="0" smtClean="0">
                <a:solidFill>
                  <a:srgbClr val="003399"/>
                </a:solidFill>
                <a:latin typeface="+mj-lt"/>
                <a:hlinkClick r:id="rId2"/>
              </a:rPr>
              <a:t>Nem</a:t>
            </a:r>
            <a:endParaRPr lang="tr-TR" sz="2400" b="1" dirty="0" smtClean="0">
              <a:solidFill>
                <a:srgbClr val="003399"/>
              </a:solidFill>
              <a:latin typeface="+mj-lt"/>
            </a:endParaRPr>
          </a:p>
          <a:p>
            <a:pPr>
              <a:buFont typeface="Arial"/>
              <a:buChar char="•"/>
              <a:defRPr/>
            </a:pPr>
            <a:r>
              <a:rPr lang="tr-TR" sz="2400" b="1" dirty="0" err="1" smtClean="0">
                <a:solidFill>
                  <a:srgbClr val="003399"/>
                </a:solidFill>
                <a:latin typeface="+mj-lt"/>
                <a:hlinkClick r:id="rId2"/>
              </a:rPr>
              <a:t>Radyant</a:t>
            </a:r>
            <a:r>
              <a:rPr lang="tr-TR" sz="2400" b="1" dirty="0" smtClean="0">
                <a:solidFill>
                  <a:srgbClr val="003399"/>
                </a:solidFill>
                <a:latin typeface="+mj-lt"/>
                <a:hlinkClick r:id="rId2"/>
              </a:rPr>
              <a:t> </a:t>
            </a:r>
            <a:r>
              <a:rPr lang="tr-TR" sz="2400" b="1" dirty="0">
                <a:solidFill>
                  <a:srgbClr val="003399"/>
                </a:solidFill>
                <a:latin typeface="+mj-lt"/>
                <a:hlinkClick r:id="rId2"/>
              </a:rPr>
              <a:t>ısı</a:t>
            </a:r>
            <a:endParaRPr lang="tr-TR" sz="2400" b="1" dirty="0">
              <a:solidFill>
                <a:srgbClr val="003399"/>
              </a:solidFill>
              <a:latin typeface="+mj-lt"/>
            </a:endParaRPr>
          </a:p>
          <a:p>
            <a:pPr>
              <a:buFont typeface="Arial"/>
              <a:buChar char="•"/>
              <a:defRPr/>
            </a:pPr>
            <a:endParaRPr lang="tr-TR" sz="2400" b="1" dirty="0" smtClean="0">
              <a:solidFill>
                <a:srgbClr val="003399"/>
              </a:solidFill>
              <a:latin typeface="+mj-lt"/>
            </a:endParaRPr>
          </a:p>
          <a:p>
            <a:pPr>
              <a:buNone/>
              <a:defRPr/>
            </a:pPr>
            <a:r>
              <a:rPr lang="tr-TR" sz="2400" b="1" dirty="0" smtClean="0">
                <a:solidFill>
                  <a:srgbClr val="5A5A5A"/>
                </a:solidFill>
                <a:latin typeface="+mj-lt"/>
              </a:rPr>
              <a:t>Kişisel Faktörler:</a:t>
            </a:r>
            <a:endParaRPr lang="tr-TR" sz="2400" dirty="0" smtClean="0">
              <a:solidFill>
                <a:srgbClr val="5A5A5A"/>
              </a:solidFill>
              <a:latin typeface="+mj-lt"/>
            </a:endParaRPr>
          </a:p>
          <a:p>
            <a:pPr>
              <a:buFont typeface="Arial"/>
              <a:buChar char="•"/>
              <a:defRPr/>
            </a:pPr>
            <a:r>
              <a:rPr lang="tr-TR" sz="2000" b="1" u="sng" dirty="0" smtClean="0">
                <a:solidFill>
                  <a:srgbClr val="0088CC"/>
                </a:solidFill>
                <a:latin typeface="+mj-lt"/>
                <a:hlinkClick r:id="rId2"/>
              </a:rPr>
              <a:t>Giyim</a:t>
            </a:r>
            <a:endParaRPr lang="tr-TR" sz="2000" b="1" u="sng" dirty="0" smtClean="0">
              <a:solidFill>
                <a:srgbClr val="5A5A5A"/>
              </a:solidFill>
              <a:latin typeface="+mj-lt"/>
            </a:endParaRPr>
          </a:p>
          <a:p>
            <a:pPr>
              <a:buFont typeface="Arial"/>
              <a:buChar char="•"/>
              <a:defRPr/>
            </a:pPr>
            <a:r>
              <a:rPr lang="tr-TR" sz="2000" b="1" u="sng" dirty="0" err="1" smtClean="0">
                <a:solidFill>
                  <a:srgbClr val="0088CC"/>
                </a:solidFill>
                <a:latin typeface="+mj-lt"/>
                <a:hlinkClick r:id="rId2"/>
              </a:rPr>
              <a:t>Metabolik</a:t>
            </a:r>
            <a:r>
              <a:rPr lang="tr-TR" sz="2000" b="1" u="sng" dirty="0" smtClean="0">
                <a:solidFill>
                  <a:srgbClr val="0088CC"/>
                </a:solidFill>
                <a:latin typeface="+mj-lt"/>
                <a:hlinkClick r:id="rId2"/>
              </a:rPr>
              <a:t> sıcaklık</a:t>
            </a:r>
            <a:endParaRPr lang="tr-TR" sz="2000" b="1" u="sng" dirty="0" smtClean="0">
              <a:solidFill>
                <a:srgbClr val="0088CC"/>
              </a:solidFill>
              <a:latin typeface="+mj-lt"/>
            </a:endParaRPr>
          </a:p>
          <a:p>
            <a:pPr>
              <a:buFont typeface="Arial"/>
              <a:buChar char="•"/>
              <a:defRPr/>
            </a:pPr>
            <a:r>
              <a:rPr lang="tr-TR" sz="2000" b="1" u="sng" dirty="0" smtClean="0">
                <a:solidFill>
                  <a:srgbClr val="003399"/>
                </a:solidFill>
                <a:latin typeface="+mj-lt"/>
              </a:rPr>
              <a:t>Yaş </a:t>
            </a:r>
          </a:p>
          <a:p>
            <a:pPr>
              <a:buFont typeface="Arial"/>
              <a:buChar char="•"/>
              <a:defRPr/>
            </a:pPr>
            <a:r>
              <a:rPr lang="tr-TR" sz="2000" b="1" u="sng" dirty="0" smtClean="0">
                <a:solidFill>
                  <a:srgbClr val="003399"/>
                </a:solidFill>
                <a:latin typeface="+mj-lt"/>
              </a:rPr>
              <a:t>Yapılan işin ağırlık düzeyi vd.</a:t>
            </a:r>
          </a:p>
        </p:txBody>
      </p:sp>
      <p:sp>
        <p:nvSpPr>
          <p:cNvPr id="154627" name="Slayt Numarası Yer Tutucusu 3"/>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EE3A2E24-436F-41C3-BBE9-4C5B8794EECD}" type="slidenum">
              <a:rPr lang="tr-TR" altLang="tr-TR" smtClean="0">
                <a:solidFill>
                  <a:srgbClr val="898989"/>
                </a:solidFill>
              </a:rPr>
              <a:pPr eaLnBrk="1" hangingPunct="1"/>
              <a:t>52</a:t>
            </a:fld>
            <a:endParaRPr lang="tr-TR" altLang="tr-TR" smtClean="0">
              <a:solidFill>
                <a:srgbClr val="898989"/>
              </a:solidFill>
            </a:endParaRPr>
          </a:p>
        </p:txBody>
      </p:sp>
    </p:spTree>
    <p:extLst>
      <p:ext uri="{BB962C8B-B14F-4D97-AF65-F5344CB8AC3E}">
        <p14:creationId xmlns:p14="http://schemas.microsoft.com/office/powerpoint/2010/main" xmlns="" val="20084406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2 İçerik Yer Tutucusu"/>
          <p:cNvSpPr>
            <a:spLocks noGrp="1"/>
          </p:cNvSpPr>
          <p:nvPr>
            <p:ph idx="1"/>
          </p:nvPr>
        </p:nvSpPr>
        <p:spPr>
          <a:xfrm>
            <a:off x="179512" y="620688"/>
            <a:ext cx="8229600" cy="4840288"/>
          </a:xfrm>
        </p:spPr>
        <p:txBody>
          <a:bodyPr/>
          <a:lstStyle/>
          <a:p>
            <a:pPr eaLnBrk="1" hangingPunct="1">
              <a:lnSpc>
                <a:spcPct val="150000"/>
              </a:lnSpc>
              <a:spcBef>
                <a:spcPct val="0"/>
              </a:spcBef>
              <a:buFont typeface="Arial" pitchFamily="34" charset="0"/>
              <a:buNone/>
            </a:pPr>
            <a:r>
              <a:rPr lang="tr-TR" altLang="tr-TR" sz="2800" dirty="0" smtClean="0">
                <a:latin typeface="+mj-lt"/>
                <a:cs typeface="Arial" pitchFamily="34" charset="0"/>
              </a:rPr>
              <a:t>Havanın;</a:t>
            </a:r>
          </a:p>
          <a:p>
            <a:pPr eaLnBrk="1" hangingPunct="1">
              <a:lnSpc>
                <a:spcPct val="150000"/>
              </a:lnSpc>
              <a:spcBef>
                <a:spcPts val="1800"/>
              </a:spcBef>
              <a:buFont typeface="Arial" pitchFamily="34" charset="0"/>
              <a:buNone/>
            </a:pPr>
            <a:r>
              <a:rPr lang="tr-TR" altLang="tr-TR" sz="2800" dirty="0" smtClean="0">
                <a:latin typeface="+mj-lt"/>
                <a:cs typeface="Arial" pitchFamily="34" charset="0"/>
              </a:rPr>
              <a:t>	Sıcaklığı : </a:t>
            </a:r>
            <a:r>
              <a:rPr lang="tr-TR" altLang="tr-TR" sz="2800" b="1" dirty="0" smtClean="0">
                <a:solidFill>
                  <a:srgbClr val="FF0000"/>
                </a:solidFill>
                <a:latin typeface="+mj-lt"/>
                <a:cs typeface="Arial" pitchFamily="34" charset="0"/>
              </a:rPr>
              <a:t>Termometre</a:t>
            </a:r>
            <a:r>
              <a:rPr lang="tr-TR" altLang="tr-TR" sz="2800" dirty="0" smtClean="0">
                <a:latin typeface="+mj-lt"/>
                <a:cs typeface="Arial" pitchFamily="34" charset="0"/>
              </a:rPr>
              <a:t> ile,</a:t>
            </a:r>
          </a:p>
          <a:p>
            <a:pPr eaLnBrk="1" hangingPunct="1">
              <a:lnSpc>
                <a:spcPct val="150000"/>
              </a:lnSpc>
              <a:spcBef>
                <a:spcPct val="0"/>
              </a:spcBef>
              <a:buFont typeface="Arial" pitchFamily="34" charset="0"/>
              <a:buNone/>
            </a:pPr>
            <a:r>
              <a:rPr lang="tr-TR" altLang="tr-TR" sz="2800" dirty="0" smtClean="0">
                <a:latin typeface="+mj-lt"/>
                <a:cs typeface="Arial" pitchFamily="34" charset="0"/>
              </a:rPr>
              <a:t>	Nemi : </a:t>
            </a:r>
            <a:r>
              <a:rPr lang="tr-TR" altLang="tr-TR" sz="2800" b="1" dirty="0" err="1" smtClean="0">
                <a:solidFill>
                  <a:srgbClr val="FF0000"/>
                </a:solidFill>
                <a:latin typeface="+mj-lt"/>
                <a:cs typeface="Arial" pitchFamily="34" charset="0"/>
              </a:rPr>
              <a:t>Psikrometre</a:t>
            </a:r>
            <a:r>
              <a:rPr lang="tr-TR" altLang="tr-TR" sz="2800" dirty="0" smtClean="0">
                <a:latin typeface="+mj-lt"/>
                <a:cs typeface="Arial" pitchFamily="34" charset="0"/>
              </a:rPr>
              <a:t> veya </a:t>
            </a:r>
            <a:r>
              <a:rPr lang="tr-TR" altLang="tr-TR" sz="2800" b="1" dirty="0" smtClean="0">
                <a:solidFill>
                  <a:srgbClr val="FF0000"/>
                </a:solidFill>
                <a:latin typeface="+mj-lt"/>
                <a:cs typeface="Arial" pitchFamily="34" charset="0"/>
              </a:rPr>
              <a:t>Higrometre</a:t>
            </a:r>
            <a:r>
              <a:rPr lang="tr-TR" altLang="tr-TR" sz="2800" dirty="0" smtClean="0">
                <a:latin typeface="+mj-lt"/>
                <a:cs typeface="Arial" pitchFamily="34" charset="0"/>
              </a:rPr>
              <a:t> ile,</a:t>
            </a:r>
          </a:p>
          <a:p>
            <a:pPr eaLnBrk="1" hangingPunct="1">
              <a:lnSpc>
                <a:spcPct val="150000"/>
              </a:lnSpc>
              <a:spcBef>
                <a:spcPct val="0"/>
              </a:spcBef>
              <a:buFont typeface="Arial" pitchFamily="34" charset="0"/>
              <a:buNone/>
            </a:pPr>
            <a:r>
              <a:rPr lang="tr-TR" altLang="tr-TR" sz="2800" dirty="0" smtClean="0">
                <a:latin typeface="+mj-lt"/>
                <a:cs typeface="Arial" pitchFamily="34" charset="0"/>
              </a:rPr>
              <a:t>	Hızı : </a:t>
            </a:r>
            <a:r>
              <a:rPr lang="tr-TR" altLang="tr-TR" sz="2800" b="1" dirty="0" smtClean="0">
                <a:solidFill>
                  <a:srgbClr val="FF0000"/>
                </a:solidFill>
                <a:latin typeface="+mj-lt"/>
                <a:cs typeface="Arial" pitchFamily="34" charset="0"/>
              </a:rPr>
              <a:t>Anemometre</a:t>
            </a:r>
            <a:r>
              <a:rPr lang="tr-TR" altLang="tr-TR" sz="2800" dirty="0" smtClean="0">
                <a:latin typeface="+mj-lt"/>
                <a:cs typeface="Arial" pitchFamily="34" charset="0"/>
              </a:rPr>
              <a:t> ile ölçülür.</a:t>
            </a:r>
          </a:p>
          <a:p>
            <a:pPr eaLnBrk="1" hangingPunct="1">
              <a:lnSpc>
                <a:spcPct val="150000"/>
              </a:lnSpc>
              <a:spcBef>
                <a:spcPct val="0"/>
              </a:spcBef>
              <a:buFont typeface="Arial" pitchFamily="34" charset="0"/>
              <a:buNone/>
            </a:pPr>
            <a:r>
              <a:rPr lang="tr-TR" altLang="tr-TR" sz="2800" dirty="0" smtClean="0">
                <a:latin typeface="+mj-lt"/>
                <a:cs typeface="Arial" pitchFamily="34" charset="0"/>
              </a:rPr>
              <a:t>	</a:t>
            </a:r>
          </a:p>
          <a:p>
            <a:pPr eaLnBrk="1" hangingPunct="1">
              <a:lnSpc>
                <a:spcPct val="150000"/>
              </a:lnSpc>
              <a:spcBef>
                <a:spcPct val="0"/>
              </a:spcBef>
              <a:buFont typeface="Arial" pitchFamily="34" charset="0"/>
              <a:buNone/>
            </a:pPr>
            <a:r>
              <a:rPr lang="tr-TR" altLang="tr-TR" sz="2800" dirty="0" smtClean="0">
                <a:latin typeface="+mj-lt"/>
                <a:cs typeface="Arial" pitchFamily="34" charset="0"/>
              </a:rPr>
              <a:t>	Ortama </a:t>
            </a:r>
            <a:r>
              <a:rPr lang="tr-TR" altLang="tr-TR" sz="2800" b="1" dirty="0" smtClean="0">
                <a:latin typeface="+mj-lt"/>
                <a:cs typeface="Arial" pitchFamily="34" charset="0"/>
              </a:rPr>
              <a:t>yayılan</a:t>
            </a:r>
            <a:r>
              <a:rPr lang="tr-TR" altLang="tr-TR" sz="2800" dirty="0" smtClean="0">
                <a:latin typeface="+mj-lt"/>
                <a:cs typeface="Arial" pitchFamily="34" charset="0"/>
              </a:rPr>
              <a:t> (</a:t>
            </a:r>
            <a:r>
              <a:rPr lang="tr-TR" altLang="tr-TR" sz="2800" dirty="0" err="1" smtClean="0">
                <a:latin typeface="+mj-lt"/>
                <a:cs typeface="Arial" pitchFamily="34" charset="0"/>
              </a:rPr>
              <a:t>radyant</a:t>
            </a:r>
            <a:r>
              <a:rPr lang="tr-TR" altLang="tr-TR" sz="2800" dirty="0" smtClean="0">
                <a:latin typeface="+mj-lt"/>
                <a:cs typeface="Arial" pitchFamily="34" charset="0"/>
              </a:rPr>
              <a:t>) </a:t>
            </a:r>
            <a:r>
              <a:rPr lang="tr-TR" altLang="tr-TR" sz="2800" b="1" dirty="0" smtClean="0">
                <a:latin typeface="+mj-lt"/>
                <a:cs typeface="Arial" pitchFamily="34" charset="0"/>
              </a:rPr>
              <a:t>ısı</a:t>
            </a:r>
            <a:r>
              <a:rPr lang="tr-TR" altLang="tr-TR" sz="2800" dirty="0" smtClean="0">
                <a:latin typeface="+mj-lt"/>
                <a:cs typeface="Arial" pitchFamily="34" charset="0"/>
              </a:rPr>
              <a:t> değeri ise </a:t>
            </a:r>
            <a:r>
              <a:rPr lang="tr-TR" altLang="tr-TR" sz="2800" b="1" dirty="0" err="1" smtClean="0">
                <a:solidFill>
                  <a:srgbClr val="FF0000"/>
                </a:solidFill>
                <a:latin typeface="+mj-lt"/>
                <a:cs typeface="Arial" pitchFamily="34" charset="0"/>
              </a:rPr>
              <a:t>Globetermometre</a:t>
            </a:r>
            <a:r>
              <a:rPr lang="tr-TR" altLang="tr-TR" sz="2800" dirty="0" smtClean="0">
                <a:latin typeface="+mj-lt"/>
                <a:cs typeface="Arial" pitchFamily="34" charset="0"/>
              </a:rPr>
              <a:t> ile ölçülür</a:t>
            </a:r>
            <a:r>
              <a:rPr lang="tr-TR" altLang="tr-TR" sz="2400" dirty="0" smtClean="0">
                <a:latin typeface="+mj-lt"/>
                <a:cs typeface="Arial" pitchFamily="34" charset="0"/>
              </a:rPr>
              <a:t>.</a:t>
            </a:r>
          </a:p>
          <a:p>
            <a:pPr eaLnBrk="1" hangingPunct="1">
              <a:lnSpc>
                <a:spcPct val="150000"/>
              </a:lnSpc>
              <a:spcBef>
                <a:spcPct val="0"/>
              </a:spcBef>
              <a:buFont typeface="Arial" pitchFamily="34" charset="0"/>
              <a:buNone/>
            </a:pPr>
            <a:endParaRPr lang="tr-TR" altLang="tr-TR" sz="2400" dirty="0" smtClean="0">
              <a:latin typeface="+mj-lt"/>
              <a:cs typeface="Arial" pitchFamily="34" charset="0"/>
            </a:endParaRPr>
          </a:p>
        </p:txBody>
      </p:sp>
      <p:sp>
        <p:nvSpPr>
          <p:cNvPr id="155651" name="Slayt Numarası Yer Tutucusu 1"/>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5EB72496-687B-4D51-B189-B2F6A04D8136}" type="slidenum">
              <a:rPr lang="tr-TR" altLang="tr-TR" smtClean="0">
                <a:solidFill>
                  <a:srgbClr val="898989"/>
                </a:solidFill>
              </a:rPr>
              <a:pPr eaLnBrk="1" hangingPunct="1"/>
              <a:t>53</a:t>
            </a:fld>
            <a:endParaRPr lang="tr-TR" altLang="tr-TR" smtClean="0">
              <a:solidFill>
                <a:srgbClr val="898989"/>
              </a:solidFill>
            </a:endParaRPr>
          </a:p>
        </p:txBody>
      </p:sp>
    </p:spTree>
    <p:extLst>
      <p:ext uri="{BB962C8B-B14F-4D97-AF65-F5344CB8AC3E}">
        <p14:creationId xmlns:p14="http://schemas.microsoft.com/office/powerpoint/2010/main" xmlns="" val="251149092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85" name="İçerik Yer Tutucusu 5"/>
          <p:cNvSpPr>
            <a:spLocks noGrp="1"/>
          </p:cNvSpPr>
          <p:nvPr>
            <p:ph idx="1"/>
          </p:nvPr>
        </p:nvSpPr>
        <p:spPr>
          <a:xfrm>
            <a:off x="-47625" y="280988"/>
            <a:ext cx="9144000" cy="6048375"/>
          </a:xfrm>
        </p:spPr>
        <p:txBody>
          <a:bodyPr/>
          <a:lstStyle/>
          <a:p>
            <a:pPr marL="0" indent="0">
              <a:buFont typeface="Arial" pitchFamily="34" charset="0"/>
              <a:buNone/>
            </a:pPr>
            <a:endParaRPr lang="tr-TR" altLang="tr-TR" sz="2000" b="1" dirty="0" smtClean="0">
              <a:latin typeface="+mj-lt"/>
            </a:endParaRPr>
          </a:p>
        </p:txBody>
      </p:sp>
      <p:sp>
        <p:nvSpPr>
          <p:cNvPr id="156674" name="Slayt Numarası Yer Tutucusu 3"/>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4AA30E79-4F25-4E4E-9F30-EDED69E8301A}" type="slidenum">
              <a:rPr lang="tr-TR" altLang="tr-TR" smtClean="0">
                <a:solidFill>
                  <a:srgbClr val="898989"/>
                </a:solidFill>
              </a:rPr>
              <a:pPr eaLnBrk="1" hangingPunct="1"/>
              <a:t>54</a:t>
            </a:fld>
            <a:endParaRPr lang="tr-TR" altLang="tr-TR" smtClean="0">
              <a:solidFill>
                <a:srgbClr val="898989"/>
              </a:solidFill>
            </a:endParaRPr>
          </a:p>
        </p:txBody>
      </p:sp>
      <p:pic>
        <p:nvPicPr>
          <p:cNvPr id="156675"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441700" y="717550"/>
            <a:ext cx="952500" cy="22574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56676"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949950" y="742950"/>
            <a:ext cx="2152650" cy="2124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56677"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282575" y="774700"/>
            <a:ext cx="2339975" cy="2143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56678"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1096963" y="3706813"/>
            <a:ext cx="2143125" cy="2143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56679" name="Picture 6"/>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5713413" y="3860800"/>
            <a:ext cx="2305050" cy="1581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56680" name="Picture 7"/>
          <p:cNvPicPr>
            <a:picLocks noChangeAspect="1" noChangeArrowheads="1"/>
          </p:cNvPicPr>
          <p:nvPr/>
        </p:nvPicPr>
        <p:blipFill>
          <a:blip r:embed="rId7" cstate="print">
            <a:extLst>
              <a:ext uri="{28A0092B-C50C-407E-A947-70E740481C1C}">
                <a14:useLocalDpi xmlns:a14="http://schemas.microsoft.com/office/drawing/2010/main" xmlns="" val="0"/>
              </a:ext>
            </a:extLst>
          </a:blip>
          <a:srcRect/>
          <a:stretch>
            <a:fillRect/>
          </a:stretch>
        </p:blipFill>
        <p:spPr bwMode="auto">
          <a:xfrm>
            <a:off x="-107950" y="3014663"/>
            <a:ext cx="2700338" cy="738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56681" name="Picture 8"/>
          <p:cNvPicPr>
            <a:picLocks noChangeAspect="1" noChangeArrowheads="1"/>
          </p:cNvPicPr>
          <p:nvPr/>
        </p:nvPicPr>
        <p:blipFill>
          <a:blip r:embed="rId8" cstate="print">
            <a:extLst>
              <a:ext uri="{28A0092B-C50C-407E-A947-70E740481C1C}">
                <a14:useLocalDpi xmlns:a14="http://schemas.microsoft.com/office/drawing/2010/main" xmlns="" val="0"/>
              </a:ext>
            </a:extLst>
          </a:blip>
          <a:srcRect/>
          <a:stretch>
            <a:fillRect/>
          </a:stretch>
        </p:blipFill>
        <p:spPr bwMode="auto">
          <a:xfrm>
            <a:off x="2506663" y="3008313"/>
            <a:ext cx="2792412" cy="7445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56682" name="Picture 9"/>
          <p:cNvPicPr>
            <a:picLocks noChangeAspect="1" noChangeArrowheads="1"/>
          </p:cNvPicPr>
          <p:nvPr/>
        </p:nvPicPr>
        <p:blipFill>
          <a:blip r:embed="rId9" cstate="print">
            <a:extLst>
              <a:ext uri="{28A0092B-C50C-407E-A947-70E740481C1C}">
                <a14:useLocalDpi xmlns:a14="http://schemas.microsoft.com/office/drawing/2010/main" xmlns="" val="0"/>
              </a:ext>
            </a:extLst>
          </a:blip>
          <a:srcRect/>
          <a:stretch>
            <a:fillRect/>
          </a:stretch>
        </p:blipFill>
        <p:spPr bwMode="auto">
          <a:xfrm>
            <a:off x="5435600" y="3038475"/>
            <a:ext cx="3543300" cy="5349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56683" name="Picture 10"/>
          <p:cNvPicPr>
            <a:picLocks noChangeAspect="1" noChangeArrowheads="1"/>
          </p:cNvPicPr>
          <p:nvPr/>
        </p:nvPicPr>
        <p:blipFill>
          <a:blip r:embed="rId10" cstate="print">
            <a:extLst>
              <a:ext uri="{28A0092B-C50C-407E-A947-70E740481C1C}">
                <a14:useLocalDpi xmlns:a14="http://schemas.microsoft.com/office/drawing/2010/main" xmlns="" val="0"/>
              </a:ext>
            </a:extLst>
          </a:blip>
          <a:srcRect/>
          <a:stretch>
            <a:fillRect/>
          </a:stretch>
        </p:blipFill>
        <p:spPr bwMode="auto">
          <a:xfrm>
            <a:off x="539750" y="5538788"/>
            <a:ext cx="2901950" cy="7445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56684" name="Picture 11"/>
          <p:cNvPicPr>
            <a:picLocks noChangeAspect="1" noChangeArrowheads="1"/>
          </p:cNvPicPr>
          <p:nvPr/>
        </p:nvPicPr>
        <p:blipFill>
          <a:blip r:embed="rId11" cstate="print">
            <a:extLst>
              <a:ext uri="{28A0092B-C50C-407E-A947-70E740481C1C}">
                <a14:useLocalDpi xmlns:a14="http://schemas.microsoft.com/office/drawing/2010/main" xmlns="" val="0"/>
              </a:ext>
            </a:extLst>
          </a:blip>
          <a:srcRect/>
          <a:stretch>
            <a:fillRect/>
          </a:stretch>
        </p:blipFill>
        <p:spPr bwMode="auto">
          <a:xfrm>
            <a:off x="4959350" y="5483225"/>
            <a:ext cx="3687763" cy="7445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329838225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9" name="Rectangle 2"/>
          <p:cNvSpPr>
            <a:spLocks noGrp="1" noChangeArrowheads="1"/>
          </p:cNvSpPr>
          <p:nvPr>
            <p:ph type="title"/>
          </p:nvPr>
        </p:nvSpPr>
        <p:spPr/>
        <p:txBody>
          <a:bodyPr/>
          <a:lstStyle/>
          <a:p>
            <a:pPr eaLnBrk="1" hangingPunct="1"/>
            <a:r>
              <a:rPr lang="tr-TR" altLang="tr-TR" b="1" dirty="0" smtClean="0">
                <a:solidFill>
                  <a:schemeClr val="tx1"/>
                </a:solidFill>
                <a:latin typeface="+mj-lt"/>
              </a:rPr>
              <a:t>İKLİMLENDİRME</a:t>
            </a:r>
            <a:endParaRPr lang="en-US" altLang="tr-TR" b="1" dirty="0" smtClean="0">
              <a:solidFill>
                <a:schemeClr val="tx1"/>
              </a:solidFill>
              <a:latin typeface="+mj-lt"/>
            </a:endParaRPr>
          </a:p>
        </p:txBody>
      </p:sp>
      <p:sp>
        <p:nvSpPr>
          <p:cNvPr id="179204" name="Rectangle 3"/>
          <p:cNvSpPr>
            <a:spLocks noGrp="1" noChangeArrowheads="1"/>
          </p:cNvSpPr>
          <p:nvPr>
            <p:ph idx="1"/>
          </p:nvPr>
        </p:nvSpPr>
        <p:spPr>
          <a:xfrm>
            <a:off x="323850" y="1412874"/>
            <a:ext cx="7992566" cy="5040461"/>
          </a:xfrm>
        </p:spPr>
        <p:txBody>
          <a:bodyPr/>
          <a:lstStyle/>
          <a:p>
            <a:pPr marL="0" indent="0" eaLnBrk="1" hangingPunct="1">
              <a:buFontTx/>
              <a:buNone/>
              <a:defRPr/>
            </a:pPr>
            <a:r>
              <a:rPr lang="tr-TR" sz="2400" dirty="0" smtClean="0">
                <a:latin typeface="+mj-lt"/>
              </a:rPr>
              <a:t>Kapalı bir ortamın sıcaklık, nem, hava hareketi ve temizliğini </a:t>
            </a:r>
            <a:r>
              <a:rPr lang="tr-TR" sz="2400" b="1" dirty="0" smtClean="0">
                <a:solidFill>
                  <a:srgbClr val="000099"/>
                </a:solidFill>
                <a:latin typeface="+mj-lt"/>
              </a:rPr>
              <a:t>insan sağlık ve konforuna </a:t>
            </a:r>
            <a:r>
              <a:rPr lang="tr-TR" sz="2400" dirty="0" smtClean="0">
                <a:latin typeface="+mj-lt"/>
              </a:rPr>
              <a:t>ve/veya </a:t>
            </a:r>
            <a:r>
              <a:rPr lang="tr-TR" sz="2400" b="1" dirty="0" smtClean="0">
                <a:solidFill>
                  <a:srgbClr val="000099"/>
                </a:solidFill>
                <a:latin typeface="+mj-lt"/>
              </a:rPr>
              <a:t>yapılan endüstriyel işleme </a:t>
            </a:r>
            <a:r>
              <a:rPr lang="tr-TR" sz="2400" dirty="0" smtClean="0">
                <a:latin typeface="+mj-lt"/>
              </a:rPr>
              <a:t>en uygun seviyelerde tutmak için söz konusu </a:t>
            </a:r>
            <a:r>
              <a:rPr lang="tr-TR" sz="2400" dirty="0" smtClean="0">
                <a:solidFill>
                  <a:srgbClr val="FF0000"/>
                </a:solidFill>
                <a:latin typeface="+mj-lt"/>
              </a:rPr>
              <a:t>ortamdaki havanın şartlandırılmasıdır.</a:t>
            </a:r>
          </a:p>
          <a:p>
            <a:pPr marL="0" indent="0" eaLnBrk="1" hangingPunct="1">
              <a:buFontTx/>
              <a:buNone/>
              <a:defRPr/>
            </a:pPr>
            <a:r>
              <a:rPr lang="tr-TR" sz="2400" dirty="0" smtClean="0">
                <a:latin typeface="+mj-lt"/>
              </a:rPr>
              <a:t>İngilizcesi</a:t>
            </a:r>
            <a:r>
              <a:rPr lang="tr-TR" sz="2400" dirty="0" smtClean="0">
                <a:solidFill>
                  <a:srgbClr val="FF0000"/>
                </a:solidFill>
                <a:latin typeface="+mj-lt"/>
              </a:rPr>
              <a:t> </a:t>
            </a:r>
            <a:r>
              <a:rPr lang="tr-TR" sz="2400" dirty="0" err="1" smtClean="0">
                <a:solidFill>
                  <a:srgbClr val="FF0000"/>
                </a:solidFill>
                <a:latin typeface="+mj-lt"/>
              </a:rPr>
              <a:t>Air</a:t>
            </a:r>
            <a:r>
              <a:rPr lang="tr-TR" sz="2400" dirty="0" smtClean="0">
                <a:solidFill>
                  <a:srgbClr val="FF0000"/>
                </a:solidFill>
                <a:latin typeface="+mj-lt"/>
              </a:rPr>
              <a:t> </a:t>
            </a:r>
            <a:r>
              <a:rPr lang="tr-TR" sz="2400" dirty="0" err="1" smtClean="0">
                <a:solidFill>
                  <a:srgbClr val="FF0000"/>
                </a:solidFill>
                <a:latin typeface="+mj-lt"/>
              </a:rPr>
              <a:t>Conditioning</a:t>
            </a:r>
            <a:r>
              <a:rPr lang="tr-TR" sz="2400" dirty="0" smtClean="0">
                <a:solidFill>
                  <a:srgbClr val="FF0000"/>
                </a:solidFill>
                <a:latin typeface="+mj-lt"/>
              </a:rPr>
              <a:t>, </a:t>
            </a:r>
            <a:r>
              <a:rPr lang="tr-TR" sz="2400" dirty="0" smtClean="0">
                <a:latin typeface="+mj-lt"/>
              </a:rPr>
              <a:t>Almancası ise</a:t>
            </a:r>
            <a:r>
              <a:rPr lang="tr-TR" sz="2400" dirty="0" smtClean="0">
                <a:solidFill>
                  <a:srgbClr val="FF0000"/>
                </a:solidFill>
                <a:latin typeface="+mj-lt"/>
              </a:rPr>
              <a:t> </a:t>
            </a:r>
            <a:r>
              <a:rPr lang="tr-TR" sz="2400" dirty="0" err="1" smtClean="0">
                <a:solidFill>
                  <a:srgbClr val="FF0000"/>
                </a:solidFill>
                <a:latin typeface="+mj-lt"/>
              </a:rPr>
              <a:t>Klima’</a:t>
            </a:r>
            <a:r>
              <a:rPr lang="tr-TR" sz="2400" dirty="0" err="1" smtClean="0">
                <a:latin typeface="+mj-lt"/>
              </a:rPr>
              <a:t>dır</a:t>
            </a:r>
            <a:r>
              <a:rPr lang="tr-TR" sz="2400" dirty="0" smtClean="0">
                <a:latin typeface="+mj-lt"/>
              </a:rPr>
              <a:t>.</a:t>
            </a:r>
          </a:p>
          <a:p>
            <a:pPr eaLnBrk="1" hangingPunct="1">
              <a:defRPr/>
            </a:pPr>
            <a:endParaRPr lang="tr-TR" sz="2400" dirty="0" smtClean="0">
              <a:latin typeface="+mj-lt"/>
            </a:endParaRPr>
          </a:p>
          <a:p>
            <a:pPr marL="0" indent="0" eaLnBrk="1" hangingPunct="1">
              <a:spcBef>
                <a:spcPct val="0"/>
              </a:spcBef>
              <a:buFontTx/>
              <a:buNone/>
              <a:defRPr/>
            </a:pPr>
            <a:r>
              <a:rPr lang="tr-TR" sz="2400" kern="1200" dirty="0">
                <a:solidFill>
                  <a:srgbClr val="000000"/>
                </a:solidFill>
                <a:latin typeface="+mj-lt"/>
              </a:rPr>
              <a:t>İklimlendirme,  çalışma ortamının gerek üretim gerek ürün ve gerekse çalışanların termal konforu yönünden tatmin edici olmasını sağlamak amacı ile </a:t>
            </a:r>
            <a:r>
              <a:rPr lang="tr-TR" sz="2400" b="1" kern="1200" dirty="0" smtClean="0">
                <a:solidFill>
                  <a:srgbClr val="FF0000"/>
                </a:solidFill>
                <a:latin typeface="+mj-lt"/>
              </a:rPr>
              <a:t>ısıtma, soğutma ve nemlendirme </a:t>
            </a:r>
            <a:r>
              <a:rPr lang="tr-TR" sz="2400" kern="1200" dirty="0">
                <a:solidFill>
                  <a:srgbClr val="000000"/>
                </a:solidFill>
                <a:latin typeface="+mj-lt"/>
              </a:rPr>
              <a:t>işlevlerini </a:t>
            </a:r>
            <a:r>
              <a:rPr lang="tr-TR" sz="2400" b="1" kern="1200" dirty="0" smtClean="0">
                <a:solidFill>
                  <a:srgbClr val="000099"/>
                </a:solidFill>
                <a:latin typeface="+mj-lt"/>
              </a:rPr>
              <a:t>birlikte yerine getiren </a:t>
            </a:r>
            <a:r>
              <a:rPr lang="tr-TR" sz="2400" kern="1200" dirty="0">
                <a:solidFill>
                  <a:srgbClr val="000000"/>
                </a:solidFill>
                <a:latin typeface="+mj-lt"/>
              </a:rPr>
              <a:t>bir yöntemdir. Bazı iklimlendirme sistemlerinde havayı kirleten unsurlar da elimine edilmektedir.</a:t>
            </a:r>
          </a:p>
          <a:p>
            <a:pPr eaLnBrk="1" hangingPunct="1">
              <a:defRPr/>
            </a:pPr>
            <a:endParaRPr lang="en-US" sz="2400" dirty="0" smtClean="0">
              <a:solidFill>
                <a:srgbClr val="FF0000"/>
              </a:solidFill>
              <a:latin typeface="+mj-lt"/>
            </a:endParaRPr>
          </a:p>
        </p:txBody>
      </p:sp>
      <p:sp>
        <p:nvSpPr>
          <p:cNvPr id="157698" name="Slayt Numarası Yer Tutucusu 5"/>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4D3BB92C-8EF8-43FC-814D-50DCF01993D7}" type="slidenum">
              <a:rPr lang="en-US" altLang="tr-TR" smtClean="0">
                <a:solidFill>
                  <a:srgbClr val="000000"/>
                </a:solidFill>
              </a:rPr>
              <a:pPr eaLnBrk="1" hangingPunct="1"/>
              <a:t>55</a:t>
            </a:fld>
            <a:endParaRPr lang="en-US" altLang="tr-TR" smtClean="0">
              <a:solidFill>
                <a:srgbClr val="000000"/>
              </a:solidFill>
            </a:endParaRPr>
          </a:p>
        </p:txBody>
      </p:sp>
    </p:spTree>
    <p:extLst>
      <p:ext uri="{BB962C8B-B14F-4D97-AF65-F5344CB8AC3E}">
        <p14:creationId xmlns:p14="http://schemas.microsoft.com/office/powerpoint/2010/main" xmlns="" val="199311065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3" name="Rectangle 2"/>
          <p:cNvSpPr>
            <a:spLocks noGrp="1" noChangeArrowheads="1"/>
          </p:cNvSpPr>
          <p:nvPr>
            <p:ph type="title"/>
          </p:nvPr>
        </p:nvSpPr>
        <p:spPr/>
        <p:txBody>
          <a:bodyPr/>
          <a:lstStyle/>
          <a:p>
            <a:pPr eaLnBrk="1" hangingPunct="1"/>
            <a:r>
              <a:rPr lang="tr-TR" altLang="tr-TR" sz="3600" dirty="0" smtClean="0">
                <a:solidFill>
                  <a:schemeClr val="tx1"/>
                </a:solidFill>
                <a:latin typeface="+mj-lt"/>
              </a:rPr>
              <a:t>İKLİMLENDİRME FONKSİYONLARI</a:t>
            </a:r>
            <a:endParaRPr lang="en-US" altLang="tr-TR" sz="3600" dirty="0" smtClean="0">
              <a:solidFill>
                <a:schemeClr val="tx1"/>
              </a:solidFill>
              <a:latin typeface="+mj-lt"/>
            </a:endParaRPr>
          </a:p>
        </p:txBody>
      </p:sp>
      <p:sp>
        <p:nvSpPr>
          <p:cNvPr id="158724" name="Rectangle 3"/>
          <p:cNvSpPr>
            <a:spLocks noGrp="1" noChangeArrowheads="1"/>
          </p:cNvSpPr>
          <p:nvPr>
            <p:ph idx="1"/>
          </p:nvPr>
        </p:nvSpPr>
        <p:spPr/>
        <p:txBody>
          <a:bodyPr/>
          <a:lstStyle/>
          <a:p>
            <a:pPr eaLnBrk="1" hangingPunct="1">
              <a:buFontTx/>
              <a:buNone/>
            </a:pPr>
            <a:r>
              <a:rPr lang="tr-TR" altLang="tr-TR" sz="2000" b="1" dirty="0" smtClean="0">
                <a:latin typeface="+mj-lt"/>
              </a:rPr>
              <a:t>HAVA HAREKETİ            NEMLENDİRME        TAZE HAVA TEMİNİ</a:t>
            </a:r>
          </a:p>
          <a:p>
            <a:pPr eaLnBrk="1" hangingPunct="1">
              <a:buFontTx/>
              <a:buNone/>
            </a:pPr>
            <a:endParaRPr lang="tr-TR" altLang="tr-TR" sz="2000" b="1" dirty="0" smtClean="0">
              <a:latin typeface="+mj-lt"/>
            </a:endParaRPr>
          </a:p>
          <a:p>
            <a:pPr eaLnBrk="1" hangingPunct="1">
              <a:buFontTx/>
              <a:buNone/>
            </a:pPr>
            <a:endParaRPr lang="tr-TR" altLang="tr-TR" sz="2000" b="1" dirty="0" smtClean="0">
              <a:latin typeface="+mj-lt"/>
            </a:endParaRPr>
          </a:p>
          <a:p>
            <a:pPr eaLnBrk="1" hangingPunct="1">
              <a:buFontTx/>
              <a:buNone/>
            </a:pPr>
            <a:endParaRPr lang="tr-TR" altLang="tr-TR" sz="2000" b="1" dirty="0" smtClean="0">
              <a:latin typeface="+mj-lt"/>
            </a:endParaRPr>
          </a:p>
          <a:p>
            <a:pPr eaLnBrk="1" hangingPunct="1">
              <a:buFontTx/>
              <a:buNone/>
            </a:pPr>
            <a:r>
              <a:rPr lang="tr-TR" altLang="tr-TR" sz="2000" b="1" dirty="0" smtClean="0">
                <a:latin typeface="+mj-lt"/>
              </a:rPr>
              <a:t>    SOĞUTMA                 </a:t>
            </a:r>
            <a:r>
              <a:rPr lang="tr-TR" altLang="tr-TR" sz="2400" b="1" dirty="0" smtClean="0">
                <a:solidFill>
                  <a:srgbClr val="FF0000"/>
                </a:solidFill>
                <a:latin typeface="+mj-lt"/>
              </a:rPr>
              <a:t>İKLİMLENDİRME  </a:t>
            </a:r>
            <a:r>
              <a:rPr lang="tr-TR" altLang="tr-TR" sz="2000" b="1" dirty="0" smtClean="0">
                <a:latin typeface="+mj-lt"/>
              </a:rPr>
              <a:t>            ISITMA</a:t>
            </a:r>
          </a:p>
          <a:p>
            <a:pPr eaLnBrk="1" hangingPunct="1">
              <a:buFontTx/>
              <a:buNone/>
            </a:pPr>
            <a:endParaRPr lang="tr-TR" altLang="tr-TR" sz="2000" b="1" dirty="0" smtClean="0">
              <a:latin typeface="+mj-lt"/>
            </a:endParaRPr>
          </a:p>
          <a:p>
            <a:pPr eaLnBrk="1" hangingPunct="1">
              <a:buFontTx/>
              <a:buNone/>
            </a:pPr>
            <a:endParaRPr lang="tr-TR" altLang="tr-TR" sz="2000" b="1" dirty="0" smtClean="0">
              <a:latin typeface="+mj-lt"/>
            </a:endParaRPr>
          </a:p>
          <a:p>
            <a:pPr eaLnBrk="1" hangingPunct="1">
              <a:buFontTx/>
              <a:buNone/>
            </a:pPr>
            <a:endParaRPr lang="tr-TR" altLang="tr-TR" sz="2000" b="1" dirty="0" smtClean="0">
              <a:latin typeface="+mj-lt"/>
            </a:endParaRPr>
          </a:p>
          <a:p>
            <a:pPr eaLnBrk="1" hangingPunct="1">
              <a:buFontTx/>
              <a:buNone/>
            </a:pPr>
            <a:r>
              <a:rPr lang="tr-TR" altLang="tr-TR" sz="2000" b="1" dirty="0" smtClean="0">
                <a:latin typeface="+mj-lt"/>
              </a:rPr>
              <a:t>HAVANIN SÜZÜLMESİ     KURUTMA       KİRLİ HAVANIN ATILMASI</a:t>
            </a:r>
            <a:endParaRPr lang="en-US" altLang="tr-TR" sz="2000" b="1" dirty="0" smtClean="0">
              <a:latin typeface="+mj-lt"/>
            </a:endParaRPr>
          </a:p>
        </p:txBody>
      </p:sp>
      <p:sp>
        <p:nvSpPr>
          <p:cNvPr id="158722" name="Slayt Numarası Yer Tutucusu 5"/>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EF249E88-E720-4B6F-952B-336B6AD0F43C}" type="slidenum">
              <a:rPr lang="en-US" altLang="tr-TR" smtClean="0">
                <a:solidFill>
                  <a:srgbClr val="000000"/>
                </a:solidFill>
              </a:rPr>
              <a:pPr eaLnBrk="1" hangingPunct="1"/>
              <a:t>56</a:t>
            </a:fld>
            <a:endParaRPr lang="en-US" altLang="tr-TR" smtClean="0">
              <a:solidFill>
                <a:srgbClr val="000000"/>
              </a:solidFill>
            </a:endParaRPr>
          </a:p>
        </p:txBody>
      </p:sp>
      <p:cxnSp>
        <p:nvCxnSpPr>
          <p:cNvPr id="158725" name="AutoShape 4"/>
          <p:cNvCxnSpPr>
            <a:cxnSpLocks noChangeShapeType="1"/>
            <a:stCxn id="158724" idx="0"/>
            <a:endCxn id="158724" idx="0"/>
          </p:cNvCxnSpPr>
          <p:nvPr/>
        </p:nvCxnSpPr>
        <p:spPr bwMode="auto">
          <a:xfrm>
            <a:off x="4572000" y="1600200"/>
            <a:ext cx="0" cy="0"/>
          </a:xfrm>
          <a:prstGeom prst="straightConnector1">
            <a:avLst/>
          </a:prstGeom>
          <a:noFill/>
          <a:ln w="9525">
            <a:solidFill>
              <a:schemeClr val="tx1"/>
            </a:solidFill>
            <a:round/>
            <a:headEnd/>
            <a:tailEnd/>
          </a:ln>
          <a:extLst>
            <a:ext uri="{909E8E84-426E-40DD-AFC4-6F175D3DCCD1}">
              <a14:hiddenFill xmlns:a14="http://schemas.microsoft.com/office/drawing/2010/main" xmlns="">
                <a:noFill/>
              </a14:hiddenFill>
            </a:ext>
          </a:extLst>
        </p:spPr>
      </p:cxnSp>
    </p:spTree>
    <p:extLst>
      <p:ext uri="{BB962C8B-B14F-4D97-AF65-F5344CB8AC3E}">
        <p14:creationId xmlns:p14="http://schemas.microsoft.com/office/powerpoint/2010/main" xmlns="" val="61596365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7" name="Rectangle 2"/>
          <p:cNvSpPr>
            <a:spLocks noGrp="1" noChangeArrowheads="1"/>
          </p:cNvSpPr>
          <p:nvPr>
            <p:ph type="title"/>
          </p:nvPr>
        </p:nvSpPr>
        <p:spPr/>
        <p:txBody>
          <a:bodyPr/>
          <a:lstStyle/>
          <a:p>
            <a:pPr eaLnBrk="1" hangingPunct="1"/>
            <a:r>
              <a:rPr lang="tr-TR" altLang="tr-TR" sz="4000" dirty="0" smtClean="0">
                <a:solidFill>
                  <a:srgbClr val="000099"/>
                </a:solidFill>
                <a:latin typeface="+mj-lt"/>
              </a:rPr>
              <a:t>İklimlendirmenin kullanım alanları</a:t>
            </a:r>
            <a:endParaRPr lang="en-US" altLang="tr-TR" sz="4000" dirty="0" smtClean="0">
              <a:solidFill>
                <a:srgbClr val="000099"/>
              </a:solidFill>
              <a:latin typeface="+mj-lt"/>
            </a:endParaRPr>
          </a:p>
        </p:txBody>
      </p:sp>
      <p:sp>
        <p:nvSpPr>
          <p:cNvPr id="159748" name="Rectangle 3"/>
          <p:cNvSpPr>
            <a:spLocks noGrp="1" noChangeArrowheads="1"/>
          </p:cNvSpPr>
          <p:nvPr>
            <p:ph idx="1"/>
          </p:nvPr>
        </p:nvSpPr>
        <p:spPr>
          <a:xfrm>
            <a:off x="467544" y="1988840"/>
            <a:ext cx="8229600" cy="4525963"/>
          </a:xfrm>
        </p:spPr>
        <p:txBody>
          <a:bodyPr/>
          <a:lstStyle/>
          <a:p>
            <a:pPr eaLnBrk="1" hangingPunct="1">
              <a:buFontTx/>
              <a:buNone/>
            </a:pPr>
            <a:r>
              <a:rPr lang="tr-TR" altLang="tr-TR" dirty="0" smtClean="0">
                <a:solidFill>
                  <a:srgbClr val="FF0000"/>
                </a:solidFill>
                <a:latin typeface="+mj-lt"/>
              </a:rPr>
              <a:t>1- Konfor İklimlendirmesi</a:t>
            </a:r>
            <a:r>
              <a:rPr lang="tr-TR" altLang="tr-TR" dirty="0" smtClean="0">
                <a:latin typeface="+mj-lt"/>
              </a:rPr>
              <a:t> </a:t>
            </a:r>
          </a:p>
          <a:p>
            <a:pPr eaLnBrk="1" hangingPunct="1">
              <a:buFontTx/>
              <a:buNone/>
            </a:pPr>
            <a:r>
              <a:rPr lang="tr-TR" altLang="tr-TR" dirty="0" smtClean="0">
                <a:latin typeface="+mj-lt"/>
              </a:rPr>
              <a:t>   (Ev, otel, Konaklama tesisleri, bürolar)</a:t>
            </a:r>
          </a:p>
          <a:p>
            <a:pPr eaLnBrk="1" hangingPunct="1"/>
            <a:endParaRPr lang="tr-TR" altLang="tr-TR" dirty="0" smtClean="0">
              <a:latin typeface="+mj-lt"/>
            </a:endParaRPr>
          </a:p>
          <a:p>
            <a:pPr eaLnBrk="1" hangingPunct="1">
              <a:buFontTx/>
              <a:buNone/>
            </a:pPr>
            <a:r>
              <a:rPr lang="tr-TR" altLang="tr-TR" dirty="0" smtClean="0">
                <a:solidFill>
                  <a:srgbClr val="FF0000"/>
                </a:solidFill>
                <a:latin typeface="+mj-lt"/>
              </a:rPr>
              <a:t>2- Endüstriyel İklimlendirme</a:t>
            </a:r>
          </a:p>
          <a:p>
            <a:pPr eaLnBrk="1" hangingPunct="1">
              <a:buFontTx/>
              <a:buNone/>
            </a:pPr>
            <a:r>
              <a:rPr lang="tr-TR" altLang="tr-TR" dirty="0" smtClean="0">
                <a:latin typeface="+mj-lt"/>
              </a:rPr>
              <a:t>  (tekstil, kimya, ilaç, gıda vb. sektörler)</a:t>
            </a:r>
            <a:endParaRPr lang="en-US" altLang="tr-TR" dirty="0" smtClean="0">
              <a:latin typeface="+mj-lt"/>
            </a:endParaRPr>
          </a:p>
        </p:txBody>
      </p:sp>
      <p:sp>
        <p:nvSpPr>
          <p:cNvPr id="159746" name="Slayt Numarası Yer Tutucusu 5"/>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E3532725-B77F-4BA4-9EF9-3A59F6773FBC}" type="slidenum">
              <a:rPr lang="en-US" altLang="tr-TR" smtClean="0">
                <a:solidFill>
                  <a:srgbClr val="000000"/>
                </a:solidFill>
              </a:rPr>
              <a:pPr eaLnBrk="1" hangingPunct="1"/>
              <a:t>57</a:t>
            </a:fld>
            <a:endParaRPr lang="en-US" altLang="tr-TR" smtClean="0">
              <a:solidFill>
                <a:srgbClr val="000000"/>
              </a:solidFill>
            </a:endParaRPr>
          </a:p>
        </p:txBody>
      </p:sp>
    </p:spTree>
    <p:extLst>
      <p:ext uri="{BB962C8B-B14F-4D97-AF65-F5344CB8AC3E}">
        <p14:creationId xmlns:p14="http://schemas.microsoft.com/office/powerpoint/2010/main" xmlns="" val="357212885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ayt Numarası Yer Tutucusu 3"/>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5EE3E746-47EA-4664-AFE7-ED085DBF7A6B}" type="slidenum">
              <a:rPr lang="en-US" altLang="tr-TR" smtClean="0">
                <a:solidFill>
                  <a:srgbClr val="000000"/>
                </a:solidFill>
              </a:rPr>
              <a:pPr eaLnBrk="1" hangingPunct="1"/>
              <a:t>58</a:t>
            </a:fld>
            <a:endParaRPr lang="en-US" altLang="tr-TR" smtClean="0">
              <a:solidFill>
                <a:srgbClr val="000000"/>
              </a:solidFill>
            </a:endParaRPr>
          </a:p>
        </p:txBody>
      </p:sp>
      <p:sp>
        <p:nvSpPr>
          <p:cNvPr id="160771" name="Rectangle 2"/>
          <p:cNvSpPr>
            <a:spLocks noGrp="1" noChangeArrowheads="1"/>
          </p:cNvSpPr>
          <p:nvPr>
            <p:ph type="title" idx="4294967295"/>
          </p:nvPr>
        </p:nvSpPr>
        <p:spPr>
          <a:xfrm>
            <a:off x="0" y="274638"/>
            <a:ext cx="8229600" cy="1143000"/>
          </a:xfrm>
        </p:spPr>
        <p:txBody>
          <a:bodyPr anchor="t"/>
          <a:lstStyle/>
          <a:p>
            <a:pPr eaLnBrk="1" hangingPunct="1"/>
            <a:r>
              <a:rPr lang="tr-TR" altLang="tr-TR" sz="3200" b="1" dirty="0" smtClean="0">
                <a:solidFill>
                  <a:schemeClr val="tx1"/>
                </a:solidFill>
                <a:latin typeface="+mj-lt"/>
              </a:rPr>
              <a:t>İklimlendirme sistemlerinin sınıflandırılması</a:t>
            </a:r>
            <a:endParaRPr lang="en-US" altLang="tr-TR" sz="3200" b="1" dirty="0" smtClean="0">
              <a:solidFill>
                <a:schemeClr val="tx1"/>
              </a:solidFill>
              <a:latin typeface="+mj-lt"/>
            </a:endParaRPr>
          </a:p>
        </p:txBody>
      </p:sp>
      <p:sp>
        <p:nvSpPr>
          <p:cNvPr id="160772" name="Rectangle 3"/>
          <p:cNvSpPr>
            <a:spLocks noGrp="1" noChangeArrowheads="1"/>
          </p:cNvSpPr>
          <p:nvPr>
            <p:ph type="body" idx="4294967295"/>
          </p:nvPr>
        </p:nvSpPr>
        <p:spPr>
          <a:xfrm>
            <a:off x="0" y="1628775"/>
            <a:ext cx="7129463" cy="3527425"/>
          </a:xfrm>
        </p:spPr>
        <p:txBody>
          <a:bodyPr/>
          <a:lstStyle/>
          <a:p>
            <a:pPr eaLnBrk="1" hangingPunct="1"/>
            <a:r>
              <a:rPr lang="tr-TR" altLang="tr-TR" dirty="0" smtClean="0">
                <a:latin typeface="+mj-lt"/>
              </a:rPr>
              <a:t>Bu sistemler </a:t>
            </a:r>
            <a:r>
              <a:rPr lang="tr-TR" altLang="tr-TR" dirty="0" smtClean="0">
                <a:solidFill>
                  <a:schemeClr val="accent2"/>
                </a:solidFill>
                <a:latin typeface="+mj-lt"/>
              </a:rPr>
              <a:t>çalışma prensiplerine göre</a:t>
            </a:r>
            <a:r>
              <a:rPr lang="tr-TR" altLang="tr-TR" dirty="0" smtClean="0">
                <a:latin typeface="+mj-lt"/>
              </a:rPr>
              <a:t> üç grupta sınıflandırılır.</a:t>
            </a:r>
          </a:p>
          <a:p>
            <a:pPr eaLnBrk="1" hangingPunct="1"/>
            <a:endParaRPr lang="tr-TR" altLang="tr-TR" dirty="0" smtClean="0">
              <a:latin typeface="+mj-lt"/>
            </a:endParaRPr>
          </a:p>
          <a:p>
            <a:pPr lvl="1" eaLnBrk="1" hangingPunct="1">
              <a:buFontTx/>
              <a:buNone/>
            </a:pPr>
            <a:r>
              <a:rPr lang="tr-TR" altLang="tr-TR" b="1" dirty="0" smtClean="0">
                <a:solidFill>
                  <a:srgbClr val="000099"/>
                </a:solidFill>
                <a:latin typeface="+mj-lt"/>
              </a:rPr>
              <a:t>1-Kapalı sistemler.</a:t>
            </a:r>
          </a:p>
          <a:p>
            <a:pPr lvl="1" eaLnBrk="1" hangingPunct="1">
              <a:buFontTx/>
              <a:buNone/>
            </a:pPr>
            <a:r>
              <a:rPr lang="tr-TR" altLang="tr-TR" b="1" dirty="0" smtClean="0">
                <a:solidFill>
                  <a:srgbClr val="000099"/>
                </a:solidFill>
                <a:latin typeface="+mj-lt"/>
              </a:rPr>
              <a:t>2-Yarı kapalı sistemler.</a:t>
            </a:r>
          </a:p>
          <a:p>
            <a:pPr lvl="1" eaLnBrk="1" hangingPunct="1">
              <a:buFontTx/>
              <a:buNone/>
            </a:pPr>
            <a:r>
              <a:rPr lang="tr-TR" altLang="tr-TR" b="1" dirty="0" smtClean="0">
                <a:solidFill>
                  <a:srgbClr val="000099"/>
                </a:solidFill>
                <a:latin typeface="+mj-lt"/>
              </a:rPr>
              <a:t>3-Bölümlendirilmiş sistemler.</a:t>
            </a:r>
          </a:p>
        </p:txBody>
      </p:sp>
      <p:pic>
        <p:nvPicPr>
          <p:cNvPr id="160773" name="Picture 4" descr="havalandirma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300788" y="2276475"/>
            <a:ext cx="2663825" cy="38893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6275239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ayt Numarası Yer Tutucusu 3"/>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FD944B00-477F-4606-8BC9-0C2DF85C59F9}" type="slidenum">
              <a:rPr lang="en-US" altLang="tr-TR" smtClean="0">
                <a:solidFill>
                  <a:srgbClr val="000000"/>
                </a:solidFill>
              </a:rPr>
              <a:pPr eaLnBrk="1" hangingPunct="1"/>
              <a:t>59</a:t>
            </a:fld>
            <a:endParaRPr lang="en-US" altLang="tr-TR" smtClean="0">
              <a:solidFill>
                <a:srgbClr val="000000"/>
              </a:solidFill>
            </a:endParaRPr>
          </a:p>
        </p:txBody>
      </p:sp>
      <p:sp>
        <p:nvSpPr>
          <p:cNvPr id="161795" name="Rectangle 2"/>
          <p:cNvSpPr>
            <a:spLocks noGrp="1" noChangeArrowheads="1"/>
          </p:cNvSpPr>
          <p:nvPr>
            <p:ph type="title" idx="4294967295"/>
          </p:nvPr>
        </p:nvSpPr>
        <p:spPr>
          <a:xfrm>
            <a:off x="0" y="274638"/>
            <a:ext cx="8507413" cy="1143000"/>
          </a:xfrm>
        </p:spPr>
        <p:txBody>
          <a:bodyPr anchor="t"/>
          <a:lstStyle/>
          <a:p>
            <a:pPr eaLnBrk="1" hangingPunct="1"/>
            <a:r>
              <a:rPr lang="tr-TR" altLang="tr-TR" sz="3200" b="1" dirty="0" smtClean="0">
                <a:solidFill>
                  <a:schemeClr val="tx1"/>
                </a:solidFill>
                <a:latin typeface="+mj-lt"/>
              </a:rPr>
              <a:t>İklimlendirme sistemlerinin ortak elemanları</a:t>
            </a:r>
            <a:r>
              <a:rPr lang="tr-TR" altLang="tr-TR" sz="4000" dirty="0" smtClean="0">
                <a:solidFill>
                  <a:schemeClr val="tx1"/>
                </a:solidFill>
                <a:latin typeface="+mj-lt"/>
              </a:rPr>
              <a:t> </a:t>
            </a:r>
            <a:endParaRPr lang="en-US" altLang="tr-TR" sz="4000" dirty="0" smtClean="0">
              <a:solidFill>
                <a:schemeClr val="tx1"/>
              </a:solidFill>
              <a:latin typeface="+mj-lt"/>
            </a:endParaRPr>
          </a:p>
        </p:txBody>
      </p:sp>
      <p:sp>
        <p:nvSpPr>
          <p:cNvPr id="161796" name="Rectangle 3"/>
          <p:cNvSpPr>
            <a:spLocks noGrp="1" noChangeArrowheads="1"/>
          </p:cNvSpPr>
          <p:nvPr>
            <p:ph type="body" idx="4294967295"/>
          </p:nvPr>
        </p:nvSpPr>
        <p:spPr>
          <a:xfrm>
            <a:off x="539552" y="954088"/>
            <a:ext cx="8229600" cy="5903912"/>
          </a:xfrm>
        </p:spPr>
        <p:txBody>
          <a:bodyPr/>
          <a:lstStyle/>
          <a:p>
            <a:pPr eaLnBrk="1" hangingPunct="1">
              <a:buFontTx/>
              <a:buNone/>
            </a:pPr>
            <a:r>
              <a:rPr lang="tr-TR" altLang="tr-TR" dirty="0" smtClean="0">
                <a:latin typeface="+mj-lt"/>
              </a:rPr>
              <a:t>                      </a:t>
            </a:r>
          </a:p>
          <a:p>
            <a:pPr lvl="1" eaLnBrk="1" hangingPunct="1">
              <a:buNone/>
            </a:pPr>
            <a:r>
              <a:rPr lang="tr-TR" altLang="tr-TR" b="1" dirty="0" smtClean="0">
                <a:solidFill>
                  <a:srgbClr val="000099"/>
                </a:solidFill>
                <a:latin typeface="+mj-lt"/>
              </a:rPr>
              <a:t>a-Isıtma ve soğutma ünitesi</a:t>
            </a:r>
          </a:p>
          <a:p>
            <a:pPr lvl="1" eaLnBrk="1" hangingPunct="1">
              <a:buNone/>
            </a:pPr>
            <a:r>
              <a:rPr lang="tr-TR" altLang="tr-TR" b="1" dirty="0" smtClean="0">
                <a:solidFill>
                  <a:srgbClr val="000099"/>
                </a:solidFill>
                <a:latin typeface="+mj-lt"/>
              </a:rPr>
              <a:t>b-Su veya soğutucu gaz</a:t>
            </a:r>
          </a:p>
          <a:p>
            <a:pPr lvl="1" eaLnBrk="1" hangingPunct="1">
              <a:buNone/>
            </a:pPr>
            <a:r>
              <a:rPr lang="tr-TR" altLang="tr-TR" b="1" dirty="0" smtClean="0">
                <a:solidFill>
                  <a:srgbClr val="000099"/>
                </a:solidFill>
                <a:latin typeface="+mj-lt"/>
              </a:rPr>
              <a:t>c-Elektrik veya diğer yakıt sistemleri</a:t>
            </a:r>
          </a:p>
          <a:p>
            <a:pPr lvl="1" eaLnBrk="1" hangingPunct="1">
              <a:buNone/>
            </a:pPr>
            <a:r>
              <a:rPr lang="tr-TR" altLang="tr-TR" b="1" dirty="0" smtClean="0">
                <a:solidFill>
                  <a:srgbClr val="000099"/>
                </a:solidFill>
                <a:latin typeface="+mj-lt"/>
              </a:rPr>
              <a:t>d-Nem kontrol ünitesi</a:t>
            </a:r>
          </a:p>
          <a:p>
            <a:pPr lvl="1" eaLnBrk="1" hangingPunct="1">
              <a:buNone/>
            </a:pPr>
            <a:r>
              <a:rPr lang="tr-TR" altLang="tr-TR" b="1" dirty="0" smtClean="0">
                <a:solidFill>
                  <a:srgbClr val="000099"/>
                </a:solidFill>
                <a:latin typeface="+mj-lt"/>
              </a:rPr>
              <a:t>e-Direk su buharı enjeksiyonu</a:t>
            </a:r>
          </a:p>
          <a:p>
            <a:pPr lvl="1" eaLnBrk="1" hangingPunct="1">
              <a:buNone/>
            </a:pPr>
            <a:r>
              <a:rPr lang="tr-TR" altLang="tr-TR" b="1" dirty="0" smtClean="0">
                <a:solidFill>
                  <a:srgbClr val="000099"/>
                </a:solidFill>
                <a:latin typeface="+mj-lt"/>
              </a:rPr>
              <a:t>f-Yoğunlaştırma üniteleri</a:t>
            </a:r>
          </a:p>
          <a:p>
            <a:pPr lvl="1" eaLnBrk="1" hangingPunct="1">
              <a:buNone/>
            </a:pPr>
            <a:r>
              <a:rPr lang="tr-TR" altLang="tr-TR" b="1" dirty="0" smtClean="0">
                <a:solidFill>
                  <a:srgbClr val="000099"/>
                </a:solidFill>
                <a:latin typeface="+mj-lt"/>
              </a:rPr>
              <a:t>g-Katı madde tutucu üniteler.</a:t>
            </a:r>
          </a:p>
        </p:txBody>
      </p:sp>
    </p:spTree>
    <p:extLst>
      <p:ext uri="{BB962C8B-B14F-4D97-AF65-F5344CB8AC3E}">
        <p14:creationId xmlns:p14="http://schemas.microsoft.com/office/powerpoint/2010/main" xmlns="" val="392693506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itişiklik">
  <a:themeElements>
    <a:clrScheme name="Bitişiklik">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i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itişiklik">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6366</TotalTime>
  <Words>2781</Words>
  <Application>Microsoft Office PowerPoint</Application>
  <PresentationFormat>Ekran Gösterisi (4:3)</PresentationFormat>
  <Paragraphs>481</Paragraphs>
  <Slides>59</Slides>
  <Notes>6</Notes>
  <HiddenSlides>0</HiddenSlides>
  <MMClips>0</MMClips>
  <ScaleCrop>false</ScaleCrop>
  <HeadingPairs>
    <vt:vector size="4" baseType="variant">
      <vt:variant>
        <vt:lpstr>Tema</vt:lpstr>
      </vt:variant>
      <vt:variant>
        <vt:i4>1</vt:i4>
      </vt:variant>
      <vt:variant>
        <vt:lpstr>Slayt Başlıkları</vt:lpstr>
      </vt:variant>
      <vt:variant>
        <vt:i4>59</vt:i4>
      </vt:variant>
    </vt:vector>
  </HeadingPairs>
  <TitlesOfParts>
    <vt:vector size="60" baseType="lpstr">
      <vt:lpstr>Bitişiklik</vt:lpstr>
      <vt:lpstr>HAVALANDIRMA  ve  İKLİMLENDİRME Prensipleri                                                        </vt:lpstr>
      <vt:lpstr>HAVALANDIRMA</vt:lpstr>
      <vt:lpstr>Havanın bileşimi</vt:lpstr>
      <vt:lpstr>TEMİZ HAVA</vt:lpstr>
      <vt:lpstr>Havalandırmanın amaçları ?</vt:lpstr>
      <vt:lpstr>Slayt 6</vt:lpstr>
      <vt:lpstr>Slayt 7</vt:lpstr>
      <vt:lpstr>Slayt 8</vt:lpstr>
      <vt:lpstr>Slayt 9</vt:lpstr>
      <vt:lpstr>Slayt 10</vt:lpstr>
      <vt:lpstr>Slayt 11</vt:lpstr>
      <vt:lpstr>Havalandırma Yöntemleri</vt:lpstr>
      <vt:lpstr>Slayt 13</vt:lpstr>
      <vt:lpstr>Slayt 14</vt:lpstr>
      <vt:lpstr>Slayt 15</vt:lpstr>
      <vt:lpstr>Genel Havalandırma (üstten çekiş)</vt:lpstr>
      <vt:lpstr>Genel Havalandırma (alttan çekiş)</vt:lpstr>
      <vt:lpstr>Slayt 18</vt:lpstr>
      <vt:lpstr>Slayt 19</vt:lpstr>
      <vt:lpstr>Slayt 20</vt:lpstr>
      <vt:lpstr>Sabit ve seyyar lokal havalandırma tertibatları (bireysel)</vt:lpstr>
      <vt:lpstr>Çoklu lokal egzoz sistemi</vt:lpstr>
      <vt:lpstr>Slayt 23</vt:lpstr>
      <vt:lpstr>Slayt 24</vt:lpstr>
      <vt:lpstr>Slayt 25</vt:lpstr>
      <vt:lpstr>Slayt 26</vt:lpstr>
      <vt:lpstr>Slayt 27</vt:lpstr>
      <vt:lpstr>Slayt 28</vt:lpstr>
      <vt:lpstr>Slayt 29</vt:lpstr>
      <vt:lpstr>Slayt 30</vt:lpstr>
      <vt:lpstr>Slayt 31</vt:lpstr>
      <vt:lpstr>Slayt 32</vt:lpstr>
      <vt:lpstr>Slayt 33</vt:lpstr>
      <vt:lpstr>Slayt 34</vt:lpstr>
      <vt:lpstr>Slayt 35</vt:lpstr>
      <vt:lpstr>Slayt 36</vt:lpstr>
      <vt:lpstr>Slayt 37</vt:lpstr>
      <vt:lpstr>Havalandırma Planlamasında 3 Tespit</vt:lpstr>
      <vt:lpstr>Slayt 39</vt:lpstr>
      <vt:lpstr>Gaz ve Buharlar için Havalandırma İşlemleri</vt:lpstr>
      <vt:lpstr> Isı Transferi Mekanizmaları</vt:lpstr>
      <vt:lpstr>Slayt 42</vt:lpstr>
      <vt:lpstr>Isıl  Çevre  Elemanları</vt:lpstr>
      <vt:lpstr>Slayt 44</vt:lpstr>
      <vt:lpstr>Slayt 45</vt:lpstr>
      <vt:lpstr>Slayt 46</vt:lpstr>
      <vt:lpstr>Efektif Sıcaklık</vt:lpstr>
      <vt:lpstr>Eşdeğer Efektif Sıcaklık  (Örnek)</vt:lpstr>
      <vt:lpstr>Slayt 49</vt:lpstr>
      <vt:lpstr>Slayt 50</vt:lpstr>
      <vt:lpstr>Termal  Konfor (Isıl Konfor)</vt:lpstr>
      <vt:lpstr>Slayt 52</vt:lpstr>
      <vt:lpstr>Slayt 53</vt:lpstr>
      <vt:lpstr>Slayt 54</vt:lpstr>
      <vt:lpstr>İKLİMLENDİRME</vt:lpstr>
      <vt:lpstr>İKLİMLENDİRME FONKSİYONLARI</vt:lpstr>
      <vt:lpstr>İklimlendirmenin kullanım alanları</vt:lpstr>
      <vt:lpstr>İklimlendirme sistemlerinin sınıflandırılması</vt:lpstr>
      <vt:lpstr>İklimlendirme sistemlerinin ortak elemanları </vt:lpstr>
    </vt:vector>
  </TitlesOfParts>
  <Company>Toshiba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Mariajose</dc:creator>
  <cp:lastModifiedBy>Toshiba</cp:lastModifiedBy>
  <cp:revision>704</cp:revision>
  <dcterms:created xsi:type="dcterms:W3CDTF">2010-05-23T14:28:12Z</dcterms:created>
  <dcterms:modified xsi:type="dcterms:W3CDTF">2018-10-17T20:17:55Z</dcterms:modified>
</cp:coreProperties>
</file>